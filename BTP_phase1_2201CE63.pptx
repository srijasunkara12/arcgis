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1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7" r:id="rId2"/>
    <p:sldId id="305" r:id="rId3"/>
    <p:sldId id="258" r:id="rId4"/>
    <p:sldId id="295" r:id="rId5"/>
    <p:sldId id="296" r:id="rId6"/>
    <p:sldId id="283" r:id="rId7"/>
    <p:sldId id="284" r:id="rId8"/>
    <p:sldId id="297" r:id="rId9"/>
    <p:sldId id="298" r:id="rId10"/>
    <p:sldId id="299" r:id="rId11"/>
    <p:sldId id="301" r:id="rId12"/>
    <p:sldId id="289" r:id="rId13"/>
    <p:sldId id="300" r:id="rId14"/>
    <p:sldId id="290" r:id="rId15"/>
    <p:sldId id="292" r:id="rId16"/>
    <p:sldId id="267" r:id="rId17"/>
    <p:sldId id="306" r:id="rId18"/>
    <p:sldId id="293" r:id="rId19"/>
    <p:sldId id="303" r:id="rId20"/>
    <p:sldId id="304" r:id="rId21"/>
    <p:sldId id="30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8014B4-6CE0-F642-79B9-922C80ED54DE}" v="495" dt="2025-12-02T14:34:59.759"/>
    <p1510:client id="{2BFE8EF9-E331-5271-7976-CFFD30716254}" v="536" dt="2025-12-03T03:23:20.940"/>
    <p1510:client id="{8EB5D27C-5A1C-5361-CCF7-EA0B3A6B8BD5}" v="439" dt="2025-12-02T13:59:18.947"/>
    <p1510:client id="{AB27FE93-797C-1B0C-21F8-14892650BA4B}" v="25" dt="2025-12-02T16:06:37.038"/>
    <p1510:client id="{C7CFA8E1-93F6-1BA9-8008-8E9D3CACD0AC}" v="12" dt="2025-12-02T09:12:24.921"/>
    <p1510:client id="{D6B807AF-E5DE-6F47-9FA8-DCFBC4C9CF27}" v="55" dt="2025-12-02T06:07:57.651"/>
    <p1510:client id="{DC6FD874-5DEC-50C4-22D9-C3996EFF2F37}" v="456" dt="2025-12-02T12:27:10.555"/>
    <p1510:client id="{E183F100-F218-DADF-4340-E5C3E48E35EA}" v="1108" dt="2025-12-01T13:45:12.380"/>
    <p1510:client id="{E27A7313-CB14-577E-43DB-E39CE95A8514}" v="2724" dt="2025-12-03T06:40:23.068"/>
    <p1510:client id="{EA7B0B7C-D448-440A-94EB-6CEF921FEB85}" v="490" dt="2025-12-02T03:14:35.8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IITPatna%20study%20material\sem7\BTP\Qgis\rainfall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IITPatna%20study%20material\sem7\BTP\Qgis\runoff%20for%20whole%20godavari%20basi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IITPatna%20study%20material\sem7\BTP\Qgis\runoff%20for%20whole%20godavari%20basin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IITPatna%20study%20material\sem7\BTP\Qgis\runoff%20for%20whole%20godavari%20basi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 Annual Rainfall(in mm)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rainfall annual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Sheet1!$A$2:$A$56</c:f>
              <c:numCache>
                <c:formatCode>General</c:formatCode>
                <c:ptCount val="55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  <c:pt idx="31">
                  <c:v>2001</c:v>
                </c:pt>
                <c:pt idx="32">
                  <c:v>2002</c:v>
                </c:pt>
                <c:pt idx="33">
                  <c:v>2003</c:v>
                </c:pt>
                <c:pt idx="34">
                  <c:v>2004</c:v>
                </c:pt>
                <c:pt idx="35">
                  <c:v>2005</c:v>
                </c:pt>
                <c:pt idx="36">
                  <c:v>2006</c:v>
                </c:pt>
                <c:pt idx="37">
                  <c:v>2007</c:v>
                </c:pt>
                <c:pt idx="38">
                  <c:v>2008</c:v>
                </c:pt>
                <c:pt idx="39">
                  <c:v>2009</c:v>
                </c:pt>
                <c:pt idx="40">
                  <c:v>2010</c:v>
                </c:pt>
                <c:pt idx="41">
                  <c:v>2011</c:v>
                </c:pt>
                <c:pt idx="42">
                  <c:v>2012</c:v>
                </c:pt>
                <c:pt idx="43">
                  <c:v>2013</c:v>
                </c:pt>
                <c:pt idx="44">
                  <c:v>2014</c:v>
                </c:pt>
                <c:pt idx="45">
                  <c:v>2015</c:v>
                </c:pt>
                <c:pt idx="46">
                  <c:v>2016</c:v>
                </c:pt>
                <c:pt idx="47">
                  <c:v>2017</c:v>
                </c:pt>
                <c:pt idx="48">
                  <c:v>2018</c:v>
                </c:pt>
                <c:pt idx="49">
                  <c:v>2019</c:v>
                </c:pt>
                <c:pt idx="50">
                  <c:v>2020</c:v>
                </c:pt>
                <c:pt idx="51">
                  <c:v>2021</c:v>
                </c:pt>
                <c:pt idx="52">
                  <c:v>2022</c:v>
                </c:pt>
                <c:pt idx="53">
                  <c:v>2023</c:v>
                </c:pt>
                <c:pt idx="54">
                  <c:v>2024</c:v>
                </c:pt>
              </c:numCache>
            </c:num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1208.47</c:v>
                </c:pt>
                <c:pt idx="1">
                  <c:v>924.47699999999998</c:v>
                </c:pt>
                <c:pt idx="2">
                  <c:v>773.45299999999997</c:v>
                </c:pt>
                <c:pt idx="3">
                  <c:v>1153.5</c:v>
                </c:pt>
                <c:pt idx="4">
                  <c:v>882.68100000000004</c:v>
                </c:pt>
                <c:pt idx="5">
                  <c:v>1315.44</c:v>
                </c:pt>
                <c:pt idx="6">
                  <c:v>1088.44</c:v>
                </c:pt>
                <c:pt idx="7">
                  <c:v>1117.78</c:v>
                </c:pt>
                <c:pt idx="8">
                  <c:v>1252.06</c:v>
                </c:pt>
                <c:pt idx="9">
                  <c:v>996.202</c:v>
                </c:pt>
                <c:pt idx="10">
                  <c:v>1082.43</c:v>
                </c:pt>
                <c:pt idx="11">
                  <c:v>1147.1300000000001</c:v>
                </c:pt>
                <c:pt idx="12">
                  <c:v>958.43</c:v>
                </c:pt>
                <c:pt idx="13">
                  <c:v>1370.93</c:v>
                </c:pt>
                <c:pt idx="14">
                  <c:v>878.74199999999996</c:v>
                </c:pt>
                <c:pt idx="15">
                  <c:v>913.97400000000005</c:v>
                </c:pt>
                <c:pt idx="16">
                  <c:v>1115.1099999999999</c:v>
                </c:pt>
                <c:pt idx="17">
                  <c:v>959.577</c:v>
                </c:pt>
                <c:pt idx="18">
                  <c:v>1340.57</c:v>
                </c:pt>
                <c:pt idx="19">
                  <c:v>1181.73</c:v>
                </c:pt>
                <c:pt idx="20">
                  <c:v>1547.21</c:v>
                </c:pt>
                <c:pt idx="21">
                  <c:v>932.87099999999998</c:v>
                </c:pt>
                <c:pt idx="22">
                  <c:v>1071.42</c:v>
                </c:pt>
                <c:pt idx="23">
                  <c:v>1028.8800000000001</c:v>
                </c:pt>
                <c:pt idx="24">
                  <c:v>1309.19</c:v>
                </c:pt>
                <c:pt idx="25">
                  <c:v>1219.73</c:v>
                </c:pt>
                <c:pt idx="26">
                  <c:v>1006</c:v>
                </c:pt>
                <c:pt idx="27">
                  <c:v>1061.45</c:v>
                </c:pt>
                <c:pt idx="28">
                  <c:v>1180.1300000000001</c:v>
                </c:pt>
                <c:pt idx="29">
                  <c:v>1126.22</c:v>
                </c:pt>
                <c:pt idx="30">
                  <c:v>1026.8499999999999</c:v>
                </c:pt>
                <c:pt idx="31">
                  <c:v>1155.1300000000001</c:v>
                </c:pt>
                <c:pt idx="32">
                  <c:v>901.46</c:v>
                </c:pt>
                <c:pt idx="33">
                  <c:v>1181.57</c:v>
                </c:pt>
                <c:pt idx="34">
                  <c:v>910.904</c:v>
                </c:pt>
                <c:pt idx="35">
                  <c:v>1283.17</c:v>
                </c:pt>
                <c:pt idx="36">
                  <c:v>1356.39</c:v>
                </c:pt>
                <c:pt idx="37">
                  <c:v>1094.19</c:v>
                </c:pt>
                <c:pt idx="38">
                  <c:v>1030.7</c:v>
                </c:pt>
                <c:pt idx="39">
                  <c:v>860.71600000000001</c:v>
                </c:pt>
                <c:pt idx="40">
                  <c:v>1397.73</c:v>
                </c:pt>
                <c:pt idx="41">
                  <c:v>904.89400000000001</c:v>
                </c:pt>
                <c:pt idx="42">
                  <c:v>1109.1400000000001</c:v>
                </c:pt>
                <c:pt idx="43">
                  <c:v>1433.16</c:v>
                </c:pt>
                <c:pt idx="44">
                  <c:v>960.96500000000003</c:v>
                </c:pt>
                <c:pt idx="45">
                  <c:v>995.52099999999996</c:v>
                </c:pt>
                <c:pt idx="47">
                  <c:v>968.51900000000001</c:v>
                </c:pt>
                <c:pt idx="48">
                  <c:v>1040.5899999999999</c:v>
                </c:pt>
                <c:pt idx="49">
                  <c:v>1283.27</c:v>
                </c:pt>
                <c:pt idx="50">
                  <c:v>1303.06</c:v>
                </c:pt>
                <c:pt idx="51">
                  <c:v>1250.17</c:v>
                </c:pt>
                <c:pt idx="52">
                  <c:v>1430.02</c:v>
                </c:pt>
                <c:pt idx="53">
                  <c:v>1182.04</c:v>
                </c:pt>
                <c:pt idx="54">
                  <c:v>1315.41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8F-46B6-BFED-52760E0009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64575487"/>
        <c:axId val="764575967"/>
      </c:barChart>
      <c:catAx>
        <c:axId val="7645754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4575967"/>
        <c:crosses val="autoZero"/>
        <c:auto val="1"/>
        <c:lblAlgn val="ctr"/>
        <c:lblOffset val="100"/>
        <c:noMultiLvlLbl val="0"/>
      </c:catAx>
      <c:valAx>
        <c:axId val="7645759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Averge Rainfall(in 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764575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ln>
                  <a:solidFill>
                    <a:schemeClr val="accent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Annual Average</a:t>
            </a:r>
            <a:r>
              <a:rPr lang="en-IN" baseline="0" dirty="0"/>
              <a:t> </a:t>
            </a:r>
            <a:r>
              <a:rPr lang="en-IN" dirty="0"/>
              <a:t>Rainfall( in mm)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ln>
                <a:solidFill>
                  <a:schemeClr val="accent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Trend analysis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forward val="2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10071921142352414"/>
                  <c:y val="0.21596519965490391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ln>
                        <a:solidFill>
                          <a:schemeClr val="accent1"/>
                        </a:solidFill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'sen''s slope'!$B$2:$B$55</c:f>
              <c:numCache>
                <c:formatCode>General</c:formatCode>
                <c:ptCount val="54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  <c:pt idx="31">
                  <c:v>2001</c:v>
                </c:pt>
                <c:pt idx="32">
                  <c:v>2002</c:v>
                </c:pt>
                <c:pt idx="33">
                  <c:v>2003</c:v>
                </c:pt>
                <c:pt idx="34">
                  <c:v>2004</c:v>
                </c:pt>
                <c:pt idx="35">
                  <c:v>2005</c:v>
                </c:pt>
                <c:pt idx="36">
                  <c:v>2006</c:v>
                </c:pt>
                <c:pt idx="37">
                  <c:v>2007</c:v>
                </c:pt>
                <c:pt idx="38">
                  <c:v>2008</c:v>
                </c:pt>
                <c:pt idx="39">
                  <c:v>2009</c:v>
                </c:pt>
                <c:pt idx="40">
                  <c:v>2010</c:v>
                </c:pt>
                <c:pt idx="41">
                  <c:v>2011</c:v>
                </c:pt>
                <c:pt idx="42">
                  <c:v>2012</c:v>
                </c:pt>
                <c:pt idx="43">
                  <c:v>2013</c:v>
                </c:pt>
                <c:pt idx="44">
                  <c:v>2014</c:v>
                </c:pt>
                <c:pt idx="45">
                  <c:v>2015</c:v>
                </c:pt>
                <c:pt idx="46">
                  <c:v>2017</c:v>
                </c:pt>
                <c:pt idx="47">
                  <c:v>2018</c:v>
                </c:pt>
                <c:pt idx="48">
                  <c:v>2019</c:v>
                </c:pt>
                <c:pt idx="49">
                  <c:v>2020</c:v>
                </c:pt>
                <c:pt idx="50">
                  <c:v>2021</c:v>
                </c:pt>
                <c:pt idx="51">
                  <c:v>2022</c:v>
                </c:pt>
                <c:pt idx="52">
                  <c:v>2023</c:v>
                </c:pt>
                <c:pt idx="53">
                  <c:v>2024</c:v>
                </c:pt>
              </c:numCache>
            </c:numRef>
          </c:xVal>
          <c:yVal>
            <c:numRef>
              <c:f>'sen''s slope'!$D$2:$D$55</c:f>
              <c:numCache>
                <c:formatCode>General</c:formatCode>
                <c:ptCount val="54"/>
                <c:pt idx="0">
                  <c:v>883.78194379391084</c:v>
                </c:pt>
                <c:pt idx="1">
                  <c:v>886.40194379391096</c:v>
                </c:pt>
                <c:pt idx="2">
                  <c:v>889.02194379391085</c:v>
                </c:pt>
                <c:pt idx="3">
                  <c:v>891.64194379391085</c:v>
                </c:pt>
                <c:pt idx="4">
                  <c:v>894.26194379391086</c:v>
                </c:pt>
                <c:pt idx="5">
                  <c:v>896.88194379391086</c:v>
                </c:pt>
                <c:pt idx="6">
                  <c:v>899.50194379391087</c:v>
                </c:pt>
                <c:pt idx="7">
                  <c:v>902.12194379391087</c:v>
                </c:pt>
                <c:pt idx="8">
                  <c:v>904.74194379391088</c:v>
                </c:pt>
                <c:pt idx="9">
                  <c:v>907.36194379391088</c:v>
                </c:pt>
                <c:pt idx="10">
                  <c:v>909.98194379391089</c:v>
                </c:pt>
                <c:pt idx="11">
                  <c:v>912.60194379391089</c:v>
                </c:pt>
                <c:pt idx="12">
                  <c:v>915.2219437939109</c:v>
                </c:pt>
                <c:pt idx="13">
                  <c:v>917.8419437939109</c:v>
                </c:pt>
                <c:pt idx="14">
                  <c:v>920.4619437939109</c:v>
                </c:pt>
                <c:pt idx="15">
                  <c:v>923.08194379391091</c:v>
                </c:pt>
                <c:pt idx="16">
                  <c:v>925.70194379391091</c:v>
                </c:pt>
                <c:pt idx="17">
                  <c:v>928.32194379391092</c:v>
                </c:pt>
                <c:pt idx="18">
                  <c:v>930.94194379391092</c:v>
                </c:pt>
                <c:pt idx="19">
                  <c:v>933.56194379391093</c:v>
                </c:pt>
                <c:pt idx="20">
                  <c:v>936.18194379391093</c:v>
                </c:pt>
                <c:pt idx="21">
                  <c:v>938.80194379391094</c:v>
                </c:pt>
                <c:pt idx="22">
                  <c:v>941.42194379391094</c:v>
                </c:pt>
                <c:pt idx="23">
                  <c:v>944.04194379391095</c:v>
                </c:pt>
                <c:pt idx="24">
                  <c:v>946.66194379391095</c:v>
                </c:pt>
                <c:pt idx="25">
                  <c:v>949.28194379391095</c:v>
                </c:pt>
                <c:pt idx="26">
                  <c:v>951.90194379391096</c:v>
                </c:pt>
                <c:pt idx="27">
                  <c:v>954.52194379391085</c:v>
                </c:pt>
                <c:pt idx="28">
                  <c:v>957.14194379391085</c:v>
                </c:pt>
                <c:pt idx="29">
                  <c:v>959.76194379391086</c:v>
                </c:pt>
                <c:pt idx="30">
                  <c:v>962.38194379391086</c:v>
                </c:pt>
                <c:pt idx="31">
                  <c:v>965.00194379391087</c:v>
                </c:pt>
                <c:pt idx="32">
                  <c:v>967.62194379391087</c:v>
                </c:pt>
                <c:pt idx="33">
                  <c:v>970.24194379391088</c:v>
                </c:pt>
                <c:pt idx="34">
                  <c:v>972.86194379391088</c:v>
                </c:pt>
                <c:pt idx="35">
                  <c:v>975.48194379391089</c:v>
                </c:pt>
                <c:pt idx="36">
                  <c:v>978.10194379391089</c:v>
                </c:pt>
                <c:pt idx="37">
                  <c:v>980.7219437939109</c:v>
                </c:pt>
                <c:pt idx="38">
                  <c:v>983.3419437939109</c:v>
                </c:pt>
                <c:pt idx="39">
                  <c:v>985.9619437939109</c:v>
                </c:pt>
                <c:pt idx="40">
                  <c:v>988.58194379391091</c:v>
                </c:pt>
                <c:pt idx="41">
                  <c:v>991.20194379391091</c:v>
                </c:pt>
                <c:pt idx="42">
                  <c:v>993.82194379391092</c:v>
                </c:pt>
                <c:pt idx="43">
                  <c:v>996.44194379391092</c:v>
                </c:pt>
                <c:pt idx="44">
                  <c:v>999.06194379391093</c:v>
                </c:pt>
                <c:pt idx="45">
                  <c:v>1001.6819437939109</c:v>
                </c:pt>
                <c:pt idx="46">
                  <c:v>1004.3019437939109</c:v>
                </c:pt>
                <c:pt idx="47">
                  <c:v>1006.9219437939109</c:v>
                </c:pt>
                <c:pt idx="48">
                  <c:v>1009.5419437939109</c:v>
                </c:pt>
                <c:pt idx="49">
                  <c:v>1012.161943793911</c:v>
                </c:pt>
                <c:pt idx="50">
                  <c:v>1014.781943793911</c:v>
                </c:pt>
                <c:pt idx="51">
                  <c:v>1017.401943793911</c:v>
                </c:pt>
                <c:pt idx="52">
                  <c:v>1020.0219437939109</c:v>
                </c:pt>
                <c:pt idx="53">
                  <c:v>1022.641943793911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A-75AC-414E-98C5-353B1782FE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15911824"/>
        <c:axId val="1915916144"/>
      </c:scatterChart>
      <c:scatterChart>
        <c:scatterStyle val="lineMarker"/>
        <c:varyColors val="0"/>
        <c:ser>
          <c:idx val="1"/>
          <c:order val="1"/>
          <c:tx>
            <c:v>rainfall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'sen''s slope'!$B$2:$B$55</c:f>
              <c:numCache>
                <c:formatCode>General</c:formatCode>
                <c:ptCount val="54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  <c:pt idx="31">
                  <c:v>2001</c:v>
                </c:pt>
                <c:pt idx="32">
                  <c:v>2002</c:v>
                </c:pt>
                <c:pt idx="33">
                  <c:v>2003</c:v>
                </c:pt>
                <c:pt idx="34">
                  <c:v>2004</c:v>
                </c:pt>
                <c:pt idx="35">
                  <c:v>2005</c:v>
                </c:pt>
                <c:pt idx="36">
                  <c:v>2006</c:v>
                </c:pt>
                <c:pt idx="37">
                  <c:v>2007</c:v>
                </c:pt>
                <c:pt idx="38">
                  <c:v>2008</c:v>
                </c:pt>
                <c:pt idx="39">
                  <c:v>2009</c:v>
                </c:pt>
                <c:pt idx="40">
                  <c:v>2010</c:v>
                </c:pt>
                <c:pt idx="41">
                  <c:v>2011</c:v>
                </c:pt>
                <c:pt idx="42">
                  <c:v>2012</c:v>
                </c:pt>
                <c:pt idx="43">
                  <c:v>2013</c:v>
                </c:pt>
                <c:pt idx="44">
                  <c:v>2014</c:v>
                </c:pt>
                <c:pt idx="45">
                  <c:v>2015</c:v>
                </c:pt>
                <c:pt idx="46">
                  <c:v>2017</c:v>
                </c:pt>
                <c:pt idx="47">
                  <c:v>2018</c:v>
                </c:pt>
                <c:pt idx="48">
                  <c:v>2019</c:v>
                </c:pt>
                <c:pt idx="49">
                  <c:v>2020</c:v>
                </c:pt>
                <c:pt idx="50">
                  <c:v>2021</c:v>
                </c:pt>
                <c:pt idx="51">
                  <c:v>2022</c:v>
                </c:pt>
                <c:pt idx="52">
                  <c:v>2023</c:v>
                </c:pt>
                <c:pt idx="53">
                  <c:v>2024</c:v>
                </c:pt>
              </c:numCache>
            </c:numRef>
          </c:xVal>
          <c:yVal>
            <c:numRef>
              <c:f>'sen''s slope'!$C$2:$C$55</c:f>
              <c:numCache>
                <c:formatCode>General</c:formatCode>
                <c:ptCount val="54"/>
                <c:pt idx="0">
                  <c:v>1084.655737704918</c:v>
                </c:pt>
                <c:pt idx="1">
                  <c:v>693.55971896955509</c:v>
                </c:pt>
                <c:pt idx="2">
                  <c:v>657.57377049180332</c:v>
                </c:pt>
                <c:pt idx="3">
                  <c:v>942.10772833723672</c:v>
                </c:pt>
                <c:pt idx="4">
                  <c:v>661.17564402810308</c:v>
                </c:pt>
                <c:pt idx="5">
                  <c:v>1110.7330210772834</c:v>
                </c:pt>
                <c:pt idx="6">
                  <c:v>993.40281030444964</c:v>
                </c:pt>
                <c:pt idx="7">
                  <c:v>906.37236533957844</c:v>
                </c:pt>
                <c:pt idx="8">
                  <c:v>1092.2622950819673</c:v>
                </c:pt>
                <c:pt idx="9">
                  <c:v>830.59484777517559</c:v>
                </c:pt>
                <c:pt idx="10">
                  <c:v>1006.2786885245902</c:v>
                </c:pt>
                <c:pt idx="11">
                  <c:v>1019.4683840749414</c:v>
                </c:pt>
                <c:pt idx="12">
                  <c:v>805.09367681498816</c:v>
                </c:pt>
                <c:pt idx="13">
                  <c:v>1214.4004683840749</c:v>
                </c:pt>
                <c:pt idx="14">
                  <c:v>743.30210772833732</c:v>
                </c:pt>
                <c:pt idx="15">
                  <c:v>734.59484777517548</c:v>
                </c:pt>
                <c:pt idx="16">
                  <c:v>938.07494145199064</c:v>
                </c:pt>
                <c:pt idx="17">
                  <c:v>710.53395784543329</c:v>
                </c:pt>
                <c:pt idx="18">
                  <c:v>1215.6674473067915</c:v>
                </c:pt>
                <c:pt idx="19">
                  <c:v>1096.0772833723654</c:v>
                </c:pt>
                <c:pt idx="20">
                  <c:v>1142.9227166276346</c:v>
                </c:pt>
                <c:pt idx="21">
                  <c:v>835.81264637002334</c:v>
                </c:pt>
                <c:pt idx="22">
                  <c:v>983.28337236533957</c:v>
                </c:pt>
                <c:pt idx="23">
                  <c:v>866.56908665105368</c:v>
                </c:pt>
                <c:pt idx="24">
                  <c:v>1137.4707259953163</c:v>
                </c:pt>
                <c:pt idx="25">
                  <c:v>881.09601873536303</c:v>
                </c:pt>
                <c:pt idx="26">
                  <c:v>859.30913348946137</c:v>
                </c:pt>
                <c:pt idx="27">
                  <c:v>783.61826697892275</c:v>
                </c:pt>
                <c:pt idx="28">
                  <c:v>955.6861826697891</c:v>
                </c:pt>
                <c:pt idx="29">
                  <c:v>959.30444964871197</c:v>
                </c:pt>
                <c:pt idx="30">
                  <c:v>950.7377049180327</c:v>
                </c:pt>
                <c:pt idx="31">
                  <c:v>939.90163934426209</c:v>
                </c:pt>
                <c:pt idx="32">
                  <c:v>794.01873536299763</c:v>
                </c:pt>
                <c:pt idx="33">
                  <c:v>1023.7892271662764</c:v>
                </c:pt>
                <c:pt idx="34">
                  <c:v>759.7377049180327</c:v>
                </c:pt>
                <c:pt idx="35">
                  <c:v>1060.4941451990633</c:v>
                </c:pt>
                <c:pt idx="36">
                  <c:v>1180.5409836065573</c:v>
                </c:pt>
                <c:pt idx="37">
                  <c:v>1011.248243559719</c:v>
                </c:pt>
                <c:pt idx="38">
                  <c:v>921.32084309133484</c:v>
                </c:pt>
                <c:pt idx="39">
                  <c:v>698.76580796252927</c:v>
                </c:pt>
                <c:pt idx="40">
                  <c:v>1170.2740046838408</c:v>
                </c:pt>
                <c:pt idx="41">
                  <c:v>839.96487119437938</c:v>
                </c:pt>
                <c:pt idx="42">
                  <c:v>964.29976580796244</c:v>
                </c:pt>
                <c:pt idx="43">
                  <c:v>1197.2505854800938</c:v>
                </c:pt>
                <c:pt idx="44">
                  <c:v>783.27400468384076</c:v>
                </c:pt>
                <c:pt idx="45">
                  <c:v>836.80327868852464</c:v>
                </c:pt>
                <c:pt idx="46">
                  <c:v>838.80562060889929</c:v>
                </c:pt>
                <c:pt idx="47">
                  <c:v>933.7166276346602</c:v>
                </c:pt>
                <c:pt idx="48">
                  <c:v>1073.6487119437938</c:v>
                </c:pt>
                <c:pt idx="49">
                  <c:v>1083.138173302108</c:v>
                </c:pt>
                <c:pt idx="50">
                  <c:v>1059.6182669789227</c:v>
                </c:pt>
                <c:pt idx="51">
                  <c:v>1255.4186993664439</c:v>
                </c:pt>
                <c:pt idx="52">
                  <c:v>974.25339039584003</c:v>
                </c:pt>
                <c:pt idx="53">
                  <c:v>1153.7649268691691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75AC-414E-98C5-353B1782FE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15911824"/>
        <c:axId val="1915916144"/>
      </c:scatterChart>
      <c:valAx>
        <c:axId val="19159118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ln>
                      <a:solidFill>
                        <a:schemeClr val="accent1"/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ln>
                    <a:solidFill>
                      <a:schemeClr val="accent1"/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chemeClr val="accent1"/>
                  </a:solidFill>
                </a:ln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5916144"/>
        <c:crosses val="autoZero"/>
        <c:crossBetween val="midCat"/>
      </c:valAx>
      <c:valAx>
        <c:axId val="1915916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ln>
                      <a:solidFill>
                        <a:schemeClr val="accent1"/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/>
                  <a:t>Rainfall</a:t>
                </a:r>
                <a:r>
                  <a:rPr lang="en-IN" sz="1200" baseline="0"/>
                  <a:t> (in mm)</a:t>
                </a:r>
                <a:endParaRPr lang="en-IN" sz="12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ln>
                    <a:solidFill>
                      <a:schemeClr val="accent1"/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ln>
                  <a:solidFill>
                    <a:schemeClr val="accent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59118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accent1"/>
            </a:solidFill>
          </a:ln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v>jan</c:v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'monthly rainfall data'!$B$2:$B$55</c:f>
              <c:numCache>
                <c:formatCode>General</c:formatCode>
                <c:ptCount val="54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  <c:pt idx="31">
                  <c:v>2001</c:v>
                </c:pt>
                <c:pt idx="32">
                  <c:v>2002</c:v>
                </c:pt>
                <c:pt idx="33">
                  <c:v>2003</c:v>
                </c:pt>
                <c:pt idx="34">
                  <c:v>2004</c:v>
                </c:pt>
                <c:pt idx="35">
                  <c:v>2005</c:v>
                </c:pt>
                <c:pt idx="36">
                  <c:v>2006</c:v>
                </c:pt>
                <c:pt idx="37">
                  <c:v>2007</c:v>
                </c:pt>
                <c:pt idx="38">
                  <c:v>2008</c:v>
                </c:pt>
                <c:pt idx="39">
                  <c:v>2009</c:v>
                </c:pt>
                <c:pt idx="40">
                  <c:v>2010</c:v>
                </c:pt>
                <c:pt idx="41">
                  <c:v>2011</c:v>
                </c:pt>
                <c:pt idx="42">
                  <c:v>2012</c:v>
                </c:pt>
                <c:pt idx="43">
                  <c:v>2013</c:v>
                </c:pt>
                <c:pt idx="44">
                  <c:v>2014</c:v>
                </c:pt>
                <c:pt idx="45">
                  <c:v>2015</c:v>
                </c:pt>
                <c:pt idx="46">
                  <c:v>2017</c:v>
                </c:pt>
                <c:pt idx="47">
                  <c:v>2018</c:v>
                </c:pt>
                <c:pt idx="48">
                  <c:v>2019</c:v>
                </c:pt>
                <c:pt idx="49">
                  <c:v>2020</c:v>
                </c:pt>
                <c:pt idx="50">
                  <c:v>2021</c:v>
                </c:pt>
                <c:pt idx="51">
                  <c:v>2022</c:v>
                </c:pt>
                <c:pt idx="52">
                  <c:v>2023</c:v>
                </c:pt>
                <c:pt idx="53">
                  <c:v>2024</c:v>
                </c:pt>
              </c:numCache>
            </c:numRef>
          </c:cat>
          <c:val>
            <c:numRef>
              <c:f>'monthly rainfall data'!$C$2:$C$55</c:f>
              <c:numCache>
                <c:formatCode>General</c:formatCode>
                <c:ptCount val="54"/>
                <c:pt idx="0">
                  <c:v>11.346604215456674</c:v>
                </c:pt>
                <c:pt idx="1">
                  <c:v>3.9742388758782208</c:v>
                </c:pt>
                <c:pt idx="2">
                  <c:v>0</c:v>
                </c:pt>
                <c:pt idx="3">
                  <c:v>0.57611241217798592</c:v>
                </c:pt>
                <c:pt idx="4">
                  <c:v>4.449648711943794E-2</c:v>
                </c:pt>
                <c:pt idx="5">
                  <c:v>6.4074941451990632</c:v>
                </c:pt>
                <c:pt idx="6">
                  <c:v>1.1358313817330212</c:v>
                </c:pt>
                <c:pt idx="7">
                  <c:v>0.12177985948477753</c:v>
                </c:pt>
                <c:pt idx="8">
                  <c:v>11.482435597189694</c:v>
                </c:pt>
                <c:pt idx="9">
                  <c:v>14.866510538641688</c:v>
                </c:pt>
                <c:pt idx="10">
                  <c:v>4.2786885245901649</c:v>
                </c:pt>
                <c:pt idx="11">
                  <c:v>18.255269320843091</c:v>
                </c:pt>
                <c:pt idx="12">
                  <c:v>17.929742388758783</c:v>
                </c:pt>
                <c:pt idx="13">
                  <c:v>0.57142857142857151</c:v>
                </c:pt>
                <c:pt idx="14">
                  <c:v>14.12177985948478</c:v>
                </c:pt>
                <c:pt idx="15">
                  <c:v>19.875878220140518</c:v>
                </c:pt>
                <c:pt idx="16">
                  <c:v>19.283372365339581</c:v>
                </c:pt>
                <c:pt idx="17">
                  <c:v>17.475409836065573</c:v>
                </c:pt>
                <c:pt idx="18">
                  <c:v>0.98594847775175642</c:v>
                </c:pt>
                <c:pt idx="19">
                  <c:v>0</c:v>
                </c:pt>
                <c:pt idx="20">
                  <c:v>2.9250585480093667</c:v>
                </c:pt>
                <c:pt idx="21">
                  <c:v>6.1194379391100719</c:v>
                </c:pt>
                <c:pt idx="22">
                  <c:v>1.189695550351288</c:v>
                </c:pt>
                <c:pt idx="23">
                  <c:v>7.9625292740046844E-2</c:v>
                </c:pt>
                <c:pt idx="24">
                  <c:v>6.5620608899297421</c:v>
                </c:pt>
                <c:pt idx="25">
                  <c:v>56.358313817330206</c:v>
                </c:pt>
                <c:pt idx="26">
                  <c:v>4.4941451990632313</c:v>
                </c:pt>
                <c:pt idx="27">
                  <c:v>12.704918032786884</c:v>
                </c:pt>
                <c:pt idx="28">
                  <c:v>9.6674473067915692</c:v>
                </c:pt>
                <c:pt idx="29">
                  <c:v>4.6838407494145202E-2</c:v>
                </c:pt>
                <c:pt idx="30">
                  <c:v>0.70257611241217788</c:v>
                </c:pt>
                <c:pt idx="31">
                  <c:v>5.5128805620608894</c:v>
                </c:pt>
                <c:pt idx="32">
                  <c:v>12.826697892271659</c:v>
                </c:pt>
                <c:pt idx="33">
                  <c:v>0.51053864168618268</c:v>
                </c:pt>
                <c:pt idx="34">
                  <c:v>20.252927400468383</c:v>
                </c:pt>
                <c:pt idx="35">
                  <c:v>51.311475409836063</c:v>
                </c:pt>
                <c:pt idx="36">
                  <c:v>0</c:v>
                </c:pt>
                <c:pt idx="37">
                  <c:v>0.15690866510538642</c:v>
                </c:pt>
                <c:pt idx="38">
                  <c:v>1.4285714285714286</c:v>
                </c:pt>
                <c:pt idx="39">
                  <c:v>0.17798594847775176</c:v>
                </c:pt>
                <c:pt idx="40">
                  <c:v>9.9601873536299763</c:v>
                </c:pt>
                <c:pt idx="41">
                  <c:v>0.32084309133489464</c:v>
                </c:pt>
                <c:pt idx="42">
                  <c:v>11.538641686182668</c:v>
                </c:pt>
                <c:pt idx="43">
                  <c:v>3.5995316159250579</c:v>
                </c:pt>
                <c:pt idx="44">
                  <c:v>1.8548009367681497</c:v>
                </c:pt>
                <c:pt idx="45">
                  <c:v>15.92271662763466</c:v>
                </c:pt>
                <c:pt idx="46">
                  <c:v>0.39344262295081966</c:v>
                </c:pt>
                <c:pt idx="47">
                  <c:v>0</c:v>
                </c:pt>
                <c:pt idx="48">
                  <c:v>12.093676814988291</c:v>
                </c:pt>
                <c:pt idx="49">
                  <c:v>15.985948477751755</c:v>
                </c:pt>
                <c:pt idx="50">
                  <c:v>3.7025761124121774</c:v>
                </c:pt>
                <c:pt idx="51">
                  <c:v>30.292685303095489</c:v>
                </c:pt>
                <c:pt idx="52">
                  <c:v>0.4518322243973551</c:v>
                </c:pt>
                <c:pt idx="53">
                  <c:v>2.0169661757154542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A6-40D4-AC53-28BF09645811}"/>
            </c:ext>
          </c:extLst>
        </c:ser>
        <c:ser>
          <c:idx val="1"/>
          <c:order val="1"/>
          <c:tx>
            <c:v>feb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'monthly rainfall data'!$B$2:$B$55</c:f>
              <c:numCache>
                <c:formatCode>General</c:formatCode>
                <c:ptCount val="54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  <c:pt idx="31">
                  <c:v>2001</c:v>
                </c:pt>
                <c:pt idx="32">
                  <c:v>2002</c:v>
                </c:pt>
                <c:pt idx="33">
                  <c:v>2003</c:v>
                </c:pt>
                <c:pt idx="34">
                  <c:v>2004</c:v>
                </c:pt>
                <c:pt idx="35">
                  <c:v>2005</c:v>
                </c:pt>
                <c:pt idx="36">
                  <c:v>2006</c:v>
                </c:pt>
                <c:pt idx="37">
                  <c:v>2007</c:v>
                </c:pt>
                <c:pt idx="38">
                  <c:v>2008</c:v>
                </c:pt>
                <c:pt idx="39">
                  <c:v>2009</c:v>
                </c:pt>
                <c:pt idx="40">
                  <c:v>2010</c:v>
                </c:pt>
                <c:pt idx="41">
                  <c:v>2011</c:v>
                </c:pt>
                <c:pt idx="42">
                  <c:v>2012</c:v>
                </c:pt>
                <c:pt idx="43">
                  <c:v>2013</c:v>
                </c:pt>
                <c:pt idx="44">
                  <c:v>2014</c:v>
                </c:pt>
                <c:pt idx="45">
                  <c:v>2015</c:v>
                </c:pt>
                <c:pt idx="46">
                  <c:v>2017</c:v>
                </c:pt>
                <c:pt idx="47">
                  <c:v>2018</c:v>
                </c:pt>
                <c:pt idx="48">
                  <c:v>2019</c:v>
                </c:pt>
                <c:pt idx="49">
                  <c:v>2020</c:v>
                </c:pt>
                <c:pt idx="50">
                  <c:v>2021</c:v>
                </c:pt>
                <c:pt idx="51">
                  <c:v>2022</c:v>
                </c:pt>
                <c:pt idx="52">
                  <c:v>2023</c:v>
                </c:pt>
                <c:pt idx="53">
                  <c:v>2024</c:v>
                </c:pt>
              </c:numCache>
            </c:numRef>
          </c:cat>
          <c:val>
            <c:numRef>
              <c:f>'monthly rainfall data'!$D$2:$D$55</c:f>
              <c:numCache>
                <c:formatCode>General</c:formatCode>
                <c:ptCount val="54"/>
                <c:pt idx="0">
                  <c:v>5.740046838407495</c:v>
                </c:pt>
                <c:pt idx="1">
                  <c:v>13.489461358313818</c:v>
                </c:pt>
                <c:pt idx="2">
                  <c:v>5.9929742388758784</c:v>
                </c:pt>
                <c:pt idx="3">
                  <c:v>4.7540983606557363</c:v>
                </c:pt>
                <c:pt idx="4">
                  <c:v>2.168618266978922</c:v>
                </c:pt>
                <c:pt idx="5">
                  <c:v>14.524590163934427</c:v>
                </c:pt>
                <c:pt idx="6">
                  <c:v>0.62997658079625296</c:v>
                </c:pt>
                <c:pt idx="7">
                  <c:v>2.2857142857142856</c:v>
                </c:pt>
                <c:pt idx="8">
                  <c:v>19.306791569086645</c:v>
                </c:pt>
                <c:pt idx="9">
                  <c:v>36.716627634660412</c:v>
                </c:pt>
                <c:pt idx="10">
                  <c:v>1.5714285714285716</c:v>
                </c:pt>
                <c:pt idx="11">
                  <c:v>0.2576112412177986</c:v>
                </c:pt>
                <c:pt idx="12">
                  <c:v>5.1779859484777511</c:v>
                </c:pt>
                <c:pt idx="13">
                  <c:v>7.5152224824355978</c:v>
                </c:pt>
                <c:pt idx="14">
                  <c:v>12.14519906323185</c:v>
                </c:pt>
                <c:pt idx="15">
                  <c:v>1.269320843091335</c:v>
                </c:pt>
                <c:pt idx="16">
                  <c:v>45.362997658079614</c:v>
                </c:pt>
                <c:pt idx="17">
                  <c:v>6.4730679156908666</c:v>
                </c:pt>
                <c:pt idx="18">
                  <c:v>8.6346604215456662</c:v>
                </c:pt>
                <c:pt idx="19">
                  <c:v>0</c:v>
                </c:pt>
                <c:pt idx="20">
                  <c:v>12.941451990632316</c:v>
                </c:pt>
                <c:pt idx="21">
                  <c:v>1.9086651053864172</c:v>
                </c:pt>
                <c:pt idx="22">
                  <c:v>1.449648711943794</c:v>
                </c:pt>
                <c:pt idx="23">
                  <c:v>4.5901639344262293</c:v>
                </c:pt>
                <c:pt idx="24">
                  <c:v>7.4918032786885238</c:v>
                </c:pt>
                <c:pt idx="25">
                  <c:v>3.365339578454333</c:v>
                </c:pt>
                <c:pt idx="26">
                  <c:v>5.1077283372365345</c:v>
                </c:pt>
                <c:pt idx="27">
                  <c:v>0.83372365339578458</c:v>
                </c:pt>
                <c:pt idx="28">
                  <c:v>15.803278688524589</c:v>
                </c:pt>
                <c:pt idx="29">
                  <c:v>10.676814988290397</c:v>
                </c:pt>
                <c:pt idx="30">
                  <c:v>13.416861826697893</c:v>
                </c:pt>
                <c:pt idx="31">
                  <c:v>0.29976580796252927</c:v>
                </c:pt>
                <c:pt idx="32">
                  <c:v>3.6908665105386418</c:v>
                </c:pt>
                <c:pt idx="33">
                  <c:v>12.248243559718972</c:v>
                </c:pt>
                <c:pt idx="34">
                  <c:v>7.2599531615925059</c:v>
                </c:pt>
                <c:pt idx="35">
                  <c:v>7.6627634660421551</c:v>
                </c:pt>
                <c:pt idx="36">
                  <c:v>0</c:v>
                </c:pt>
                <c:pt idx="37">
                  <c:v>1.8524590163934427</c:v>
                </c:pt>
                <c:pt idx="38">
                  <c:v>7.5901639344262293</c:v>
                </c:pt>
                <c:pt idx="39">
                  <c:v>7.9625292740046844E-2</c:v>
                </c:pt>
                <c:pt idx="40">
                  <c:v>8.7353629976580791</c:v>
                </c:pt>
                <c:pt idx="41">
                  <c:v>4.8665105386416849</c:v>
                </c:pt>
                <c:pt idx="42">
                  <c:v>0.23185011709601872</c:v>
                </c:pt>
                <c:pt idx="43">
                  <c:v>17.953161592505854</c:v>
                </c:pt>
                <c:pt idx="44">
                  <c:v>16.332552693208431</c:v>
                </c:pt>
                <c:pt idx="45">
                  <c:v>10.412177985948478</c:v>
                </c:pt>
                <c:pt idx="46">
                  <c:v>0.48477751756440279</c:v>
                </c:pt>
                <c:pt idx="47">
                  <c:v>10.320843091334895</c:v>
                </c:pt>
                <c:pt idx="48">
                  <c:v>2.9531615925058547</c:v>
                </c:pt>
                <c:pt idx="49">
                  <c:v>10.988290398126464</c:v>
                </c:pt>
                <c:pt idx="50">
                  <c:v>6.8103044496487115</c:v>
                </c:pt>
                <c:pt idx="51">
                  <c:v>1.3852952577400541</c:v>
                </c:pt>
                <c:pt idx="52">
                  <c:v>0</c:v>
                </c:pt>
                <c:pt idx="53">
                  <c:v>3.8876557764215538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A6-40D4-AC53-28BF09645811}"/>
            </c:ext>
          </c:extLst>
        </c:ser>
        <c:ser>
          <c:idx val="2"/>
          <c:order val="2"/>
          <c:tx>
            <c:v>march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'monthly rainfall data'!$E$2:$E$55</c:f>
              <c:numCache>
                <c:formatCode>General</c:formatCode>
                <c:ptCount val="54"/>
                <c:pt idx="0">
                  <c:v>18.929742388758783</c:v>
                </c:pt>
                <c:pt idx="1">
                  <c:v>11.711943793911004</c:v>
                </c:pt>
                <c:pt idx="2">
                  <c:v>0.13348946135831383</c:v>
                </c:pt>
                <c:pt idx="3">
                  <c:v>2.533957845433255</c:v>
                </c:pt>
                <c:pt idx="4">
                  <c:v>2.8524590163934427</c:v>
                </c:pt>
                <c:pt idx="5">
                  <c:v>9.2060889929742356</c:v>
                </c:pt>
                <c:pt idx="6">
                  <c:v>2.5386416861826699</c:v>
                </c:pt>
                <c:pt idx="7">
                  <c:v>3.1756440281030454</c:v>
                </c:pt>
                <c:pt idx="8">
                  <c:v>11.887587822014055</c:v>
                </c:pt>
                <c:pt idx="9">
                  <c:v>1.2459016393442623</c:v>
                </c:pt>
                <c:pt idx="10">
                  <c:v>4.8571428571428568</c:v>
                </c:pt>
                <c:pt idx="11">
                  <c:v>27.508196721311471</c:v>
                </c:pt>
                <c:pt idx="12">
                  <c:v>3.3676814988290396</c:v>
                </c:pt>
                <c:pt idx="13">
                  <c:v>2.1498829039812644</c:v>
                </c:pt>
                <c:pt idx="14">
                  <c:v>0.63934426229508201</c:v>
                </c:pt>
                <c:pt idx="15">
                  <c:v>3.9625292740046838</c:v>
                </c:pt>
                <c:pt idx="16">
                  <c:v>4.4566744730679151</c:v>
                </c:pt>
                <c:pt idx="17">
                  <c:v>10.721311475409836</c:v>
                </c:pt>
                <c:pt idx="18">
                  <c:v>4.7775175644028103</c:v>
                </c:pt>
                <c:pt idx="19">
                  <c:v>30.255269320843095</c:v>
                </c:pt>
                <c:pt idx="20">
                  <c:v>14.074941451990632</c:v>
                </c:pt>
                <c:pt idx="21">
                  <c:v>6.6416861826697868</c:v>
                </c:pt>
                <c:pt idx="22">
                  <c:v>7.2599531615925056E-2</c:v>
                </c:pt>
                <c:pt idx="23">
                  <c:v>10.149882903981265</c:v>
                </c:pt>
                <c:pt idx="24">
                  <c:v>0.34192037470726</c:v>
                </c:pt>
                <c:pt idx="25">
                  <c:v>30.918032786885245</c:v>
                </c:pt>
                <c:pt idx="26">
                  <c:v>3.8384074941451987</c:v>
                </c:pt>
                <c:pt idx="27">
                  <c:v>11.875878220140516</c:v>
                </c:pt>
                <c:pt idx="28">
                  <c:v>12.025761124121781</c:v>
                </c:pt>
                <c:pt idx="29">
                  <c:v>0.50117096018735363</c:v>
                </c:pt>
                <c:pt idx="30">
                  <c:v>0.44262295081967207</c:v>
                </c:pt>
                <c:pt idx="31">
                  <c:v>8.9953161592505886</c:v>
                </c:pt>
                <c:pt idx="32">
                  <c:v>1.9508196721311473</c:v>
                </c:pt>
                <c:pt idx="33">
                  <c:v>11.85480093676815</c:v>
                </c:pt>
                <c:pt idx="34">
                  <c:v>2.0140515222482436</c:v>
                </c:pt>
                <c:pt idx="35">
                  <c:v>10.159250585480095</c:v>
                </c:pt>
                <c:pt idx="36">
                  <c:v>39.454332552693209</c:v>
                </c:pt>
                <c:pt idx="37">
                  <c:v>1.1615925058548011</c:v>
                </c:pt>
                <c:pt idx="38">
                  <c:v>43.36768149882905</c:v>
                </c:pt>
                <c:pt idx="39">
                  <c:v>5.2810304449648715</c:v>
                </c:pt>
                <c:pt idx="40">
                  <c:v>7.7704918032786878</c:v>
                </c:pt>
                <c:pt idx="41">
                  <c:v>1.449648711943794</c:v>
                </c:pt>
                <c:pt idx="42">
                  <c:v>0.92271662763466045</c:v>
                </c:pt>
                <c:pt idx="43">
                  <c:v>2.7611241217798592</c:v>
                </c:pt>
                <c:pt idx="44">
                  <c:v>48.805620608899304</c:v>
                </c:pt>
                <c:pt idx="45">
                  <c:v>37.66744730679158</c:v>
                </c:pt>
                <c:pt idx="46">
                  <c:v>7.4426229508196711</c:v>
                </c:pt>
                <c:pt idx="47">
                  <c:v>2.8548009367681497</c:v>
                </c:pt>
                <c:pt idx="48">
                  <c:v>3.9882903981264635</c:v>
                </c:pt>
                <c:pt idx="49">
                  <c:v>25.557377049180335</c:v>
                </c:pt>
                <c:pt idx="50">
                  <c:v>5.7377049180327866</c:v>
                </c:pt>
                <c:pt idx="51">
                  <c:v>1.2393103621254482</c:v>
                </c:pt>
                <c:pt idx="52">
                  <c:v>34.941169475015485</c:v>
                </c:pt>
                <c:pt idx="53">
                  <c:v>12.053759851015281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1A6-40D4-AC53-28BF09645811}"/>
            </c:ext>
          </c:extLst>
        </c:ser>
        <c:ser>
          <c:idx val="3"/>
          <c:order val="3"/>
          <c:tx>
            <c:v>april</c:v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'monthly rainfall data'!$F$2:$F$55</c:f>
              <c:numCache>
                <c:formatCode>General</c:formatCode>
                <c:ptCount val="54"/>
                <c:pt idx="0">
                  <c:v>17.622950819672131</c:v>
                </c:pt>
                <c:pt idx="1">
                  <c:v>28.744730679156913</c:v>
                </c:pt>
                <c:pt idx="2">
                  <c:v>11.655737704918032</c:v>
                </c:pt>
                <c:pt idx="3">
                  <c:v>4.0234192037470722</c:v>
                </c:pt>
                <c:pt idx="4">
                  <c:v>7.0608899297423893</c:v>
                </c:pt>
                <c:pt idx="5">
                  <c:v>4.6229508196721314</c:v>
                </c:pt>
                <c:pt idx="6">
                  <c:v>18.681498829039814</c:v>
                </c:pt>
                <c:pt idx="7">
                  <c:v>24.035128805620612</c:v>
                </c:pt>
                <c:pt idx="8">
                  <c:v>19.491803278688526</c:v>
                </c:pt>
                <c:pt idx="9">
                  <c:v>5.5292740046838409</c:v>
                </c:pt>
                <c:pt idx="10">
                  <c:v>12.688524590163933</c:v>
                </c:pt>
                <c:pt idx="11">
                  <c:v>7.9250585480093676</c:v>
                </c:pt>
                <c:pt idx="12">
                  <c:v>11.911007025761126</c:v>
                </c:pt>
                <c:pt idx="13">
                  <c:v>4.5409836065573765</c:v>
                </c:pt>
                <c:pt idx="14">
                  <c:v>18.885245901639337</c:v>
                </c:pt>
                <c:pt idx="15">
                  <c:v>12.512880562060891</c:v>
                </c:pt>
                <c:pt idx="16">
                  <c:v>12.852459016393443</c:v>
                </c:pt>
                <c:pt idx="17">
                  <c:v>6.0234192037470722</c:v>
                </c:pt>
                <c:pt idx="18">
                  <c:v>18.747072599531617</c:v>
                </c:pt>
                <c:pt idx="19">
                  <c:v>2.255269320843091</c:v>
                </c:pt>
                <c:pt idx="20">
                  <c:v>5.1358313817330199</c:v>
                </c:pt>
                <c:pt idx="21">
                  <c:v>12.906323185011709</c:v>
                </c:pt>
                <c:pt idx="22">
                  <c:v>5.451990632318501</c:v>
                </c:pt>
                <c:pt idx="23">
                  <c:v>9.6885245901639347</c:v>
                </c:pt>
                <c:pt idx="24">
                  <c:v>18.217798594847775</c:v>
                </c:pt>
                <c:pt idx="25">
                  <c:v>12.477751756440279</c:v>
                </c:pt>
                <c:pt idx="26">
                  <c:v>19.489461358313822</c:v>
                </c:pt>
                <c:pt idx="27">
                  <c:v>39.10772833723653</c:v>
                </c:pt>
                <c:pt idx="28">
                  <c:v>11.950819672131146</c:v>
                </c:pt>
                <c:pt idx="29">
                  <c:v>1.5152224824355975</c:v>
                </c:pt>
                <c:pt idx="30">
                  <c:v>6.740046838407495</c:v>
                </c:pt>
                <c:pt idx="31">
                  <c:v>29.836065573770501</c:v>
                </c:pt>
                <c:pt idx="32">
                  <c:v>10.405152224824356</c:v>
                </c:pt>
                <c:pt idx="33">
                  <c:v>11.676814988290399</c:v>
                </c:pt>
                <c:pt idx="34">
                  <c:v>19.901639344262289</c:v>
                </c:pt>
                <c:pt idx="35">
                  <c:v>13.147540983606557</c:v>
                </c:pt>
                <c:pt idx="36">
                  <c:v>25.266978922716625</c:v>
                </c:pt>
                <c:pt idx="37">
                  <c:v>7.2810304449648706</c:v>
                </c:pt>
                <c:pt idx="38">
                  <c:v>9.5784543325526936</c:v>
                </c:pt>
                <c:pt idx="39">
                  <c:v>3.5761124121779857</c:v>
                </c:pt>
                <c:pt idx="40">
                  <c:v>10.236533957845433</c:v>
                </c:pt>
                <c:pt idx="41">
                  <c:v>25.128805620608905</c:v>
                </c:pt>
                <c:pt idx="42">
                  <c:v>12.074941451990632</c:v>
                </c:pt>
                <c:pt idx="43">
                  <c:v>26.168618266978925</c:v>
                </c:pt>
                <c:pt idx="44">
                  <c:v>11.854800936768148</c:v>
                </c:pt>
                <c:pt idx="45">
                  <c:v>44.644028103044505</c:v>
                </c:pt>
                <c:pt idx="46">
                  <c:v>2.7775175644028098</c:v>
                </c:pt>
                <c:pt idx="47">
                  <c:v>27.82669789227166</c:v>
                </c:pt>
                <c:pt idx="48">
                  <c:v>10.751756440281032</c:v>
                </c:pt>
                <c:pt idx="49">
                  <c:v>25.093676814988292</c:v>
                </c:pt>
                <c:pt idx="50">
                  <c:v>19.608899297423889</c:v>
                </c:pt>
                <c:pt idx="51">
                  <c:v>7.5983927482673641</c:v>
                </c:pt>
                <c:pt idx="52">
                  <c:v>52.803912241858178</c:v>
                </c:pt>
                <c:pt idx="53">
                  <c:v>22.654041428005527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1A6-40D4-AC53-28BF09645811}"/>
            </c:ext>
          </c:extLst>
        </c:ser>
        <c:ser>
          <c:idx val="4"/>
          <c:order val="4"/>
          <c:tx>
            <c:v>may</c:v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'monthly rainfall data'!$G$2:$G$55</c:f>
              <c:numCache>
                <c:formatCode>General</c:formatCode>
                <c:ptCount val="54"/>
                <c:pt idx="0">
                  <c:v>38.96252927400468</c:v>
                </c:pt>
                <c:pt idx="1">
                  <c:v>45.704918032786885</c:v>
                </c:pt>
                <c:pt idx="2">
                  <c:v>7.4637002341920367</c:v>
                </c:pt>
                <c:pt idx="3">
                  <c:v>9.6557377049180335</c:v>
                </c:pt>
                <c:pt idx="4">
                  <c:v>27.997658079625293</c:v>
                </c:pt>
                <c:pt idx="5">
                  <c:v>18.803278688524589</c:v>
                </c:pt>
                <c:pt idx="6">
                  <c:v>16.620608899297427</c:v>
                </c:pt>
                <c:pt idx="7">
                  <c:v>32.96252927400468</c:v>
                </c:pt>
                <c:pt idx="8">
                  <c:v>13.38407494145199</c:v>
                </c:pt>
                <c:pt idx="9">
                  <c:v>27.964871194379388</c:v>
                </c:pt>
                <c:pt idx="10">
                  <c:v>10.238875878220139</c:v>
                </c:pt>
                <c:pt idx="11">
                  <c:v>20.564402810304454</c:v>
                </c:pt>
                <c:pt idx="12">
                  <c:v>22.259953161592509</c:v>
                </c:pt>
                <c:pt idx="13">
                  <c:v>20.306791569086652</c:v>
                </c:pt>
                <c:pt idx="14">
                  <c:v>7.173302107728337</c:v>
                </c:pt>
                <c:pt idx="15">
                  <c:v>14.501170960187356</c:v>
                </c:pt>
                <c:pt idx="16">
                  <c:v>13.964871194379384</c:v>
                </c:pt>
                <c:pt idx="17">
                  <c:v>24.590163934426226</c:v>
                </c:pt>
                <c:pt idx="18">
                  <c:v>13.236533957845435</c:v>
                </c:pt>
                <c:pt idx="19">
                  <c:v>10.997658079625296</c:v>
                </c:pt>
                <c:pt idx="20">
                  <c:v>159.57611241217802</c:v>
                </c:pt>
                <c:pt idx="21">
                  <c:v>13.281030444964868</c:v>
                </c:pt>
                <c:pt idx="22">
                  <c:v>12.929742388758783</c:v>
                </c:pt>
                <c:pt idx="23">
                  <c:v>17.667447306791569</c:v>
                </c:pt>
                <c:pt idx="24">
                  <c:v>14.99063231850117</c:v>
                </c:pt>
                <c:pt idx="25">
                  <c:v>50.180327868852444</c:v>
                </c:pt>
                <c:pt idx="26">
                  <c:v>6.3185011709601886</c:v>
                </c:pt>
                <c:pt idx="27">
                  <c:v>13.950819672131148</c:v>
                </c:pt>
                <c:pt idx="28">
                  <c:v>19.332552693208434</c:v>
                </c:pt>
                <c:pt idx="29">
                  <c:v>43.632318501170957</c:v>
                </c:pt>
                <c:pt idx="30">
                  <c:v>27.906323185011711</c:v>
                </c:pt>
                <c:pt idx="31">
                  <c:v>20.775175644028103</c:v>
                </c:pt>
                <c:pt idx="32">
                  <c:v>17.274004683840751</c:v>
                </c:pt>
                <c:pt idx="33">
                  <c:v>7.5526932084309131</c:v>
                </c:pt>
                <c:pt idx="34">
                  <c:v>25.929742388758783</c:v>
                </c:pt>
                <c:pt idx="35">
                  <c:v>17.611241217798593</c:v>
                </c:pt>
                <c:pt idx="36">
                  <c:v>42.803278688524593</c:v>
                </c:pt>
                <c:pt idx="37">
                  <c:v>13.791569086651052</c:v>
                </c:pt>
                <c:pt idx="38">
                  <c:v>9.1709601873536286</c:v>
                </c:pt>
                <c:pt idx="39">
                  <c:v>31.899297423887585</c:v>
                </c:pt>
                <c:pt idx="40">
                  <c:v>30.278688524590166</c:v>
                </c:pt>
                <c:pt idx="41">
                  <c:v>11.107728337236535</c:v>
                </c:pt>
                <c:pt idx="42">
                  <c:v>12.613583138173301</c:v>
                </c:pt>
                <c:pt idx="43">
                  <c:v>9.9601873536299763</c:v>
                </c:pt>
                <c:pt idx="44">
                  <c:v>30.222482435597197</c:v>
                </c:pt>
                <c:pt idx="45">
                  <c:v>21.681498829039818</c:v>
                </c:pt>
                <c:pt idx="46">
                  <c:v>18.098360655737711</c:v>
                </c:pt>
                <c:pt idx="47">
                  <c:v>25.798594847775174</c:v>
                </c:pt>
                <c:pt idx="48">
                  <c:v>13.224824355971897</c:v>
                </c:pt>
                <c:pt idx="49">
                  <c:v>22.199063231850115</c:v>
                </c:pt>
                <c:pt idx="50">
                  <c:v>48.55269320843091</c:v>
                </c:pt>
                <c:pt idx="51">
                  <c:v>25.415089410819125</c:v>
                </c:pt>
                <c:pt idx="52">
                  <c:v>53.043938599324441</c:v>
                </c:pt>
                <c:pt idx="53">
                  <c:v>45.139428094029412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A6-40D4-AC53-28BF09645811}"/>
            </c:ext>
          </c:extLst>
        </c:ser>
        <c:ser>
          <c:idx val="5"/>
          <c:order val="5"/>
          <c:tx>
            <c:v>june</c:v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'monthly rainfall data'!$H$2:$H$55</c:f>
              <c:numCache>
                <c:formatCode>General</c:formatCode>
                <c:ptCount val="54"/>
                <c:pt idx="0">
                  <c:v>256.33723653395788</c:v>
                </c:pt>
                <c:pt idx="1">
                  <c:v>180.34192037470723</c:v>
                </c:pt>
                <c:pt idx="2">
                  <c:v>128.72131147540983</c:v>
                </c:pt>
                <c:pt idx="3">
                  <c:v>100.52459016393442</c:v>
                </c:pt>
                <c:pt idx="4">
                  <c:v>121.4192037470726</c:v>
                </c:pt>
                <c:pt idx="5">
                  <c:v>220.51756440281031</c:v>
                </c:pt>
                <c:pt idx="6">
                  <c:v>93.894613583138167</c:v>
                </c:pt>
                <c:pt idx="7">
                  <c:v>145.768149882904</c:v>
                </c:pt>
                <c:pt idx="8">
                  <c:v>242.79625292740047</c:v>
                </c:pt>
                <c:pt idx="9">
                  <c:v>198.36299765807962</c:v>
                </c:pt>
                <c:pt idx="10">
                  <c:v>248.04918032786887</c:v>
                </c:pt>
                <c:pt idx="11">
                  <c:v>162.15925058548007</c:v>
                </c:pt>
                <c:pt idx="12">
                  <c:v>123.51053864168618</c:v>
                </c:pt>
                <c:pt idx="13">
                  <c:v>159.99063231850116</c:v>
                </c:pt>
                <c:pt idx="14">
                  <c:v>123.47540983606557</c:v>
                </c:pt>
                <c:pt idx="15">
                  <c:v>177.14519906323181</c:v>
                </c:pt>
                <c:pt idx="16">
                  <c:v>202.81498829039813</c:v>
                </c:pt>
                <c:pt idx="17">
                  <c:v>120.52224824355973</c:v>
                </c:pt>
                <c:pt idx="18">
                  <c:v>180.11943793911004</c:v>
                </c:pt>
                <c:pt idx="19">
                  <c:v>242.57377049180332</c:v>
                </c:pt>
                <c:pt idx="20">
                  <c:v>268.82903981264633</c:v>
                </c:pt>
                <c:pt idx="21">
                  <c:v>193.92974238875877</c:v>
                </c:pt>
                <c:pt idx="22">
                  <c:v>179.41217798594849</c:v>
                </c:pt>
                <c:pt idx="23">
                  <c:v>130.25292740046837</c:v>
                </c:pt>
                <c:pt idx="24">
                  <c:v>187.35597189695551</c:v>
                </c:pt>
                <c:pt idx="25">
                  <c:v>144.2552693208431</c:v>
                </c:pt>
                <c:pt idx="26">
                  <c:v>113.615925058548</c:v>
                </c:pt>
                <c:pt idx="27">
                  <c:v>97.644028103044491</c:v>
                </c:pt>
                <c:pt idx="28">
                  <c:v>162.29976580796247</c:v>
                </c:pt>
                <c:pt idx="29">
                  <c:v>202.31615925058549</c:v>
                </c:pt>
                <c:pt idx="30">
                  <c:v>221.43091334894615</c:v>
                </c:pt>
                <c:pt idx="31">
                  <c:v>269.17330210772826</c:v>
                </c:pt>
                <c:pt idx="32">
                  <c:v>231.63466042154565</c:v>
                </c:pt>
                <c:pt idx="33">
                  <c:v>126.33255269320843</c:v>
                </c:pt>
                <c:pt idx="34">
                  <c:v>149.51522248243555</c:v>
                </c:pt>
                <c:pt idx="35">
                  <c:v>152.52927400468386</c:v>
                </c:pt>
                <c:pt idx="36">
                  <c:v>122.12880562060889</c:v>
                </c:pt>
                <c:pt idx="37">
                  <c:v>245.0491803278689</c:v>
                </c:pt>
                <c:pt idx="38">
                  <c:v>157.58782201405151</c:v>
                </c:pt>
                <c:pt idx="39">
                  <c:v>83.969555035128806</c:v>
                </c:pt>
                <c:pt idx="40">
                  <c:v>131.03981264637</c:v>
                </c:pt>
                <c:pt idx="41">
                  <c:v>116.29976580796253</c:v>
                </c:pt>
                <c:pt idx="42">
                  <c:v>110.74238875878221</c:v>
                </c:pt>
                <c:pt idx="43">
                  <c:v>293.84777517564402</c:v>
                </c:pt>
                <c:pt idx="44">
                  <c:v>71.756440281030436</c:v>
                </c:pt>
                <c:pt idx="45">
                  <c:v>262.13348946135829</c:v>
                </c:pt>
                <c:pt idx="46">
                  <c:v>198.52693208430912</c:v>
                </c:pt>
                <c:pt idx="47">
                  <c:v>188.10538641686182</c:v>
                </c:pt>
                <c:pt idx="48">
                  <c:v>102.3864168618267</c:v>
                </c:pt>
                <c:pt idx="49">
                  <c:v>197.91100702576114</c:v>
                </c:pt>
                <c:pt idx="50">
                  <c:v>210.9976580796253</c:v>
                </c:pt>
                <c:pt idx="51">
                  <c:v>138.30557068976501</c:v>
                </c:pt>
                <c:pt idx="52">
                  <c:v>99.504031494759516</c:v>
                </c:pt>
                <c:pt idx="53">
                  <c:v>149.94560057029514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1A6-40D4-AC53-28BF09645811}"/>
            </c:ext>
          </c:extLst>
        </c:ser>
        <c:ser>
          <c:idx val="6"/>
          <c:order val="6"/>
          <c:tx>
            <c:v>july</c:v>
          </c:tx>
          <c:spPr>
            <a:solidFill>
              <a:schemeClr val="accent6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'monthly rainfall data'!$I$2:$I$55</c:f>
              <c:numCache>
                <c:formatCode>General</c:formatCode>
                <c:ptCount val="54"/>
                <c:pt idx="0">
                  <c:v>222.85948477751759</c:v>
                </c:pt>
                <c:pt idx="1">
                  <c:v>129.9320843091335</c:v>
                </c:pt>
                <c:pt idx="2">
                  <c:v>210.60421545667452</c:v>
                </c:pt>
                <c:pt idx="3">
                  <c:v>365.31147540983608</c:v>
                </c:pt>
                <c:pt idx="4">
                  <c:v>171.68149882903981</c:v>
                </c:pt>
                <c:pt idx="5">
                  <c:v>281.36299765807962</c:v>
                </c:pt>
                <c:pt idx="6">
                  <c:v>433.62060889929745</c:v>
                </c:pt>
                <c:pt idx="7">
                  <c:v>321.48711943793916</c:v>
                </c:pt>
                <c:pt idx="8">
                  <c:v>361.28571428571433</c:v>
                </c:pt>
                <c:pt idx="9">
                  <c:v>189.52693208430912</c:v>
                </c:pt>
                <c:pt idx="10">
                  <c:v>240.14285714285708</c:v>
                </c:pt>
                <c:pt idx="11">
                  <c:v>268.89695550351286</c:v>
                </c:pt>
                <c:pt idx="12">
                  <c:v>251.05620608899298</c:v>
                </c:pt>
                <c:pt idx="13">
                  <c:v>313.91100702576114</c:v>
                </c:pt>
                <c:pt idx="14">
                  <c:v>271.16393442622956</c:v>
                </c:pt>
                <c:pt idx="15">
                  <c:v>248.56206088992971</c:v>
                </c:pt>
                <c:pt idx="16">
                  <c:v>289.77049180327867</c:v>
                </c:pt>
                <c:pt idx="17">
                  <c:v>252.53395784543326</c:v>
                </c:pt>
                <c:pt idx="18">
                  <c:v>468.22950819672127</c:v>
                </c:pt>
                <c:pt idx="19">
                  <c:v>349.14051522248252</c:v>
                </c:pt>
                <c:pt idx="20">
                  <c:v>257.77049180327867</c:v>
                </c:pt>
                <c:pt idx="21">
                  <c:v>341.92505854800936</c:v>
                </c:pt>
                <c:pt idx="22">
                  <c:v>255.95081967213116</c:v>
                </c:pt>
                <c:pt idx="23">
                  <c:v>329.36299765807956</c:v>
                </c:pt>
                <c:pt idx="24">
                  <c:v>441.51756440281031</c:v>
                </c:pt>
                <c:pt idx="25">
                  <c:v>349.56908665105396</c:v>
                </c:pt>
                <c:pt idx="26">
                  <c:v>275.07025761124117</c:v>
                </c:pt>
                <c:pt idx="27">
                  <c:v>270.64168618266979</c:v>
                </c:pt>
                <c:pt idx="28">
                  <c:v>293.50117096018738</c:v>
                </c:pt>
                <c:pt idx="29">
                  <c:v>228.7259953161593</c:v>
                </c:pt>
                <c:pt idx="30">
                  <c:v>321.81264637002334</c:v>
                </c:pt>
                <c:pt idx="31">
                  <c:v>240.81733021077281</c:v>
                </c:pt>
                <c:pt idx="32">
                  <c:v>101.16393442622949</c:v>
                </c:pt>
                <c:pt idx="33">
                  <c:v>419.43559718969556</c:v>
                </c:pt>
                <c:pt idx="34">
                  <c:v>243.14519906323184</c:v>
                </c:pt>
                <c:pt idx="35">
                  <c:v>404.69320843091333</c:v>
                </c:pt>
                <c:pt idx="36">
                  <c:v>331.30913348946137</c:v>
                </c:pt>
                <c:pt idx="37">
                  <c:v>230.33723653395785</c:v>
                </c:pt>
                <c:pt idx="38">
                  <c:v>230.36768149882906</c:v>
                </c:pt>
                <c:pt idx="39">
                  <c:v>293.33489461358317</c:v>
                </c:pt>
                <c:pt idx="40">
                  <c:v>420.12177985948477</c:v>
                </c:pt>
                <c:pt idx="41">
                  <c:v>253.97892271662761</c:v>
                </c:pt>
                <c:pt idx="42">
                  <c:v>306.92505854800942</c:v>
                </c:pt>
                <c:pt idx="43">
                  <c:v>472.00702576112417</c:v>
                </c:pt>
                <c:pt idx="44">
                  <c:v>290.09367681498827</c:v>
                </c:pt>
                <c:pt idx="45">
                  <c:v>127.27634660421546</c:v>
                </c:pt>
                <c:pt idx="46">
                  <c:v>240.19906323185015</c:v>
                </c:pt>
                <c:pt idx="47">
                  <c:v>313.03747072599526</c:v>
                </c:pt>
                <c:pt idx="48">
                  <c:v>324.46604215456676</c:v>
                </c:pt>
                <c:pt idx="49">
                  <c:v>277.62295081967216</c:v>
                </c:pt>
                <c:pt idx="50">
                  <c:v>316.60889929742387</c:v>
                </c:pt>
                <c:pt idx="51">
                  <c:v>556.41790669046736</c:v>
                </c:pt>
                <c:pt idx="52">
                  <c:v>449.51492087471536</c:v>
                </c:pt>
                <c:pt idx="53">
                  <c:v>467.57290331214949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1A6-40D4-AC53-28BF09645811}"/>
            </c:ext>
          </c:extLst>
        </c:ser>
        <c:ser>
          <c:idx val="7"/>
          <c:order val="7"/>
          <c:tx>
            <c:v>august</c:v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'monthly rainfall data'!$J$2:$J$55</c:f>
              <c:numCache>
                <c:formatCode>General</c:formatCode>
                <c:ptCount val="54"/>
                <c:pt idx="0">
                  <c:v>407.96252927400474</c:v>
                </c:pt>
                <c:pt idx="1">
                  <c:v>243.10538641686179</c:v>
                </c:pt>
                <c:pt idx="2">
                  <c:v>200.79156908665107</c:v>
                </c:pt>
                <c:pt idx="3">
                  <c:v>341.6182669789228</c:v>
                </c:pt>
                <c:pt idx="4">
                  <c:v>246.04683840749416</c:v>
                </c:pt>
                <c:pt idx="5">
                  <c:v>301.98126463700231</c:v>
                </c:pt>
                <c:pt idx="6">
                  <c:v>295.2974238875878</c:v>
                </c:pt>
                <c:pt idx="7">
                  <c:v>300.05854800936766</c:v>
                </c:pt>
                <c:pt idx="8">
                  <c:v>384.39344262295083</c:v>
                </c:pt>
                <c:pt idx="9">
                  <c:v>246.33489461358315</c:v>
                </c:pt>
                <c:pt idx="10">
                  <c:v>343.36768149882903</c:v>
                </c:pt>
                <c:pt idx="11">
                  <c:v>316.96487119437933</c:v>
                </c:pt>
                <c:pt idx="12">
                  <c:v>271.25995316159248</c:v>
                </c:pt>
                <c:pt idx="13">
                  <c:v>402.74238875878223</c:v>
                </c:pt>
                <c:pt idx="14">
                  <c:v>249.78220140515225</c:v>
                </c:pt>
                <c:pt idx="15">
                  <c:v>203.73302107728335</c:v>
                </c:pt>
                <c:pt idx="16">
                  <c:v>357.21077283372364</c:v>
                </c:pt>
                <c:pt idx="17">
                  <c:v>266.25292740046842</c:v>
                </c:pt>
                <c:pt idx="18">
                  <c:v>299.17330210772838</c:v>
                </c:pt>
                <c:pt idx="19">
                  <c:v>341.37470725995314</c:v>
                </c:pt>
                <c:pt idx="20">
                  <c:v>461.82669789227168</c:v>
                </c:pt>
                <c:pt idx="21">
                  <c:v>221.21311475409837</c:v>
                </c:pt>
                <c:pt idx="22">
                  <c:v>396.21077283372364</c:v>
                </c:pt>
                <c:pt idx="23">
                  <c:v>211.37236533957841</c:v>
                </c:pt>
                <c:pt idx="24">
                  <c:v>338.82201405152222</c:v>
                </c:pt>
                <c:pt idx="25">
                  <c:v>218.97892271662766</c:v>
                </c:pt>
                <c:pt idx="26">
                  <c:v>300.78454332552695</c:v>
                </c:pt>
                <c:pt idx="27">
                  <c:v>241.48946135831383</c:v>
                </c:pt>
                <c:pt idx="28">
                  <c:v>257.48243559718969</c:v>
                </c:pt>
                <c:pt idx="29">
                  <c:v>273.49882903981256</c:v>
                </c:pt>
                <c:pt idx="30">
                  <c:v>338.08430913348946</c:v>
                </c:pt>
                <c:pt idx="31">
                  <c:v>340.13348946135818</c:v>
                </c:pt>
                <c:pt idx="32">
                  <c:v>348.8875878220141</c:v>
                </c:pt>
                <c:pt idx="33">
                  <c:v>322.99063231850113</c:v>
                </c:pt>
                <c:pt idx="34">
                  <c:v>239.96018735363</c:v>
                </c:pt>
                <c:pt idx="35">
                  <c:v>199.29039812646369</c:v>
                </c:pt>
                <c:pt idx="36">
                  <c:v>448.17564402810297</c:v>
                </c:pt>
                <c:pt idx="37">
                  <c:v>274.88056206088987</c:v>
                </c:pt>
                <c:pt idx="38">
                  <c:v>319.94613583138164</c:v>
                </c:pt>
                <c:pt idx="39">
                  <c:v>201.3770491803279</c:v>
                </c:pt>
                <c:pt idx="40">
                  <c:v>360.40983606557376</c:v>
                </c:pt>
                <c:pt idx="41">
                  <c:v>283.6487119437939</c:v>
                </c:pt>
                <c:pt idx="42">
                  <c:v>293.91803278688514</c:v>
                </c:pt>
                <c:pt idx="43">
                  <c:v>283.59484777517559</c:v>
                </c:pt>
                <c:pt idx="44">
                  <c:v>230.64871194379393</c:v>
                </c:pt>
                <c:pt idx="45">
                  <c:v>236.24590163934428</c:v>
                </c:pt>
                <c:pt idx="46">
                  <c:v>254.25995316159253</c:v>
                </c:pt>
                <c:pt idx="47">
                  <c:v>332.53629976580783</c:v>
                </c:pt>
                <c:pt idx="48">
                  <c:v>341.46604215456671</c:v>
                </c:pt>
                <c:pt idx="49">
                  <c:v>404.98829039812659</c:v>
                </c:pt>
                <c:pt idx="50">
                  <c:v>205.47306791569088</c:v>
                </c:pt>
                <c:pt idx="51">
                  <c:v>294.76003294507922</c:v>
                </c:pt>
                <c:pt idx="52">
                  <c:v>146.95600179976751</c:v>
                </c:pt>
                <c:pt idx="53">
                  <c:v>254.8711911728671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1A6-40D4-AC53-28BF09645811}"/>
            </c:ext>
          </c:extLst>
        </c:ser>
        <c:ser>
          <c:idx val="8"/>
          <c:order val="8"/>
          <c:tx>
            <c:v>september</c:v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'monthly rainfall data'!$K$2:$K$55</c:f>
              <c:numCache>
                <c:formatCode>General</c:formatCode>
                <c:ptCount val="54"/>
                <c:pt idx="0">
                  <c:v>197.49648711943792</c:v>
                </c:pt>
                <c:pt idx="1">
                  <c:v>140.18032786885246</c:v>
                </c:pt>
                <c:pt idx="2">
                  <c:v>117.45667447306791</c:v>
                </c:pt>
                <c:pt idx="3">
                  <c:v>134.65339578454331</c:v>
                </c:pt>
                <c:pt idx="4">
                  <c:v>122.02810304449648</c:v>
                </c:pt>
                <c:pt idx="5">
                  <c:v>306.87119437939111</c:v>
                </c:pt>
                <c:pt idx="6">
                  <c:v>170.59016393442622</c:v>
                </c:pt>
                <c:pt idx="7">
                  <c:v>139.05854800936771</c:v>
                </c:pt>
                <c:pt idx="8">
                  <c:v>103.78688524590164</c:v>
                </c:pt>
                <c:pt idx="9">
                  <c:v>196.37002341920373</c:v>
                </c:pt>
                <c:pt idx="10">
                  <c:v>174.71896955503516</c:v>
                </c:pt>
                <c:pt idx="11">
                  <c:v>271.44730679156908</c:v>
                </c:pt>
                <c:pt idx="12">
                  <c:v>159.26697892271665</c:v>
                </c:pt>
                <c:pt idx="13">
                  <c:v>337.75644028103045</c:v>
                </c:pt>
                <c:pt idx="14">
                  <c:v>98.880562060889915</c:v>
                </c:pt>
                <c:pt idx="15">
                  <c:v>105.15456674473069</c:v>
                </c:pt>
                <c:pt idx="16">
                  <c:v>88.278688524590166</c:v>
                </c:pt>
                <c:pt idx="17">
                  <c:v>71.224824355971919</c:v>
                </c:pt>
                <c:pt idx="18">
                  <c:v>268.14519906323187</c:v>
                </c:pt>
                <c:pt idx="19">
                  <c:v>162.98829039812642</c:v>
                </c:pt>
                <c:pt idx="20">
                  <c:v>154.49648711943794</c:v>
                </c:pt>
                <c:pt idx="21">
                  <c:v>78.744730679156902</c:v>
                </c:pt>
                <c:pt idx="22">
                  <c:v>151.70960187353631</c:v>
                </c:pt>
                <c:pt idx="23">
                  <c:v>195.58079625292737</c:v>
                </c:pt>
                <c:pt idx="24">
                  <c:v>169.77517564402811</c:v>
                </c:pt>
                <c:pt idx="25">
                  <c:v>168.29274004683839</c:v>
                </c:pt>
                <c:pt idx="26">
                  <c:v>169.8384074941452</c:v>
                </c:pt>
                <c:pt idx="27">
                  <c:v>173.84309133489464</c:v>
                </c:pt>
                <c:pt idx="28">
                  <c:v>242.40281030444959</c:v>
                </c:pt>
                <c:pt idx="29">
                  <c:v>254.76346604215459</c:v>
                </c:pt>
                <c:pt idx="30">
                  <c:v>69.409836065573771</c:v>
                </c:pt>
                <c:pt idx="31">
                  <c:v>89.777517564402814</c:v>
                </c:pt>
                <c:pt idx="32">
                  <c:v>112.33255269320847</c:v>
                </c:pt>
                <c:pt idx="33">
                  <c:v>155.03044496487121</c:v>
                </c:pt>
                <c:pt idx="34">
                  <c:v>127.11709601873534</c:v>
                </c:pt>
                <c:pt idx="35">
                  <c:v>303.98126463700231</c:v>
                </c:pt>
                <c:pt idx="36">
                  <c:v>278.92740046838401</c:v>
                </c:pt>
                <c:pt idx="37">
                  <c:v>260.98126463700231</c:v>
                </c:pt>
                <c:pt idx="38">
                  <c:v>213.41920374707257</c:v>
                </c:pt>
                <c:pt idx="39">
                  <c:v>120.08430913348947</c:v>
                </c:pt>
                <c:pt idx="40">
                  <c:v>258.7025761124122</c:v>
                </c:pt>
                <c:pt idx="41">
                  <c:v>186.03747072599532</c:v>
                </c:pt>
                <c:pt idx="42">
                  <c:v>252.71428571428567</c:v>
                </c:pt>
                <c:pt idx="43">
                  <c:v>147.80093676814988</c:v>
                </c:pt>
                <c:pt idx="44">
                  <c:v>190.77517564402814</c:v>
                </c:pt>
                <c:pt idx="45">
                  <c:v>211.14754098360658</c:v>
                </c:pt>
                <c:pt idx="46">
                  <c:v>145.81967213114751</c:v>
                </c:pt>
                <c:pt idx="47">
                  <c:v>100.03747072599532</c:v>
                </c:pt>
                <c:pt idx="48">
                  <c:v>305.33021077283371</c:v>
                </c:pt>
                <c:pt idx="49">
                  <c:v>202.61592505854804</c:v>
                </c:pt>
                <c:pt idx="50">
                  <c:v>326.53864168618264</c:v>
                </c:pt>
                <c:pt idx="51">
                  <c:v>265.93518904113233</c:v>
                </c:pt>
                <c:pt idx="52">
                  <c:v>278.27843622659771</c:v>
                </c:pt>
                <c:pt idx="53">
                  <c:v>281.37523181385751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1A6-40D4-AC53-28BF09645811}"/>
            </c:ext>
          </c:extLst>
        </c:ser>
        <c:ser>
          <c:idx val="9"/>
          <c:order val="9"/>
          <c:tx>
            <c:v>october</c:v>
          </c:tx>
          <c:spPr>
            <a:solidFill>
              <a:schemeClr val="accent6">
                <a:lumMod val="80000"/>
              </a:schemeClr>
            </a:solidFill>
            <a:ln>
              <a:noFill/>
            </a:ln>
            <a:effectLst/>
          </c:spPr>
          <c:invertIfNegative val="0"/>
          <c:val>
            <c:numRef>
              <c:f>'monthly rainfall data'!$L$2:$L$55</c:f>
              <c:numCache>
                <c:formatCode>General</c:formatCode>
                <c:ptCount val="54"/>
                <c:pt idx="0">
                  <c:v>28.384074941451995</c:v>
                </c:pt>
                <c:pt idx="1">
                  <c:v>124.37002341920373</c:v>
                </c:pt>
                <c:pt idx="2">
                  <c:v>43.763466042154569</c:v>
                </c:pt>
                <c:pt idx="3">
                  <c:v>184.21077283372367</c:v>
                </c:pt>
                <c:pt idx="4">
                  <c:v>172.13348946135835</c:v>
                </c:pt>
                <c:pt idx="5">
                  <c:v>143.85011709601875</c:v>
                </c:pt>
                <c:pt idx="6">
                  <c:v>5.9976580796252925</c:v>
                </c:pt>
                <c:pt idx="7">
                  <c:v>45.224824355971897</c:v>
                </c:pt>
                <c:pt idx="8">
                  <c:v>37.786885245901637</c:v>
                </c:pt>
                <c:pt idx="9">
                  <c:v>27.524590163934423</c:v>
                </c:pt>
                <c:pt idx="10">
                  <c:v>19.348946135831387</c:v>
                </c:pt>
                <c:pt idx="11">
                  <c:v>38.365339578454339</c:v>
                </c:pt>
                <c:pt idx="12">
                  <c:v>71.053864168618261</c:v>
                </c:pt>
                <c:pt idx="13">
                  <c:v>108.77985948477756</c:v>
                </c:pt>
                <c:pt idx="14">
                  <c:v>77.964871194379398</c:v>
                </c:pt>
                <c:pt idx="15">
                  <c:v>120.59484777517565</c:v>
                </c:pt>
                <c:pt idx="16">
                  <c:v>36.498829039812634</c:v>
                </c:pt>
                <c:pt idx="17">
                  <c:v>109.72131147540986</c:v>
                </c:pt>
                <c:pt idx="18">
                  <c:v>70.023419203747054</c:v>
                </c:pt>
                <c:pt idx="19">
                  <c:v>19.566744730679158</c:v>
                </c:pt>
                <c:pt idx="20">
                  <c:v>194.27400468384076</c:v>
                </c:pt>
                <c:pt idx="21">
                  <c:v>31.42622950819672</c:v>
                </c:pt>
                <c:pt idx="22">
                  <c:v>41.257611241217802</c:v>
                </c:pt>
                <c:pt idx="23">
                  <c:v>99.850117096018749</c:v>
                </c:pt>
                <c:pt idx="24">
                  <c:v>99.03044496487118</c:v>
                </c:pt>
                <c:pt idx="25">
                  <c:v>176.58313817330207</c:v>
                </c:pt>
                <c:pt idx="26">
                  <c:v>95.421545667447319</c:v>
                </c:pt>
                <c:pt idx="27">
                  <c:v>70.236533957845424</c:v>
                </c:pt>
                <c:pt idx="28">
                  <c:v>101.41686182669788</c:v>
                </c:pt>
                <c:pt idx="29">
                  <c:v>104.17564402810302</c:v>
                </c:pt>
                <c:pt idx="30">
                  <c:v>22.088992974238877</c:v>
                </c:pt>
                <c:pt idx="31">
                  <c:v>132.58079625292737</c:v>
                </c:pt>
                <c:pt idx="32">
                  <c:v>57.548009367681495</c:v>
                </c:pt>
                <c:pt idx="33">
                  <c:v>92.662763466042151</c:v>
                </c:pt>
                <c:pt idx="34">
                  <c:v>61.812646370023401</c:v>
                </c:pt>
                <c:pt idx="35">
                  <c:v>109.95550351288055</c:v>
                </c:pt>
                <c:pt idx="36">
                  <c:v>39.688524590163944</c:v>
                </c:pt>
                <c:pt idx="37">
                  <c:v>50.859484777517551</c:v>
                </c:pt>
                <c:pt idx="38">
                  <c:v>31.487119437939107</c:v>
                </c:pt>
                <c:pt idx="39">
                  <c:v>52.231850117096016</c:v>
                </c:pt>
                <c:pt idx="40">
                  <c:v>86.06323185011712</c:v>
                </c:pt>
                <c:pt idx="41">
                  <c:v>19.170960187353622</c:v>
                </c:pt>
                <c:pt idx="42">
                  <c:v>62.475409836065552</c:v>
                </c:pt>
                <c:pt idx="43">
                  <c:v>162.03747072599529</c:v>
                </c:pt>
                <c:pt idx="44">
                  <c:v>49.454332552693202</c:v>
                </c:pt>
                <c:pt idx="45">
                  <c:v>20.152224824355965</c:v>
                </c:pt>
                <c:pt idx="46">
                  <c:v>92.997658079625324</c:v>
                </c:pt>
                <c:pt idx="47">
                  <c:v>11.281030444964872</c:v>
                </c:pt>
                <c:pt idx="48">
                  <c:v>147.70725995316161</c:v>
                </c:pt>
                <c:pt idx="49">
                  <c:v>109.09133489461361</c:v>
                </c:pt>
                <c:pt idx="50">
                  <c:v>66.274004683840744</c:v>
                </c:pt>
                <c:pt idx="51">
                  <c:v>102.17729939654716</c:v>
                </c:pt>
                <c:pt idx="52">
                  <c:v>9.5548569519901321</c:v>
                </c:pt>
                <c:pt idx="53">
                  <c:v>53.144502090189874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1A6-40D4-AC53-28BF09645811}"/>
            </c:ext>
          </c:extLst>
        </c:ser>
        <c:ser>
          <c:idx val="10"/>
          <c:order val="10"/>
          <c:tx>
            <c:v>november</c:v>
          </c:tx>
          <c:spPr>
            <a:solidFill>
              <a:schemeClr val="accent5">
                <a:lumMod val="80000"/>
              </a:schemeClr>
            </a:solidFill>
            <a:ln>
              <a:noFill/>
            </a:ln>
            <a:effectLst/>
          </c:spPr>
          <c:invertIfNegative val="0"/>
          <c:val>
            <c:numRef>
              <c:f>'monthly rainfall data'!$M$2:$M$55</c:f>
              <c:numCache>
                <c:formatCode>General</c:formatCode>
                <c:ptCount val="54"/>
                <c:pt idx="0">
                  <c:v>0</c:v>
                </c:pt>
                <c:pt idx="1">
                  <c:v>0.75644028103044492</c:v>
                </c:pt>
                <c:pt idx="2">
                  <c:v>42.011709601873541</c:v>
                </c:pt>
                <c:pt idx="3">
                  <c:v>2.8735362997658078</c:v>
                </c:pt>
                <c:pt idx="4">
                  <c:v>7.1686182669789229</c:v>
                </c:pt>
                <c:pt idx="5">
                  <c:v>4.2107728337236532</c:v>
                </c:pt>
                <c:pt idx="6">
                  <c:v>46.105386416861812</c:v>
                </c:pt>
                <c:pt idx="7">
                  <c:v>96.585480093676807</c:v>
                </c:pt>
                <c:pt idx="8">
                  <c:v>27.957845433255269</c:v>
                </c:pt>
                <c:pt idx="9">
                  <c:v>42.754098360655746</c:v>
                </c:pt>
                <c:pt idx="10">
                  <c:v>3.084309133489461</c:v>
                </c:pt>
                <c:pt idx="11">
                  <c:v>3.5456674473067911</c:v>
                </c:pt>
                <c:pt idx="12">
                  <c:v>19.091334894613581</c:v>
                </c:pt>
                <c:pt idx="13">
                  <c:v>1.5128805620608898</c:v>
                </c:pt>
                <c:pt idx="14">
                  <c:v>1.7330210772833727</c:v>
                </c:pt>
                <c:pt idx="15">
                  <c:v>2.5035128805620608</c:v>
                </c:pt>
                <c:pt idx="16">
                  <c:v>20.894613583138167</c:v>
                </c:pt>
                <c:pt idx="17">
                  <c:v>67.505854800936774</c:v>
                </c:pt>
                <c:pt idx="18">
                  <c:v>3.1545667447306789</c:v>
                </c:pt>
                <c:pt idx="19">
                  <c:v>2.0960187353629975</c:v>
                </c:pt>
                <c:pt idx="20">
                  <c:v>8.0960187353629962</c:v>
                </c:pt>
                <c:pt idx="21">
                  <c:v>21.915690866510545</c:v>
                </c:pt>
                <c:pt idx="22">
                  <c:v>23.28103044496488</c:v>
                </c:pt>
                <c:pt idx="23">
                  <c:v>2.2997658079625292</c:v>
                </c:pt>
                <c:pt idx="24">
                  <c:v>22.014051522248248</c:v>
                </c:pt>
                <c:pt idx="25">
                  <c:v>5.4988290398126463</c:v>
                </c:pt>
                <c:pt idx="26">
                  <c:v>8.1428571428571441</c:v>
                </c:pt>
                <c:pt idx="27">
                  <c:v>66.084309133489441</c:v>
                </c:pt>
                <c:pt idx="28">
                  <c:v>51.454332552693209</c:v>
                </c:pt>
                <c:pt idx="29">
                  <c:v>3.2459016393442623</c:v>
                </c:pt>
                <c:pt idx="30">
                  <c:v>1.0140515222482436</c:v>
                </c:pt>
                <c:pt idx="31">
                  <c:v>14.339578454332553</c:v>
                </c:pt>
                <c:pt idx="32">
                  <c:v>1.494145199063232</c:v>
                </c:pt>
                <c:pt idx="33">
                  <c:v>2.5784543325526932</c:v>
                </c:pt>
                <c:pt idx="34">
                  <c:v>11.810304449648712</c:v>
                </c:pt>
                <c:pt idx="35">
                  <c:v>5.5878220140515227</c:v>
                </c:pt>
                <c:pt idx="36">
                  <c:v>24.693208430913351</c:v>
                </c:pt>
                <c:pt idx="37">
                  <c:v>5.245901639344261</c:v>
                </c:pt>
                <c:pt idx="38">
                  <c:v>3.7775175644028107</c:v>
                </c:pt>
                <c:pt idx="39">
                  <c:v>61.189695550351296</c:v>
                </c:pt>
                <c:pt idx="40">
                  <c:v>54.53395784543325</c:v>
                </c:pt>
                <c:pt idx="41">
                  <c:v>0.54098360655737709</c:v>
                </c:pt>
                <c:pt idx="42">
                  <c:v>42.217798594847785</c:v>
                </c:pt>
                <c:pt idx="43">
                  <c:v>6.4613583138173301</c:v>
                </c:pt>
                <c:pt idx="44">
                  <c:v>14.241217798594846</c:v>
                </c:pt>
                <c:pt idx="45">
                  <c:v>4.9906323185011701</c:v>
                </c:pt>
                <c:pt idx="46">
                  <c:v>4.5831381733021077</c:v>
                </c:pt>
                <c:pt idx="47">
                  <c:v>4.0866510538641689</c:v>
                </c:pt>
                <c:pt idx="48">
                  <c:v>13.388758782201405</c:v>
                </c:pt>
                <c:pt idx="49">
                  <c:v>7.4426229508196711</c:v>
                </c:pt>
                <c:pt idx="50">
                  <c:v>23.97892271662764</c:v>
                </c:pt>
                <c:pt idx="51">
                  <c:v>0.69736259961086378</c:v>
                </c:pt>
                <c:pt idx="52">
                  <c:v>27.997402910544999</c:v>
                </c:pt>
                <c:pt idx="53">
                  <c:v>4.7788472787522878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1A6-40D4-AC53-28BF09645811}"/>
            </c:ext>
          </c:extLst>
        </c:ser>
        <c:ser>
          <c:idx val="11"/>
          <c:order val="11"/>
          <c:tx>
            <c:v>december</c:v>
          </c:tx>
          <c:spPr>
            <a:solidFill>
              <a:schemeClr val="accent4">
                <a:lumMod val="80000"/>
              </a:schemeClr>
            </a:solidFill>
            <a:ln>
              <a:noFill/>
            </a:ln>
            <a:effectLst/>
          </c:spPr>
          <c:invertIfNegative val="0"/>
          <c:val>
            <c:numRef>
              <c:f>'monthly rainfall data'!$N$2:$N$55</c:f>
              <c:numCache>
                <c:formatCode>General</c:formatCode>
                <c:ptCount val="54"/>
                <c:pt idx="0">
                  <c:v>0</c:v>
                </c:pt>
                <c:pt idx="1">
                  <c:v>0</c:v>
                </c:pt>
                <c:pt idx="2">
                  <c:v>2.9836065573770489</c:v>
                </c:pt>
                <c:pt idx="3">
                  <c:v>6.3231850117096033E-2</c:v>
                </c:pt>
                <c:pt idx="4">
                  <c:v>1.1709601873536301E-2</c:v>
                </c:pt>
                <c:pt idx="5">
                  <c:v>0</c:v>
                </c:pt>
                <c:pt idx="6">
                  <c:v>0.77283372365339575</c:v>
                </c:pt>
                <c:pt idx="7">
                  <c:v>2.1545667447306789</c:v>
                </c:pt>
                <c:pt idx="8">
                  <c:v>12.847775175644028</c:v>
                </c:pt>
                <c:pt idx="9">
                  <c:v>6.1662763466042163</c:v>
                </c:pt>
                <c:pt idx="10">
                  <c:v>17.545667447306794</c:v>
                </c:pt>
                <c:pt idx="11">
                  <c:v>8.5292740046838418</c:v>
                </c:pt>
                <c:pt idx="12">
                  <c:v>0.29976580796252927</c:v>
                </c:pt>
                <c:pt idx="13">
                  <c:v>7.9391100702576125</c:v>
                </c:pt>
                <c:pt idx="14">
                  <c:v>0.71896955503512872</c:v>
                </c:pt>
                <c:pt idx="15">
                  <c:v>2.0187353629976581</c:v>
                </c:pt>
                <c:pt idx="16">
                  <c:v>21.105386416861826</c:v>
                </c:pt>
                <c:pt idx="17">
                  <c:v>4.2857142857142856</c:v>
                </c:pt>
                <c:pt idx="18">
                  <c:v>2.2037470725995307</c:v>
                </c:pt>
                <c:pt idx="19">
                  <c:v>17.71896955503513</c:v>
                </c:pt>
                <c:pt idx="20">
                  <c:v>3.6370023419203741</c:v>
                </c:pt>
                <c:pt idx="21">
                  <c:v>0.67213114754098358</c:v>
                </c:pt>
                <c:pt idx="22">
                  <c:v>0</c:v>
                </c:pt>
                <c:pt idx="23">
                  <c:v>15.57377049180328</c:v>
                </c:pt>
                <c:pt idx="24">
                  <c:v>0</c:v>
                </c:pt>
                <c:pt idx="25">
                  <c:v>0.39110070257611251</c:v>
                </c:pt>
                <c:pt idx="26">
                  <c:v>1.5175644028103046</c:v>
                </c:pt>
                <c:pt idx="27">
                  <c:v>53.651053864168617</c:v>
                </c:pt>
                <c:pt idx="28">
                  <c:v>2.8103044496487123E-2</c:v>
                </c:pt>
                <c:pt idx="29">
                  <c:v>0.48243559718969559</c:v>
                </c:pt>
                <c:pt idx="30">
                  <c:v>1.2857142857142858</c:v>
                </c:pt>
                <c:pt idx="31">
                  <c:v>0.17330210772833723</c:v>
                </c:pt>
                <c:pt idx="32">
                  <c:v>0.14051522248243561</c:v>
                </c:pt>
                <c:pt idx="33">
                  <c:v>15.932084309133492</c:v>
                </c:pt>
                <c:pt idx="34">
                  <c:v>5.1522248243559721E-2</c:v>
                </c:pt>
                <c:pt idx="35">
                  <c:v>4.2341920374707254</c:v>
                </c:pt>
                <c:pt idx="36">
                  <c:v>0.52693208430913352</c:v>
                </c:pt>
                <c:pt idx="37">
                  <c:v>3.5128805620608897E-2</c:v>
                </c:pt>
                <c:pt idx="38">
                  <c:v>0.47072599531615927</c:v>
                </c:pt>
                <c:pt idx="39">
                  <c:v>5.4988290398126463</c:v>
                </c:pt>
                <c:pt idx="40">
                  <c:v>16.601873536299767</c:v>
                </c:pt>
                <c:pt idx="41">
                  <c:v>0.22482435597189693</c:v>
                </c:pt>
                <c:pt idx="42">
                  <c:v>0.16627634660421547</c:v>
                </c:pt>
                <c:pt idx="43">
                  <c:v>3.4730679156908661</c:v>
                </c:pt>
                <c:pt idx="44">
                  <c:v>2.6744730679156912</c:v>
                </c:pt>
                <c:pt idx="45">
                  <c:v>0.91334894613583129</c:v>
                </c:pt>
                <c:pt idx="46">
                  <c:v>0.66744730679156905</c:v>
                </c:pt>
                <c:pt idx="47">
                  <c:v>22.269320843091332</c:v>
                </c:pt>
                <c:pt idx="48">
                  <c:v>2.5128805620608894</c:v>
                </c:pt>
                <c:pt idx="49">
                  <c:v>0.50819672131147542</c:v>
                </c:pt>
                <c:pt idx="50">
                  <c:v>12.962529274004684</c:v>
                </c:pt>
                <c:pt idx="51">
                  <c:v>2.439190347000642</c:v>
                </c:pt>
                <c:pt idx="52">
                  <c:v>24.491258035241891</c:v>
                </c:pt>
                <c:pt idx="53">
                  <c:v>14.765633951583311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31A6-40D4-AC53-28BF096458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64514527"/>
        <c:axId val="764503487"/>
      </c:barChart>
      <c:catAx>
        <c:axId val="7645145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100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4503487"/>
        <c:crosses val="autoZero"/>
        <c:auto val="1"/>
        <c:lblAlgn val="ctr"/>
        <c:lblOffset val="100"/>
        <c:noMultiLvlLbl val="0"/>
      </c:catAx>
      <c:valAx>
        <c:axId val="7645034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100"/>
                  <a:t>Rainfall(in</a:t>
                </a:r>
                <a:r>
                  <a:rPr lang="en-IN" sz="1100" baseline="0"/>
                  <a:t> mm)</a:t>
                </a:r>
                <a:endParaRPr lang="en-IN" sz="11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451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0473814455398505"/>
          <c:y val="4.3426551010030796E-2"/>
          <c:w val="9.5261855446014912E-2"/>
          <c:h val="0.9096009434103873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ln>
                  <a:solidFill>
                    <a:schemeClr val="accent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Monsoon Average</a:t>
            </a:r>
            <a:r>
              <a:rPr lang="en-IN" baseline="0" dirty="0"/>
              <a:t> </a:t>
            </a:r>
            <a:r>
              <a:rPr lang="en-IN" dirty="0"/>
              <a:t>Rainfall( in mm)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ln>
                <a:solidFill>
                  <a:schemeClr val="accent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Trend analysis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forward val="2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8.2034915184105495E-2"/>
                  <c:y val="0.27108581034882567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ln>
                        <a:solidFill>
                          <a:schemeClr val="accent1"/>
                        </a:solidFill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'sen''s slope'!$B$2:$B$55</c:f>
              <c:numCache>
                <c:formatCode>General</c:formatCode>
                <c:ptCount val="54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  <c:pt idx="31">
                  <c:v>2001</c:v>
                </c:pt>
                <c:pt idx="32">
                  <c:v>2002</c:v>
                </c:pt>
                <c:pt idx="33">
                  <c:v>2003</c:v>
                </c:pt>
                <c:pt idx="34">
                  <c:v>2004</c:v>
                </c:pt>
                <c:pt idx="35">
                  <c:v>2005</c:v>
                </c:pt>
                <c:pt idx="36">
                  <c:v>2006</c:v>
                </c:pt>
                <c:pt idx="37">
                  <c:v>2007</c:v>
                </c:pt>
                <c:pt idx="38">
                  <c:v>2008</c:v>
                </c:pt>
                <c:pt idx="39">
                  <c:v>2009</c:v>
                </c:pt>
                <c:pt idx="40">
                  <c:v>2010</c:v>
                </c:pt>
                <c:pt idx="41">
                  <c:v>2011</c:v>
                </c:pt>
                <c:pt idx="42">
                  <c:v>2012</c:v>
                </c:pt>
                <c:pt idx="43">
                  <c:v>2013</c:v>
                </c:pt>
                <c:pt idx="44">
                  <c:v>2014</c:v>
                </c:pt>
                <c:pt idx="45">
                  <c:v>2015</c:v>
                </c:pt>
                <c:pt idx="46">
                  <c:v>2017</c:v>
                </c:pt>
                <c:pt idx="47">
                  <c:v>2018</c:v>
                </c:pt>
                <c:pt idx="48">
                  <c:v>2019</c:v>
                </c:pt>
                <c:pt idx="49">
                  <c:v>2020</c:v>
                </c:pt>
                <c:pt idx="50">
                  <c:v>2021</c:v>
                </c:pt>
                <c:pt idx="51">
                  <c:v>2022</c:v>
                </c:pt>
                <c:pt idx="52">
                  <c:v>2023</c:v>
                </c:pt>
                <c:pt idx="53">
                  <c:v>2024</c:v>
                </c:pt>
              </c:numCache>
            </c:numRef>
          </c:xVal>
          <c:yVal>
            <c:numRef>
              <c:f>'sen''s slope'!$D$2:$D$55</c:f>
              <c:numCache>
                <c:formatCode>General</c:formatCode>
                <c:ptCount val="54"/>
                <c:pt idx="0">
                  <c:v>883.78194379391084</c:v>
                </c:pt>
                <c:pt idx="1">
                  <c:v>886.40194379391096</c:v>
                </c:pt>
                <c:pt idx="2">
                  <c:v>889.02194379391085</c:v>
                </c:pt>
                <c:pt idx="3">
                  <c:v>891.64194379391085</c:v>
                </c:pt>
                <c:pt idx="4">
                  <c:v>894.26194379391086</c:v>
                </c:pt>
                <c:pt idx="5">
                  <c:v>896.88194379391086</c:v>
                </c:pt>
                <c:pt idx="6">
                  <c:v>899.50194379391087</c:v>
                </c:pt>
                <c:pt idx="7">
                  <c:v>902.12194379391087</c:v>
                </c:pt>
                <c:pt idx="8">
                  <c:v>904.74194379391088</c:v>
                </c:pt>
                <c:pt idx="9">
                  <c:v>907.36194379391088</c:v>
                </c:pt>
                <c:pt idx="10">
                  <c:v>909.98194379391089</c:v>
                </c:pt>
                <c:pt idx="11">
                  <c:v>912.60194379391089</c:v>
                </c:pt>
                <c:pt idx="12">
                  <c:v>915.2219437939109</c:v>
                </c:pt>
                <c:pt idx="13">
                  <c:v>917.8419437939109</c:v>
                </c:pt>
                <c:pt idx="14">
                  <c:v>920.4619437939109</c:v>
                </c:pt>
                <c:pt idx="15">
                  <c:v>923.08194379391091</c:v>
                </c:pt>
                <c:pt idx="16">
                  <c:v>925.70194379391091</c:v>
                </c:pt>
                <c:pt idx="17">
                  <c:v>928.32194379391092</c:v>
                </c:pt>
                <c:pt idx="18">
                  <c:v>930.94194379391092</c:v>
                </c:pt>
                <c:pt idx="19">
                  <c:v>933.56194379391093</c:v>
                </c:pt>
                <c:pt idx="20">
                  <c:v>936.18194379391093</c:v>
                </c:pt>
                <c:pt idx="21">
                  <c:v>938.80194379391094</c:v>
                </c:pt>
                <c:pt idx="22">
                  <c:v>941.42194379391094</c:v>
                </c:pt>
                <c:pt idx="23">
                  <c:v>944.04194379391095</c:v>
                </c:pt>
                <c:pt idx="24">
                  <c:v>946.66194379391095</c:v>
                </c:pt>
                <c:pt idx="25">
                  <c:v>949.28194379391095</c:v>
                </c:pt>
                <c:pt idx="26">
                  <c:v>951.90194379391096</c:v>
                </c:pt>
                <c:pt idx="27">
                  <c:v>954.52194379391085</c:v>
                </c:pt>
                <c:pt idx="28">
                  <c:v>957.14194379391085</c:v>
                </c:pt>
                <c:pt idx="29">
                  <c:v>959.76194379391086</c:v>
                </c:pt>
                <c:pt idx="30">
                  <c:v>962.38194379391086</c:v>
                </c:pt>
                <c:pt idx="31">
                  <c:v>965.00194379391087</c:v>
                </c:pt>
                <c:pt idx="32">
                  <c:v>967.62194379391087</c:v>
                </c:pt>
                <c:pt idx="33">
                  <c:v>970.24194379391088</c:v>
                </c:pt>
                <c:pt idx="34">
                  <c:v>972.86194379391088</c:v>
                </c:pt>
                <c:pt idx="35">
                  <c:v>975.48194379391089</c:v>
                </c:pt>
                <c:pt idx="36">
                  <c:v>978.10194379391089</c:v>
                </c:pt>
                <c:pt idx="37">
                  <c:v>980.7219437939109</c:v>
                </c:pt>
                <c:pt idx="38">
                  <c:v>983.3419437939109</c:v>
                </c:pt>
                <c:pt idx="39">
                  <c:v>985.9619437939109</c:v>
                </c:pt>
                <c:pt idx="40">
                  <c:v>988.58194379391091</c:v>
                </c:pt>
                <c:pt idx="41">
                  <c:v>991.20194379391091</c:v>
                </c:pt>
                <c:pt idx="42">
                  <c:v>993.82194379391092</c:v>
                </c:pt>
                <c:pt idx="43">
                  <c:v>996.44194379391092</c:v>
                </c:pt>
                <c:pt idx="44">
                  <c:v>999.06194379391093</c:v>
                </c:pt>
                <c:pt idx="45">
                  <c:v>1001.6819437939109</c:v>
                </c:pt>
                <c:pt idx="46">
                  <c:v>1004.3019437939109</c:v>
                </c:pt>
                <c:pt idx="47">
                  <c:v>1006.9219437939109</c:v>
                </c:pt>
                <c:pt idx="48">
                  <c:v>1009.5419437939109</c:v>
                </c:pt>
                <c:pt idx="49">
                  <c:v>1012.161943793911</c:v>
                </c:pt>
                <c:pt idx="50">
                  <c:v>1014.781943793911</c:v>
                </c:pt>
                <c:pt idx="51">
                  <c:v>1017.401943793911</c:v>
                </c:pt>
                <c:pt idx="52">
                  <c:v>1020.0219437939109</c:v>
                </c:pt>
                <c:pt idx="53">
                  <c:v>1022.641943793911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A-8276-4EE4-92D9-F453C27C8DCF}"/>
            </c:ext>
          </c:extLst>
        </c:ser>
        <c:ser>
          <c:idx val="1"/>
          <c:order val="1"/>
          <c:tx>
            <c:v>monsoon rainfall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'sen''s slope'!$B$2:$B$55</c:f>
              <c:numCache>
                <c:formatCode>General</c:formatCode>
                <c:ptCount val="54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  <c:pt idx="31">
                  <c:v>2001</c:v>
                </c:pt>
                <c:pt idx="32">
                  <c:v>2002</c:v>
                </c:pt>
                <c:pt idx="33">
                  <c:v>2003</c:v>
                </c:pt>
                <c:pt idx="34">
                  <c:v>2004</c:v>
                </c:pt>
                <c:pt idx="35">
                  <c:v>2005</c:v>
                </c:pt>
                <c:pt idx="36">
                  <c:v>2006</c:v>
                </c:pt>
                <c:pt idx="37">
                  <c:v>2007</c:v>
                </c:pt>
                <c:pt idx="38">
                  <c:v>2008</c:v>
                </c:pt>
                <c:pt idx="39">
                  <c:v>2009</c:v>
                </c:pt>
                <c:pt idx="40">
                  <c:v>2010</c:v>
                </c:pt>
                <c:pt idx="41">
                  <c:v>2011</c:v>
                </c:pt>
                <c:pt idx="42">
                  <c:v>2012</c:v>
                </c:pt>
                <c:pt idx="43">
                  <c:v>2013</c:v>
                </c:pt>
                <c:pt idx="44">
                  <c:v>2014</c:v>
                </c:pt>
                <c:pt idx="45">
                  <c:v>2015</c:v>
                </c:pt>
                <c:pt idx="46">
                  <c:v>2017</c:v>
                </c:pt>
                <c:pt idx="47">
                  <c:v>2018</c:v>
                </c:pt>
                <c:pt idx="48">
                  <c:v>2019</c:v>
                </c:pt>
                <c:pt idx="49">
                  <c:v>2020</c:v>
                </c:pt>
                <c:pt idx="50">
                  <c:v>2021</c:v>
                </c:pt>
                <c:pt idx="51">
                  <c:v>2022</c:v>
                </c:pt>
                <c:pt idx="52">
                  <c:v>2023</c:v>
                </c:pt>
                <c:pt idx="53">
                  <c:v>2024</c:v>
                </c:pt>
              </c:numCache>
            </c:numRef>
          </c:xVal>
          <c:yVal>
            <c:numRef>
              <c:f>'sen''s slope'!$C$2:$C$55</c:f>
              <c:numCache>
                <c:formatCode>General</c:formatCode>
                <c:ptCount val="54"/>
                <c:pt idx="0">
                  <c:v>1084.655737704918</c:v>
                </c:pt>
                <c:pt idx="1">
                  <c:v>693.55971896955509</c:v>
                </c:pt>
                <c:pt idx="2">
                  <c:v>657.57377049180332</c:v>
                </c:pt>
                <c:pt idx="3">
                  <c:v>942.10772833723672</c:v>
                </c:pt>
                <c:pt idx="4">
                  <c:v>661.17564402810308</c:v>
                </c:pt>
                <c:pt idx="5">
                  <c:v>1110.7330210772834</c:v>
                </c:pt>
                <c:pt idx="6">
                  <c:v>993.40281030444964</c:v>
                </c:pt>
                <c:pt idx="7">
                  <c:v>906.37236533957844</c:v>
                </c:pt>
                <c:pt idx="8">
                  <c:v>1092.2622950819673</c:v>
                </c:pt>
                <c:pt idx="9">
                  <c:v>830.59484777517559</c:v>
                </c:pt>
                <c:pt idx="10">
                  <c:v>1006.2786885245902</c:v>
                </c:pt>
                <c:pt idx="11">
                  <c:v>1019.4683840749414</c:v>
                </c:pt>
                <c:pt idx="12">
                  <c:v>805.09367681498816</c:v>
                </c:pt>
                <c:pt idx="13">
                  <c:v>1214.4004683840749</c:v>
                </c:pt>
                <c:pt idx="14">
                  <c:v>743.30210772833732</c:v>
                </c:pt>
                <c:pt idx="15">
                  <c:v>734.59484777517548</c:v>
                </c:pt>
                <c:pt idx="16">
                  <c:v>938.07494145199064</c:v>
                </c:pt>
                <c:pt idx="17">
                  <c:v>710.53395784543329</c:v>
                </c:pt>
                <c:pt idx="18">
                  <c:v>1215.6674473067915</c:v>
                </c:pt>
                <c:pt idx="19">
                  <c:v>1096.0772833723654</c:v>
                </c:pt>
                <c:pt idx="20">
                  <c:v>1142.9227166276346</c:v>
                </c:pt>
                <c:pt idx="21">
                  <c:v>835.81264637002334</c:v>
                </c:pt>
                <c:pt idx="22">
                  <c:v>983.28337236533957</c:v>
                </c:pt>
                <c:pt idx="23">
                  <c:v>866.56908665105368</c:v>
                </c:pt>
                <c:pt idx="24">
                  <c:v>1137.4707259953163</c:v>
                </c:pt>
                <c:pt idx="25">
                  <c:v>881.09601873536303</c:v>
                </c:pt>
                <c:pt idx="26">
                  <c:v>859.30913348946137</c:v>
                </c:pt>
                <c:pt idx="27">
                  <c:v>783.61826697892275</c:v>
                </c:pt>
                <c:pt idx="28">
                  <c:v>955.6861826697891</c:v>
                </c:pt>
                <c:pt idx="29">
                  <c:v>959.30444964871197</c:v>
                </c:pt>
                <c:pt idx="30">
                  <c:v>950.7377049180327</c:v>
                </c:pt>
                <c:pt idx="31">
                  <c:v>939.90163934426209</c:v>
                </c:pt>
                <c:pt idx="32">
                  <c:v>794.01873536299763</c:v>
                </c:pt>
                <c:pt idx="33">
                  <c:v>1023.7892271662764</c:v>
                </c:pt>
                <c:pt idx="34">
                  <c:v>759.7377049180327</c:v>
                </c:pt>
                <c:pt idx="35">
                  <c:v>1060.4941451990633</c:v>
                </c:pt>
                <c:pt idx="36">
                  <c:v>1180.5409836065573</c:v>
                </c:pt>
                <c:pt idx="37">
                  <c:v>1011.248243559719</c:v>
                </c:pt>
                <c:pt idx="38">
                  <c:v>921.32084309133484</c:v>
                </c:pt>
                <c:pt idx="39">
                  <c:v>698.76580796252927</c:v>
                </c:pt>
                <c:pt idx="40">
                  <c:v>1170.2740046838408</c:v>
                </c:pt>
                <c:pt idx="41">
                  <c:v>839.96487119437938</c:v>
                </c:pt>
                <c:pt idx="42">
                  <c:v>964.29976580796244</c:v>
                </c:pt>
                <c:pt idx="43">
                  <c:v>1197.2505854800938</c:v>
                </c:pt>
                <c:pt idx="44">
                  <c:v>783.27400468384076</c:v>
                </c:pt>
                <c:pt idx="45">
                  <c:v>836.80327868852464</c:v>
                </c:pt>
                <c:pt idx="46">
                  <c:v>838.80562060889929</c:v>
                </c:pt>
                <c:pt idx="47">
                  <c:v>933.7166276346602</c:v>
                </c:pt>
                <c:pt idx="48">
                  <c:v>1073.6487119437938</c:v>
                </c:pt>
                <c:pt idx="49">
                  <c:v>1083.138173302108</c:v>
                </c:pt>
                <c:pt idx="50">
                  <c:v>1059.6182669789227</c:v>
                </c:pt>
                <c:pt idx="51">
                  <c:v>1255.4186993664439</c:v>
                </c:pt>
                <c:pt idx="52">
                  <c:v>974.25339039584003</c:v>
                </c:pt>
                <c:pt idx="53">
                  <c:v>1153.7649268691691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B-8276-4EE4-92D9-F453C27C8D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15911824"/>
        <c:axId val="1915916144"/>
      </c:scatterChart>
      <c:valAx>
        <c:axId val="19159118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ln>
                      <a:solidFill>
                        <a:schemeClr val="accent1"/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ln>
                    <a:solidFill>
                      <a:schemeClr val="accent1"/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ln>
                  <a:solidFill>
                    <a:schemeClr val="accent1"/>
                  </a:solidFill>
                </a:ln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5916144"/>
        <c:crosses val="autoZero"/>
        <c:crossBetween val="midCat"/>
      </c:valAx>
      <c:valAx>
        <c:axId val="1915916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ln>
                      <a:solidFill>
                        <a:schemeClr val="accent1"/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/>
                  <a:t>Rainfall</a:t>
                </a:r>
                <a:r>
                  <a:rPr lang="en-IN" sz="1200" baseline="0"/>
                  <a:t> (in mm)</a:t>
                </a:r>
                <a:endParaRPr lang="en-IN" sz="12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ln>
                    <a:solidFill>
                      <a:schemeClr val="accent1"/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ln>
                  <a:solidFill>
                    <a:schemeClr val="accent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59118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accent1"/>
            </a:solidFill>
          </a:ln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CURVE NUMBER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19914596216432115"/>
                  <c:y val="6.400138877012454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6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'sen''s slope'!$B$2:$B$55</c:f>
              <c:numCache>
                <c:formatCode>General</c:formatCode>
                <c:ptCount val="54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  <c:pt idx="31">
                  <c:v>2001</c:v>
                </c:pt>
                <c:pt idx="32">
                  <c:v>2002</c:v>
                </c:pt>
                <c:pt idx="33">
                  <c:v>2003</c:v>
                </c:pt>
                <c:pt idx="34">
                  <c:v>2004</c:v>
                </c:pt>
                <c:pt idx="35">
                  <c:v>2005</c:v>
                </c:pt>
                <c:pt idx="36">
                  <c:v>2006</c:v>
                </c:pt>
                <c:pt idx="37">
                  <c:v>2007</c:v>
                </c:pt>
                <c:pt idx="38">
                  <c:v>2008</c:v>
                </c:pt>
                <c:pt idx="39">
                  <c:v>2009</c:v>
                </c:pt>
                <c:pt idx="40">
                  <c:v>2010</c:v>
                </c:pt>
                <c:pt idx="41">
                  <c:v>2011</c:v>
                </c:pt>
                <c:pt idx="42">
                  <c:v>2012</c:v>
                </c:pt>
                <c:pt idx="43">
                  <c:v>2013</c:v>
                </c:pt>
                <c:pt idx="44">
                  <c:v>2014</c:v>
                </c:pt>
                <c:pt idx="45">
                  <c:v>2015</c:v>
                </c:pt>
                <c:pt idx="46">
                  <c:v>2017</c:v>
                </c:pt>
                <c:pt idx="47">
                  <c:v>2018</c:v>
                </c:pt>
                <c:pt idx="48">
                  <c:v>2019</c:v>
                </c:pt>
                <c:pt idx="49">
                  <c:v>2020</c:v>
                </c:pt>
                <c:pt idx="50">
                  <c:v>2021</c:v>
                </c:pt>
                <c:pt idx="51">
                  <c:v>2022</c:v>
                </c:pt>
                <c:pt idx="52">
                  <c:v>2023</c:v>
                </c:pt>
                <c:pt idx="53">
                  <c:v>2024</c:v>
                </c:pt>
              </c:numCache>
            </c:numRef>
          </c:xVal>
          <c:yVal>
            <c:numRef>
              <c:f>'sen''s slope'!$F$2:$F$55</c:f>
              <c:numCache>
                <c:formatCode>General</c:formatCode>
                <c:ptCount val="54"/>
                <c:pt idx="0">
                  <c:v>78.739999999999995</c:v>
                </c:pt>
                <c:pt idx="1">
                  <c:v>78.803299999999993</c:v>
                </c:pt>
                <c:pt idx="2">
                  <c:v>78.866599999999991</c:v>
                </c:pt>
                <c:pt idx="3">
                  <c:v>78.929899999999989</c:v>
                </c:pt>
                <c:pt idx="4">
                  <c:v>78.993199999999987</c:v>
                </c:pt>
                <c:pt idx="5">
                  <c:v>79.056499999999986</c:v>
                </c:pt>
                <c:pt idx="6">
                  <c:v>79.119799999999998</c:v>
                </c:pt>
                <c:pt idx="7">
                  <c:v>79.183099999999996</c:v>
                </c:pt>
                <c:pt idx="8">
                  <c:v>79.246399999999994</c:v>
                </c:pt>
                <c:pt idx="9">
                  <c:v>79.309699999999992</c:v>
                </c:pt>
                <c:pt idx="10">
                  <c:v>79.37299999999999</c:v>
                </c:pt>
                <c:pt idx="11">
                  <c:v>79.436299999999989</c:v>
                </c:pt>
                <c:pt idx="12">
                  <c:v>79.499599999999987</c:v>
                </c:pt>
                <c:pt idx="13">
                  <c:v>79.562899999999985</c:v>
                </c:pt>
                <c:pt idx="14">
                  <c:v>79.626199999999997</c:v>
                </c:pt>
                <c:pt idx="15">
                  <c:v>79.689499999999995</c:v>
                </c:pt>
                <c:pt idx="16">
                  <c:v>79.752799999999993</c:v>
                </c:pt>
                <c:pt idx="17">
                  <c:v>79.816099999999992</c:v>
                </c:pt>
                <c:pt idx="18">
                  <c:v>79.87939999999999</c:v>
                </c:pt>
                <c:pt idx="19">
                  <c:v>79.942699999999988</c:v>
                </c:pt>
                <c:pt idx="20">
                  <c:v>80.005999999999986</c:v>
                </c:pt>
                <c:pt idx="21">
                  <c:v>80.069299999999998</c:v>
                </c:pt>
                <c:pt idx="22">
                  <c:v>80.132599999999996</c:v>
                </c:pt>
                <c:pt idx="23">
                  <c:v>80.195899999999995</c:v>
                </c:pt>
                <c:pt idx="24">
                  <c:v>80.259199999999993</c:v>
                </c:pt>
                <c:pt idx="25">
                  <c:v>80.322499999999991</c:v>
                </c:pt>
                <c:pt idx="26">
                  <c:v>80.385799999999989</c:v>
                </c:pt>
                <c:pt idx="27">
                  <c:v>80.449099999999987</c:v>
                </c:pt>
                <c:pt idx="28">
                  <c:v>80.512399999999985</c:v>
                </c:pt>
                <c:pt idx="29">
                  <c:v>80.575699999999998</c:v>
                </c:pt>
                <c:pt idx="30">
                  <c:v>80.638999999999996</c:v>
                </c:pt>
                <c:pt idx="31">
                  <c:v>80.702299999999994</c:v>
                </c:pt>
                <c:pt idx="32">
                  <c:v>80.765599999999992</c:v>
                </c:pt>
                <c:pt idx="33">
                  <c:v>80.82889999999999</c:v>
                </c:pt>
                <c:pt idx="34">
                  <c:v>80.892199999999988</c:v>
                </c:pt>
                <c:pt idx="35">
                  <c:v>80.955499999999986</c:v>
                </c:pt>
                <c:pt idx="36">
                  <c:v>81.018799999999999</c:v>
                </c:pt>
                <c:pt idx="37">
                  <c:v>81.082099999999997</c:v>
                </c:pt>
                <c:pt idx="38">
                  <c:v>81.145399999999995</c:v>
                </c:pt>
                <c:pt idx="39">
                  <c:v>81.208699999999993</c:v>
                </c:pt>
                <c:pt idx="40">
                  <c:v>81.271999999999991</c:v>
                </c:pt>
                <c:pt idx="41">
                  <c:v>81.335299999999989</c:v>
                </c:pt>
                <c:pt idx="42">
                  <c:v>81.398599999999988</c:v>
                </c:pt>
                <c:pt idx="43">
                  <c:v>81.461899999999986</c:v>
                </c:pt>
                <c:pt idx="44">
                  <c:v>81.525199999999998</c:v>
                </c:pt>
                <c:pt idx="45">
                  <c:v>81.588499999999996</c:v>
                </c:pt>
                <c:pt idx="46">
                  <c:v>81.715099999999993</c:v>
                </c:pt>
                <c:pt idx="47">
                  <c:v>81.778399999999991</c:v>
                </c:pt>
                <c:pt idx="48">
                  <c:v>81.841699999999989</c:v>
                </c:pt>
                <c:pt idx="49">
                  <c:v>81.904999999999987</c:v>
                </c:pt>
                <c:pt idx="50">
                  <c:v>81.968299999999985</c:v>
                </c:pt>
                <c:pt idx="51">
                  <c:v>82.031599999999997</c:v>
                </c:pt>
                <c:pt idx="52">
                  <c:v>82.094899999999981</c:v>
                </c:pt>
                <c:pt idx="53">
                  <c:v>82.158199999999979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E6FC-4ABC-B9DD-0C76D1933C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83991231"/>
        <c:axId val="583982591"/>
      </c:scatterChart>
      <c:valAx>
        <c:axId val="5839912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3982591"/>
        <c:crosses val="autoZero"/>
        <c:crossBetween val="midCat"/>
      </c:valAx>
      <c:valAx>
        <c:axId val="583982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/>
                  <a:t>Curve Number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399123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85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4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35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91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15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12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5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24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8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8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27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972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03" r:id="rId6"/>
    <p:sldLayoutId id="2147483799" r:id="rId7"/>
    <p:sldLayoutId id="2147483800" r:id="rId8"/>
    <p:sldLayoutId id="2147483801" r:id="rId9"/>
    <p:sldLayoutId id="2147483802" r:id="rId10"/>
    <p:sldLayoutId id="214748380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51/e3sconf/202340504013" TargetMode="External"/><Relationship Id="rId2" Type="http://schemas.openxmlformats.org/officeDocument/2006/relationships/hyperlink" Target="https://indiawris.gov.in/downloads/Godavari%20Basin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07/s11269-021-02831-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ight Triangle 40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DBF4C08-1E63-4DF5-8493-1C3BBDCA3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0172335-C8F3-4867-9911-2F5BD212C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7BDAF4F-CC6E-411F-A8CD-919C9BF08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DA124D5-EC6C-40E8-A453-8021DEF63F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C7C4E89-FF36-4C86-8662-1B0DE7F21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728F9F7-96C0-40B6-8FEC-1204F7E5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BF2264B-0EBB-4AE9-B192-C49A5163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80A4381-2144-4FCB-95A1-1538834F4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0FDAAE2-E1A2-4517-838D-DB7B1BE30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7BBB666-4FE4-459B-AA22-99776D6B0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E23CB0F-9564-4C2B-8847-CECC117187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A06EBC9-FF83-480F-BAFC-F11C07A109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0B19B23-13F1-4B16-9E14-7C8A6CD4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E4C9EBB-4687-4958-B779-A7E68209D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3686F2B-B045-40CC-B434-69B83AA19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64C71E8-FEA3-4F9B-AC53-A8374AA97E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5743F8F-79CE-483D-884E-4737026CE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5687DE6-BF15-4C4D-A34A-43FE9DF28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0C30A15-74C6-479D-9415-BD3A15509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39D2221-2473-4D0C-867E-15E42CEDA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37B0AC9-52B2-49AE-B9F4-5130967F9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DA4F0D5-4E38-4439-957C-14C7B2C44B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31DB7A2-5177-4E09-ACE9-15F56E7A02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F7AF76B-566E-437B-9B3D-C6061B7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0CCD94C-5468-4E4D-83E1-087C30B10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7DE3320-D7F0-4B34-979B-D695DA2634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961C1D5-CC28-4E56-8667-F195AC96C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8B42B07-3D51-413F-9B94-05C768982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4D497D7-863D-4842-99B7-A1B3711A9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9017E5D-F3C5-4CE7-B844-A566DFB81B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4CC2EB5-F3D5-40B2-B140-F5A643C3A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0C7D98B-0230-4C73-9AFC-BF783AAC5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CBDBB8-B6BB-C9DA-795D-FE2E8F69D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366" y="1119088"/>
            <a:ext cx="9807425" cy="23066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>
                <a:solidFill>
                  <a:srgbClr val="262626"/>
                </a:solidFill>
                <a:latin typeface="Times New Roman"/>
                <a:cs typeface="Times New Roman"/>
              </a:rPr>
              <a:t>Hydrological Impact Analysis on   Sir Arthur Cotton Barrage  </a:t>
            </a:r>
            <a:endParaRPr lang="en-US" dirty="0"/>
          </a:p>
        </p:txBody>
      </p:sp>
      <p:sp>
        <p:nvSpPr>
          <p:cNvPr id="78" name="Right Triangle 77">
            <a:extLst>
              <a:ext uri="{FF2B5EF4-FFF2-40B4-BE49-F238E27FC236}">
                <a16:creationId xmlns:a16="http://schemas.microsoft.com/office/drawing/2014/main" id="{1B82D339-163C-4586-A620-52BB056E6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4053" y="-28575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A circular logo with text and symbols&#10;&#10;AI-generated content may be incorrect.">
            <a:extLst>
              <a:ext uri="{FF2B5EF4-FFF2-40B4-BE49-F238E27FC236}">
                <a16:creationId xmlns:a16="http://schemas.microsoft.com/office/drawing/2014/main" id="{5DCEC84B-0AB1-15DA-0AF1-C1F645984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199" y="402772"/>
            <a:ext cx="910744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EF6B47-CFD8-0AD5-F6F2-13FD1FF5F659}"/>
              </a:ext>
            </a:extLst>
          </p:cNvPr>
          <p:cNvSpPr txBox="1"/>
          <p:nvPr/>
        </p:nvSpPr>
        <p:spPr>
          <a:xfrm>
            <a:off x="714522" y="4951511"/>
            <a:ext cx="411163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Name:</a:t>
            </a:r>
            <a:r>
              <a:rPr lang="en-US" dirty="0">
                <a:latin typeface="Times New Roman"/>
                <a:cs typeface="Times New Roman"/>
              </a:rPr>
              <a:t> S.Lakshmi Srija</a:t>
            </a:r>
          </a:p>
          <a:p>
            <a:r>
              <a:rPr lang="en-US" b="1" dirty="0">
                <a:latin typeface="Times New Roman"/>
                <a:cs typeface="Times New Roman"/>
              </a:rPr>
              <a:t>Roll no:</a:t>
            </a:r>
            <a:r>
              <a:rPr lang="en-US" dirty="0">
                <a:latin typeface="Times New Roman"/>
                <a:cs typeface="Times New Roman"/>
              </a:rPr>
              <a:t> 2201CE63</a:t>
            </a:r>
          </a:p>
          <a:p>
            <a:r>
              <a:rPr lang="en-US" dirty="0">
                <a:latin typeface="Times New Roman"/>
                <a:cs typeface="Times New Roman"/>
              </a:rPr>
              <a:t>B.tech 4th Year</a:t>
            </a:r>
          </a:p>
          <a:p>
            <a:r>
              <a:rPr lang="en-US" dirty="0">
                <a:latin typeface="Times New Roman"/>
                <a:cs typeface="Times New Roman"/>
              </a:rPr>
              <a:t>Civil and Environmental Engineering </a:t>
            </a:r>
          </a:p>
          <a:p>
            <a:r>
              <a:rPr lang="en-US" dirty="0">
                <a:latin typeface="Times New Roman"/>
                <a:cs typeface="Times New Roman"/>
              </a:rPr>
              <a:t>Indian Institute of Technology, Patna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C03C0-55F4-A971-D2DC-A2217EE457D9}"/>
              </a:ext>
            </a:extLst>
          </p:cNvPr>
          <p:cNvSpPr txBox="1"/>
          <p:nvPr/>
        </p:nvSpPr>
        <p:spPr>
          <a:xfrm>
            <a:off x="8274718" y="4955625"/>
            <a:ext cx="389480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Supervisor</a:t>
            </a:r>
          </a:p>
          <a:p>
            <a:r>
              <a:rPr lang="en-US" dirty="0">
                <a:latin typeface="Times New Roman"/>
                <a:cs typeface="Times New Roman"/>
              </a:rPr>
              <a:t>Dr. Om Prakash</a:t>
            </a:r>
          </a:p>
          <a:p>
            <a:r>
              <a:rPr lang="en-US" dirty="0">
                <a:latin typeface="Times New Roman"/>
                <a:cs typeface="Times New Roman"/>
              </a:rPr>
              <a:t>Assistant Professor </a:t>
            </a:r>
          </a:p>
          <a:p>
            <a:r>
              <a:rPr lang="en-US" dirty="0">
                <a:latin typeface="Times New Roman"/>
                <a:cs typeface="Times New Roman"/>
              </a:rPr>
              <a:t>Indian Institute of Technology, Patna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20C23-E30A-3DA5-E3EC-0006C2E8D488}"/>
              </a:ext>
            </a:extLst>
          </p:cNvPr>
          <p:cNvSpPr txBox="1"/>
          <p:nvPr/>
        </p:nvSpPr>
        <p:spPr>
          <a:xfrm>
            <a:off x="4492026" y="3560831"/>
            <a:ext cx="331117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Times New Roman"/>
                <a:cs typeface="Times New Roman"/>
              </a:rPr>
              <a:t>BTP PHASE 1 </a:t>
            </a:r>
          </a:p>
        </p:txBody>
      </p:sp>
    </p:spTree>
    <p:extLst>
      <p:ext uri="{BB962C8B-B14F-4D97-AF65-F5344CB8AC3E}">
        <p14:creationId xmlns:p14="http://schemas.microsoft.com/office/powerpoint/2010/main" val="3756855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2382C-4211-EADB-CC06-D936B8CCC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TABLE OF CONTENTS</a:t>
            </a:r>
            <a:endParaRPr lang="en-US">
              <a:latin typeface="Grandview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C437A-CD68-4D2F-CBBE-79043E171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69" y="2024180"/>
            <a:ext cx="10325000" cy="356443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1800" b="1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Introduction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Literature Review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Methodology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Results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Conclusion</a:t>
            </a:r>
            <a:endParaRPr lang="en-US" dirty="0">
              <a:latin typeface="Times New Roman"/>
              <a:cs typeface="Times New Roman"/>
            </a:endParaRPr>
          </a:p>
          <a:p>
            <a:pPr>
              <a:buClr>
                <a:srgbClr val="8D87A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201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D4060-DB0E-911F-1938-783E63685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789" y="273544"/>
            <a:ext cx="10325000" cy="1442463"/>
          </a:xfrm>
        </p:spPr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Times New Roman"/>
                <a:cs typeface="Times New Roman"/>
              </a:rPr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03AC2-E678-C93E-71B2-80E5A6256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568" y="2627715"/>
            <a:ext cx="7156194" cy="375028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A2735"/>
                </a:solidFill>
                <a:latin typeface="Times New Roman"/>
                <a:ea typeface="+mn-lt"/>
                <a:cs typeface="+mn-lt"/>
              </a:rPr>
              <a:t>  </a:t>
            </a:r>
            <a:endParaRPr lang="en-US" sz="2800" b="1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Clr>
                <a:srgbClr val="8D87A6"/>
              </a:buClr>
            </a:pPr>
            <a:r>
              <a:rPr lang="en-US" sz="1600" dirty="0">
                <a:solidFill>
                  <a:srgbClr val="2A2735"/>
                </a:solidFill>
                <a:latin typeface="Times New Roman"/>
                <a:ea typeface="+mn-lt"/>
                <a:cs typeface="+mn-lt"/>
              </a:rPr>
              <a:t>The </a:t>
            </a:r>
            <a:r>
              <a:rPr lang="en-US" sz="1600" b="1" dirty="0">
                <a:solidFill>
                  <a:srgbClr val="2A2735"/>
                </a:solidFill>
                <a:latin typeface="Times New Roman"/>
                <a:ea typeface="+mn-lt"/>
                <a:cs typeface="+mn-lt"/>
              </a:rPr>
              <a:t>Godavari River Basin</a:t>
            </a:r>
            <a:r>
              <a:rPr lang="en-US" sz="1600" b="1" dirty="0">
                <a:solidFill>
                  <a:srgbClr val="2A2735"/>
                </a:solidFill>
                <a:latin typeface="Times New Roman"/>
                <a:ea typeface="+mn-lt"/>
                <a:cs typeface="Times New Roman"/>
              </a:rPr>
              <a:t> (≈3.13 lakh km²)</a:t>
            </a:r>
            <a:r>
              <a:rPr lang="en-US" sz="1600" dirty="0">
                <a:solidFill>
                  <a:srgbClr val="2A2735"/>
                </a:solidFill>
                <a:latin typeface="Times New Roman"/>
                <a:ea typeface="+mn-lt"/>
                <a:cs typeface="+mn-lt"/>
              </a:rPr>
              <a:t>, the second largest in India, covers multiple states and sustains </a:t>
            </a:r>
            <a:r>
              <a:rPr lang="en-US" sz="1600" b="1" dirty="0">
                <a:solidFill>
                  <a:srgbClr val="2A2735"/>
                </a:solidFill>
                <a:latin typeface="Times New Roman"/>
                <a:ea typeface="+mn-lt"/>
                <a:cs typeface="+mn-lt"/>
              </a:rPr>
              <a:t>millions of people through agriculture, domestic water supply, industry, hydropower, and irrigation</a:t>
            </a:r>
            <a:r>
              <a:rPr lang="en-US" sz="1600" dirty="0">
                <a:solidFill>
                  <a:srgbClr val="2A2735"/>
                </a:solidFill>
                <a:latin typeface="Times New Roman"/>
                <a:ea typeface="+mn-lt"/>
                <a:cs typeface="+mn-lt"/>
              </a:rPr>
              <a:t>. The catchment plays a vital role in controlling how rainfall transforms into runoff, sediment transport, and downstream inflows.</a:t>
            </a:r>
          </a:p>
          <a:p>
            <a:pPr>
              <a:buClr>
                <a:srgbClr val="8D87A6"/>
              </a:buClr>
            </a:pPr>
            <a:endParaRPr lang="en-US"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8D87A6"/>
              </a:buClr>
            </a:pP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8D87A6"/>
              </a:buClr>
            </a:pPr>
            <a:endParaRPr lang="en-US" sz="1800" dirty="0">
              <a:solidFill>
                <a:srgbClr val="262626"/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9936B7-E59C-F92D-06E1-A628D3789CE0}"/>
              </a:ext>
            </a:extLst>
          </p:cNvPr>
          <p:cNvSpPr txBox="1"/>
          <p:nvPr/>
        </p:nvSpPr>
        <p:spPr>
          <a:xfrm>
            <a:off x="577040" y="1908211"/>
            <a:ext cx="1142371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Ø"/>
            </a:pPr>
            <a:r>
              <a:rPr lang="en-US" sz="2800" b="1" dirty="0">
                <a:solidFill>
                  <a:srgbClr val="2A2735"/>
                </a:solidFill>
                <a:latin typeface="Times New Roman"/>
                <a:ea typeface="+mn-lt"/>
                <a:cs typeface="Times New Roman"/>
              </a:rPr>
              <a:t>IMPORTANCE OF CATCHMENT &amp; SIR ARTHUR COTTON BARRAGE</a:t>
            </a:r>
            <a:endParaRPr lang="en-US" sz="2800" dirty="0">
              <a:latin typeface="Times New Roman"/>
              <a:cs typeface="Times New Roman"/>
            </a:endParaRPr>
          </a:p>
        </p:txBody>
      </p:sp>
      <p:pic>
        <p:nvPicPr>
          <p:cNvPr id="8" name="Picture 7" descr="A map with black line&#10;&#10;AI-generated content may be incorrect.">
            <a:extLst>
              <a:ext uri="{FF2B5EF4-FFF2-40B4-BE49-F238E27FC236}">
                <a16:creationId xmlns:a16="http://schemas.microsoft.com/office/drawing/2014/main" id="{0983ED9F-DA98-1399-933D-242693572D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262" r="1" b="1"/>
          <a:stretch>
            <a:fillRect/>
          </a:stretch>
        </p:blipFill>
        <p:spPr>
          <a:xfrm>
            <a:off x="8072071" y="2865988"/>
            <a:ext cx="3742756" cy="229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205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21B8C-B87A-BC2A-BC93-8154CAF37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688" y="965303"/>
            <a:ext cx="6798029" cy="55238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At the basin’s downstream end lies the </a:t>
            </a: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Sir Arthur Cotton Barrage (SACB)</a:t>
            </a: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at </a:t>
            </a: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Dowlaiswaram</a:t>
            </a: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located in the East Godavari District of Andhra Pradesh at </a:t>
            </a: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16°56'15" N latitude and 81°46'12" E longitude</a:t>
            </a: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 Originally constructed as an </a:t>
            </a: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anicut in 1852</a:t>
            </a: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and later reconstructed as a modern </a:t>
            </a: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barrage in 1982</a:t>
            </a: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SACB serves as the lifeline of the Godavari Delta. It supports irrigation across </a:t>
            </a: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more than 10 lakh acres</a:t>
            </a: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regulates monsoon floods, and sustains the agricultural and socioeconomic systems of the delta. Any changes in </a:t>
            </a: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rainfall patterns</a:t>
            </a: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monsoon intensity</a:t>
            </a: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or </a:t>
            </a: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land use/land cover (LULC)</a:t>
            </a: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within the upstream catchment directly influence the barrage’s </a:t>
            </a: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inflows, sediment load, flood behavior, operational safety</a:t>
            </a: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and long-term sustainability.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8D87A6"/>
              </a:buClr>
            </a:pP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Understanding catchment processes is therefore essential for predicting </a:t>
            </a: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future water availability, flood risks, sedimentation patterns</a:t>
            </a: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and the long-term functioning of SACB.</a:t>
            </a:r>
          </a:p>
        </p:txBody>
      </p:sp>
      <p:pic>
        <p:nvPicPr>
          <p:cNvPr id="2" name="Picture 1" descr="A map with black lines and red dots&#10;&#10;AI-generated content may be incorrect.">
            <a:extLst>
              <a:ext uri="{FF2B5EF4-FFF2-40B4-BE49-F238E27FC236}">
                <a16:creationId xmlns:a16="http://schemas.microsoft.com/office/drawing/2014/main" id="{8CCE3678-AEBA-3720-226B-8B562DFA8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192" y="962527"/>
            <a:ext cx="4554808" cy="2620536"/>
          </a:xfrm>
          <a:prstGeom prst="rect">
            <a:avLst/>
          </a:prstGeom>
        </p:spPr>
      </p:pic>
      <p:pic>
        <p:nvPicPr>
          <p:cNvPr id="5" name="Content Placeholder 3" descr="A map with many lines of water&#10;&#10;AI-generated content may be incorrect.">
            <a:extLst>
              <a:ext uri="{FF2B5EF4-FFF2-40B4-BE49-F238E27FC236}">
                <a16:creationId xmlns:a16="http://schemas.microsoft.com/office/drawing/2014/main" id="{0BB8621C-07E6-CE51-914F-897B529E34B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5291" y="3584696"/>
            <a:ext cx="4547101" cy="271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06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B5E46-C076-568B-11F5-D79A2C7B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buFont typeface="Wingdings"/>
              <a:buChar char="Ø"/>
            </a:pPr>
            <a:r>
              <a:rPr lang="en-US" sz="2800" b="1" dirty="0">
                <a:latin typeface="Times New Roman"/>
                <a:cs typeface="Times New Roman"/>
              </a:rPr>
              <a:t>WHAT IS HAPPENING TO CLIMATE AND LAND USE AND LAND COVER?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6431C-80FB-86D2-1991-BCBEA68B9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The Godavari Basin has been experiencing significant </a:t>
            </a: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climatic variability and land use transformation</a:t>
            </a: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in recent decades. More than </a:t>
            </a: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80% of the annual rainfall</a:t>
            </a: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occurs during the monsoon, and studies show increasing </a:t>
            </a: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extreme rainfall events</a:t>
            </a: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higher rainfall intensities, and changing monsoon behavior driven by climate change.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8D87A6"/>
              </a:buClr>
            </a:pP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Simultaneously, the basin is undergoing rapid </a:t>
            </a:r>
            <a:r>
              <a:rPr lang="en-US" sz="16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Land Use/Land Cover (LULC) changes</a:t>
            </a: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including agricultural expansion, urbanization, deforestation, and wetland reduction. These shifts reduce infiltration, increase impervious areas, raise Curve Numbers (CN), and accelerate surface runoff.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8D87A6"/>
              </a:buClr>
            </a:pP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Together, climate change and LULC alterations modify the natural hydrological balance, increase flood peaks, and alter sediment transport directly affecting the water flow reaching the Sir Arthur Cotton Barrage.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8D87A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94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AD0B-A763-E6C9-CCAF-147AA1959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342922"/>
            <a:ext cx="10325000" cy="75559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/>
                <a:ea typeface="+mj-lt"/>
                <a:cs typeface="+mj-lt"/>
              </a:rPr>
              <a:t>SUSTAINABILITY CONCERNS</a:t>
            </a:r>
            <a:endParaRPr lang="en-US" sz="2800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F0322-70D8-0A2C-F7F7-D23C142B9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550684"/>
            <a:ext cx="10325000" cy="35644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>
                <a:latin typeface="Times New Roman"/>
                <a:ea typeface="+mn-lt"/>
                <a:cs typeface="+mn-lt"/>
              </a:rPr>
              <a:t>SACB is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43 years old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(1982–2025).</a:t>
            </a:r>
            <a:endParaRPr lang="en-US" sz="1600" dirty="0">
              <a:latin typeface="Times New Roman"/>
            </a:endParaRPr>
          </a:p>
          <a:p>
            <a:pPr>
              <a:buClr>
                <a:srgbClr val="8D87A6"/>
              </a:buClr>
            </a:pPr>
            <a:endParaRPr lang="en-US" dirty="0"/>
          </a:p>
          <a:p>
            <a:pPr>
              <a:buClr>
                <a:srgbClr val="8D87A6"/>
              </a:buClr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A116DB-E75D-035C-A6B5-1FC4E1E24F0E}"/>
              </a:ext>
            </a:extLst>
          </p:cNvPr>
          <p:cNvSpPr txBox="1"/>
          <p:nvPr/>
        </p:nvSpPr>
        <p:spPr>
          <a:xfrm>
            <a:off x="988067" y="3166412"/>
            <a:ext cx="495140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ea typeface="+mn-lt"/>
                <a:cs typeface="+mn-lt"/>
              </a:rPr>
              <a:t>Increasing runoff threatens:</a:t>
            </a:r>
            <a:endParaRPr lang="en-US" sz="1600" b="1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Gate operations</a:t>
            </a:r>
            <a:endParaRPr lang="en-US"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Pond-level regulation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Downstream scour protection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Sediment deposition upstream</a:t>
            </a:r>
            <a:endParaRPr lang="en-US"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Structural safety</a:t>
            </a:r>
            <a:endParaRPr lang="en-US" sz="1600" dirty="0">
              <a:latin typeface="Times New Roman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97F7F3-F7A3-EC89-686F-FEF52BD7506F}"/>
              </a:ext>
            </a:extLst>
          </p:cNvPr>
          <p:cNvSpPr txBox="1"/>
          <p:nvPr/>
        </p:nvSpPr>
        <p:spPr>
          <a:xfrm>
            <a:off x="6422888" y="3160465"/>
            <a:ext cx="4593191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ea typeface="+mn-lt"/>
                <a:cs typeface="+mn-lt"/>
              </a:rPr>
              <a:t>Long-term sustainability requires:</a:t>
            </a:r>
            <a:endParaRPr lang="en-US" sz="1600" b="1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Understanding future rainfall</a:t>
            </a:r>
            <a:endParaRPr lang="en-US"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Predicting LULC impacts</a:t>
            </a:r>
            <a:endParaRPr lang="en-US"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Estimating future runoff</a:t>
            </a:r>
            <a:endParaRPr lang="en-US"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Forecasting pond-level variations</a:t>
            </a:r>
            <a:endParaRPr lang="en-US"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Adopting AI/ML models for runoff and pond level prediction </a:t>
            </a:r>
            <a:endParaRPr lang="en-US" sz="1600" dirty="0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677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1B53B-C5FC-426F-DFC5-5CAF7CFBE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737" y="655766"/>
            <a:ext cx="6885974" cy="62030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/>
                <a:ea typeface="+mj-lt"/>
                <a:cs typeface="+mj-lt"/>
              </a:rPr>
              <a:t>LITERATURE REVIEW</a:t>
            </a:r>
            <a:endParaRPr lang="en-US">
              <a:latin typeface="Grandvie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DF2D7-6032-1E96-0996-816D930A6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737" y="1546823"/>
            <a:ext cx="10859084" cy="416185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1600" b="1" dirty="0">
              <a:latin typeface="Times New Roman"/>
              <a:ea typeface="+mn-lt"/>
              <a:cs typeface="+mn-lt"/>
            </a:endParaRPr>
          </a:p>
          <a:p>
            <a:pPr>
              <a:lnSpc>
                <a:spcPct val="160000"/>
              </a:lnSpc>
              <a:buClr>
                <a:srgbClr val="8D87A6"/>
              </a:buClr>
            </a:pPr>
            <a:r>
              <a:rPr lang="en-US" sz="1600" dirty="0">
                <a:latin typeface="Times New Roman"/>
                <a:ea typeface="+mn-lt"/>
                <a:cs typeface="+mn-lt"/>
              </a:rPr>
              <a:t>Climate change and catchment modifications significantly alter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rainfall intensity</a:t>
            </a:r>
            <a:r>
              <a:rPr lang="en-US" sz="1600" dirty="0">
                <a:latin typeface="Times New Roman"/>
                <a:ea typeface="+mn-lt"/>
                <a:cs typeface="+mn-lt"/>
              </a:rPr>
              <a:t>,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runoff generation</a:t>
            </a:r>
            <a:r>
              <a:rPr lang="en-US" sz="1600" dirty="0">
                <a:latin typeface="Times New Roman"/>
                <a:ea typeface="+mn-lt"/>
                <a:cs typeface="+mn-lt"/>
              </a:rPr>
              <a:t>,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sediment load</a:t>
            </a:r>
            <a:r>
              <a:rPr lang="en-US" sz="1600" dirty="0">
                <a:latin typeface="Times New Roman"/>
                <a:ea typeface="+mn-lt"/>
                <a:cs typeface="+mn-lt"/>
              </a:rPr>
              <a:t>, and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river hydrology</a:t>
            </a:r>
            <a:r>
              <a:rPr lang="en-US" sz="1600" dirty="0">
                <a:latin typeface="Times New Roman"/>
                <a:ea typeface="+mn-lt"/>
                <a:cs typeface="+mn-lt"/>
              </a:rPr>
              <a:t>, all of which directly influence barrage operations.</a:t>
            </a:r>
            <a:endParaRPr lang="en-US" sz="1600" b="1" dirty="0">
              <a:latin typeface="Times New Roman"/>
              <a:cs typeface="Times New Roman"/>
            </a:endParaRPr>
          </a:p>
          <a:p>
            <a:pPr>
              <a:lnSpc>
                <a:spcPct val="160000"/>
              </a:lnSpc>
              <a:buClr>
                <a:srgbClr val="8D87A6"/>
              </a:buClr>
            </a:pPr>
            <a:r>
              <a:rPr lang="en-US" sz="1600" dirty="0">
                <a:latin typeface="Times New Roman"/>
                <a:ea typeface="+mn-lt"/>
                <a:cs typeface="+mn-lt"/>
              </a:rPr>
              <a:t>Studies on the Godavari Basin exist on geophysical features, streamflow–sediment decline, and temperature changes and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trends, LULC, SCS-CN runoff, and dam hydrology exist for other river basins </a:t>
            </a:r>
            <a:r>
              <a:rPr lang="en-US" sz="1600" dirty="0">
                <a:latin typeface="Times New Roman"/>
                <a:ea typeface="+mn-lt"/>
                <a:cs typeface="+mn-lt"/>
              </a:rPr>
              <a:t>, but none integrate rainfall trends, LULC, SCS-CN runoff, and SAC Barrage hydrology into one comprehensive analysis.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buClr>
                <a:srgbClr val="8D87A6"/>
              </a:buClr>
            </a:pPr>
            <a:r>
              <a:rPr lang="en-US" sz="1600" dirty="0">
                <a:latin typeface="Times New Roman"/>
                <a:ea typeface="+mn-lt"/>
                <a:cs typeface="+mn-lt"/>
              </a:rPr>
              <a:t>Despite its importance,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limited research exists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on how future climate change, evolving LULC patterns, and runoff changes will impact SACB.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60000"/>
              </a:lnSpc>
              <a:buClr>
                <a:srgbClr val="8D87A6"/>
              </a:buClr>
            </a:pPr>
            <a:r>
              <a:rPr lang="en-US" sz="1600" dirty="0">
                <a:latin typeface="Times New Roman"/>
                <a:ea typeface="+mn-lt"/>
                <a:cs typeface="+mn-lt"/>
              </a:rPr>
              <a:t>Because no earlier study brings all these factors together, we truly need a detailed hydrological assessment that helps us understand what is happening today, what risks may arise in the future, and how we can protect the long-term sustainability of the Sir Arthur Cotton Barrage.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60000"/>
              </a:lnSpc>
              <a:buClr>
                <a:srgbClr val="8D87A6"/>
              </a:buClr>
            </a:pP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60000"/>
              </a:lnSpc>
              <a:buClr>
                <a:srgbClr val="8D87A6"/>
              </a:buClr>
            </a:pPr>
            <a:endParaRPr lang="en-US" sz="1600" b="1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D3AF12-21AF-EF02-8D56-F9ED7DE6F1D2}"/>
              </a:ext>
            </a:extLst>
          </p:cNvPr>
          <p:cNvSpPr txBox="1"/>
          <p:nvPr/>
        </p:nvSpPr>
        <p:spPr>
          <a:xfrm>
            <a:off x="560737" y="1394629"/>
            <a:ext cx="657323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2A2735"/>
                </a:solidFill>
                <a:latin typeface="Times New Roman"/>
                <a:cs typeface="Times New Roman"/>
              </a:rPr>
              <a:t>WHY IS THIS STUDY NEEDED?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66440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975E-2134-C829-A29B-1CCA7A8C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40" y="763121"/>
            <a:ext cx="5725123" cy="70834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/>
                <a:ea typeface="+mj-lt"/>
                <a:cs typeface="+mj-lt"/>
              </a:rPr>
              <a:t>OBJECTIVES OF THE STUDY</a:t>
            </a:r>
            <a:endParaRPr lang="en-US" sz="2800" b="1" dirty="0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366A94-5C2B-EEB4-6B7D-D90E893292DE}"/>
              </a:ext>
            </a:extLst>
          </p:cNvPr>
          <p:cNvSpPr txBox="1"/>
          <p:nvPr/>
        </p:nvSpPr>
        <p:spPr>
          <a:xfrm>
            <a:off x="960085" y="1607363"/>
            <a:ext cx="4314509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CLIMATE TREND ANALYSIS</a:t>
            </a:r>
            <a:endParaRPr lang="en-US"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Analyze long-term rainfall patterns.</a:t>
            </a:r>
            <a:endParaRPr lang="en-US"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Use statistical methods: 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Sen’s Slope</a:t>
            </a:r>
            <a:r>
              <a:rPr lang="en-US" sz="1600" dirty="0">
                <a:latin typeface="Times New Roman"/>
                <a:ea typeface="+mn-lt"/>
                <a:cs typeface="+mn-lt"/>
              </a:rPr>
              <a:t>.</a:t>
            </a:r>
            <a:endParaRPr lang="en-US"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Understand how climate variability is altering basin hydrology.</a:t>
            </a:r>
            <a:endParaRPr lang="en-US" sz="1600" dirty="0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6E0375-7E6E-F214-3824-36CCAB218215}"/>
              </a:ext>
            </a:extLst>
          </p:cNvPr>
          <p:cNvSpPr txBox="1"/>
          <p:nvPr/>
        </p:nvSpPr>
        <p:spPr>
          <a:xfrm>
            <a:off x="6505119" y="1577292"/>
            <a:ext cx="470610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LULC CHANGE DETECTION  </a:t>
            </a:r>
            <a:endParaRPr lang="en-US" sz="16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Use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ArcGIS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to derive LULC maps.</a:t>
            </a:r>
            <a:endParaRPr lang="en-US" sz="16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Detect changes in urbanization, agriculture, forests, and water bodies.</a:t>
            </a:r>
            <a:endParaRPr lang="en-US" sz="16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Examine how these changes modify infiltration and runoff potential.</a:t>
            </a:r>
            <a:endParaRPr lang="en-US" sz="1600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1A8B67-CC66-65A4-A118-E309E77A0040}"/>
              </a:ext>
            </a:extLst>
          </p:cNvPr>
          <p:cNvSpPr txBox="1"/>
          <p:nvPr/>
        </p:nvSpPr>
        <p:spPr>
          <a:xfrm>
            <a:off x="957453" y="3905325"/>
            <a:ext cx="523902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RUNOFF ESTIMATION USING SCS–CURVE NUMBER METHOD</a:t>
            </a:r>
            <a:endParaRPr lang="en-US" sz="16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Assign Curve Numbers based on year-wise LULC and soil groups.</a:t>
            </a:r>
            <a:endParaRPr lang="en-US" sz="16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Compute runoff and analyze long-term patterns.</a:t>
            </a:r>
            <a:endParaRPr lang="en-US" sz="16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Quantify hydrological shifts affecting barrage inflow.</a:t>
            </a:r>
            <a:endParaRPr lang="en-US" sz="1600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7B76B-9B7E-E0C0-A50C-28FD2505FBD6}"/>
              </a:ext>
            </a:extLst>
          </p:cNvPr>
          <p:cNvSpPr txBox="1"/>
          <p:nvPr/>
        </p:nvSpPr>
        <p:spPr>
          <a:xfrm>
            <a:off x="6504101" y="3902689"/>
            <a:ext cx="471049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/>
                <a:cs typeface="Times New Roman"/>
              </a:rPr>
              <a:t>FORECASTING WATER-LEVEL CHANGES IN SACB</a:t>
            </a:r>
            <a:endParaRPr lang="en-US"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Use statistical or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AI/ML models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(ANN/LSTM/GRU) to predict future pond levels.</a:t>
            </a:r>
            <a:endParaRPr lang="en-US"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+mn-lt"/>
              </a:rPr>
              <a:t>Evaluate combined effects of climate change + LULC modifications on SACB</a:t>
            </a:r>
            <a:endParaRPr lang="en-US" sz="16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138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21C33-5105-60C2-5A69-162FA5809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737" y="555503"/>
            <a:ext cx="7317106" cy="860937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METHODOLOGY</a:t>
            </a:r>
            <a:endParaRPr lang="en-US" sz="700" b="1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68527-DA44-149F-A156-101367D47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737" y="1417710"/>
            <a:ext cx="10325000" cy="356443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3600" b="1" dirty="0">
                <a:latin typeface="Times New Roman"/>
                <a:ea typeface="+mn-lt"/>
                <a:cs typeface="+mn-lt"/>
              </a:rPr>
              <a:t> </a:t>
            </a:r>
          </a:p>
          <a:p>
            <a:pPr>
              <a:lnSpc>
                <a:spcPct val="170000"/>
              </a:lnSpc>
            </a:pPr>
            <a:r>
              <a:rPr lang="en-US" sz="1600" dirty="0">
                <a:latin typeface="Times New Roman"/>
                <a:ea typeface="+mn-lt"/>
                <a:cs typeface="+mn-lt"/>
              </a:rPr>
              <a:t>To understand how climate change is affecting the Godavari Basin, we analyze both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annual rainfall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and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monsoon seasonal rainfall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(&gt;80% of total rainfall).</a:t>
            </a:r>
            <a:br>
              <a:rPr lang="en-US" sz="1600" dirty="0">
                <a:latin typeface="Times New Roman"/>
                <a:ea typeface="+mn-lt"/>
                <a:cs typeface="+mn-lt"/>
              </a:rPr>
            </a:br>
            <a:r>
              <a:rPr lang="en-US" sz="1600" dirty="0">
                <a:latin typeface="Times New Roman"/>
                <a:ea typeface="+mn-lt"/>
                <a:cs typeface="+mn-lt"/>
              </a:rPr>
              <a:t> We use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IMD gridded rainfall data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and apply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Sen’s Slope Test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to detect long-term trends.</a:t>
            </a:r>
            <a:endParaRPr lang="en-US" sz="1600">
              <a:latin typeface="Times New Roman"/>
              <a:cs typeface="Times New Roman"/>
            </a:endParaRPr>
          </a:p>
          <a:p>
            <a:pPr>
              <a:lnSpc>
                <a:spcPct val="170000"/>
              </a:lnSpc>
              <a:buClr>
                <a:srgbClr val="8D87A6"/>
              </a:buClr>
            </a:pPr>
            <a:r>
              <a:rPr lang="en-US" sz="1600" b="1" dirty="0">
                <a:latin typeface="Times New Roman"/>
                <a:ea typeface="+mn-lt"/>
                <a:cs typeface="+mn-lt"/>
              </a:rPr>
              <a:t>Why Sen’s Slope?</a:t>
            </a:r>
            <a:br>
              <a:rPr lang="en-US" sz="1600" b="1" dirty="0">
                <a:latin typeface="Times New Roman"/>
                <a:ea typeface="+mn-lt"/>
                <a:cs typeface="+mn-lt"/>
              </a:rPr>
            </a:br>
            <a:r>
              <a:rPr lang="en-US" sz="1600" b="1" dirty="0">
                <a:latin typeface="Times New Roman"/>
                <a:ea typeface="+mn-lt"/>
                <a:cs typeface="+mn-lt"/>
              </a:rPr>
              <a:t> </a:t>
            </a:r>
            <a:r>
              <a:rPr lang="en-US" sz="1600" dirty="0">
                <a:latin typeface="Times New Roman"/>
                <a:ea typeface="+mn-lt"/>
                <a:cs typeface="+mn-lt"/>
              </a:rPr>
              <a:t>Sen’s Slope is a robust, non-parametric method that calculates the rate of change in rainfall over time.</a:t>
            </a:r>
            <a:br>
              <a:rPr lang="en-US" sz="1600" dirty="0">
                <a:latin typeface="Times New Roman"/>
                <a:ea typeface="+mn-lt"/>
                <a:cs typeface="+mn-lt"/>
              </a:rPr>
            </a:br>
            <a:r>
              <a:rPr lang="en-US" sz="1600" dirty="0">
                <a:latin typeface="Times New Roman"/>
                <a:ea typeface="+mn-lt"/>
                <a:cs typeface="+mn-lt"/>
              </a:rPr>
              <a:t> Using all pairwise slopes: </a:t>
            </a:r>
            <a:endParaRPr lang="en-US" sz="1600">
              <a:latin typeface="Times New Roman"/>
              <a:cs typeface="Times New Roman"/>
            </a:endParaRPr>
          </a:p>
          <a:p>
            <a:pPr>
              <a:lnSpc>
                <a:spcPct val="170000"/>
              </a:lnSpc>
              <a:buClr>
                <a:srgbClr val="8D87A6"/>
              </a:buClr>
            </a:pPr>
            <a:endParaRPr lang="en-US" sz="1600" dirty="0">
              <a:latin typeface="Times New Roman"/>
              <a:ea typeface="+mn-lt"/>
              <a:cs typeface="+mn-lt"/>
            </a:endParaRPr>
          </a:p>
          <a:p>
            <a:pPr>
              <a:lnSpc>
                <a:spcPct val="170000"/>
              </a:lnSpc>
              <a:buClr>
                <a:srgbClr val="8D87A6"/>
              </a:buClr>
            </a:pPr>
            <a:r>
              <a:rPr lang="en-US" sz="1600" dirty="0">
                <a:latin typeface="Times New Roman"/>
                <a:ea typeface="+mn-lt"/>
                <a:cs typeface="+mn-lt"/>
              </a:rPr>
              <a:t>The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median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of these slopes gives the trend (increase or decrease).</a:t>
            </a:r>
            <a:br>
              <a:rPr lang="en-US" sz="1600" dirty="0">
                <a:latin typeface="Times New Roman"/>
                <a:ea typeface="+mn-lt"/>
                <a:cs typeface="+mn-lt"/>
              </a:rPr>
            </a:br>
            <a:r>
              <a:rPr lang="en-US" sz="1600" dirty="0">
                <a:latin typeface="Times New Roman"/>
                <a:ea typeface="+mn-lt"/>
                <a:cs typeface="+mn-lt"/>
              </a:rPr>
              <a:t> This helps quantify whether rainfall is rising, falling, or stable over decades.</a:t>
            </a:r>
            <a:endParaRPr lang="en-US">
              <a:latin typeface="Times New Roman"/>
              <a:cs typeface="Times New Roman"/>
            </a:endParaRPr>
          </a:p>
          <a:p>
            <a:pPr>
              <a:lnSpc>
                <a:spcPct val="160000"/>
              </a:lnSpc>
              <a:buClr>
                <a:srgbClr val="8D87A6"/>
              </a:buClr>
            </a:pP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4" name="Picture 3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3577FDA5-076D-84E7-430F-9645D0E8A1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2" t="9756" r="617" b="-1220"/>
          <a:stretch>
            <a:fillRect/>
          </a:stretch>
        </p:blipFill>
        <p:spPr>
          <a:xfrm>
            <a:off x="3597907" y="4770879"/>
            <a:ext cx="1249162" cy="5986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64A6B2-0836-898F-0A4D-516ADA776C48}"/>
              </a:ext>
            </a:extLst>
          </p:cNvPr>
          <p:cNvSpPr txBox="1"/>
          <p:nvPr/>
        </p:nvSpPr>
        <p:spPr>
          <a:xfrm>
            <a:off x="556599" y="1541656"/>
            <a:ext cx="99196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Times New Roman"/>
                <a:ea typeface="+mn-lt"/>
                <a:cs typeface="+mn-lt"/>
              </a:rPr>
              <a:t>CLIMATE CHANGE (RAINFALL) ANALYSIS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26704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03B99-57CA-0962-5A6C-F5E158E5F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543349"/>
            <a:ext cx="10325000" cy="14424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/>
                <a:ea typeface="+mj-lt"/>
                <a:cs typeface="+mj-lt"/>
              </a:rPr>
              <a:t>LAND USE &amp; LAND COVER ANALYSIS</a:t>
            </a:r>
            <a:endParaRPr lang="en-US" sz="2800" b="1" dirty="0">
              <a:latin typeface="Grandvie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21DEA-4147-DE02-ACDF-37B588D28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458601"/>
            <a:ext cx="10325000" cy="356443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To study how the catchment is physically changing, we perform a</a:t>
            </a:r>
            <a:r>
              <a:rPr lang="en-US" sz="17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GIS-based LULC analysis</a:t>
            </a:r>
            <a:r>
              <a:rPr lang="en-US" sz="17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using </a:t>
            </a:r>
            <a:r>
              <a:rPr lang="en-US" sz="17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ArcGIS</a:t>
            </a:r>
            <a:r>
              <a:rPr lang="en-US" sz="17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8D87A6"/>
              </a:buClr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.</a:t>
            </a:r>
          </a:p>
          <a:p>
            <a:pPr>
              <a:lnSpc>
                <a:spcPct val="150000"/>
              </a:lnSpc>
              <a:buClr>
                <a:srgbClr val="8D87A6"/>
              </a:buClr>
            </a:pPr>
            <a:endParaRPr lang="en-US" sz="17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8D87A6"/>
              </a:buClr>
              <a:buNone/>
            </a:pPr>
            <a:endParaRPr lang="en-US" sz="17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7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rgbClr val="2A2735">
                  <a:lumMod val="50000"/>
                  <a:lumOff val="50000"/>
                </a:srgbClr>
              </a:buClr>
              <a:buNone/>
            </a:pPr>
            <a:endParaRPr lang="en-US" sz="17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8D87A6"/>
              </a:buClr>
            </a:pPr>
            <a:r>
              <a:rPr lang="en-US" sz="17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This helps us observe how </a:t>
            </a:r>
            <a:r>
              <a:rPr lang="en-US" sz="17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urbanization, agriculture expansion, and deforestation</a:t>
            </a:r>
            <a:r>
              <a:rPr lang="en-US" sz="17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influence infiltration and runoff potential.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8D87A6"/>
              </a:buClr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C2958-882D-CE5D-8D6D-60F6069A99B3}"/>
              </a:ext>
            </a:extLst>
          </p:cNvPr>
          <p:cNvSpPr txBox="1"/>
          <p:nvPr/>
        </p:nvSpPr>
        <p:spPr>
          <a:xfrm>
            <a:off x="965050" y="2900779"/>
            <a:ext cx="9513055" cy="2264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1600" b="1" i="0" u="none" strike="noStrike" baseline="0" dirty="0">
                <a:solidFill>
                  <a:srgbClr val="2A2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we do in ArcGIS:</a:t>
            </a:r>
            <a:r>
              <a:rPr lang="en-US"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150000"/>
              </a:lnSpc>
              <a:buFont typeface=""/>
              <a:buChar char="•"/>
            </a:pPr>
            <a:r>
              <a:rPr lang="en-US" sz="1600" b="0" i="0" u="none" strike="noStrike" baseline="0" dirty="0">
                <a:solidFill>
                  <a:srgbClr val="2A273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Process satellite images for different years (</a:t>
            </a:r>
            <a:r>
              <a:rPr lang="en-US" sz="1600" b="0" i="0" u="none" strike="noStrike" baseline="0" dirty="0" err="1">
                <a:solidFill>
                  <a:srgbClr val="2A273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e.g</a:t>
            </a:r>
            <a:r>
              <a:rPr lang="en-US" sz="1600" b="0" i="0" u="none" strike="noStrike" baseline="0" dirty="0">
                <a:solidFill>
                  <a:srgbClr val="2A273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: 2017, 2024)</a:t>
            </a:r>
            <a:r>
              <a:rPr lang="en-US" sz="1600" b="0" i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228600" lvl="0" indent="-228600" algn="l" rtl="0">
              <a:lnSpc>
                <a:spcPct val="150000"/>
              </a:lnSpc>
              <a:buFont typeface=""/>
              <a:buChar char="•"/>
            </a:pPr>
            <a:r>
              <a:rPr lang="en-US" sz="1600" b="0" i="0" u="none" strike="noStrike" baseline="0" dirty="0">
                <a:solidFill>
                  <a:srgbClr val="2A273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Classify into land categories: Forest, Agriculture, Built-up, Waterbodies, Barren ground, Range ground.</a:t>
            </a:r>
            <a:r>
              <a:rPr lang="en-US" sz="1600" b="0" i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228600" lvl="0" indent="-228600" algn="l" rtl="0">
              <a:lnSpc>
                <a:spcPct val="150000"/>
              </a:lnSpc>
              <a:buFont typeface=""/>
              <a:buChar char="•"/>
            </a:pPr>
            <a:r>
              <a:rPr lang="en-US" sz="1600" b="0" i="0" u="none" strike="noStrike" baseline="0" dirty="0">
                <a:solidFill>
                  <a:srgbClr val="2A273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Generate change-detection maps</a:t>
            </a:r>
            <a:r>
              <a:rPr lang="en-US" sz="1600" b="0" i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228600" lvl="0" indent="-228600" algn="l" rtl="0">
              <a:lnSpc>
                <a:spcPct val="150000"/>
              </a:lnSpc>
              <a:buFont typeface=""/>
              <a:buChar char="•"/>
            </a:pPr>
            <a:r>
              <a:rPr lang="en-US" sz="1600" b="0" i="0" u="none" strike="noStrike" baseline="0" dirty="0">
                <a:solidFill>
                  <a:srgbClr val="2A273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Extract area statistics for each class</a:t>
            </a:r>
            <a:r>
              <a:rPr lang="en-US" sz="1600" b="0" i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​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1600" b="0" i="0" u="none" strike="noStrike" baseline="0" dirty="0">
                <a:solidFill>
                  <a:srgbClr val="2A273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Calculate Curve Numbers (CN) based on LULC + soil groups</a:t>
            </a:r>
            <a:endParaRPr lang="en-US" sz="1600" dirty="0">
              <a:solidFill>
                <a:srgbClr val="2A2735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930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7FA18-EDC0-4220-B414-A14C3142A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33" y="531409"/>
            <a:ext cx="10325000" cy="1442463"/>
          </a:xfrm>
        </p:spPr>
        <p:txBody>
          <a:bodyPr/>
          <a:lstStyle/>
          <a:p>
            <a:r>
              <a:rPr lang="en-US" sz="2800" b="1" dirty="0">
                <a:latin typeface="Times New Roman"/>
                <a:cs typeface="Times New Roman"/>
              </a:rPr>
              <a:t>RUNOFF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C5535-C282-8053-56BC-D3C725D4E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/>
                <a:ea typeface="+mn-lt"/>
                <a:cs typeface="+mn-lt"/>
              </a:rPr>
              <a:t>The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SCS-CN method</a:t>
            </a:r>
            <a:r>
              <a:rPr lang="en-US" sz="1600" dirty="0">
                <a:latin typeface="Times New Roman"/>
                <a:ea typeface="+mn-lt"/>
                <a:cs typeface="+mn-lt"/>
              </a:rPr>
              <a:t>, developed by the U.S. Soil Conservation Service, is widely used to estimate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direct runoff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from rainfall events. It links rainfall, land use, soil type, and watershed conditions to derive runoff in a simple but robust way.</a:t>
            </a:r>
            <a:endParaRPr lang="en-US" dirty="0"/>
          </a:p>
          <a:p>
            <a:pPr>
              <a:lnSpc>
                <a:spcPct val="150000"/>
              </a:lnSpc>
              <a:buClr>
                <a:srgbClr val="8D87A6"/>
              </a:buClr>
            </a:pPr>
            <a:r>
              <a:rPr lang="en-US" sz="1600" dirty="0">
                <a:latin typeface="Times New Roman"/>
                <a:cs typeface="Times New Roman"/>
              </a:rPr>
              <a:t>Runoff Equation: </a:t>
            </a:r>
          </a:p>
          <a:p>
            <a:pPr>
              <a:lnSpc>
                <a:spcPct val="150000"/>
              </a:lnSpc>
              <a:buClr>
                <a:srgbClr val="8D87A6"/>
              </a:buClr>
            </a:pP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Clr>
                <a:srgbClr val="8D87A6"/>
              </a:buClr>
            </a:pP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Clr>
                <a:srgbClr val="8D87A6"/>
              </a:buClr>
            </a:pP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Clr>
                <a:srgbClr val="8D87A6"/>
              </a:buClr>
            </a:pPr>
            <a:r>
              <a:rPr lang="en-US" sz="1600" dirty="0">
                <a:latin typeface="Times New Roman"/>
                <a:ea typeface="+mn-lt"/>
                <a:cs typeface="+mn-lt"/>
              </a:rPr>
              <a:t>where Q=direct runoff,P=cumulative precipitation for event, S = potential maximum retention and λ=initial abstraction coefficient.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buClr>
                <a:srgbClr val="8D87A6"/>
              </a:buClr>
            </a:pPr>
            <a:endParaRPr lang="en-US" sz="1600" dirty="0">
              <a:latin typeface="Times New Roman"/>
              <a:cs typeface="Times New Roman"/>
            </a:endParaRPr>
          </a:p>
          <a:p>
            <a:pPr>
              <a:buClr>
                <a:srgbClr val="8D87A6"/>
              </a:buClr>
            </a:pPr>
            <a:endParaRPr lang="en-US" sz="1600" dirty="0">
              <a:latin typeface="Times New Roman"/>
              <a:cs typeface="Times New Roman"/>
            </a:endParaRPr>
          </a:p>
          <a:p>
            <a:pPr>
              <a:buClr>
                <a:srgbClr val="8D87A6"/>
              </a:buClr>
            </a:pPr>
            <a:endParaRPr lang="en-US" sz="1600" dirty="0">
              <a:latin typeface="Times New Roman"/>
              <a:cs typeface="Times New Roman"/>
            </a:endParaRPr>
          </a:p>
          <a:p>
            <a:pPr>
              <a:buClr>
                <a:srgbClr val="8D87A6"/>
              </a:buClr>
            </a:pPr>
            <a:endParaRPr lang="en-US" sz="1600" dirty="0">
              <a:latin typeface="Times New Roman"/>
              <a:cs typeface="Times New Roman"/>
            </a:endParaRPr>
          </a:p>
        </p:txBody>
      </p:sp>
      <p:pic>
        <p:nvPicPr>
          <p:cNvPr id="4" name="Picture 3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6D2D489E-C87E-EB53-C9C2-3AEED7210E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98" t="9052" r="4237" b="8621"/>
          <a:stretch>
            <a:fillRect/>
          </a:stretch>
        </p:blipFill>
        <p:spPr>
          <a:xfrm>
            <a:off x="6656980" y="3767937"/>
            <a:ext cx="2883718" cy="986616"/>
          </a:xfrm>
          <a:prstGeom prst="rect">
            <a:avLst/>
          </a:prstGeom>
        </p:spPr>
      </p:pic>
      <p:pic>
        <p:nvPicPr>
          <p:cNvPr id="5" name="Picture 4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9D7BDE3C-E444-A4DB-AEB0-04B15D4474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54" t="19893" r="8523" b="15000"/>
          <a:stretch>
            <a:fillRect/>
          </a:stretch>
        </p:blipFill>
        <p:spPr>
          <a:xfrm>
            <a:off x="4540024" y="4128140"/>
            <a:ext cx="987675" cy="261956"/>
          </a:xfrm>
          <a:prstGeom prst="rect">
            <a:avLst/>
          </a:prstGeom>
        </p:spPr>
      </p:pic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993F3D6-FCE8-7922-797A-EFB799CA22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55" t="4571" r="1935" b="4286"/>
          <a:stretch>
            <a:fillRect/>
          </a:stretch>
        </p:blipFill>
        <p:spPr>
          <a:xfrm>
            <a:off x="1681555" y="3921922"/>
            <a:ext cx="1802136" cy="70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119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7C6E-0B99-E3B4-E471-D12B30AE4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896398"/>
            <a:ext cx="6976211" cy="991279"/>
          </a:xfrm>
        </p:spPr>
        <p:txBody>
          <a:bodyPr/>
          <a:lstStyle/>
          <a:p>
            <a:r>
              <a:rPr lang="en-US" b="1" dirty="0">
                <a:latin typeface="Times New Roman"/>
                <a:ea typeface="+mj-lt"/>
                <a:cs typeface="+mj-lt"/>
              </a:rPr>
              <a:t>RESULTS</a:t>
            </a:r>
            <a:endParaRPr lang="en-US" b="1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1A89F-DD2C-4829-9282-AC24CB309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888947"/>
            <a:ext cx="10198885" cy="51643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/>
                <a:ea typeface="+mn-lt"/>
                <a:cs typeface="+mn-lt"/>
              </a:rPr>
              <a:t>ANNUAL RAINFALL TREND (SEN’S SLOPE ANALYSIS)</a:t>
            </a:r>
            <a:endParaRPr lang="en-US" sz="2800" b="1" dirty="0"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3C1018-4C51-A8F3-F13E-D020254CACE2}"/>
              </a:ext>
            </a:extLst>
          </p:cNvPr>
          <p:cNvSpPr txBox="1"/>
          <p:nvPr/>
        </p:nvSpPr>
        <p:spPr>
          <a:xfrm>
            <a:off x="8450613" y="5795787"/>
            <a:ext cx="1855785" cy="3793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Increasing Trend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4933A98-C601-CEC6-1201-437A5D4815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1244252"/>
              </p:ext>
            </p:extLst>
          </p:nvPr>
        </p:nvGraphicFramePr>
        <p:xfrm>
          <a:off x="560783" y="2535747"/>
          <a:ext cx="5433400" cy="3260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FD2AFD1-DEBA-64D5-E530-43F0571635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6419417"/>
              </p:ext>
            </p:extLst>
          </p:nvPr>
        </p:nvGraphicFramePr>
        <p:xfrm>
          <a:off x="6335813" y="2694561"/>
          <a:ext cx="5504501" cy="2641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37762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89FAB-00B6-AA52-B308-FA93CB811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002" y="303921"/>
            <a:ext cx="10325000" cy="1442463"/>
          </a:xfrm>
        </p:spPr>
        <p:txBody>
          <a:bodyPr/>
          <a:lstStyle/>
          <a:p>
            <a:r>
              <a:rPr lang="en-US" sz="2800" b="1" dirty="0">
                <a:latin typeface="Times New Roman"/>
                <a:cs typeface="Times New Roman"/>
              </a:rPr>
              <a:t>MONSOON RAINFALL </a:t>
            </a:r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D39A85A-508B-34B1-43A2-5660D204A2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301990"/>
              </p:ext>
            </p:extLst>
          </p:nvPr>
        </p:nvGraphicFramePr>
        <p:xfrm>
          <a:off x="2203938" y="1746384"/>
          <a:ext cx="7784123" cy="4682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40126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38EA-634D-9A07-23E2-ACC129480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615662"/>
            <a:ext cx="7166711" cy="90104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WHY MONSOON RAINFALL ONLY?</a:t>
            </a:r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64C24-8304-8654-B56D-DE7751DB6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68086"/>
            <a:ext cx="6208342" cy="384321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1800" b="1" dirty="0">
              <a:latin typeface="Times New Roman"/>
              <a:cs typeface="Times New Roman"/>
            </a:endParaRPr>
          </a:p>
          <a:p>
            <a:pPr>
              <a:lnSpc>
                <a:spcPct val="160000"/>
              </a:lnSpc>
              <a:buClr>
                <a:srgbClr val="8D87A6"/>
              </a:buClr>
            </a:pPr>
            <a:r>
              <a:rPr lang="en-US" sz="1600" dirty="0">
                <a:latin typeface="Times New Roman"/>
                <a:ea typeface="+mn-lt"/>
                <a:cs typeface="+mn-lt"/>
              </a:rPr>
              <a:t>More than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80% of total annual rainfall occurs during the monsoon season (June–September)</a:t>
            </a:r>
            <a:r>
              <a:rPr lang="en-US" sz="1600" dirty="0">
                <a:latin typeface="Times New Roman"/>
                <a:ea typeface="+mn-lt"/>
                <a:cs typeface="+mn-lt"/>
              </a:rPr>
              <a:t>.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60000"/>
              </a:lnSpc>
              <a:buClr>
                <a:srgbClr val="8D87A6"/>
              </a:buClr>
            </a:pPr>
            <a:r>
              <a:rPr lang="en-US" sz="1600" dirty="0">
                <a:latin typeface="Times New Roman"/>
                <a:ea typeface="+mn-lt"/>
                <a:cs typeface="+mn-lt"/>
              </a:rPr>
              <a:t>Thus, monsoon rainfall is the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dominant driver of runoff generation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in the Godavari Basin.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60000"/>
              </a:lnSpc>
              <a:buClr>
                <a:srgbClr val="8D87A6"/>
              </a:buClr>
            </a:pPr>
            <a:r>
              <a:rPr lang="en-US" sz="1600" dirty="0">
                <a:latin typeface="Times New Roman"/>
                <a:ea typeface="+mn-lt"/>
                <a:cs typeface="+mn-lt"/>
              </a:rPr>
              <a:t>Non-monsoon rainfall contributes very little and does not significantly affect annual flow into SAC Barrage.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60000"/>
              </a:lnSpc>
              <a:buClr>
                <a:srgbClr val="8D87A6"/>
              </a:buClr>
            </a:pPr>
            <a:r>
              <a:rPr lang="en-US" sz="1600" dirty="0">
                <a:latin typeface="Times New Roman"/>
                <a:ea typeface="+mn-lt"/>
                <a:cs typeface="+mn-lt"/>
              </a:rPr>
              <a:t>Therefore, 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monsoon-only rainfall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is used for a more accurate hydrological trend analysis.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60000"/>
              </a:lnSpc>
              <a:buClr>
                <a:srgbClr val="8D87A6"/>
              </a:buClr>
            </a:pPr>
            <a:r>
              <a:rPr lang="en-US" sz="1600" b="1" dirty="0">
                <a:latin typeface="Times New Roman"/>
                <a:ea typeface="+mn-lt"/>
                <a:cs typeface="+mn-lt"/>
              </a:rPr>
              <a:t>Clear positive trend</a:t>
            </a:r>
            <a:r>
              <a:rPr lang="en-US" sz="1600" dirty="0">
                <a:latin typeface="Times New Roman"/>
                <a:ea typeface="+mn-lt"/>
                <a:cs typeface="+mn-lt"/>
              </a:rPr>
              <a:t> in monsoon seasonal rainfall over the decades.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buClr>
                <a:srgbClr val="8D87A6"/>
              </a:buClr>
            </a:pPr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FD2AFD1-DEBA-64D5-E530-43F0571635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565193"/>
              </p:ext>
            </p:extLst>
          </p:nvPr>
        </p:nvGraphicFramePr>
        <p:xfrm>
          <a:off x="6672263" y="2460795"/>
          <a:ext cx="5283031" cy="2850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44501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CB827-7CE4-D1E9-6983-D51BD4B80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2017 AND 2024 LAND COVER AND LAND USE</a:t>
            </a:r>
          </a:p>
        </p:txBody>
      </p:sp>
      <p:pic>
        <p:nvPicPr>
          <p:cNvPr id="5" name="Content Placeholder 3" descr="A map of a large area&#10;&#10;AI-generated content may be incorrect.">
            <a:extLst>
              <a:ext uri="{FF2B5EF4-FFF2-40B4-BE49-F238E27FC236}">
                <a16:creationId xmlns:a16="http://schemas.microsoft.com/office/drawing/2014/main" id="{BF4EC15F-ED8F-6398-4200-4A13EDC44F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7" t="5" r="-286" b="-2309"/>
          <a:stretch>
            <a:fillRect/>
          </a:stretch>
        </p:blipFill>
        <p:spPr>
          <a:xfrm>
            <a:off x="925373" y="2471516"/>
            <a:ext cx="4580422" cy="3267788"/>
          </a:xfrm>
          <a:prstGeom prst="rect">
            <a:avLst/>
          </a:prstGeom>
        </p:spPr>
      </p:pic>
      <p:pic>
        <p:nvPicPr>
          <p:cNvPr id="7" name="Picture 6" descr="A map of a large area&#10;&#10;AI-generated content may be incorrect.">
            <a:extLst>
              <a:ext uri="{FF2B5EF4-FFF2-40B4-BE49-F238E27FC236}">
                <a16:creationId xmlns:a16="http://schemas.microsoft.com/office/drawing/2014/main" id="{6C0B9853-4544-95ED-4151-C9E07030EB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40" t="1676" b="406"/>
          <a:stretch>
            <a:fillRect/>
          </a:stretch>
        </p:blipFill>
        <p:spPr>
          <a:xfrm>
            <a:off x="6693514" y="2343665"/>
            <a:ext cx="4603747" cy="31120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7FC48B-792C-083A-06D8-1C022497ADDB}"/>
              </a:ext>
            </a:extLst>
          </p:cNvPr>
          <p:cNvSpPr txBox="1"/>
          <p:nvPr/>
        </p:nvSpPr>
        <p:spPr>
          <a:xfrm>
            <a:off x="3048567" y="5626000"/>
            <a:ext cx="7474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 dirty="0">
                <a:latin typeface="Times New Roman"/>
                <a:cs typeface="Times New Roman"/>
              </a:rPr>
              <a:t>2017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F173D3-A82F-B91D-5A8A-9BDC3BF0AAB4}"/>
              </a:ext>
            </a:extLst>
          </p:cNvPr>
          <p:cNvSpPr txBox="1"/>
          <p:nvPr/>
        </p:nvSpPr>
        <p:spPr>
          <a:xfrm>
            <a:off x="8995388" y="5630986"/>
            <a:ext cx="7474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 dirty="0">
                <a:latin typeface="Times New Roman"/>
                <a:cs typeface="Times New Roman"/>
              </a:rPr>
              <a:t>2024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17F16D6-07FA-CD26-F2A1-DCEF1423D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795" y="4505138"/>
            <a:ext cx="1230678" cy="152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64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3" name="Rectangle 212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4B74A58D-C788-4F75-B5D1-921E78FF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C27BC05A-659D-4294-B1DB-0412C6A1E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32A8233F-A451-46B4-BED4-27DD64582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78A4F6C4-FDB0-4115-ABAE-9A5A8CED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D1C99737-F794-494E-8C0C-76B75CC9D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98F02DA6-DBA7-462E-82AD-42EEDC280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4DE71D6B-949D-4D9E-9EEA-56A8D498A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24EFD95D-F204-41B7-9C56-DBF1155EC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A53D25B4-D3D4-4B6C-A740-E8FD4409B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3FB8D2F-FC2D-463E-A588-218B5ED1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F21BB6B9-EAEA-43A1-9449-A10294E4F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90C62509-6F9A-4A66-AE78-EF71FE7D4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DF0D677E-8866-4D5C-91F9-90001EBE8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A6C1C222-FB70-4063-9BF6-25E539454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348C3B78-3424-4DF2-AE25-BC08956E2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189169EC-7A8F-439B-BDD2-669CDE6D9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E625A96E-5FA1-467F-8929-E9F3A4D42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A4167E38-35D8-4680-8EF9-67045C8AA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B9E9F9CA-B0D2-4D5B-BA3E-D9F5817AF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41909765-556E-4AA4-8CA8-34ABA30EB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3D9E7D9C-D2A0-4C04-AC8C-CC796A575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1513C351-6AD8-4CC8-85E6-1382AA235C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2190FC97-7BCE-42C2-9768-14559A44A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932B857D-BE14-48CD-8F4D-0E882D328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7F2E92CD-7175-484E-B557-CF29951C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179EA7-0CFA-4FE9-BEF1-462C0ED39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D66676B7-1322-4E27-9218-6D5E8B0EC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2026F347-76EB-45F8-9B81-653E64A00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71E93AAC-F0A9-4B35-A413-A322DB9F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0145F376-7C0E-4F7E-816B-48D485A8C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65F4E9A3-2521-4838-9AA2-A5D5020D4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9D0F8335-C6C7-4994-9ECB-54F0EB8C5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8" name="Right Triangle 247">
            <a:extLst>
              <a:ext uri="{FF2B5EF4-FFF2-40B4-BE49-F238E27FC236}">
                <a16:creationId xmlns:a16="http://schemas.microsoft.com/office/drawing/2014/main" id="{17D11638-D7E0-4D85-B1A6-AF57358C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0" y="205909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F122B-1088-4CC0-6BCA-5CD1EB532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3" y="721945"/>
            <a:ext cx="10611627" cy="191661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/>
                <a:ea typeface="+mj-lt"/>
                <a:cs typeface="+mj-lt"/>
              </a:rPr>
              <a:t>HYDROLOGICAL SOIL GROUPS</a:t>
            </a:r>
            <a:endParaRPr lang="en-US" sz="2800" b="1" dirty="0">
              <a:latin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41C1A-8E3D-60FE-307B-5FE48AC06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52" y="2522501"/>
            <a:ext cx="4981486" cy="32425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Clr>
                <a:srgbClr val="2A2735">
                  <a:lumMod val="50000"/>
                  <a:lumOff val="50000"/>
                </a:srgbClr>
              </a:buClr>
            </a:pPr>
            <a:r>
              <a:rPr lang="en-US" sz="1800" dirty="0">
                <a:latin typeface="Times New Roman"/>
                <a:ea typeface="+mn-lt"/>
                <a:cs typeface="+mn-lt"/>
              </a:rPr>
              <a:t>Godavari basin has significant HSG C &amp; D, contributing to runoff.</a:t>
            </a:r>
            <a:endParaRPr lang="en-US" sz="1800" dirty="0">
              <a:latin typeface="Times New Roman"/>
              <a:cs typeface="Times New Roman"/>
            </a:endParaRPr>
          </a:p>
          <a:p>
            <a:pPr marL="342900" indent="-342900">
              <a:buClr>
                <a:srgbClr val="8D87A6"/>
              </a:buClr>
            </a:pPr>
            <a:r>
              <a:rPr lang="en-US" sz="1800" dirty="0">
                <a:latin typeface="Times New Roman"/>
                <a:cs typeface="Times New Roman"/>
              </a:rPr>
              <a:t>These have </a:t>
            </a:r>
            <a:r>
              <a:rPr lang="en-US" sz="1800" b="1" dirty="0">
                <a:latin typeface="Times New Roman"/>
                <a:cs typeface="Times New Roman"/>
              </a:rPr>
              <a:t>low infiltration</a:t>
            </a:r>
            <a:r>
              <a:rPr lang="en-US" sz="1800" dirty="0">
                <a:latin typeface="Times New Roman"/>
                <a:cs typeface="Times New Roman"/>
              </a:rPr>
              <a:t> → </a:t>
            </a:r>
            <a:r>
              <a:rPr lang="en-US" sz="1800" b="1" dirty="0">
                <a:latin typeface="Times New Roman"/>
                <a:cs typeface="Times New Roman"/>
              </a:rPr>
              <a:t>higher runoff.</a:t>
            </a:r>
            <a:endParaRPr lang="en-US" sz="1800" dirty="0"/>
          </a:p>
        </p:txBody>
      </p:sp>
      <p:pic>
        <p:nvPicPr>
          <p:cNvPr id="4" name="Picture 3" descr="A map of a country&#10;&#10;AI-generated content may be incorrect.">
            <a:extLst>
              <a:ext uri="{FF2B5EF4-FFF2-40B4-BE49-F238E27FC236}">
                <a16:creationId xmlns:a16="http://schemas.microsoft.com/office/drawing/2014/main" id="{FA967350-1734-AF68-9315-DEA580DE536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1891" r="-1" b="-1"/>
          <a:stretch>
            <a:fillRect/>
          </a:stretch>
        </p:blipFill>
        <p:spPr>
          <a:xfrm>
            <a:off x="6154585" y="2884572"/>
            <a:ext cx="5294604" cy="325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014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B1867-EF6F-5016-1EF6-E35371509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601" y="719735"/>
            <a:ext cx="9601783" cy="118100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A2735"/>
                </a:solidFill>
                <a:latin typeface="Times New Roman"/>
                <a:ea typeface="Times New Roman"/>
                <a:cs typeface="Times New Roman"/>
              </a:rPr>
              <a:t> </a:t>
            </a:r>
            <a:br>
              <a:rPr lang="en-US" dirty="0"/>
            </a:br>
            <a:r>
              <a:rPr lang="en-US" b="1" dirty="0">
                <a:solidFill>
                  <a:srgbClr val="2A2735"/>
                </a:solidFill>
                <a:latin typeface="Times New Roman"/>
                <a:ea typeface="Times New Roman"/>
                <a:cs typeface="Times New Roman"/>
              </a:rPr>
              <a:t>OBSERVATIONS FROM LCLU, HSG AND ESTIMATE CURVE NUMBER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A4DD1B-7E1F-4586-75AB-4687DF6470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0542521"/>
              </p:ext>
            </p:extLst>
          </p:nvPr>
        </p:nvGraphicFramePr>
        <p:xfrm>
          <a:off x="1101968" y="2111753"/>
          <a:ext cx="10253785" cy="425586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406625">
                  <a:extLst>
                    <a:ext uri="{9D8B030D-6E8A-4147-A177-3AD203B41FA5}">
                      <a16:colId xmlns:a16="http://schemas.microsoft.com/office/drawing/2014/main" val="600600392"/>
                    </a:ext>
                  </a:extLst>
                </a:gridCol>
                <a:gridCol w="515470">
                  <a:extLst>
                    <a:ext uri="{9D8B030D-6E8A-4147-A177-3AD203B41FA5}">
                      <a16:colId xmlns:a16="http://schemas.microsoft.com/office/drawing/2014/main" val="4059232978"/>
                    </a:ext>
                  </a:extLst>
                </a:gridCol>
                <a:gridCol w="1388616">
                  <a:extLst>
                    <a:ext uri="{9D8B030D-6E8A-4147-A177-3AD203B41FA5}">
                      <a16:colId xmlns:a16="http://schemas.microsoft.com/office/drawing/2014/main" val="3967821728"/>
                    </a:ext>
                  </a:extLst>
                </a:gridCol>
                <a:gridCol w="1325853">
                  <a:extLst>
                    <a:ext uri="{9D8B030D-6E8A-4147-A177-3AD203B41FA5}">
                      <a16:colId xmlns:a16="http://schemas.microsoft.com/office/drawing/2014/main" val="941634721"/>
                    </a:ext>
                  </a:extLst>
                </a:gridCol>
                <a:gridCol w="1521984">
                  <a:extLst>
                    <a:ext uri="{9D8B030D-6E8A-4147-A177-3AD203B41FA5}">
                      <a16:colId xmlns:a16="http://schemas.microsoft.com/office/drawing/2014/main" val="2990732828"/>
                    </a:ext>
                  </a:extLst>
                </a:gridCol>
                <a:gridCol w="1051268">
                  <a:extLst>
                    <a:ext uri="{9D8B030D-6E8A-4147-A177-3AD203B41FA5}">
                      <a16:colId xmlns:a16="http://schemas.microsoft.com/office/drawing/2014/main" val="3517963336"/>
                    </a:ext>
                  </a:extLst>
                </a:gridCol>
                <a:gridCol w="1216008">
                  <a:extLst>
                    <a:ext uri="{9D8B030D-6E8A-4147-A177-3AD203B41FA5}">
                      <a16:colId xmlns:a16="http://schemas.microsoft.com/office/drawing/2014/main" val="395719080"/>
                    </a:ext>
                  </a:extLst>
                </a:gridCol>
                <a:gridCol w="891327">
                  <a:extLst>
                    <a:ext uri="{9D8B030D-6E8A-4147-A177-3AD203B41FA5}">
                      <a16:colId xmlns:a16="http://schemas.microsoft.com/office/drawing/2014/main" val="809549862"/>
                    </a:ext>
                  </a:extLst>
                </a:gridCol>
                <a:gridCol w="936634">
                  <a:extLst>
                    <a:ext uri="{9D8B030D-6E8A-4147-A177-3AD203B41FA5}">
                      <a16:colId xmlns:a16="http://schemas.microsoft.com/office/drawing/2014/main" val="3276828789"/>
                    </a:ext>
                  </a:extLst>
                </a:gridCol>
              </a:tblGrid>
              <a:tr h="4595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LULC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HSG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AREA_2017_km²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AREA_2024_km²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Change in area_km²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change_km²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Curve number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CN_2017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CN_2024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extLst>
                  <a:ext uri="{0D108BD9-81ED-4DB2-BD59-A6C34878D82A}">
                    <a16:rowId xmlns:a16="http://schemas.microsoft.com/office/drawing/2014/main" val="762046560"/>
                  </a:ext>
                </a:extLst>
              </a:tr>
              <a:tr h="2146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bodies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1963.35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2276.79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313.44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460.98</a:t>
                      </a:r>
                      <a:endParaRPr lang="en-IN" sz="1200" b="0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790" marR="91790" marT="45895" marB="45895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extLst>
                  <a:ext uri="{0D108BD9-81ED-4DB2-BD59-A6C34878D82A}">
                    <a16:rowId xmlns:a16="http://schemas.microsoft.com/office/drawing/2014/main" val="4260566149"/>
                  </a:ext>
                </a:extLst>
              </a:tr>
              <a:tr h="2738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bodies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4239.29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4386.84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147.54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extLst>
                  <a:ext uri="{0D108BD9-81ED-4DB2-BD59-A6C34878D82A}">
                    <a16:rowId xmlns:a16="http://schemas.microsoft.com/office/drawing/2014/main" val="2834086204"/>
                  </a:ext>
                </a:extLst>
              </a:tr>
              <a:tr h="2146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forest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36160.50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33036.98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-3123.52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-12550.92</a:t>
                      </a:r>
                      <a:endParaRPr lang="en-IN" sz="1200" b="0" i="0" u="none" strike="noStrike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790" marR="91790" marT="45895" marB="45895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7.34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extLst>
                  <a:ext uri="{0D108BD9-81ED-4DB2-BD59-A6C34878D82A}">
                    <a16:rowId xmlns:a16="http://schemas.microsoft.com/office/drawing/2014/main" val="3138130608"/>
                  </a:ext>
                </a:extLst>
              </a:tr>
              <a:tr h="3284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forest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34183.48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24756.08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-9427.40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8.35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6.05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extLst>
                  <a:ext uri="{0D108BD9-81ED-4DB2-BD59-A6C34878D82A}">
                    <a16:rowId xmlns:a16="http://schemas.microsoft.com/office/drawing/2014/main" val="3515286008"/>
                  </a:ext>
                </a:extLst>
              </a:tr>
              <a:tr h="2657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flooded vegetation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60.67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37.58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-23.09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-51.00</a:t>
                      </a:r>
                      <a:endParaRPr lang="en-IN" sz="1200" b="0" i="0" u="none" strike="noStrike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790" marR="91790" marT="45895" marB="45895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extLst>
                  <a:ext uri="{0D108BD9-81ED-4DB2-BD59-A6C34878D82A}">
                    <a16:rowId xmlns:a16="http://schemas.microsoft.com/office/drawing/2014/main" val="1126858110"/>
                  </a:ext>
                </a:extLst>
              </a:tr>
              <a:tr h="2969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flooded vegetation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111.07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83.15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-27.91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extLst>
                  <a:ext uri="{0D108BD9-81ED-4DB2-BD59-A6C34878D82A}">
                    <a16:rowId xmlns:a16="http://schemas.microsoft.com/office/drawing/2014/main" val="2393764955"/>
                  </a:ext>
                </a:extLst>
              </a:tr>
              <a:tr h="2146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Agricultral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16433.00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18275.97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1842.97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5453.88</a:t>
                      </a:r>
                      <a:endParaRPr lang="en-IN" sz="1200" b="0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790" marR="91790" marT="45895" marB="45895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4.75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extLst>
                  <a:ext uri="{0D108BD9-81ED-4DB2-BD59-A6C34878D82A}">
                    <a16:rowId xmlns:a16="http://schemas.microsoft.com/office/drawing/2014/main" val="4049372860"/>
                  </a:ext>
                </a:extLst>
              </a:tr>
              <a:tr h="2738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Agricultral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150295.09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153906.00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3610.91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41.99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extLst>
                  <a:ext uri="{0D108BD9-81ED-4DB2-BD59-A6C34878D82A}">
                    <a16:rowId xmlns:a16="http://schemas.microsoft.com/office/drawing/2014/main" val="1108594644"/>
                  </a:ext>
                </a:extLst>
              </a:tr>
              <a:tr h="2146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bulit up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2598.67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3616.92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1018.25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3740.73</a:t>
                      </a:r>
                      <a:endParaRPr lang="en-IN" sz="1200" b="0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790" marR="91790" marT="45895" marB="45895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extLst>
                  <a:ext uri="{0D108BD9-81ED-4DB2-BD59-A6C34878D82A}">
                    <a16:rowId xmlns:a16="http://schemas.microsoft.com/office/drawing/2014/main" val="2753361056"/>
                  </a:ext>
                </a:extLst>
              </a:tr>
              <a:tr h="2738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bulit up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5679.57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8402.05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2722.48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extLst>
                  <a:ext uri="{0D108BD9-81ED-4DB2-BD59-A6C34878D82A}">
                    <a16:rowId xmlns:a16="http://schemas.microsoft.com/office/drawing/2014/main" val="799283336"/>
                  </a:ext>
                </a:extLst>
              </a:tr>
              <a:tr h="2146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bare ground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114.37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61.21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-53.16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-204.39</a:t>
                      </a:r>
                      <a:endParaRPr lang="en-IN" sz="1200" b="0" i="0" u="none" strike="noStrike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790" marR="91790" marT="45895" marB="45895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extLst>
                  <a:ext uri="{0D108BD9-81ED-4DB2-BD59-A6C34878D82A}">
                    <a16:rowId xmlns:a16="http://schemas.microsoft.com/office/drawing/2014/main" val="3664236047"/>
                  </a:ext>
                </a:extLst>
              </a:tr>
              <a:tr h="2698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bare ground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409.85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258.63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-151.22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extLst>
                  <a:ext uri="{0D108BD9-81ED-4DB2-BD59-A6C34878D82A}">
                    <a16:rowId xmlns:a16="http://schemas.microsoft.com/office/drawing/2014/main" val="57187735"/>
                  </a:ext>
                </a:extLst>
              </a:tr>
              <a:tr h="2146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rangeground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27740.43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29054.27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1313.84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3148.09</a:t>
                      </a:r>
                      <a:endParaRPr lang="en-IN" sz="1200" b="0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790" marR="91790" marT="45895" marB="45895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6.82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extLst>
                  <a:ext uri="{0D108BD9-81ED-4DB2-BD59-A6C34878D82A}">
                    <a16:rowId xmlns:a16="http://schemas.microsoft.com/office/drawing/2014/main" val="3132685768"/>
                  </a:ext>
                </a:extLst>
              </a:tr>
              <a:tr h="2738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rangeground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35252.95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37087.20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1834.25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8.95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9.41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extLst>
                  <a:ext uri="{0D108BD9-81ED-4DB2-BD59-A6C34878D82A}">
                    <a16:rowId xmlns:a16="http://schemas.microsoft.com/office/drawing/2014/main" val="1170686378"/>
                  </a:ext>
                </a:extLst>
              </a:tr>
              <a:tr h="2146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315242.29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315239.67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81.76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82.20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98" marR="8198" marT="8198" marB="0" anchor="b"/>
                </a:tc>
                <a:extLst>
                  <a:ext uri="{0D108BD9-81ED-4DB2-BD59-A6C34878D82A}">
                    <a16:rowId xmlns:a16="http://schemas.microsoft.com/office/drawing/2014/main" val="2414475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852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3CE9C-3718-3EBC-1A9B-26D621308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75030"/>
            <a:ext cx="10325000" cy="14424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CURVE NUMBER (SEN'S SLOPE ANALYSIS) </a:t>
            </a:r>
            <a:endParaRPr lang="en-US" sz="2800" b="1" dirty="0">
              <a:latin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82717-3523-57DA-C922-351B77EE9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1800" dirty="0">
              <a:latin typeface="Times New Roman"/>
            </a:endParaRPr>
          </a:p>
          <a:p>
            <a:pPr>
              <a:buClr>
                <a:srgbClr val="8D87A6"/>
              </a:buClr>
            </a:pPr>
            <a:endParaRPr lang="en-US" dirty="0"/>
          </a:p>
          <a:p>
            <a:pPr>
              <a:buClr>
                <a:srgbClr val="8D87A6"/>
              </a:buClr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4137C-377C-83E0-5513-89DAEB89C887}"/>
              </a:ext>
            </a:extLst>
          </p:cNvPr>
          <p:cNvSpPr txBox="1"/>
          <p:nvPr/>
        </p:nvSpPr>
        <p:spPr>
          <a:xfrm>
            <a:off x="691816" y="2135605"/>
            <a:ext cx="6133527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§"/>
            </a:pPr>
            <a:r>
              <a:rPr lang="en-US" sz="1600" dirty="0">
                <a:latin typeface="Times New Roman"/>
                <a:cs typeface="Times New Roman"/>
              </a:rPr>
              <a:t>CN values were computed using combined LULC + hydrological soil groups.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/>
              <a:buChar char="§"/>
            </a:pPr>
            <a:r>
              <a:rPr lang="en-US" sz="1600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/>
              <a:buChar char="§"/>
            </a:pPr>
            <a:endParaRPr lang="en-US"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§"/>
            </a:pPr>
            <a:endParaRPr lang="en-US"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§"/>
            </a:pPr>
            <a:endParaRPr lang="en-US" sz="16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§"/>
            </a:pPr>
            <a:r>
              <a:rPr lang="en-US" sz="1600" dirty="0">
                <a:latin typeface="Times New Roman"/>
                <a:cs typeface="Times New Roman"/>
              </a:rPr>
              <a:t>Higher CN values mean the catchment is becoming </a:t>
            </a:r>
            <a:r>
              <a:rPr lang="en-US" sz="1600" b="1" dirty="0">
                <a:latin typeface="Times New Roman"/>
                <a:cs typeface="Times New Roman"/>
              </a:rPr>
              <a:t>more runoff-generating</a:t>
            </a:r>
            <a:r>
              <a:rPr lang="en-US" sz="1600" dirty="0">
                <a:latin typeface="Times New Roman"/>
                <a:cs typeface="Times New Roman"/>
              </a:rPr>
              <a:t>.</a:t>
            </a:r>
          </a:p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B1058C-752F-04D7-48D5-3AAEA665FF59}"/>
              </a:ext>
            </a:extLst>
          </p:cNvPr>
          <p:cNvSpPr txBox="1"/>
          <p:nvPr/>
        </p:nvSpPr>
        <p:spPr>
          <a:xfrm>
            <a:off x="972819" y="2875631"/>
            <a:ext cx="5753781" cy="15254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/>
                <a:cs typeface="Times New Roman"/>
              </a:rPr>
              <a:t>Results show a </a:t>
            </a:r>
            <a:r>
              <a:rPr lang="en-US" sz="1600" b="1" dirty="0">
                <a:latin typeface="Times New Roman"/>
                <a:cs typeface="Times New Roman"/>
              </a:rPr>
              <a:t>steady increase in weighted CN</a:t>
            </a:r>
            <a:r>
              <a:rPr lang="en-US" sz="1600" dirty="0">
                <a:latin typeface="Times New Roman"/>
                <a:cs typeface="Times New Roman"/>
              </a:rPr>
              <a:t>, driven by:</a:t>
            </a:r>
            <a:endParaRPr lang="en-US" dirty="0"/>
          </a:p>
          <a:p>
            <a:pPr marL="285750" lvl="1" indent="-285750">
              <a:lnSpc>
                <a:spcPct val="150000"/>
              </a:lnSpc>
              <a:buFont typeface="Wingdings,Sans-Serif"/>
              <a:buChar char="§"/>
            </a:pPr>
            <a:r>
              <a:rPr lang="en-US" sz="1600" dirty="0">
                <a:latin typeface="Times New Roman"/>
                <a:cs typeface="Times New Roman"/>
              </a:rPr>
              <a:t>Loss of natural vegetation</a:t>
            </a:r>
          </a:p>
          <a:p>
            <a:pPr marL="285750" lvl="1" indent="-285750">
              <a:lnSpc>
                <a:spcPct val="150000"/>
              </a:lnSpc>
              <a:buFont typeface="Wingdings,Sans-Serif"/>
              <a:buChar char="§"/>
            </a:pPr>
            <a:r>
              <a:rPr lang="en-US" sz="1600" dirty="0">
                <a:latin typeface="Times New Roman"/>
                <a:cs typeface="Times New Roman"/>
              </a:rPr>
              <a:t>Urban growth</a:t>
            </a:r>
          </a:p>
          <a:p>
            <a:pPr marL="285750" lvl="1" indent="-285750">
              <a:lnSpc>
                <a:spcPct val="150000"/>
              </a:lnSpc>
              <a:buFont typeface="Wingdings,Sans-Serif"/>
              <a:buChar char="§"/>
            </a:pPr>
            <a:r>
              <a:rPr lang="en-US" sz="1600" dirty="0">
                <a:latin typeface="Times New Roman"/>
                <a:cs typeface="Times New Roman"/>
              </a:rPr>
              <a:t>Intensification of agriculture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79603-8B34-A6BA-ACC8-C6CD4098C9E8}"/>
              </a:ext>
            </a:extLst>
          </p:cNvPr>
          <p:cNvSpPr txBox="1"/>
          <p:nvPr/>
        </p:nvSpPr>
        <p:spPr>
          <a:xfrm>
            <a:off x="8604801" y="5417007"/>
            <a:ext cx="19708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Increasing Trend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BEF55B9-5AB7-E957-68BA-4D6D87D1F5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394819"/>
              </p:ext>
            </p:extLst>
          </p:nvPr>
        </p:nvGraphicFramePr>
        <p:xfrm>
          <a:off x="6352250" y="2022019"/>
          <a:ext cx="5753781" cy="3276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48619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E5C9-1C8C-3205-FAED-59D04193B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RUNOFF ESTIMATION USING SCS-CN METHOD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49676-377B-A5C6-C17A-910F6A424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Runoff values will be calculated using SCS-CN equations: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buClr>
                <a:srgbClr val="8D87A6"/>
              </a:buClr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Rainfall data (P)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buClr>
                <a:srgbClr val="8D87A6"/>
              </a:buClr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CN values for each year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buClr>
                <a:srgbClr val="8D87A6"/>
              </a:buClr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Initial abstraction (</a:t>
            </a:r>
            <a:r>
              <a:rPr lang="en-US" sz="1600" dirty="0" err="1">
                <a:latin typeface="Times New Roman"/>
                <a:ea typeface="+mn-lt"/>
                <a:cs typeface="Times New Roman"/>
              </a:rPr>
              <a:t>Ia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= 0.2S)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buClr>
                <a:srgbClr val="8D87A6"/>
              </a:buClr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Retention parameter (S from CN)</a:t>
            </a:r>
            <a:endParaRPr lang="en-US" sz="1600" dirty="0">
              <a:latin typeface="Grandview"/>
              <a:cs typeface="Times New Roman"/>
            </a:endParaRPr>
          </a:p>
          <a:p>
            <a:pPr marL="0" indent="0">
              <a:buClr>
                <a:srgbClr val="8D87A6"/>
              </a:buClr>
              <a:buNone/>
            </a:pPr>
            <a:r>
              <a:rPr lang="en-US" sz="1600" dirty="0">
                <a:latin typeface="Times New Roman"/>
                <a:ea typeface="+mn-lt"/>
                <a:cs typeface="+mn-lt"/>
              </a:rPr>
              <a:t>Expected outcomes: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buClr>
                <a:srgbClr val="8D87A6"/>
              </a:buClr>
            </a:pPr>
            <a:r>
              <a:rPr lang="en-US" sz="1600" dirty="0">
                <a:latin typeface="Times New Roman"/>
                <a:ea typeface="+mn-lt"/>
                <a:cs typeface="+mn-lt"/>
              </a:rPr>
              <a:t>Higher rainfall and higher CN gives </a:t>
            </a:r>
            <a:r>
              <a:rPr lang="en-US" sz="1600" b="1" dirty="0">
                <a:latin typeface="Times New Roman"/>
                <a:ea typeface="+mn-lt"/>
                <a:cs typeface="+mn-lt"/>
              </a:rPr>
              <a:t>significantly higher runoff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buClr>
                <a:srgbClr val="8D87A6"/>
              </a:buClr>
            </a:pPr>
            <a:r>
              <a:rPr lang="en-US" sz="1600" dirty="0">
                <a:latin typeface="Times New Roman"/>
                <a:ea typeface="+mn-lt"/>
                <a:cs typeface="+mn-lt"/>
              </a:rPr>
              <a:t>Increased inflow peaks at SACB during monsoon</a:t>
            </a:r>
            <a:endParaRPr lang="en-US" dirty="0">
              <a:latin typeface="Grandview"/>
            </a:endParaRPr>
          </a:p>
          <a:p>
            <a:pPr>
              <a:buClr>
                <a:srgbClr val="8D87A6"/>
              </a:buClr>
            </a:pPr>
            <a:endParaRPr lang="en-US" sz="1600" dirty="0">
              <a:latin typeface="Times New Roman"/>
              <a:cs typeface="Times New Roman"/>
            </a:endParaRPr>
          </a:p>
          <a:p>
            <a:pPr>
              <a:buClr>
                <a:srgbClr val="8D87A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494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75197-4991-9C1F-C9C6-0D7351165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621677"/>
            <a:ext cx="4654644" cy="777276"/>
          </a:xfrm>
        </p:spPr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CONCULSION 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257EC-753B-2514-FDD1-0110998A1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398953"/>
            <a:ext cx="11360244" cy="453292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6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analysis shows an increasing trend, leading to higher inflow peaks. Since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80% of the annual rainfall occurs during the monsoon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even small increases in monsoon rainfall significantly increase runoff entering the barrage.</a:t>
            </a:r>
          </a:p>
          <a:p>
            <a:pPr>
              <a:lnSpc>
                <a:spcPct val="16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LULC change has increased impervious areas and raised Curve Numbers, making the catchment more runoff-prone. In addition,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decrease in forest cover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reduced infiltration capacity, further contributing to higher runoff generation.</a:t>
            </a:r>
          </a:p>
          <a:p>
            <a:pPr>
              <a:lnSpc>
                <a:spcPct val="16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Runoff (SCS-CN) is rising due to the combined effects of climate change + LULC modification, and the growth of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impervious surfaces is further amplifying this increase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Higher runoff is likely to elevate pond levels at SACB faster during monsoon.</a:t>
            </a:r>
          </a:p>
          <a:p>
            <a:pPr>
              <a:lnSpc>
                <a:spcPct val="16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comparison of predicted runoff and forecasted pond levels will help identify potential flood risks and operational challenges for SACB. We are also exploring whether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isolated sub-catchments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the basin are not contributing to runoff peaks.</a:t>
            </a:r>
          </a:p>
          <a:p>
            <a:pPr>
              <a:lnSpc>
                <a:spcPct val="16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hydrological pressures on SACB are increasing, making continuous monitoring and forecasting essential for long-term sustainability.</a:t>
            </a:r>
          </a:p>
          <a:p>
            <a:pPr>
              <a:lnSpc>
                <a:spcPct val="150000"/>
              </a:lnSpc>
            </a:pPr>
            <a:endParaRPr lang="en-US" sz="1500" dirty="0">
              <a:latin typeface="Times New Roman"/>
              <a:cs typeface="Times New Roman"/>
            </a:endParaRPr>
          </a:p>
          <a:p>
            <a:pPr>
              <a:buClr>
                <a:srgbClr val="8D87A6"/>
              </a:buClr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397568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21E4-F7DD-51A0-543E-46AC00749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10EC2-13CA-D869-4FA7-B44F1E406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Water Commission &amp; NRSC. (2014).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Godavari Basin Report Version 2.0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Government of India.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tooltip="LINK"/>
              </a:rPr>
              <a:t>LINK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Subramanya, K. (2008).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Hydrology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(3rd ed.). Tata McGraw-Hill.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Sudarsan, G., &amp; Lasitha, A. (2023). Rainfall trend analysis using Mann–Kendall and Sen’s slope test: A case study for Kerala.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E3S Web of Conferences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405, 04013.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Source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Verma, R., Verma, S., Mishra, S., &amp; Pandey, A. (2021). SCS–CN based improved models for direct surface runoff estimation.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Resources Management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35, 2151–2167.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Source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Walch, G. T. (1870).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Engineering Works of the Godavari Delta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Government of Madras.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618812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</TotalTime>
  <Words>1873</Words>
  <Application>Microsoft Office PowerPoint</Application>
  <PresentationFormat>Widescreen</PresentationFormat>
  <Paragraphs>299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Grandview</vt:lpstr>
      <vt:lpstr>Times New Roman</vt:lpstr>
      <vt:lpstr>Wingdings</vt:lpstr>
      <vt:lpstr>Wingdings,Sans-Serif</vt:lpstr>
      <vt:lpstr>CosineVTI</vt:lpstr>
      <vt:lpstr>Hydrological Impact Analysis on   Sir Arthur Cotton Barrage  </vt:lpstr>
      <vt:lpstr>TABLE OF CONTENTS</vt:lpstr>
      <vt:lpstr>INTRODUCTION</vt:lpstr>
      <vt:lpstr>PowerPoint Presentation</vt:lpstr>
      <vt:lpstr>WHAT IS HAPPENING TO CLIMATE AND LAND USE AND LAND COVER?</vt:lpstr>
      <vt:lpstr>SUSTAINABILITY CONCERNS</vt:lpstr>
      <vt:lpstr>LITERATURE REVIEW</vt:lpstr>
      <vt:lpstr>OBJECTIVES OF THE STUDY</vt:lpstr>
      <vt:lpstr>METHODOLOGY</vt:lpstr>
      <vt:lpstr>LAND USE &amp; LAND COVER ANALYSIS</vt:lpstr>
      <vt:lpstr>RUNOFF ANALYSIS</vt:lpstr>
      <vt:lpstr>RESULTS</vt:lpstr>
      <vt:lpstr>MONSOON RAINFALL </vt:lpstr>
      <vt:lpstr>WHY MONSOON RAINFALL ONLY?</vt:lpstr>
      <vt:lpstr>2017 AND 2024 LAND COVER AND LAND USE</vt:lpstr>
      <vt:lpstr>HYDROLOGICAL SOIL GROUPS</vt:lpstr>
      <vt:lpstr>  OBSERVATIONS FROM LCLU, HSG AND ESTIMATE CURVE NUMBER</vt:lpstr>
      <vt:lpstr>CURVE NUMBER (SEN'S SLOPE ANALYSIS) </vt:lpstr>
      <vt:lpstr>RUNOFF ESTIMATION USING SCS-CN METHOD</vt:lpstr>
      <vt:lpstr>CONCULSION 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SRIJA SUNKARA</dc:creator>
  <cp:lastModifiedBy>Srija Sunkara</cp:lastModifiedBy>
  <cp:revision>1635</cp:revision>
  <dcterms:created xsi:type="dcterms:W3CDTF">2025-11-25T10:10:25Z</dcterms:created>
  <dcterms:modified xsi:type="dcterms:W3CDTF">2025-12-03T17:31:31Z</dcterms:modified>
</cp:coreProperties>
</file>