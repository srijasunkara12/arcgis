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4.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674" r:id="rId2"/>
    <p:sldMasterId id="2147483686" r:id="rId3"/>
    <p:sldMasterId id="2147483662" r:id="rId4"/>
    <p:sldMasterId id="2147483650" r:id="rId5"/>
  </p:sldMasterIdLst>
  <p:notesMasterIdLst>
    <p:notesMasterId r:id="rId41"/>
  </p:notesMasterIdLst>
  <p:handoutMasterIdLst>
    <p:handoutMasterId r:id="rId42"/>
  </p:handoutMasterIdLst>
  <p:sldIdLst>
    <p:sldId id="256" r:id="rId6"/>
    <p:sldId id="257" r:id="rId7"/>
    <p:sldId id="258" r:id="rId8"/>
    <p:sldId id="259" r:id="rId9"/>
    <p:sldId id="260" r:id="rId10"/>
    <p:sldId id="261" r:id="rId11"/>
    <p:sldId id="271" r:id="rId12"/>
    <p:sldId id="272" r:id="rId13"/>
    <p:sldId id="273" r:id="rId14"/>
    <p:sldId id="262" r:id="rId15"/>
    <p:sldId id="275" r:id="rId16"/>
    <p:sldId id="274" r:id="rId17"/>
    <p:sldId id="276" r:id="rId18"/>
    <p:sldId id="277" r:id="rId19"/>
    <p:sldId id="278" r:id="rId20"/>
    <p:sldId id="263" r:id="rId21"/>
    <p:sldId id="280" r:id="rId22"/>
    <p:sldId id="264" r:id="rId23"/>
    <p:sldId id="265" r:id="rId24"/>
    <p:sldId id="279" r:id="rId25"/>
    <p:sldId id="282" r:id="rId26"/>
    <p:sldId id="283" r:id="rId27"/>
    <p:sldId id="284" r:id="rId28"/>
    <p:sldId id="285" r:id="rId29"/>
    <p:sldId id="286" r:id="rId30"/>
    <p:sldId id="287" r:id="rId31"/>
    <p:sldId id="288" r:id="rId32"/>
    <p:sldId id="289" r:id="rId33"/>
    <p:sldId id="290" r:id="rId34"/>
    <p:sldId id="291" r:id="rId35"/>
    <p:sldId id="266" r:id="rId36"/>
    <p:sldId id="267" r:id="rId37"/>
    <p:sldId id="268" r:id="rId38"/>
    <p:sldId id="269" r:id="rId39"/>
    <p:sldId id="270" r:id="rId4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202"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handoutMaster" Target="handoutMasters/handoutMaster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file:///D:\IITPatna%20study%20material\sem7\BTP\Qgis\runoff%20for%20whole%20godavari%20basin.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IITPatna%20study%20material\sem7\BTP\Qgis\runoff%20for%20whole%20godavari%20basin.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400" b="0" i="0" u="none" strike="noStrike" kern="1200" spc="0" baseline="0">
                <a:ln>
                  <a:solidFill>
                    <a:schemeClr val="accent1"/>
                  </a:solidFill>
                </a:ln>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IN" dirty="0">
                <a:latin typeface="Times New Roman" panose="02020603050405020304" pitchFamily="18" charset="0"/>
                <a:cs typeface="Times New Roman" panose="02020603050405020304" pitchFamily="18" charset="0"/>
              </a:rPr>
              <a:t>Monsoon Average</a:t>
            </a:r>
            <a:r>
              <a:rPr lang="en-IN" baseline="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Rainfall( in mm) </a:t>
            </a:r>
          </a:p>
        </c:rich>
      </c:tx>
      <c:overlay val="0"/>
      <c:spPr>
        <a:noFill/>
        <a:ln>
          <a:noFill/>
        </a:ln>
        <a:effectLst/>
      </c:spPr>
      <c:txPr>
        <a:bodyPr rot="0" spcFirstLastPara="1" vertOverflow="ellipsis" vert="horz" wrap="square" anchor="ctr" anchorCtr="1"/>
        <a:lstStyle/>
        <a:p>
          <a:pPr>
            <a:defRPr sz="1400" b="0" i="0" u="none" strike="noStrike" kern="1200" spc="0" baseline="0">
              <a:ln>
                <a:solidFill>
                  <a:schemeClr val="accent1"/>
                </a:solidFill>
              </a:ln>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scatterChart>
        <c:scatterStyle val="smoothMarker"/>
        <c:varyColors val="0"/>
        <c:ser>
          <c:idx val="0"/>
          <c:order val="0"/>
          <c:tx>
            <c:v>Trend analysis</c:v>
          </c:tx>
          <c:spPr>
            <a:ln w="19050" cap="rnd">
              <a:solidFill>
                <a:schemeClr val="accent1">
                  <a:shade val="76000"/>
                </a:schemeClr>
              </a:solidFill>
              <a:round/>
            </a:ln>
            <a:effectLst/>
          </c:spPr>
          <c:marker>
            <c:symbol val="circle"/>
            <c:size val="5"/>
            <c:spPr>
              <a:solidFill>
                <a:schemeClr val="accent1">
                  <a:shade val="76000"/>
                </a:schemeClr>
              </a:solidFill>
              <a:ln w="9525">
                <a:solidFill>
                  <a:schemeClr val="accent1">
                    <a:shade val="76000"/>
                  </a:schemeClr>
                </a:solidFill>
              </a:ln>
              <a:effectLst/>
            </c:spPr>
          </c:marker>
          <c:trendline>
            <c:spPr>
              <a:ln w="19050" cap="rnd">
                <a:solidFill>
                  <a:schemeClr val="accent1">
                    <a:shade val="76000"/>
                  </a:schemeClr>
                </a:solidFill>
                <a:prstDash val="sysDot"/>
              </a:ln>
              <a:effectLst/>
            </c:spPr>
            <c:trendlineType val="linear"/>
            <c:dispRSqr val="0"/>
            <c:dispEq val="0"/>
          </c:trendline>
          <c:trendline>
            <c:spPr>
              <a:ln w="19050" cap="rnd">
                <a:solidFill>
                  <a:schemeClr val="accent1">
                    <a:shade val="76000"/>
                  </a:schemeClr>
                </a:solidFill>
                <a:prstDash val="sysDot"/>
              </a:ln>
              <a:effectLst/>
            </c:spPr>
            <c:trendlineType val="linear"/>
            <c:dispRSqr val="0"/>
            <c:dispEq val="0"/>
          </c:trendline>
          <c:trendline>
            <c:spPr>
              <a:ln w="19050" cap="rnd">
                <a:solidFill>
                  <a:schemeClr val="accent1">
                    <a:shade val="76000"/>
                  </a:schemeClr>
                </a:solidFill>
                <a:prstDash val="sysDot"/>
              </a:ln>
              <a:effectLst/>
            </c:spPr>
            <c:trendlineType val="linear"/>
            <c:dispRSqr val="0"/>
            <c:dispEq val="0"/>
          </c:trendline>
          <c:trendline>
            <c:spPr>
              <a:ln w="19050" cap="rnd">
                <a:solidFill>
                  <a:schemeClr val="accent1">
                    <a:shade val="76000"/>
                  </a:schemeClr>
                </a:solidFill>
                <a:prstDash val="sysDot"/>
              </a:ln>
              <a:effectLst/>
            </c:spPr>
            <c:trendlineType val="linear"/>
            <c:dispRSqr val="0"/>
            <c:dispEq val="0"/>
          </c:trendline>
          <c:trendline>
            <c:spPr>
              <a:ln w="19050" cap="rnd">
                <a:solidFill>
                  <a:schemeClr val="accent1">
                    <a:shade val="76000"/>
                  </a:schemeClr>
                </a:solidFill>
                <a:prstDash val="sysDot"/>
              </a:ln>
              <a:effectLst/>
            </c:spPr>
            <c:trendlineType val="linear"/>
            <c:dispRSqr val="0"/>
            <c:dispEq val="0"/>
          </c:trendline>
          <c:trendline>
            <c:spPr>
              <a:ln w="19050" cap="rnd">
                <a:solidFill>
                  <a:schemeClr val="accent1">
                    <a:shade val="76000"/>
                  </a:schemeClr>
                </a:solidFill>
                <a:prstDash val="sysDot"/>
              </a:ln>
              <a:effectLst/>
            </c:spPr>
            <c:trendlineType val="linear"/>
            <c:dispRSqr val="0"/>
            <c:dispEq val="0"/>
          </c:trendline>
          <c:trendline>
            <c:spPr>
              <a:ln w="19050" cap="rnd">
                <a:solidFill>
                  <a:schemeClr val="accent1">
                    <a:shade val="76000"/>
                  </a:schemeClr>
                </a:solidFill>
                <a:prstDash val="sysDot"/>
              </a:ln>
              <a:effectLst/>
            </c:spPr>
            <c:trendlineType val="linear"/>
            <c:forward val="2"/>
            <c:dispRSqr val="0"/>
            <c:dispEq val="0"/>
          </c:trendline>
          <c:trendline>
            <c:spPr>
              <a:ln w="19050" cap="rnd">
                <a:solidFill>
                  <a:schemeClr val="accent1">
                    <a:shade val="76000"/>
                  </a:schemeClr>
                </a:solidFill>
                <a:prstDash val="sysDot"/>
              </a:ln>
              <a:effectLst/>
            </c:spPr>
            <c:trendlineType val="linear"/>
            <c:dispRSqr val="0"/>
            <c:dispEq val="0"/>
          </c:trendline>
          <c:trendline>
            <c:spPr>
              <a:ln w="19050" cap="rnd">
                <a:solidFill>
                  <a:schemeClr val="accent1">
                    <a:shade val="76000"/>
                  </a:schemeClr>
                </a:solidFill>
                <a:prstDash val="sysDot"/>
              </a:ln>
              <a:effectLst/>
            </c:spPr>
            <c:trendlineType val="linear"/>
            <c:dispRSqr val="0"/>
            <c:dispEq val="1"/>
            <c:trendlineLbl>
              <c:layout>
                <c:manualLayout>
                  <c:x val="-8.2034915184105495E-2"/>
                  <c:y val="0.27108581034882567"/>
                </c:manualLayout>
              </c:layout>
              <c:numFmt formatCode="General" sourceLinked="0"/>
              <c:spPr>
                <a:noFill/>
                <a:ln>
                  <a:noFill/>
                </a:ln>
                <a:effectLst/>
              </c:spPr>
              <c:txPr>
                <a:bodyPr rot="0" spcFirstLastPara="1" vertOverflow="ellipsis" vert="horz" wrap="square" anchor="ctr" anchorCtr="1"/>
                <a:lstStyle/>
                <a:p>
                  <a:pPr>
                    <a:defRPr sz="1400" b="0" i="0" u="none" strike="noStrike" kern="1200" baseline="0">
                      <a:ln>
                        <a:solidFill>
                          <a:schemeClr val="accent1"/>
                        </a:solidFill>
                      </a:ln>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rendlineLbl>
          </c:trendline>
          <c:trendline>
            <c:spPr>
              <a:ln w="19050" cap="rnd">
                <a:solidFill>
                  <a:schemeClr val="accent1">
                    <a:shade val="76000"/>
                  </a:schemeClr>
                </a:solidFill>
                <a:prstDash val="sysDot"/>
              </a:ln>
              <a:effectLst/>
            </c:spPr>
            <c:trendlineType val="linear"/>
            <c:dispRSqr val="0"/>
            <c:dispEq val="0"/>
          </c:trendline>
          <c:xVal>
            <c:numRef>
              <c:f>'sen''s slope'!$B$2:$B$55</c:f>
              <c:numCache>
                <c:formatCode>General</c:formatCode>
                <c:ptCount val="54"/>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2017</c:v>
                </c:pt>
                <c:pt idx="47">
                  <c:v>2018</c:v>
                </c:pt>
                <c:pt idx="48">
                  <c:v>2019</c:v>
                </c:pt>
                <c:pt idx="49">
                  <c:v>2020</c:v>
                </c:pt>
                <c:pt idx="50">
                  <c:v>2021</c:v>
                </c:pt>
                <c:pt idx="51">
                  <c:v>2022</c:v>
                </c:pt>
                <c:pt idx="52">
                  <c:v>2023</c:v>
                </c:pt>
                <c:pt idx="53">
                  <c:v>2024</c:v>
                </c:pt>
              </c:numCache>
            </c:numRef>
          </c:xVal>
          <c:yVal>
            <c:numRef>
              <c:f>'sen''s slope'!$D$2:$D$55</c:f>
              <c:numCache>
                <c:formatCode>General</c:formatCode>
                <c:ptCount val="54"/>
                <c:pt idx="0">
                  <c:v>883.78194379391084</c:v>
                </c:pt>
                <c:pt idx="1">
                  <c:v>886.40194379391096</c:v>
                </c:pt>
                <c:pt idx="2">
                  <c:v>889.02194379391085</c:v>
                </c:pt>
                <c:pt idx="3">
                  <c:v>891.64194379391085</c:v>
                </c:pt>
                <c:pt idx="4">
                  <c:v>894.26194379391086</c:v>
                </c:pt>
                <c:pt idx="5">
                  <c:v>896.88194379391086</c:v>
                </c:pt>
                <c:pt idx="6">
                  <c:v>899.50194379391087</c:v>
                </c:pt>
                <c:pt idx="7">
                  <c:v>902.12194379391087</c:v>
                </c:pt>
                <c:pt idx="8">
                  <c:v>904.74194379391088</c:v>
                </c:pt>
                <c:pt idx="9">
                  <c:v>907.36194379391088</c:v>
                </c:pt>
                <c:pt idx="10">
                  <c:v>909.98194379391089</c:v>
                </c:pt>
                <c:pt idx="11">
                  <c:v>912.60194379391089</c:v>
                </c:pt>
                <c:pt idx="12">
                  <c:v>915.2219437939109</c:v>
                </c:pt>
                <c:pt idx="13">
                  <c:v>917.8419437939109</c:v>
                </c:pt>
                <c:pt idx="14">
                  <c:v>920.4619437939109</c:v>
                </c:pt>
                <c:pt idx="15">
                  <c:v>923.08194379391091</c:v>
                </c:pt>
                <c:pt idx="16">
                  <c:v>925.70194379391091</c:v>
                </c:pt>
                <c:pt idx="17">
                  <c:v>928.32194379391092</c:v>
                </c:pt>
                <c:pt idx="18">
                  <c:v>930.94194379391092</c:v>
                </c:pt>
                <c:pt idx="19">
                  <c:v>933.56194379391093</c:v>
                </c:pt>
                <c:pt idx="20">
                  <c:v>936.18194379391093</c:v>
                </c:pt>
                <c:pt idx="21">
                  <c:v>938.80194379391094</c:v>
                </c:pt>
                <c:pt idx="22">
                  <c:v>941.42194379391094</c:v>
                </c:pt>
                <c:pt idx="23">
                  <c:v>944.04194379391095</c:v>
                </c:pt>
                <c:pt idx="24">
                  <c:v>946.66194379391095</c:v>
                </c:pt>
                <c:pt idx="25">
                  <c:v>949.28194379391095</c:v>
                </c:pt>
                <c:pt idx="26">
                  <c:v>951.90194379391096</c:v>
                </c:pt>
                <c:pt idx="27">
                  <c:v>954.52194379391085</c:v>
                </c:pt>
                <c:pt idx="28">
                  <c:v>957.14194379391085</c:v>
                </c:pt>
                <c:pt idx="29">
                  <c:v>959.76194379391086</c:v>
                </c:pt>
                <c:pt idx="30">
                  <c:v>962.38194379391086</c:v>
                </c:pt>
                <c:pt idx="31">
                  <c:v>965.00194379391087</c:v>
                </c:pt>
                <c:pt idx="32">
                  <c:v>967.62194379391087</c:v>
                </c:pt>
                <c:pt idx="33">
                  <c:v>970.24194379391088</c:v>
                </c:pt>
                <c:pt idx="34">
                  <c:v>972.86194379391088</c:v>
                </c:pt>
                <c:pt idx="35">
                  <c:v>975.48194379391089</c:v>
                </c:pt>
                <c:pt idx="36">
                  <c:v>978.10194379391089</c:v>
                </c:pt>
                <c:pt idx="37">
                  <c:v>980.7219437939109</c:v>
                </c:pt>
                <c:pt idx="38">
                  <c:v>983.3419437939109</c:v>
                </c:pt>
                <c:pt idx="39">
                  <c:v>985.9619437939109</c:v>
                </c:pt>
                <c:pt idx="40">
                  <c:v>988.58194379391091</c:v>
                </c:pt>
                <c:pt idx="41">
                  <c:v>991.20194379391091</c:v>
                </c:pt>
                <c:pt idx="42">
                  <c:v>993.82194379391092</c:v>
                </c:pt>
                <c:pt idx="43">
                  <c:v>996.44194379391092</c:v>
                </c:pt>
                <c:pt idx="44">
                  <c:v>999.06194379391093</c:v>
                </c:pt>
                <c:pt idx="45">
                  <c:v>1001.6819437939109</c:v>
                </c:pt>
                <c:pt idx="46">
                  <c:v>1004.3019437939109</c:v>
                </c:pt>
                <c:pt idx="47">
                  <c:v>1006.9219437939109</c:v>
                </c:pt>
                <c:pt idx="48">
                  <c:v>1009.5419437939109</c:v>
                </c:pt>
                <c:pt idx="49">
                  <c:v>1012.161943793911</c:v>
                </c:pt>
                <c:pt idx="50">
                  <c:v>1014.781943793911</c:v>
                </c:pt>
                <c:pt idx="51">
                  <c:v>1017.401943793911</c:v>
                </c:pt>
                <c:pt idx="52">
                  <c:v>1020.0219437939109</c:v>
                </c:pt>
                <c:pt idx="53">
                  <c:v>1022.641943793911</c:v>
                </c:pt>
              </c:numCache>
            </c:numRef>
          </c:yVal>
          <c:smooth val="1"/>
          <c:extLst>
            <c:ext xmlns:c16="http://schemas.microsoft.com/office/drawing/2014/chart" uri="{C3380CC4-5D6E-409C-BE32-E72D297353CC}">
              <c16:uniqueId val="{0000000A-B5BA-458C-AFB0-D436B357F2A4}"/>
            </c:ext>
          </c:extLst>
        </c:ser>
        <c:ser>
          <c:idx val="1"/>
          <c:order val="1"/>
          <c:tx>
            <c:v>monsoon rainfall</c:v>
          </c:tx>
          <c:spPr>
            <a:ln w="25400" cap="rnd">
              <a:noFill/>
              <a:round/>
            </a:ln>
            <a:effectLst/>
          </c:spPr>
          <c:marker>
            <c:symbol val="circle"/>
            <c:size val="5"/>
            <c:spPr>
              <a:solidFill>
                <a:schemeClr val="accent1">
                  <a:tint val="77000"/>
                </a:schemeClr>
              </a:solidFill>
              <a:ln w="9525">
                <a:solidFill>
                  <a:schemeClr val="accent1">
                    <a:tint val="77000"/>
                  </a:schemeClr>
                </a:solidFill>
              </a:ln>
              <a:effectLst/>
            </c:spPr>
          </c:marker>
          <c:xVal>
            <c:numRef>
              <c:f>'sen''s slope'!$B$2:$B$55</c:f>
              <c:numCache>
                <c:formatCode>General</c:formatCode>
                <c:ptCount val="54"/>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2017</c:v>
                </c:pt>
                <c:pt idx="47">
                  <c:v>2018</c:v>
                </c:pt>
                <c:pt idx="48">
                  <c:v>2019</c:v>
                </c:pt>
                <c:pt idx="49">
                  <c:v>2020</c:v>
                </c:pt>
                <c:pt idx="50">
                  <c:v>2021</c:v>
                </c:pt>
                <c:pt idx="51">
                  <c:v>2022</c:v>
                </c:pt>
                <c:pt idx="52">
                  <c:v>2023</c:v>
                </c:pt>
                <c:pt idx="53">
                  <c:v>2024</c:v>
                </c:pt>
              </c:numCache>
            </c:numRef>
          </c:xVal>
          <c:yVal>
            <c:numRef>
              <c:f>'sen''s slope'!$C$2:$C$55</c:f>
              <c:numCache>
                <c:formatCode>General</c:formatCode>
                <c:ptCount val="54"/>
                <c:pt idx="0">
                  <c:v>1084.655737704918</c:v>
                </c:pt>
                <c:pt idx="1">
                  <c:v>693.55971896955509</c:v>
                </c:pt>
                <c:pt idx="2">
                  <c:v>657.57377049180332</c:v>
                </c:pt>
                <c:pt idx="3">
                  <c:v>942.10772833723672</c:v>
                </c:pt>
                <c:pt idx="4">
                  <c:v>661.17564402810308</c:v>
                </c:pt>
                <c:pt idx="5">
                  <c:v>1110.7330210772834</c:v>
                </c:pt>
                <c:pt idx="6">
                  <c:v>993.40281030444964</c:v>
                </c:pt>
                <c:pt idx="7">
                  <c:v>906.37236533957844</c:v>
                </c:pt>
                <c:pt idx="8">
                  <c:v>1092.2622950819673</c:v>
                </c:pt>
                <c:pt idx="9">
                  <c:v>830.59484777517559</c:v>
                </c:pt>
                <c:pt idx="10">
                  <c:v>1006.2786885245902</c:v>
                </c:pt>
                <c:pt idx="11">
                  <c:v>1019.4683840749414</c:v>
                </c:pt>
                <c:pt idx="12">
                  <c:v>805.09367681498816</c:v>
                </c:pt>
                <c:pt idx="13">
                  <c:v>1214.4004683840749</c:v>
                </c:pt>
                <c:pt idx="14">
                  <c:v>743.30210772833732</c:v>
                </c:pt>
                <c:pt idx="15">
                  <c:v>734.59484777517548</c:v>
                </c:pt>
                <c:pt idx="16">
                  <c:v>938.07494145199064</c:v>
                </c:pt>
                <c:pt idx="17">
                  <c:v>710.53395784543329</c:v>
                </c:pt>
                <c:pt idx="18">
                  <c:v>1215.6674473067915</c:v>
                </c:pt>
                <c:pt idx="19">
                  <c:v>1096.0772833723654</c:v>
                </c:pt>
                <c:pt idx="20">
                  <c:v>1142.9227166276346</c:v>
                </c:pt>
                <c:pt idx="21">
                  <c:v>835.81264637002334</c:v>
                </c:pt>
                <c:pt idx="22">
                  <c:v>983.28337236533957</c:v>
                </c:pt>
                <c:pt idx="23">
                  <c:v>866.56908665105368</c:v>
                </c:pt>
                <c:pt idx="24">
                  <c:v>1137.4707259953163</c:v>
                </c:pt>
                <c:pt idx="25">
                  <c:v>881.09601873536303</c:v>
                </c:pt>
                <c:pt idx="26">
                  <c:v>859.30913348946137</c:v>
                </c:pt>
                <c:pt idx="27">
                  <c:v>783.61826697892275</c:v>
                </c:pt>
                <c:pt idx="28">
                  <c:v>955.6861826697891</c:v>
                </c:pt>
                <c:pt idx="29">
                  <c:v>959.30444964871197</c:v>
                </c:pt>
                <c:pt idx="30">
                  <c:v>950.7377049180327</c:v>
                </c:pt>
                <c:pt idx="31">
                  <c:v>939.90163934426209</c:v>
                </c:pt>
                <c:pt idx="32">
                  <c:v>794.01873536299763</c:v>
                </c:pt>
                <c:pt idx="33">
                  <c:v>1023.7892271662764</c:v>
                </c:pt>
                <c:pt idx="34">
                  <c:v>759.7377049180327</c:v>
                </c:pt>
                <c:pt idx="35">
                  <c:v>1060.4941451990633</c:v>
                </c:pt>
                <c:pt idx="36">
                  <c:v>1180.5409836065573</c:v>
                </c:pt>
                <c:pt idx="37">
                  <c:v>1011.248243559719</c:v>
                </c:pt>
                <c:pt idx="38">
                  <c:v>921.32084309133484</c:v>
                </c:pt>
                <c:pt idx="39">
                  <c:v>698.76580796252927</c:v>
                </c:pt>
                <c:pt idx="40">
                  <c:v>1170.2740046838408</c:v>
                </c:pt>
                <c:pt idx="41">
                  <c:v>839.96487119437938</c:v>
                </c:pt>
                <c:pt idx="42">
                  <c:v>964.29976580796244</c:v>
                </c:pt>
                <c:pt idx="43">
                  <c:v>1197.2505854800938</c:v>
                </c:pt>
                <c:pt idx="44">
                  <c:v>783.27400468384076</c:v>
                </c:pt>
                <c:pt idx="45">
                  <c:v>836.80327868852464</c:v>
                </c:pt>
                <c:pt idx="46">
                  <c:v>838.80562060889929</c:v>
                </c:pt>
                <c:pt idx="47">
                  <c:v>933.7166276346602</c:v>
                </c:pt>
                <c:pt idx="48">
                  <c:v>1073.6487119437938</c:v>
                </c:pt>
                <c:pt idx="49">
                  <c:v>1083.138173302108</c:v>
                </c:pt>
                <c:pt idx="50">
                  <c:v>1059.6182669789227</c:v>
                </c:pt>
                <c:pt idx="51">
                  <c:v>1255.4186993664439</c:v>
                </c:pt>
                <c:pt idx="52">
                  <c:v>974.25339039584003</c:v>
                </c:pt>
                <c:pt idx="53">
                  <c:v>1153.7649268691691</c:v>
                </c:pt>
              </c:numCache>
            </c:numRef>
          </c:yVal>
          <c:smooth val="1"/>
          <c:extLst>
            <c:ext xmlns:c16="http://schemas.microsoft.com/office/drawing/2014/chart" uri="{C3380CC4-5D6E-409C-BE32-E72D297353CC}">
              <c16:uniqueId val="{0000000B-B5BA-458C-AFB0-D436B357F2A4}"/>
            </c:ext>
          </c:extLst>
        </c:ser>
        <c:dLbls>
          <c:showLegendKey val="0"/>
          <c:showVal val="0"/>
          <c:showCatName val="0"/>
          <c:showSerName val="0"/>
          <c:showPercent val="0"/>
          <c:showBubbleSize val="0"/>
        </c:dLbls>
        <c:axId val="1915911824"/>
        <c:axId val="1915916144"/>
      </c:scatterChart>
      <c:valAx>
        <c:axId val="1915911824"/>
        <c:scaling>
          <c:orientation val="minMax"/>
          <c:max val="2030"/>
          <c:min val="1965"/>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200" b="0" i="0" u="none" strike="noStrike" kern="1200" baseline="0">
                    <a:ln>
                      <a:solidFill>
                        <a:schemeClr val="accent1"/>
                      </a:solidFill>
                    </a:ln>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IN" sz="1200">
                    <a:latin typeface="Times New Roman" panose="02020603050405020304" pitchFamily="18" charset="0"/>
                    <a:cs typeface="Times New Roman" panose="02020603050405020304" pitchFamily="18" charset="0"/>
                  </a:rPr>
                  <a:t>Year</a:t>
                </a:r>
              </a:p>
            </c:rich>
          </c:tx>
          <c:overlay val="0"/>
          <c:spPr>
            <a:noFill/>
            <a:ln>
              <a:noFill/>
            </a:ln>
            <a:effectLst/>
          </c:spPr>
          <c:txPr>
            <a:bodyPr rot="0" spcFirstLastPara="1" vertOverflow="ellipsis" vert="horz" wrap="square" anchor="ctr" anchorCtr="1"/>
            <a:lstStyle/>
            <a:p>
              <a:pPr>
                <a:defRPr sz="1200" b="0" i="0" u="none" strike="noStrike" kern="1200" baseline="0">
                  <a:ln>
                    <a:solidFill>
                      <a:schemeClr val="accent1"/>
                    </a:solidFill>
                  </a:ln>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200" b="0" i="0" u="none" strike="noStrike" kern="1200" baseline="0">
                <a:ln>
                  <a:solidFill>
                    <a:schemeClr val="accent1"/>
                  </a:solidFill>
                </a:ln>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1915916144"/>
        <c:crosses val="autoZero"/>
        <c:crossBetween val="midCat"/>
      </c:valAx>
      <c:valAx>
        <c:axId val="1915916144"/>
        <c:scaling>
          <c:orientation val="minMax"/>
          <c:min val="600"/>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200" b="0" i="0" u="none" strike="noStrike" kern="1200" baseline="0">
                    <a:ln>
                      <a:solidFill>
                        <a:schemeClr val="accent1"/>
                      </a:solidFill>
                    </a:ln>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IN" sz="1200">
                    <a:latin typeface="Times New Roman" panose="02020603050405020304" pitchFamily="18" charset="0"/>
                    <a:cs typeface="Times New Roman" panose="02020603050405020304" pitchFamily="18" charset="0"/>
                  </a:rPr>
                  <a:t>Rainfall</a:t>
                </a:r>
                <a:r>
                  <a:rPr lang="en-IN" sz="1200" baseline="0">
                    <a:latin typeface="Times New Roman" panose="02020603050405020304" pitchFamily="18" charset="0"/>
                    <a:cs typeface="Times New Roman" panose="02020603050405020304" pitchFamily="18" charset="0"/>
                  </a:rPr>
                  <a:t> (in mm)</a:t>
                </a:r>
                <a:endParaRPr lang="en-IN" sz="1200">
                  <a:latin typeface="Times New Roman" panose="02020603050405020304" pitchFamily="18" charset="0"/>
                  <a:cs typeface="Times New Roman" panose="02020603050405020304" pitchFamily="18" charset="0"/>
                </a:endParaRPr>
              </a:p>
            </c:rich>
          </c:tx>
          <c:overlay val="0"/>
          <c:spPr>
            <a:noFill/>
            <a:ln>
              <a:noFill/>
            </a:ln>
            <a:effectLst/>
          </c:spPr>
          <c:txPr>
            <a:bodyPr rot="-5400000" spcFirstLastPara="1" vertOverflow="ellipsis" vert="horz" wrap="square" anchor="ctr" anchorCtr="1"/>
            <a:lstStyle/>
            <a:p>
              <a:pPr>
                <a:defRPr sz="1200" b="0" i="0" u="none" strike="noStrike" kern="1200" baseline="0">
                  <a:ln>
                    <a:solidFill>
                      <a:schemeClr val="accent1"/>
                    </a:solidFill>
                  </a:ln>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I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ln>
                  <a:solidFill>
                    <a:schemeClr val="accent1"/>
                  </a:solidFill>
                </a:ln>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915911824"/>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n>
            <a:solidFill>
              <a:schemeClr val="accent1"/>
            </a:solidFill>
          </a:ln>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scatterChart>
        <c:scatterStyle val="smoothMarker"/>
        <c:varyColors val="0"/>
        <c:ser>
          <c:idx val="0"/>
          <c:order val="0"/>
          <c:tx>
            <c:v>CURVE NUMBER</c:v>
          </c:tx>
          <c:spPr>
            <a:ln w="19050" cap="rnd">
              <a:solidFill>
                <a:schemeClr val="accent1"/>
              </a:solidFill>
              <a:round/>
            </a:ln>
            <a:effectLst/>
          </c:spPr>
          <c:marker>
            <c:symbol val="circle"/>
            <c:size val="5"/>
            <c:spPr>
              <a:solidFill>
                <a:schemeClr val="accent1"/>
              </a:solidFill>
              <a:ln w="9525">
                <a:solidFill>
                  <a:schemeClr val="accent1"/>
                </a:solidFill>
              </a:ln>
              <a:effectLst/>
            </c:spPr>
          </c:marker>
          <c:trendline>
            <c:spPr>
              <a:ln w="19050" cap="rnd">
                <a:solidFill>
                  <a:schemeClr val="accent1"/>
                </a:solidFill>
                <a:prstDash val="sysDot"/>
              </a:ln>
              <a:effectLst/>
            </c:spPr>
            <c:trendlineType val="linear"/>
            <c:dispRSqr val="0"/>
            <c:dispEq val="0"/>
          </c:trendline>
          <c:trendline>
            <c:spPr>
              <a:ln w="19050" cap="rnd">
                <a:solidFill>
                  <a:schemeClr val="accent1"/>
                </a:solidFill>
                <a:prstDash val="sysDot"/>
              </a:ln>
              <a:effectLst/>
            </c:spPr>
            <c:trendlineType val="linear"/>
            <c:dispRSqr val="0"/>
            <c:dispEq val="0"/>
          </c:trendline>
          <c:trendline>
            <c:spPr>
              <a:ln w="19050" cap="rnd">
                <a:solidFill>
                  <a:schemeClr val="accent1"/>
                </a:solidFill>
                <a:prstDash val="sysDot"/>
              </a:ln>
              <a:effectLst/>
            </c:spPr>
            <c:trendlineType val="linear"/>
            <c:dispRSqr val="0"/>
            <c:dispEq val="1"/>
            <c:trendlineLbl>
              <c:layout>
                <c:manualLayout>
                  <c:x val="-0.19914596216432115"/>
                  <c:y val="6.400138877012454E-2"/>
                </c:manualLayout>
              </c:layout>
              <c:numFmt formatCode="General" sourceLinked="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rendlineLbl>
          </c:trendline>
          <c:xVal>
            <c:numRef>
              <c:f>'sen''s slope'!$B$2:$B$55</c:f>
              <c:numCache>
                <c:formatCode>General</c:formatCode>
                <c:ptCount val="54"/>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2017</c:v>
                </c:pt>
                <c:pt idx="47">
                  <c:v>2018</c:v>
                </c:pt>
                <c:pt idx="48">
                  <c:v>2019</c:v>
                </c:pt>
                <c:pt idx="49">
                  <c:v>2020</c:v>
                </c:pt>
                <c:pt idx="50">
                  <c:v>2021</c:v>
                </c:pt>
                <c:pt idx="51">
                  <c:v>2022</c:v>
                </c:pt>
                <c:pt idx="52">
                  <c:v>2023</c:v>
                </c:pt>
                <c:pt idx="53">
                  <c:v>2024</c:v>
                </c:pt>
              </c:numCache>
            </c:numRef>
          </c:xVal>
          <c:yVal>
            <c:numRef>
              <c:f>'sen''s slope'!$F$2:$F$55</c:f>
              <c:numCache>
                <c:formatCode>General</c:formatCode>
                <c:ptCount val="54"/>
                <c:pt idx="0">
                  <c:v>78.739999999999995</c:v>
                </c:pt>
                <c:pt idx="1">
                  <c:v>78.803299999999993</c:v>
                </c:pt>
                <c:pt idx="2">
                  <c:v>78.866599999999991</c:v>
                </c:pt>
                <c:pt idx="3">
                  <c:v>78.929899999999989</c:v>
                </c:pt>
                <c:pt idx="4">
                  <c:v>78.993199999999987</c:v>
                </c:pt>
                <c:pt idx="5">
                  <c:v>79.056499999999986</c:v>
                </c:pt>
                <c:pt idx="6">
                  <c:v>79.119799999999998</c:v>
                </c:pt>
                <c:pt idx="7">
                  <c:v>79.183099999999996</c:v>
                </c:pt>
                <c:pt idx="8">
                  <c:v>79.246399999999994</c:v>
                </c:pt>
                <c:pt idx="9">
                  <c:v>79.309699999999992</c:v>
                </c:pt>
                <c:pt idx="10">
                  <c:v>79.37299999999999</c:v>
                </c:pt>
                <c:pt idx="11">
                  <c:v>79.436299999999989</c:v>
                </c:pt>
                <c:pt idx="12">
                  <c:v>79.499599999999987</c:v>
                </c:pt>
                <c:pt idx="13">
                  <c:v>79.562899999999985</c:v>
                </c:pt>
                <c:pt idx="14">
                  <c:v>79.626199999999997</c:v>
                </c:pt>
                <c:pt idx="15">
                  <c:v>79.689499999999995</c:v>
                </c:pt>
                <c:pt idx="16">
                  <c:v>79.752799999999993</c:v>
                </c:pt>
                <c:pt idx="17">
                  <c:v>79.816099999999992</c:v>
                </c:pt>
                <c:pt idx="18">
                  <c:v>79.87939999999999</c:v>
                </c:pt>
                <c:pt idx="19">
                  <c:v>79.942699999999988</c:v>
                </c:pt>
                <c:pt idx="20">
                  <c:v>80.005999999999986</c:v>
                </c:pt>
                <c:pt idx="21">
                  <c:v>80.069299999999998</c:v>
                </c:pt>
                <c:pt idx="22">
                  <c:v>80.132599999999996</c:v>
                </c:pt>
                <c:pt idx="23">
                  <c:v>80.195899999999995</c:v>
                </c:pt>
                <c:pt idx="24">
                  <c:v>80.259199999999993</c:v>
                </c:pt>
                <c:pt idx="25">
                  <c:v>80.322499999999991</c:v>
                </c:pt>
                <c:pt idx="26">
                  <c:v>80.385799999999989</c:v>
                </c:pt>
                <c:pt idx="27">
                  <c:v>80.449099999999987</c:v>
                </c:pt>
                <c:pt idx="28">
                  <c:v>80.512399999999985</c:v>
                </c:pt>
                <c:pt idx="29">
                  <c:v>80.575699999999998</c:v>
                </c:pt>
                <c:pt idx="30">
                  <c:v>80.638999999999996</c:v>
                </c:pt>
                <c:pt idx="31">
                  <c:v>80.702299999999994</c:v>
                </c:pt>
                <c:pt idx="32">
                  <c:v>80.765599999999992</c:v>
                </c:pt>
                <c:pt idx="33">
                  <c:v>80.82889999999999</c:v>
                </c:pt>
                <c:pt idx="34">
                  <c:v>80.892199999999988</c:v>
                </c:pt>
                <c:pt idx="35">
                  <c:v>80.955499999999986</c:v>
                </c:pt>
                <c:pt idx="36">
                  <c:v>81.018799999999999</c:v>
                </c:pt>
                <c:pt idx="37">
                  <c:v>81.082099999999997</c:v>
                </c:pt>
                <c:pt idx="38">
                  <c:v>81.145399999999995</c:v>
                </c:pt>
                <c:pt idx="39">
                  <c:v>81.208699999999993</c:v>
                </c:pt>
                <c:pt idx="40">
                  <c:v>81.271999999999991</c:v>
                </c:pt>
                <c:pt idx="41">
                  <c:v>81.335299999999989</c:v>
                </c:pt>
                <c:pt idx="42">
                  <c:v>81.398599999999988</c:v>
                </c:pt>
                <c:pt idx="43">
                  <c:v>81.461899999999986</c:v>
                </c:pt>
                <c:pt idx="44">
                  <c:v>81.525199999999998</c:v>
                </c:pt>
                <c:pt idx="45">
                  <c:v>81.588499999999996</c:v>
                </c:pt>
                <c:pt idx="46">
                  <c:v>81.715099999999993</c:v>
                </c:pt>
                <c:pt idx="47">
                  <c:v>81.778399999999991</c:v>
                </c:pt>
                <c:pt idx="48">
                  <c:v>81.841699999999989</c:v>
                </c:pt>
                <c:pt idx="49">
                  <c:v>81.904999999999987</c:v>
                </c:pt>
                <c:pt idx="50">
                  <c:v>81.968299999999985</c:v>
                </c:pt>
                <c:pt idx="51">
                  <c:v>82.031599999999997</c:v>
                </c:pt>
                <c:pt idx="52">
                  <c:v>82.094899999999981</c:v>
                </c:pt>
                <c:pt idx="53">
                  <c:v>82.158199999999979</c:v>
                </c:pt>
              </c:numCache>
            </c:numRef>
          </c:yVal>
          <c:smooth val="1"/>
          <c:extLst>
            <c:ext xmlns:c16="http://schemas.microsoft.com/office/drawing/2014/chart" uri="{C3380CC4-5D6E-409C-BE32-E72D297353CC}">
              <c16:uniqueId val="{00000003-B285-436F-90BD-153120BD26CE}"/>
            </c:ext>
          </c:extLst>
        </c:ser>
        <c:dLbls>
          <c:showLegendKey val="0"/>
          <c:showVal val="0"/>
          <c:showCatName val="0"/>
          <c:showSerName val="0"/>
          <c:showPercent val="0"/>
          <c:showBubbleSize val="0"/>
        </c:dLbls>
        <c:axId val="583991231"/>
        <c:axId val="583982591"/>
      </c:scatterChart>
      <c:valAx>
        <c:axId val="583991231"/>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IN" sz="1200">
                    <a:latin typeface="Times New Roman" panose="02020603050405020304" pitchFamily="18" charset="0"/>
                    <a:cs typeface="Times New Roman" panose="02020603050405020304" pitchFamily="18" charset="0"/>
                  </a:rPr>
                  <a:t>Year</a:t>
                </a:r>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83982591"/>
        <c:crosses val="autoZero"/>
        <c:crossBetween val="midCat"/>
      </c:valAx>
      <c:valAx>
        <c:axId val="583982591"/>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IN" sz="1200">
                    <a:latin typeface="Times New Roman" panose="02020603050405020304" pitchFamily="18" charset="0"/>
                    <a:cs typeface="Times New Roman" panose="02020603050405020304" pitchFamily="18" charset="0"/>
                  </a:rPr>
                  <a:t>Curve Number</a:t>
                </a:r>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583991231"/>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7985772-D0D4-0E85-FE93-B1A6B5F56A68}"/>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8358C2F7-43C4-7B47-D722-374DB77339D1}"/>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r>
              <a:rPr lang="en-US"/>
              <a:t>15/05/2026</a:t>
            </a:r>
            <a:endParaRPr lang="en-IN"/>
          </a:p>
        </p:txBody>
      </p:sp>
      <p:sp>
        <p:nvSpPr>
          <p:cNvPr id="4" name="Footer Placeholder 3">
            <a:extLst>
              <a:ext uri="{FF2B5EF4-FFF2-40B4-BE49-F238E27FC236}">
                <a16:creationId xmlns:a16="http://schemas.microsoft.com/office/drawing/2014/main" id="{FE70AB5F-32E8-59BB-7FF6-888B63115CB0}"/>
              </a:ext>
            </a:extLst>
          </p:cNvPr>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1200"/>
            </a:lvl1pPr>
          </a:lstStyle>
          <a:p>
            <a:r>
              <a:rPr lang="en-IN"/>
              <a:t>15/05/2026</a:t>
            </a:r>
          </a:p>
        </p:txBody>
      </p:sp>
      <p:sp>
        <p:nvSpPr>
          <p:cNvPr id="5" name="Slide Number Placeholder 4">
            <a:extLst>
              <a:ext uri="{FF2B5EF4-FFF2-40B4-BE49-F238E27FC236}">
                <a16:creationId xmlns:a16="http://schemas.microsoft.com/office/drawing/2014/main" id="{60E10D60-514F-403E-FF75-4D673919903B}"/>
              </a:ext>
            </a:extLst>
          </p:cNvPr>
          <p:cNvSpPr>
            <a:spLocks noGrp="1"/>
          </p:cNvSpPr>
          <p:nvPr>
            <p:ph type="sldNum" sz="quarter" idx="3"/>
          </p:nvPr>
        </p:nvSpPr>
        <p:spPr>
          <a:xfrm>
            <a:off x="2913063" y="8685213"/>
            <a:ext cx="2228850" cy="458787"/>
          </a:xfrm>
          <a:prstGeom prst="rect">
            <a:avLst/>
          </a:prstGeom>
        </p:spPr>
        <p:txBody>
          <a:bodyPr vert="horz" lIns="91440" tIns="45720" rIns="91440" bIns="45720" rtlCol="0" anchor="b"/>
          <a:lstStyle>
            <a:lvl1pPr algn="r">
              <a:defRPr sz="1200"/>
            </a:lvl1pPr>
          </a:lstStyle>
          <a:p>
            <a:fld id="{EDC884E9-FF42-44EE-A466-C69BCFDDC9C7}" type="slidenum">
              <a:rPr lang="en-IN" smtClean="0"/>
              <a:t>‹#›</a:t>
            </a:fld>
            <a:endParaRPr lang="en-IN"/>
          </a:p>
        </p:txBody>
      </p:sp>
    </p:spTree>
    <p:extLst>
      <p:ext uri="{BB962C8B-B14F-4D97-AF65-F5344CB8AC3E}">
        <p14:creationId xmlns:p14="http://schemas.microsoft.com/office/powerpoint/2010/main" val="2572890639"/>
      </p:ext>
    </p:extLst>
  </p:cSld>
  <p:clrMap bg1="lt1" tx1="dk1" bg2="lt2" tx2="dk2" accent1="accent1" accent2="accent2" accent3="accent3" accent4="accent4" accent5="accent5" accent6="accent6" hlink="hlink" folHlink="folHlink"/>
  <p:hf sldNum="0"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8867447"/>
      </p:ext>
    </p:extLst>
  </p:cSld>
  <p:clrMap bg1="lt1" tx1="dk1" bg2="lt2" tx2="dk2" accent1="accent1" accent2="accent2" accent3="accent3" accent4="accent4" accent5="accent5" accent6="accent6" hlink="hlink" folHlink="folHlink"/>
  <p:hf sldNum="0"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DD2C5-F690-AE1E-FF2F-275CB355A346}"/>
              </a:ext>
            </a:extLst>
          </p:cNvPr>
          <p:cNvSpPr>
            <a:spLocks noGrp="1"/>
          </p:cNvSpPr>
          <p:nvPr>
            <p:ph type="title"/>
          </p:nvPr>
        </p:nvSpPr>
        <p:spPr>
          <a:xfrm>
            <a:off x="628650" y="274638"/>
            <a:ext cx="7886700" cy="993775"/>
          </a:xfrm>
          <a:prstGeom prst="rect">
            <a:avLst/>
          </a:prstGeom>
        </p:spPr>
        <p:txBody>
          <a:bodyPr/>
          <a:lstStyle/>
          <a:p>
            <a:r>
              <a:rPr lang="en-US" dirty="0"/>
              <a:t>Click to edit Master title style</a:t>
            </a:r>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1_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0289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21182-A456-3076-05C2-67026524A405}"/>
              </a:ext>
            </a:extLst>
          </p:cNvPr>
          <p:cNvSpPr>
            <a:spLocks noGrp="1"/>
          </p:cNvSpPr>
          <p:nvPr>
            <p:ph type="ctrTitle"/>
          </p:nvPr>
        </p:nvSpPr>
        <p:spPr>
          <a:xfrm>
            <a:off x="1143000" y="841375"/>
            <a:ext cx="6858000" cy="17907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66E9768-40EB-E6C4-2316-FF807CBB7428}"/>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E64488A-96CA-50FA-A447-A62177672F72}"/>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A2FCEC72-3C86-1D53-7564-8580175AF8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8513FD-2E87-E264-090B-7BF61B1F06BD}"/>
              </a:ext>
            </a:extLst>
          </p:cNvPr>
          <p:cNvSpPr>
            <a:spLocks noGrp="1"/>
          </p:cNvSpPr>
          <p:nvPr>
            <p:ph type="sldNum" sz="quarter" idx="12"/>
          </p:nvPr>
        </p:nvSpPr>
        <p:spPr/>
        <p:txBody>
          <a:bodyPr/>
          <a:lstStyle/>
          <a:p>
            <a:fld id="{8908A88B-AD3F-4EF8-B2CA-169199A26968}" type="slidenum">
              <a:rPr lang="en-IN" smtClean="0"/>
              <a:t>‹#›</a:t>
            </a:fld>
            <a:endParaRPr lang="en-IN" dirty="0"/>
          </a:p>
        </p:txBody>
      </p:sp>
    </p:spTree>
    <p:extLst>
      <p:ext uri="{BB962C8B-B14F-4D97-AF65-F5344CB8AC3E}">
        <p14:creationId xmlns:p14="http://schemas.microsoft.com/office/powerpoint/2010/main" val="2869348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C0A0E-9892-12AD-E0F2-2D9BB93F860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B598067-BC51-90B2-ACCD-86369E1B57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0D6CB88-0519-3EC7-7AEA-8F84BDFC30D6}"/>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B16C427-DF66-85D3-2BB5-4513CDA5FB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9D990C-E8FA-D65C-8539-F0DE60FE5A5B}"/>
              </a:ext>
            </a:extLst>
          </p:cNvPr>
          <p:cNvSpPr>
            <a:spLocks noGrp="1"/>
          </p:cNvSpPr>
          <p:nvPr>
            <p:ph type="sldNum" sz="quarter" idx="12"/>
          </p:nvPr>
        </p:nvSpPr>
        <p:spPr/>
        <p:txBody>
          <a:bodyPr/>
          <a:lstStyle/>
          <a:p>
            <a:fld id="{8908A88B-AD3F-4EF8-B2CA-169199A26968}" type="slidenum">
              <a:rPr lang="en-IN" smtClean="0"/>
              <a:t>‹#›</a:t>
            </a:fld>
            <a:endParaRPr lang="en-IN"/>
          </a:p>
        </p:txBody>
      </p:sp>
    </p:spTree>
    <p:extLst>
      <p:ext uri="{BB962C8B-B14F-4D97-AF65-F5344CB8AC3E}">
        <p14:creationId xmlns:p14="http://schemas.microsoft.com/office/powerpoint/2010/main" val="4117987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90CB1-E17F-3237-DE8B-46084055E596}"/>
              </a:ext>
            </a:extLst>
          </p:cNvPr>
          <p:cNvSpPr>
            <a:spLocks noGrp="1"/>
          </p:cNvSpPr>
          <p:nvPr>
            <p:ph type="title"/>
          </p:nvPr>
        </p:nvSpPr>
        <p:spPr>
          <a:xfrm>
            <a:off x="623888" y="1282700"/>
            <a:ext cx="7886700" cy="2139950"/>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3DFF9FA-A4BB-630E-6901-C10B4A3B3505}"/>
              </a:ext>
            </a:extLst>
          </p:cNvPr>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ECD14F-310C-A69F-BB60-73909A5ABDA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C23B009-774D-4FF0-1399-6789288489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72A7FF-425B-57B6-CFF8-0427E0D258F1}"/>
              </a:ext>
            </a:extLst>
          </p:cNvPr>
          <p:cNvSpPr>
            <a:spLocks noGrp="1"/>
          </p:cNvSpPr>
          <p:nvPr>
            <p:ph type="sldNum" sz="quarter" idx="12"/>
          </p:nvPr>
        </p:nvSpPr>
        <p:spPr/>
        <p:txBody>
          <a:bodyPr/>
          <a:lstStyle/>
          <a:p>
            <a:fld id="{8908A88B-AD3F-4EF8-B2CA-169199A26968}" type="slidenum">
              <a:rPr lang="en-IN" smtClean="0"/>
              <a:t>‹#›</a:t>
            </a:fld>
            <a:endParaRPr lang="en-IN"/>
          </a:p>
        </p:txBody>
      </p:sp>
    </p:spTree>
    <p:extLst>
      <p:ext uri="{BB962C8B-B14F-4D97-AF65-F5344CB8AC3E}">
        <p14:creationId xmlns:p14="http://schemas.microsoft.com/office/powerpoint/2010/main" val="463752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C2D8E-59B6-FC8E-BD0F-F0DB922157F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509A948-B3F7-47EE-A301-7F983CA1A1FA}"/>
              </a:ext>
            </a:extLst>
          </p:cNvPr>
          <p:cNvSpPr>
            <a:spLocks noGrp="1"/>
          </p:cNvSpPr>
          <p:nvPr>
            <p:ph sz="half" idx="1"/>
          </p:nvPr>
        </p:nvSpPr>
        <p:spPr>
          <a:xfrm>
            <a:off x="62865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E7B3E12-1763-4916-09F5-00C31324C9A1}"/>
              </a:ext>
            </a:extLst>
          </p:cNvPr>
          <p:cNvSpPr>
            <a:spLocks noGrp="1"/>
          </p:cNvSpPr>
          <p:nvPr>
            <p:ph sz="half" idx="2"/>
          </p:nvPr>
        </p:nvSpPr>
        <p:spPr>
          <a:xfrm>
            <a:off x="464820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466D860-96F2-8701-75A4-1FAD4C903C44}"/>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48E2FEB9-2C25-A93A-31AF-6BD8E4CA1F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673C6-96AA-A110-A7AF-7ADD63690FCC}"/>
              </a:ext>
            </a:extLst>
          </p:cNvPr>
          <p:cNvSpPr>
            <a:spLocks noGrp="1"/>
          </p:cNvSpPr>
          <p:nvPr>
            <p:ph type="sldNum" sz="quarter" idx="12"/>
          </p:nvPr>
        </p:nvSpPr>
        <p:spPr/>
        <p:txBody>
          <a:bodyPr/>
          <a:lstStyle/>
          <a:p>
            <a:fld id="{8908A88B-AD3F-4EF8-B2CA-169199A26968}" type="slidenum">
              <a:rPr lang="en-IN" smtClean="0"/>
              <a:t>‹#›</a:t>
            </a:fld>
            <a:endParaRPr lang="en-IN"/>
          </a:p>
        </p:txBody>
      </p:sp>
    </p:spTree>
    <p:extLst>
      <p:ext uri="{BB962C8B-B14F-4D97-AF65-F5344CB8AC3E}">
        <p14:creationId xmlns:p14="http://schemas.microsoft.com/office/powerpoint/2010/main" val="4717600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00999-2BF9-817B-5228-3B8254263A49}"/>
              </a:ext>
            </a:extLst>
          </p:cNvPr>
          <p:cNvSpPr>
            <a:spLocks noGrp="1"/>
          </p:cNvSpPr>
          <p:nvPr>
            <p:ph type="title"/>
          </p:nvPr>
        </p:nvSpPr>
        <p:spPr>
          <a:xfrm>
            <a:off x="630238" y="274638"/>
            <a:ext cx="7886700" cy="993775"/>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028B491-CF1D-C588-5D22-9E2E6BB758F3}"/>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F8F50F-A9D7-5425-7CD2-2CF0491A0615}"/>
              </a:ext>
            </a:extLst>
          </p:cNvPr>
          <p:cNvSpPr>
            <a:spLocks noGrp="1"/>
          </p:cNvSpPr>
          <p:nvPr>
            <p:ph sz="half" idx="2"/>
          </p:nvPr>
        </p:nvSpPr>
        <p:spPr>
          <a:xfrm>
            <a:off x="630238" y="1879600"/>
            <a:ext cx="3868737"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75FE777-456E-06B7-E3C2-B018A1BCD3A7}"/>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24D73A-9306-2E93-A4E1-C34C80D8D774}"/>
              </a:ext>
            </a:extLst>
          </p:cNvPr>
          <p:cNvSpPr>
            <a:spLocks noGrp="1"/>
          </p:cNvSpPr>
          <p:nvPr>
            <p:ph sz="quarter" idx="4"/>
          </p:nvPr>
        </p:nvSpPr>
        <p:spPr>
          <a:xfrm>
            <a:off x="4629150" y="1879600"/>
            <a:ext cx="3887788"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BA1FD63-F2C4-F63D-E27B-CD3277CB038C}"/>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65FC4B06-F121-9DF6-2A5D-DB5533AE0A2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D898F2A-D1AB-998B-F133-2C292C35604B}"/>
              </a:ext>
            </a:extLst>
          </p:cNvPr>
          <p:cNvSpPr>
            <a:spLocks noGrp="1"/>
          </p:cNvSpPr>
          <p:nvPr>
            <p:ph type="sldNum" sz="quarter" idx="12"/>
          </p:nvPr>
        </p:nvSpPr>
        <p:spPr/>
        <p:txBody>
          <a:bodyPr/>
          <a:lstStyle/>
          <a:p>
            <a:fld id="{8908A88B-AD3F-4EF8-B2CA-169199A26968}" type="slidenum">
              <a:rPr lang="en-IN" smtClean="0"/>
              <a:t>‹#›</a:t>
            </a:fld>
            <a:endParaRPr lang="en-IN"/>
          </a:p>
        </p:txBody>
      </p:sp>
    </p:spTree>
    <p:extLst>
      <p:ext uri="{BB962C8B-B14F-4D97-AF65-F5344CB8AC3E}">
        <p14:creationId xmlns:p14="http://schemas.microsoft.com/office/powerpoint/2010/main" val="3558057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B33BB-44C2-9444-7811-7EB0D514187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90B3610-B93A-DDAF-948D-903C39C2FD5B}"/>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51F46742-B809-FA9F-189B-AB6BB2097CC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F56A47A-D6F7-99ED-538B-C558B4E2BF75}"/>
              </a:ext>
            </a:extLst>
          </p:cNvPr>
          <p:cNvSpPr>
            <a:spLocks noGrp="1"/>
          </p:cNvSpPr>
          <p:nvPr>
            <p:ph type="sldNum" sz="quarter" idx="12"/>
          </p:nvPr>
        </p:nvSpPr>
        <p:spPr/>
        <p:txBody>
          <a:bodyPr/>
          <a:lstStyle/>
          <a:p>
            <a:fld id="{8908A88B-AD3F-4EF8-B2CA-169199A26968}" type="slidenum">
              <a:rPr lang="en-IN" smtClean="0"/>
              <a:t>‹#›</a:t>
            </a:fld>
            <a:endParaRPr lang="en-IN"/>
          </a:p>
        </p:txBody>
      </p:sp>
    </p:spTree>
    <p:extLst>
      <p:ext uri="{BB962C8B-B14F-4D97-AF65-F5344CB8AC3E}">
        <p14:creationId xmlns:p14="http://schemas.microsoft.com/office/powerpoint/2010/main" val="292235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526066-A840-BEA3-EDFD-6B60A774F769}"/>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09703871-5E84-95FB-BE6D-854B7CFE2DB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3588AD5-58CA-0CF1-53A6-FDBB35E87891}"/>
              </a:ext>
            </a:extLst>
          </p:cNvPr>
          <p:cNvSpPr>
            <a:spLocks noGrp="1"/>
          </p:cNvSpPr>
          <p:nvPr>
            <p:ph type="sldNum" sz="quarter" idx="12"/>
          </p:nvPr>
        </p:nvSpPr>
        <p:spPr/>
        <p:txBody>
          <a:bodyPr/>
          <a:lstStyle/>
          <a:p>
            <a:fld id="{8908A88B-AD3F-4EF8-B2CA-169199A26968}" type="slidenum">
              <a:rPr lang="en-IN" smtClean="0"/>
              <a:t>‹#›</a:t>
            </a:fld>
            <a:endParaRPr lang="en-IN"/>
          </a:p>
        </p:txBody>
      </p:sp>
    </p:spTree>
    <p:extLst>
      <p:ext uri="{BB962C8B-B14F-4D97-AF65-F5344CB8AC3E}">
        <p14:creationId xmlns:p14="http://schemas.microsoft.com/office/powerpoint/2010/main" val="7252070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EDC30-B2C7-69F7-4346-433A5B4AFBC0}"/>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27B8E4C-09C3-5679-ABB2-A53B97D9B15D}"/>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541E535-7324-F932-479C-AF96FC366A9E}"/>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294FDE-5902-1EC5-5838-23AA549F26EE}"/>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A75EE4AF-7B32-1969-9A83-F852213614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A2BE27-5339-4F28-7CD6-2BF4C2B373E6}"/>
              </a:ext>
            </a:extLst>
          </p:cNvPr>
          <p:cNvSpPr>
            <a:spLocks noGrp="1"/>
          </p:cNvSpPr>
          <p:nvPr>
            <p:ph type="sldNum" sz="quarter" idx="12"/>
          </p:nvPr>
        </p:nvSpPr>
        <p:spPr/>
        <p:txBody>
          <a:bodyPr/>
          <a:lstStyle/>
          <a:p>
            <a:fld id="{8908A88B-AD3F-4EF8-B2CA-169199A26968}" type="slidenum">
              <a:rPr lang="en-IN" smtClean="0"/>
              <a:t>‹#›</a:t>
            </a:fld>
            <a:endParaRPr lang="en-IN"/>
          </a:p>
        </p:txBody>
      </p:sp>
    </p:spTree>
    <p:extLst>
      <p:ext uri="{BB962C8B-B14F-4D97-AF65-F5344CB8AC3E}">
        <p14:creationId xmlns:p14="http://schemas.microsoft.com/office/powerpoint/2010/main" val="1318516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A0716-3118-F39A-C122-F51111B7CAE6}"/>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6B5672D-9050-D919-F1EF-10F1AA7B768F}"/>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9EC1CBE-F303-CE0A-3AD1-999EE5252E31}"/>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7E4C65-22F5-EDC8-9899-F2FA2E59D99F}"/>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129B6BF8-5C53-52C4-DCA8-3A9C4C3F9F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F7E4D81-E382-3B3F-1604-5883B4B84575}"/>
              </a:ext>
            </a:extLst>
          </p:cNvPr>
          <p:cNvSpPr>
            <a:spLocks noGrp="1"/>
          </p:cNvSpPr>
          <p:nvPr>
            <p:ph type="sldNum" sz="quarter" idx="12"/>
          </p:nvPr>
        </p:nvSpPr>
        <p:spPr/>
        <p:txBody>
          <a:bodyPr/>
          <a:lstStyle/>
          <a:p>
            <a:fld id="{8908A88B-AD3F-4EF8-B2CA-169199A26968}" type="slidenum">
              <a:rPr lang="en-IN" smtClean="0"/>
              <a:t>‹#›</a:t>
            </a:fld>
            <a:endParaRPr lang="en-IN"/>
          </a:p>
        </p:txBody>
      </p:sp>
    </p:spTree>
    <p:extLst>
      <p:ext uri="{BB962C8B-B14F-4D97-AF65-F5344CB8AC3E}">
        <p14:creationId xmlns:p14="http://schemas.microsoft.com/office/powerpoint/2010/main" val="11141323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DAE55-639E-885E-7B01-E70EA2C4B1B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710DEE7-2708-58C5-248E-DB694712EB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40C98B-3048-1822-4C5B-9F74623A67C0}"/>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950E03D8-135E-E417-5B5C-6FC639AD81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6326CB-1C23-47AE-EC63-FDAA01D3B40B}"/>
              </a:ext>
            </a:extLst>
          </p:cNvPr>
          <p:cNvSpPr>
            <a:spLocks noGrp="1"/>
          </p:cNvSpPr>
          <p:nvPr>
            <p:ph type="sldNum" sz="quarter" idx="12"/>
          </p:nvPr>
        </p:nvSpPr>
        <p:spPr/>
        <p:txBody>
          <a:bodyPr/>
          <a:lstStyle/>
          <a:p>
            <a:fld id="{8908A88B-AD3F-4EF8-B2CA-169199A26968}" type="slidenum">
              <a:rPr lang="en-IN" smtClean="0"/>
              <a:t>‹#›</a:t>
            </a:fld>
            <a:endParaRPr lang="en-IN"/>
          </a:p>
        </p:txBody>
      </p:sp>
    </p:spTree>
    <p:extLst>
      <p:ext uri="{BB962C8B-B14F-4D97-AF65-F5344CB8AC3E}">
        <p14:creationId xmlns:p14="http://schemas.microsoft.com/office/powerpoint/2010/main" val="19735489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D3BC24-DD2A-7C3C-CE1C-C78EA4B32651}"/>
              </a:ext>
            </a:extLst>
          </p:cNvPr>
          <p:cNvSpPr>
            <a:spLocks noGrp="1"/>
          </p:cNvSpPr>
          <p:nvPr>
            <p:ph type="title" orient="vert"/>
          </p:nvPr>
        </p:nvSpPr>
        <p:spPr>
          <a:xfrm>
            <a:off x="6543675" y="274638"/>
            <a:ext cx="1971675" cy="4357687"/>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2E39B58-A1A7-D68D-474B-210D0A65561F}"/>
              </a:ext>
            </a:extLst>
          </p:cNvPr>
          <p:cNvSpPr>
            <a:spLocks noGrp="1"/>
          </p:cNvSpPr>
          <p:nvPr>
            <p:ph type="body" orient="vert" idx="1"/>
          </p:nvPr>
        </p:nvSpPr>
        <p:spPr>
          <a:xfrm>
            <a:off x="628650" y="274638"/>
            <a:ext cx="5762625" cy="4357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C63D69-1BD5-609A-F0C3-750BFCD6B2A7}"/>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26435114-D50B-FCFD-8108-CA13BF864D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4172C5-EE12-3A31-4547-5573CDEF97C8}"/>
              </a:ext>
            </a:extLst>
          </p:cNvPr>
          <p:cNvSpPr>
            <a:spLocks noGrp="1"/>
          </p:cNvSpPr>
          <p:nvPr>
            <p:ph type="sldNum" sz="quarter" idx="12"/>
          </p:nvPr>
        </p:nvSpPr>
        <p:spPr/>
        <p:txBody>
          <a:bodyPr/>
          <a:lstStyle/>
          <a:p>
            <a:fld id="{8908A88B-AD3F-4EF8-B2CA-169199A26968}" type="slidenum">
              <a:rPr lang="en-IN" smtClean="0"/>
              <a:t>‹#›</a:t>
            </a:fld>
            <a:endParaRPr lang="en-IN"/>
          </a:p>
        </p:txBody>
      </p:sp>
    </p:spTree>
    <p:extLst>
      <p:ext uri="{BB962C8B-B14F-4D97-AF65-F5344CB8AC3E}">
        <p14:creationId xmlns:p14="http://schemas.microsoft.com/office/powerpoint/2010/main" val="2232726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D073-44B9-E53D-6D45-179445694B29}"/>
              </a:ext>
            </a:extLst>
          </p:cNvPr>
          <p:cNvSpPr>
            <a:spLocks noGrp="1"/>
          </p:cNvSpPr>
          <p:nvPr>
            <p:ph type="ctrTitle"/>
          </p:nvPr>
        </p:nvSpPr>
        <p:spPr>
          <a:xfrm>
            <a:off x="1143000" y="841375"/>
            <a:ext cx="6858000" cy="17907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61F1D89-2089-D780-F86A-A93095240F35}"/>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8DC3769-8DD8-B354-F7C9-2EDCAD4B1E0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649C0F50-14D7-E0BC-BE43-35BC28D014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98B366-A046-89C4-F026-33864A4C4E25}"/>
              </a:ext>
            </a:extLst>
          </p:cNvPr>
          <p:cNvSpPr>
            <a:spLocks noGrp="1"/>
          </p:cNvSpPr>
          <p:nvPr>
            <p:ph type="sldNum" sz="quarter" idx="12"/>
          </p:nvPr>
        </p:nvSpPr>
        <p:spPr/>
        <p:txBody>
          <a:bodyPr/>
          <a:lstStyle/>
          <a:p>
            <a:fld id="{3731A903-1866-43DA-880C-71007F69A2CF}" type="slidenum">
              <a:rPr lang="en-IN" smtClean="0"/>
              <a:t>‹#›</a:t>
            </a:fld>
            <a:endParaRPr lang="en-IN"/>
          </a:p>
        </p:txBody>
      </p:sp>
    </p:spTree>
    <p:extLst>
      <p:ext uri="{BB962C8B-B14F-4D97-AF65-F5344CB8AC3E}">
        <p14:creationId xmlns:p14="http://schemas.microsoft.com/office/powerpoint/2010/main" val="24934935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9DC5B-68C0-7A3E-2C44-4521E93EBD0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F0A2807-67F4-3296-E586-AA4E8DA49B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616082-B785-882E-3BC3-A3B476EADF54}"/>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13750C48-9F1B-F3F5-2086-706F793A29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850FB1-B235-DDD4-CE24-F3F4DA57E979}"/>
              </a:ext>
            </a:extLst>
          </p:cNvPr>
          <p:cNvSpPr>
            <a:spLocks noGrp="1"/>
          </p:cNvSpPr>
          <p:nvPr>
            <p:ph type="sldNum" sz="quarter" idx="12"/>
          </p:nvPr>
        </p:nvSpPr>
        <p:spPr/>
        <p:txBody>
          <a:bodyPr/>
          <a:lstStyle/>
          <a:p>
            <a:fld id="{3731A903-1866-43DA-880C-71007F69A2CF}" type="slidenum">
              <a:rPr lang="en-IN" smtClean="0"/>
              <a:t>‹#›</a:t>
            </a:fld>
            <a:endParaRPr lang="en-IN"/>
          </a:p>
        </p:txBody>
      </p:sp>
    </p:spTree>
    <p:extLst>
      <p:ext uri="{BB962C8B-B14F-4D97-AF65-F5344CB8AC3E}">
        <p14:creationId xmlns:p14="http://schemas.microsoft.com/office/powerpoint/2010/main" val="24400233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9841E-7FBA-E740-A55E-9CB81B4FC06B}"/>
              </a:ext>
            </a:extLst>
          </p:cNvPr>
          <p:cNvSpPr>
            <a:spLocks noGrp="1"/>
          </p:cNvSpPr>
          <p:nvPr>
            <p:ph type="title"/>
          </p:nvPr>
        </p:nvSpPr>
        <p:spPr>
          <a:xfrm>
            <a:off x="623888" y="1282700"/>
            <a:ext cx="7886700" cy="2139950"/>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8785937-EA2A-4216-91D0-ACFDB9ABC11C}"/>
              </a:ext>
            </a:extLst>
          </p:cNvPr>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AC6D21-A15D-FCF0-C300-726BDD9FBA40}"/>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EDFD6E4E-41FF-2E2F-089B-2DC3FCDAD1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9144FD-9DBB-F613-CD64-A09F761287C9}"/>
              </a:ext>
            </a:extLst>
          </p:cNvPr>
          <p:cNvSpPr>
            <a:spLocks noGrp="1"/>
          </p:cNvSpPr>
          <p:nvPr>
            <p:ph type="sldNum" sz="quarter" idx="12"/>
          </p:nvPr>
        </p:nvSpPr>
        <p:spPr/>
        <p:txBody>
          <a:bodyPr/>
          <a:lstStyle/>
          <a:p>
            <a:fld id="{3731A903-1866-43DA-880C-71007F69A2CF}" type="slidenum">
              <a:rPr lang="en-IN" smtClean="0"/>
              <a:t>‹#›</a:t>
            </a:fld>
            <a:endParaRPr lang="en-IN"/>
          </a:p>
        </p:txBody>
      </p:sp>
    </p:spTree>
    <p:extLst>
      <p:ext uri="{BB962C8B-B14F-4D97-AF65-F5344CB8AC3E}">
        <p14:creationId xmlns:p14="http://schemas.microsoft.com/office/powerpoint/2010/main" val="37093049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DD67E-F9C3-77C6-8D84-C604DF6387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D38A72B-FAE0-31B4-B9E0-15DEFCE161C8}"/>
              </a:ext>
            </a:extLst>
          </p:cNvPr>
          <p:cNvSpPr>
            <a:spLocks noGrp="1"/>
          </p:cNvSpPr>
          <p:nvPr>
            <p:ph sz="half" idx="1"/>
          </p:nvPr>
        </p:nvSpPr>
        <p:spPr>
          <a:xfrm>
            <a:off x="62865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9F4C99E-4979-B72B-E9B8-C1AA0BADAD59}"/>
              </a:ext>
            </a:extLst>
          </p:cNvPr>
          <p:cNvSpPr>
            <a:spLocks noGrp="1"/>
          </p:cNvSpPr>
          <p:nvPr>
            <p:ph sz="half" idx="2"/>
          </p:nvPr>
        </p:nvSpPr>
        <p:spPr>
          <a:xfrm>
            <a:off x="464820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34DD3C8-E73F-2573-C426-F1A46FF219BA}"/>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72E99036-B728-C92A-4778-3858D7774E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24F048-2722-6AF5-6709-6B8E40BAA7C0}"/>
              </a:ext>
            </a:extLst>
          </p:cNvPr>
          <p:cNvSpPr>
            <a:spLocks noGrp="1"/>
          </p:cNvSpPr>
          <p:nvPr>
            <p:ph type="sldNum" sz="quarter" idx="12"/>
          </p:nvPr>
        </p:nvSpPr>
        <p:spPr/>
        <p:txBody>
          <a:bodyPr/>
          <a:lstStyle/>
          <a:p>
            <a:fld id="{3731A903-1866-43DA-880C-71007F69A2CF}" type="slidenum">
              <a:rPr lang="en-IN" smtClean="0"/>
              <a:t>‹#›</a:t>
            </a:fld>
            <a:endParaRPr lang="en-IN"/>
          </a:p>
        </p:txBody>
      </p:sp>
    </p:spTree>
    <p:extLst>
      <p:ext uri="{BB962C8B-B14F-4D97-AF65-F5344CB8AC3E}">
        <p14:creationId xmlns:p14="http://schemas.microsoft.com/office/powerpoint/2010/main" val="1415567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869C2E-CE19-A258-BB17-75FC08A16061}"/>
              </a:ext>
            </a:extLst>
          </p:cNvPr>
          <p:cNvSpPr>
            <a:spLocks noGrp="1"/>
          </p:cNvSpPr>
          <p:nvPr>
            <p:ph type="title"/>
          </p:nvPr>
        </p:nvSpPr>
        <p:spPr>
          <a:xfrm>
            <a:off x="630238" y="274638"/>
            <a:ext cx="7886700" cy="993775"/>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8FD57A-FE6F-B68E-CB0D-F84D76113DAD}"/>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B485C6-0E78-A783-F05F-1AB4186FAE94}"/>
              </a:ext>
            </a:extLst>
          </p:cNvPr>
          <p:cNvSpPr>
            <a:spLocks noGrp="1"/>
          </p:cNvSpPr>
          <p:nvPr>
            <p:ph sz="half" idx="2"/>
          </p:nvPr>
        </p:nvSpPr>
        <p:spPr>
          <a:xfrm>
            <a:off x="630238" y="1879600"/>
            <a:ext cx="3868737"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A1D97EA-8A2A-BFBB-A4D4-C8348F7C6C67}"/>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FE8CC7-BC7E-2C4C-3E90-80BF00A4EF43}"/>
              </a:ext>
            </a:extLst>
          </p:cNvPr>
          <p:cNvSpPr>
            <a:spLocks noGrp="1"/>
          </p:cNvSpPr>
          <p:nvPr>
            <p:ph sz="quarter" idx="4"/>
          </p:nvPr>
        </p:nvSpPr>
        <p:spPr>
          <a:xfrm>
            <a:off x="4629150" y="1879600"/>
            <a:ext cx="3887788"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C7E4DDC-0666-6F56-7BDC-C4E31451D31F}"/>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4599B3D2-E5DD-683E-EB86-B831FF1C0CF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C4E1DD5-4379-0E16-31C5-7EB47EC6EC83}"/>
              </a:ext>
            </a:extLst>
          </p:cNvPr>
          <p:cNvSpPr>
            <a:spLocks noGrp="1"/>
          </p:cNvSpPr>
          <p:nvPr>
            <p:ph type="sldNum" sz="quarter" idx="12"/>
          </p:nvPr>
        </p:nvSpPr>
        <p:spPr/>
        <p:txBody>
          <a:bodyPr/>
          <a:lstStyle/>
          <a:p>
            <a:fld id="{3731A903-1866-43DA-880C-71007F69A2CF}" type="slidenum">
              <a:rPr lang="en-IN" smtClean="0"/>
              <a:t>‹#›</a:t>
            </a:fld>
            <a:endParaRPr lang="en-IN"/>
          </a:p>
        </p:txBody>
      </p:sp>
    </p:spTree>
    <p:extLst>
      <p:ext uri="{BB962C8B-B14F-4D97-AF65-F5344CB8AC3E}">
        <p14:creationId xmlns:p14="http://schemas.microsoft.com/office/powerpoint/2010/main" val="24791767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2103F-B1B7-1ED2-5FA3-56E6AF55634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5121C64-4955-80A6-3B49-D1354100C57F}"/>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24DAE051-C993-A976-DD04-9EAD6F80C16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CC45879-F263-DE16-D37A-6324BCBD2728}"/>
              </a:ext>
            </a:extLst>
          </p:cNvPr>
          <p:cNvSpPr>
            <a:spLocks noGrp="1"/>
          </p:cNvSpPr>
          <p:nvPr>
            <p:ph type="sldNum" sz="quarter" idx="12"/>
          </p:nvPr>
        </p:nvSpPr>
        <p:spPr/>
        <p:txBody>
          <a:bodyPr/>
          <a:lstStyle/>
          <a:p>
            <a:fld id="{3731A903-1866-43DA-880C-71007F69A2CF}" type="slidenum">
              <a:rPr lang="en-IN" smtClean="0"/>
              <a:t>‹#›</a:t>
            </a:fld>
            <a:endParaRPr lang="en-IN"/>
          </a:p>
        </p:txBody>
      </p:sp>
    </p:spTree>
    <p:extLst>
      <p:ext uri="{BB962C8B-B14F-4D97-AF65-F5344CB8AC3E}">
        <p14:creationId xmlns:p14="http://schemas.microsoft.com/office/powerpoint/2010/main" val="41305390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53A0AA-6EED-008E-0C6F-262FD5BA709D}"/>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F3DFE719-6B2C-E42B-400E-A4001AA88D6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F3BBC1E-21E1-BDC9-3E69-C167C2B58754}"/>
              </a:ext>
            </a:extLst>
          </p:cNvPr>
          <p:cNvSpPr>
            <a:spLocks noGrp="1"/>
          </p:cNvSpPr>
          <p:nvPr>
            <p:ph type="sldNum" sz="quarter" idx="12"/>
          </p:nvPr>
        </p:nvSpPr>
        <p:spPr/>
        <p:txBody>
          <a:bodyPr/>
          <a:lstStyle/>
          <a:p>
            <a:fld id="{3731A903-1866-43DA-880C-71007F69A2CF}" type="slidenum">
              <a:rPr lang="en-IN" smtClean="0"/>
              <a:t>‹#›</a:t>
            </a:fld>
            <a:endParaRPr lang="en-IN"/>
          </a:p>
        </p:txBody>
      </p:sp>
    </p:spTree>
    <p:extLst>
      <p:ext uri="{BB962C8B-B14F-4D97-AF65-F5344CB8AC3E}">
        <p14:creationId xmlns:p14="http://schemas.microsoft.com/office/powerpoint/2010/main" val="26514283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E2ADB-E7E3-30E3-C12E-BD36CF834CCC}"/>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276EA18-149C-69DA-9ADA-C8A5D6EC6342}"/>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F506B80-9622-4AC7-E971-7DA2D0303F26}"/>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1D03D3-0F20-9DCF-F6AD-21645679A55B}"/>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1912B725-C37C-EDC9-89C9-A142270C37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335B275-1E76-11E9-AE47-365026DDD853}"/>
              </a:ext>
            </a:extLst>
          </p:cNvPr>
          <p:cNvSpPr>
            <a:spLocks noGrp="1"/>
          </p:cNvSpPr>
          <p:nvPr>
            <p:ph type="sldNum" sz="quarter" idx="12"/>
          </p:nvPr>
        </p:nvSpPr>
        <p:spPr/>
        <p:txBody>
          <a:bodyPr/>
          <a:lstStyle/>
          <a:p>
            <a:fld id="{3731A903-1866-43DA-880C-71007F69A2CF}" type="slidenum">
              <a:rPr lang="en-IN" smtClean="0"/>
              <a:t>‹#›</a:t>
            </a:fld>
            <a:endParaRPr lang="en-IN"/>
          </a:p>
        </p:txBody>
      </p:sp>
    </p:spTree>
    <p:extLst>
      <p:ext uri="{BB962C8B-B14F-4D97-AF65-F5344CB8AC3E}">
        <p14:creationId xmlns:p14="http://schemas.microsoft.com/office/powerpoint/2010/main" val="7080501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5DDAF-A0E7-5A4A-8558-22063E9388EF}"/>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B23A23D-8261-62BF-88B8-64F4D17C22A5}"/>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96CA835-6574-635A-AF82-92380B3A4374}"/>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5E5289-2E96-D3BE-8A02-7623289506D2}"/>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B0C00607-064C-6193-EFBE-170E921817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F2D28D0-2DC1-EE65-DA3F-1325B97DF735}"/>
              </a:ext>
            </a:extLst>
          </p:cNvPr>
          <p:cNvSpPr>
            <a:spLocks noGrp="1"/>
          </p:cNvSpPr>
          <p:nvPr>
            <p:ph type="sldNum" sz="quarter" idx="12"/>
          </p:nvPr>
        </p:nvSpPr>
        <p:spPr/>
        <p:txBody>
          <a:bodyPr/>
          <a:lstStyle/>
          <a:p>
            <a:fld id="{3731A903-1866-43DA-880C-71007F69A2CF}" type="slidenum">
              <a:rPr lang="en-IN" smtClean="0"/>
              <a:t>‹#›</a:t>
            </a:fld>
            <a:endParaRPr lang="en-IN"/>
          </a:p>
        </p:txBody>
      </p:sp>
    </p:spTree>
    <p:extLst>
      <p:ext uri="{BB962C8B-B14F-4D97-AF65-F5344CB8AC3E}">
        <p14:creationId xmlns:p14="http://schemas.microsoft.com/office/powerpoint/2010/main" val="27671674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93DB7-2FE5-1CB0-715E-2B97F168FAB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3A1547-58EF-67E7-2B8E-F165B993FC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EFA480-F5F7-A193-D5D3-F0DD2213A1F5}"/>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3BAA51CB-EB54-BB91-EF41-B5276AAC72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05199D-B92A-252E-566A-D08242B8C645}"/>
              </a:ext>
            </a:extLst>
          </p:cNvPr>
          <p:cNvSpPr>
            <a:spLocks noGrp="1"/>
          </p:cNvSpPr>
          <p:nvPr>
            <p:ph type="sldNum" sz="quarter" idx="12"/>
          </p:nvPr>
        </p:nvSpPr>
        <p:spPr/>
        <p:txBody>
          <a:bodyPr/>
          <a:lstStyle/>
          <a:p>
            <a:fld id="{3731A903-1866-43DA-880C-71007F69A2CF}" type="slidenum">
              <a:rPr lang="en-IN" smtClean="0"/>
              <a:t>‹#›</a:t>
            </a:fld>
            <a:endParaRPr lang="en-IN"/>
          </a:p>
        </p:txBody>
      </p:sp>
    </p:spTree>
    <p:extLst>
      <p:ext uri="{BB962C8B-B14F-4D97-AF65-F5344CB8AC3E}">
        <p14:creationId xmlns:p14="http://schemas.microsoft.com/office/powerpoint/2010/main" val="38314319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DC7D95-DA51-7403-B4D7-9F45CCF2BF86}"/>
              </a:ext>
            </a:extLst>
          </p:cNvPr>
          <p:cNvSpPr>
            <a:spLocks noGrp="1"/>
          </p:cNvSpPr>
          <p:nvPr>
            <p:ph type="title" orient="vert"/>
          </p:nvPr>
        </p:nvSpPr>
        <p:spPr>
          <a:xfrm>
            <a:off x="6543675" y="274638"/>
            <a:ext cx="1971675" cy="4357687"/>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D5CBF0-8488-CDC4-D557-0642C8BFF12D}"/>
              </a:ext>
            </a:extLst>
          </p:cNvPr>
          <p:cNvSpPr>
            <a:spLocks noGrp="1"/>
          </p:cNvSpPr>
          <p:nvPr>
            <p:ph type="body" orient="vert" idx="1"/>
          </p:nvPr>
        </p:nvSpPr>
        <p:spPr>
          <a:xfrm>
            <a:off x="628650" y="274638"/>
            <a:ext cx="5762625" cy="4357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B45371B-E03D-5DA4-54B6-93C1C7FD4CC6}"/>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098AD7BA-F4F6-C53A-DBF7-7B5AD8B459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902C36-0067-397C-9EA8-BF1033D93A2A}"/>
              </a:ext>
            </a:extLst>
          </p:cNvPr>
          <p:cNvSpPr>
            <a:spLocks noGrp="1"/>
          </p:cNvSpPr>
          <p:nvPr>
            <p:ph type="sldNum" sz="quarter" idx="12"/>
          </p:nvPr>
        </p:nvSpPr>
        <p:spPr/>
        <p:txBody>
          <a:bodyPr/>
          <a:lstStyle/>
          <a:p>
            <a:fld id="{3731A903-1866-43DA-880C-71007F69A2CF}" type="slidenum">
              <a:rPr lang="en-IN" smtClean="0"/>
              <a:t>‹#›</a:t>
            </a:fld>
            <a:endParaRPr lang="en-IN"/>
          </a:p>
        </p:txBody>
      </p:sp>
    </p:spTree>
    <p:extLst>
      <p:ext uri="{BB962C8B-B14F-4D97-AF65-F5344CB8AC3E}">
        <p14:creationId xmlns:p14="http://schemas.microsoft.com/office/powerpoint/2010/main" val="55442829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0F8BD-1E7F-FAA2-41C2-8119BC3312DD}"/>
              </a:ext>
            </a:extLst>
          </p:cNvPr>
          <p:cNvSpPr>
            <a:spLocks noGrp="1"/>
          </p:cNvSpPr>
          <p:nvPr>
            <p:ph type="ctrTitle"/>
          </p:nvPr>
        </p:nvSpPr>
        <p:spPr>
          <a:xfrm>
            <a:off x="1143000" y="841375"/>
            <a:ext cx="6858000" cy="17907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87A7ECA-C367-7DA0-C30F-10BCAA565A21}"/>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767FF02-3AAD-BE1E-75AD-CB1D0116879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82C4243-6E89-0BB1-A1E9-71E6B33FE6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36A182-D737-A392-9936-EF66FDE22034}"/>
              </a:ext>
            </a:extLst>
          </p:cNvPr>
          <p:cNvSpPr>
            <a:spLocks noGrp="1"/>
          </p:cNvSpPr>
          <p:nvPr>
            <p:ph type="sldNum" sz="quarter" idx="12"/>
          </p:nvPr>
        </p:nvSpPr>
        <p:spPr/>
        <p:txBody>
          <a:bodyPr/>
          <a:lstStyle/>
          <a:p>
            <a:fld id="{154A828A-AB84-4CA2-9D0E-A233D078AC08}" type="slidenum">
              <a:rPr lang="en-IN" smtClean="0"/>
              <a:t>‹#›</a:t>
            </a:fld>
            <a:endParaRPr lang="en-IN"/>
          </a:p>
        </p:txBody>
      </p:sp>
    </p:spTree>
    <p:extLst>
      <p:ext uri="{BB962C8B-B14F-4D97-AF65-F5344CB8AC3E}">
        <p14:creationId xmlns:p14="http://schemas.microsoft.com/office/powerpoint/2010/main" val="2036993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B976F-2E81-0896-1240-C8D05FA97A3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94A4F62-BF88-F8E5-F669-6B06C63625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722452-1160-9DA9-4C23-D3CE5126CB12}"/>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6FEC041C-3917-96EA-C71A-72F81D5746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A7A128-A87A-9C28-D559-5436D1492CB9}"/>
              </a:ext>
            </a:extLst>
          </p:cNvPr>
          <p:cNvSpPr>
            <a:spLocks noGrp="1"/>
          </p:cNvSpPr>
          <p:nvPr>
            <p:ph type="sldNum" sz="quarter" idx="12"/>
          </p:nvPr>
        </p:nvSpPr>
        <p:spPr/>
        <p:txBody>
          <a:bodyPr/>
          <a:lstStyle/>
          <a:p>
            <a:fld id="{154A828A-AB84-4CA2-9D0E-A233D078AC08}" type="slidenum">
              <a:rPr lang="en-IN" smtClean="0"/>
              <a:t>‹#›</a:t>
            </a:fld>
            <a:endParaRPr lang="en-IN"/>
          </a:p>
        </p:txBody>
      </p:sp>
    </p:spTree>
    <p:extLst>
      <p:ext uri="{BB962C8B-B14F-4D97-AF65-F5344CB8AC3E}">
        <p14:creationId xmlns:p14="http://schemas.microsoft.com/office/powerpoint/2010/main" val="40189074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07F8C-41D0-9753-346D-9FC530576177}"/>
              </a:ext>
            </a:extLst>
          </p:cNvPr>
          <p:cNvSpPr>
            <a:spLocks noGrp="1"/>
          </p:cNvSpPr>
          <p:nvPr>
            <p:ph type="title"/>
          </p:nvPr>
        </p:nvSpPr>
        <p:spPr>
          <a:xfrm>
            <a:off x="623888" y="1282700"/>
            <a:ext cx="7886700" cy="2139950"/>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BEE87EC-CEE7-118A-9621-D2E40232AF90}"/>
              </a:ext>
            </a:extLst>
          </p:cNvPr>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3B0C70-D679-C127-5CA3-2A6F420E01EC}"/>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245AD76A-816C-99FA-7FF1-C840AAFD42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9141FC-BD12-226A-9D1E-2DA96D8C3A8A}"/>
              </a:ext>
            </a:extLst>
          </p:cNvPr>
          <p:cNvSpPr>
            <a:spLocks noGrp="1"/>
          </p:cNvSpPr>
          <p:nvPr>
            <p:ph type="sldNum" sz="quarter" idx="12"/>
          </p:nvPr>
        </p:nvSpPr>
        <p:spPr/>
        <p:txBody>
          <a:bodyPr/>
          <a:lstStyle/>
          <a:p>
            <a:fld id="{154A828A-AB84-4CA2-9D0E-A233D078AC08}" type="slidenum">
              <a:rPr lang="en-IN" smtClean="0"/>
              <a:t>‹#›</a:t>
            </a:fld>
            <a:endParaRPr lang="en-IN"/>
          </a:p>
        </p:txBody>
      </p:sp>
    </p:spTree>
    <p:extLst>
      <p:ext uri="{BB962C8B-B14F-4D97-AF65-F5344CB8AC3E}">
        <p14:creationId xmlns:p14="http://schemas.microsoft.com/office/powerpoint/2010/main" val="34954130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D530B-D280-6830-0490-B7A06040AFF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30846A-F984-23C5-74D3-A3A95CE27736}"/>
              </a:ext>
            </a:extLst>
          </p:cNvPr>
          <p:cNvSpPr>
            <a:spLocks noGrp="1"/>
          </p:cNvSpPr>
          <p:nvPr>
            <p:ph sz="half" idx="1"/>
          </p:nvPr>
        </p:nvSpPr>
        <p:spPr>
          <a:xfrm>
            <a:off x="62865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8B693B-B105-1903-AF0A-C47D688936EE}"/>
              </a:ext>
            </a:extLst>
          </p:cNvPr>
          <p:cNvSpPr>
            <a:spLocks noGrp="1"/>
          </p:cNvSpPr>
          <p:nvPr>
            <p:ph sz="half" idx="2"/>
          </p:nvPr>
        </p:nvSpPr>
        <p:spPr>
          <a:xfrm>
            <a:off x="464820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BA2DC6A-6F15-8517-5630-A297979C0855}"/>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70BEE61F-40AD-50F9-153C-32400B5951B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EFB21EC-1431-09BF-DED7-B6717AB880AA}"/>
              </a:ext>
            </a:extLst>
          </p:cNvPr>
          <p:cNvSpPr>
            <a:spLocks noGrp="1"/>
          </p:cNvSpPr>
          <p:nvPr>
            <p:ph type="sldNum" sz="quarter" idx="12"/>
          </p:nvPr>
        </p:nvSpPr>
        <p:spPr/>
        <p:txBody>
          <a:bodyPr/>
          <a:lstStyle/>
          <a:p>
            <a:fld id="{154A828A-AB84-4CA2-9D0E-A233D078AC08}" type="slidenum">
              <a:rPr lang="en-IN" smtClean="0"/>
              <a:t>‹#›</a:t>
            </a:fld>
            <a:endParaRPr lang="en-IN"/>
          </a:p>
        </p:txBody>
      </p:sp>
    </p:spTree>
    <p:extLst>
      <p:ext uri="{BB962C8B-B14F-4D97-AF65-F5344CB8AC3E}">
        <p14:creationId xmlns:p14="http://schemas.microsoft.com/office/powerpoint/2010/main" val="10463228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AE9F9-BDB4-09D0-C2D7-A05AA91C40E5}"/>
              </a:ext>
            </a:extLst>
          </p:cNvPr>
          <p:cNvSpPr>
            <a:spLocks noGrp="1"/>
          </p:cNvSpPr>
          <p:nvPr>
            <p:ph type="title"/>
          </p:nvPr>
        </p:nvSpPr>
        <p:spPr>
          <a:xfrm>
            <a:off x="630238" y="274638"/>
            <a:ext cx="7886700" cy="993775"/>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9A066A4-7175-A162-0C2C-ED2F2D3E6A47}"/>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9B651D-F254-C327-EF65-4D002CA0FAF2}"/>
              </a:ext>
            </a:extLst>
          </p:cNvPr>
          <p:cNvSpPr>
            <a:spLocks noGrp="1"/>
          </p:cNvSpPr>
          <p:nvPr>
            <p:ph sz="half" idx="2"/>
          </p:nvPr>
        </p:nvSpPr>
        <p:spPr>
          <a:xfrm>
            <a:off x="630238" y="1879600"/>
            <a:ext cx="3868737"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1D2C985-86DE-5424-1CE8-75096DEE1051}"/>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017155-AEF3-E7E9-FFF8-A70CE2F9FF07}"/>
              </a:ext>
            </a:extLst>
          </p:cNvPr>
          <p:cNvSpPr>
            <a:spLocks noGrp="1"/>
          </p:cNvSpPr>
          <p:nvPr>
            <p:ph sz="quarter" idx="4"/>
          </p:nvPr>
        </p:nvSpPr>
        <p:spPr>
          <a:xfrm>
            <a:off x="4629150" y="1879600"/>
            <a:ext cx="3887788"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7E24DAD-7109-1565-EAE4-E297408497F0}"/>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B0E881DB-2E7C-984C-345C-E27FDA951C3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06FEAA2-0F43-D32A-58A4-695B04538926}"/>
              </a:ext>
            </a:extLst>
          </p:cNvPr>
          <p:cNvSpPr>
            <a:spLocks noGrp="1"/>
          </p:cNvSpPr>
          <p:nvPr>
            <p:ph type="sldNum" sz="quarter" idx="12"/>
          </p:nvPr>
        </p:nvSpPr>
        <p:spPr/>
        <p:txBody>
          <a:bodyPr/>
          <a:lstStyle/>
          <a:p>
            <a:fld id="{154A828A-AB84-4CA2-9D0E-A233D078AC08}" type="slidenum">
              <a:rPr lang="en-IN" smtClean="0"/>
              <a:t>‹#›</a:t>
            </a:fld>
            <a:endParaRPr lang="en-IN"/>
          </a:p>
        </p:txBody>
      </p:sp>
    </p:spTree>
    <p:extLst>
      <p:ext uri="{BB962C8B-B14F-4D97-AF65-F5344CB8AC3E}">
        <p14:creationId xmlns:p14="http://schemas.microsoft.com/office/powerpoint/2010/main" val="37029321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7C760-AEC8-1CC5-825E-94B8D5999E5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1671A18-E9E9-AC35-DA6B-07054BD38C0A}"/>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B439FABD-9A7D-5D28-45DE-29136C00313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2412242-7703-B7A8-54E0-4D0F3A89C8A3}"/>
              </a:ext>
            </a:extLst>
          </p:cNvPr>
          <p:cNvSpPr>
            <a:spLocks noGrp="1"/>
          </p:cNvSpPr>
          <p:nvPr>
            <p:ph type="sldNum" sz="quarter" idx="12"/>
          </p:nvPr>
        </p:nvSpPr>
        <p:spPr/>
        <p:txBody>
          <a:bodyPr/>
          <a:lstStyle/>
          <a:p>
            <a:fld id="{154A828A-AB84-4CA2-9D0E-A233D078AC08}" type="slidenum">
              <a:rPr lang="en-IN" smtClean="0"/>
              <a:t>‹#›</a:t>
            </a:fld>
            <a:endParaRPr lang="en-IN"/>
          </a:p>
        </p:txBody>
      </p:sp>
    </p:spTree>
    <p:extLst>
      <p:ext uri="{BB962C8B-B14F-4D97-AF65-F5344CB8AC3E}">
        <p14:creationId xmlns:p14="http://schemas.microsoft.com/office/powerpoint/2010/main" val="19716076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6296AA-26D2-27F4-2DE6-9E426AD07675}"/>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B4EB63D8-C870-61BA-334D-413745F16AE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5A013B5-71A3-667A-E1F9-C718DA02E878}"/>
              </a:ext>
            </a:extLst>
          </p:cNvPr>
          <p:cNvSpPr>
            <a:spLocks noGrp="1"/>
          </p:cNvSpPr>
          <p:nvPr>
            <p:ph type="sldNum" sz="quarter" idx="12"/>
          </p:nvPr>
        </p:nvSpPr>
        <p:spPr/>
        <p:txBody>
          <a:bodyPr/>
          <a:lstStyle/>
          <a:p>
            <a:fld id="{154A828A-AB84-4CA2-9D0E-A233D078AC08}" type="slidenum">
              <a:rPr lang="en-IN" smtClean="0"/>
              <a:t>‹#›</a:t>
            </a:fld>
            <a:endParaRPr lang="en-IN"/>
          </a:p>
        </p:txBody>
      </p:sp>
    </p:spTree>
    <p:extLst>
      <p:ext uri="{BB962C8B-B14F-4D97-AF65-F5344CB8AC3E}">
        <p14:creationId xmlns:p14="http://schemas.microsoft.com/office/powerpoint/2010/main" val="1149416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6FBBB-2D62-A6D0-2ACC-CE30751B8E4B}"/>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21ECDB0-57FE-6808-0925-54319ED379BA}"/>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15297EC-B837-19C7-48BC-B6BF6C8B8A98}"/>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67100C-982E-19BB-6655-E4F7EFE31FB3}"/>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73A5A5F6-D0FF-6F2F-67AD-20D7884A88A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A73EF9-46D3-A40C-C308-F17754BA213F}"/>
              </a:ext>
            </a:extLst>
          </p:cNvPr>
          <p:cNvSpPr>
            <a:spLocks noGrp="1"/>
          </p:cNvSpPr>
          <p:nvPr>
            <p:ph type="sldNum" sz="quarter" idx="12"/>
          </p:nvPr>
        </p:nvSpPr>
        <p:spPr/>
        <p:txBody>
          <a:bodyPr/>
          <a:lstStyle/>
          <a:p>
            <a:fld id="{154A828A-AB84-4CA2-9D0E-A233D078AC08}" type="slidenum">
              <a:rPr lang="en-IN" smtClean="0"/>
              <a:t>‹#›</a:t>
            </a:fld>
            <a:endParaRPr lang="en-IN"/>
          </a:p>
        </p:txBody>
      </p:sp>
    </p:spTree>
    <p:extLst>
      <p:ext uri="{BB962C8B-B14F-4D97-AF65-F5344CB8AC3E}">
        <p14:creationId xmlns:p14="http://schemas.microsoft.com/office/powerpoint/2010/main" val="22481585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0D361-36CB-BB99-69E3-06E5564DE8BD}"/>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AEEDBD9-1BFD-A1B8-917F-A64032781597}"/>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9F0BF31-8983-B8FD-A2ED-E53EEF1C8326}"/>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88CC88-5CCB-B4DE-83CA-90DFCD306BDA}"/>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B0E8EFC9-6AB5-ACD0-9CD4-FA3DD3B37D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12C52FB-A308-F884-7520-F555360A7488}"/>
              </a:ext>
            </a:extLst>
          </p:cNvPr>
          <p:cNvSpPr>
            <a:spLocks noGrp="1"/>
          </p:cNvSpPr>
          <p:nvPr>
            <p:ph type="sldNum" sz="quarter" idx="12"/>
          </p:nvPr>
        </p:nvSpPr>
        <p:spPr/>
        <p:txBody>
          <a:bodyPr/>
          <a:lstStyle/>
          <a:p>
            <a:fld id="{154A828A-AB84-4CA2-9D0E-A233D078AC08}" type="slidenum">
              <a:rPr lang="en-IN" smtClean="0"/>
              <a:t>‹#›</a:t>
            </a:fld>
            <a:endParaRPr lang="en-IN"/>
          </a:p>
        </p:txBody>
      </p:sp>
    </p:spTree>
    <p:extLst>
      <p:ext uri="{BB962C8B-B14F-4D97-AF65-F5344CB8AC3E}">
        <p14:creationId xmlns:p14="http://schemas.microsoft.com/office/powerpoint/2010/main" val="243315235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3356F-F3CF-D93E-02A5-3A22BCC7C89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07E2B31-B184-BE04-A382-16A40FA273D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CCABED-89FD-599B-753E-78F1E59CC28A}"/>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6D1C3193-C19F-3C83-6528-791DC5BDDE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D24EC0-F934-B1F0-AD16-FDF130C015DC}"/>
              </a:ext>
            </a:extLst>
          </p:cNvPr>
          <p:cNvSpPr>
            <a:spLocks noGrp="1"/>
          </p:cNvSpPr>
          <p:nvPr>
            <p:ph type="sldNum" sz="quarter" idx="12"/>
          </p:nvPr>
        </p:nvSpPr>
        <p:spPr/>
        <p:txBody>
          <a:bodyPr/>
          <a:lstStyle/>
          <a:p>
            <a:fld id="{154A828A-AB84-4CA2-9D0E-A233D078AC08}" type="slidenum">
              <a:rPr lang="en-IN" smtClean="0"/>
              <a:t>‹#›</a:t>
            </a:fld>
            <a:endParaRPr lang="en-IN"/>
          </a:p>
        </p:txBody>
      </p:sp>
    </p:spTree>
    <p:extLst>
      <p:ext uri="{BB962C8B-B14F-4D97-AF65-F5344CB8AC3E}">
        <p14:creationId xmlns:p14="http://schemas.microsoft.com/office/powerpoint/2010/main" val="110225393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30BDE7-2D32-F454-6009-DB5B8102DB64}"/>
              </a:ext>
            </a:extLst>
          </p:cNvPr>
          <p:cNvSpPr>
            <a:spLocks noGrp="1"/>
          </p:cNvSpPr>
          <p:nvPr>
            <p:ph type="title" orient="vert"/>
          </p:nvPr>
        </p:nvSpPr>
        <p:spPr>
          <a:xfrm>
            <a:off x="6543675" y="274638"/>
            <a:ext cx="1971675" cy="4357687"/>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0F368E7-5982-AE71-02A4-C64E21BB7A7D}"/>
              </a:ext>
            </a:extLst>
          </p:cNvPr>
          <p:cNvSpPr>
            <a:spLocks noGrp="1"/>
          </p:cNvSpPr>
          <p:nvPr>
            <p:ph type="body" orient="vert" idx="1"/>
          </p:nvPr>
        </p:nvSpPr>
        <p:spPr>
          <a:xfrm>
            <a:off x="628650" y="274638"/>
            <a:ext cx="5762625" cy="4357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22DAEC-93FC-921D-9F66-CA1B8FF57E7A}"/>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0F477E94-8DE7-C4D6-C5A6-48AF7406DB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A0D453-40A5-4CA8-FCF5-659F935A6AE9}"/>
              </a:ext>
            </a:extLst>
          </p:cNvPr>
          <p:cNvSpPr>
            <a:spLocks noGrp="1"/>
          </p:cNvSpPr>
          <p:nvPr>
            <p:ph type="sldNum" sz="quarter" idx="12"/>
          </p:nvPr>
        </p:nvSpPr>
        <p:spPr/>
        <p:txBody>
          <a:bodyPr/>
          <a:lstStyle/>
          <a:p>
            <a:fld id="{154A828A-AB84-4CA2-9D0E-A233D078AC08}" type="slidenum">
              <a:rPr lang="en-IN" smtClean="0"/>
              <a:t>‹#›</a:t>
            </a:fld>
            <a:endParaRPr lang="en-IN"/>
          </a:p>
        </p:txBody>
      </p:sp>
    </p:spTree>
    <p:extLst>
      <p:ext uri="{BB962C8B-B14F-4D97-AF65-F5344CB8AC3E}">
        <p14:creationId xmlns:p14="http://schemas.microsoft.com/office/powerpoint/2010/main" val="29304082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3C237-2F0A-5F70-3BE2-F2F30095FEBC}"/>
              </a:ext>
            </a:extLst>
          </p:cNvPr>
          <p:cNvSpPr>
            <a:spLocks noGrp="1"/>
          </p:cNvSpPr>
          <p:nvPr>
            <p:ph type="ctrTitle"/>
          </p:nvPr>
        </p:nvSpPr>
        <p:spPr>
          <a:xfrm>
            <a:off x="1143000" y="841375"/>
            <a:ext cx="6858000" cy="17907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57AFD81-6099-2F5A-3CFB-72B7B44C4379}"/>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7F1AF94-AD85-25DD-3FFC-9349417EFB2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0923EB1F-FA51-F6EF-A9BE-0951FE63E2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94B6FD-394C-DC68-B7EC-85CD00683077}"/>
              </a:ext>
            </a:extLst>
          </p:cNvPr>
          <p:cNvSpPr>
            <a:spLocks noGrp="1"/>
          </p:cNvSpPr>
          <p:nvPr>
            <p:ph type="sldNum" sz="quarter" idx="12"/>
          </p:nvPr>
        </p:nvSpPr>
        <p:spPr/>
        <p:txBody>
          <a:bodyPr/>
          <a:lstStyle/>
          <a:p>
            <a:fld id="{E868B3D9-1C40-4A10-B20A-BA27602F8600}" type="slidenum">
              <a:rPr lang="en-IN" smtClean="0"/>
              <a:t>‹#›</a:t>
            </a:fld>
            <a:endParaRPr lang="en-IN"/>
          </a:p>
        </p:txBody>
      </p:sp>
    </p:spTree>
    <p:extLst>
      <p:ext uri="{BB962C8B-B14F-4D97-AF65-F5344CB8AC3E}">
        <p14:creationId xmlns:p14="http://schemas.microsoft.com/office/powerpoint/2010/main" val="9655498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FBA8E-12F8-0CE5-2C44-922B92739A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E4835E-2AAE-0666-E142-3AE5C2EFFD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DC76998-9174-6269-3FE3-8962471CA064}"/>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F30A90A4-358F-F7AB-6586-732EBEDAF0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73C657-B529-0C8D-4338-3A644A8B5D57}"/>
              </a:ext>
            </a:extLst>
          </p:cNvPr>
          <p:cNvSpPr>
            <a:spLocks noGrp="1"/>
          </p:cNvSpPr>
          <p:nvPr>
            <p:ph type="sldNum" sz="quarter" idx="12"/>
          </p:nvPr>
        </p:nvSpPr>
        <p:spPr/>
        <p:txBody>
          <a:bodyPr/>
          <a:lstStyle/>
          <a:p>
            <a:fld id="{E868B3D9-1C40-4A10-B20A-BA27602F8600}" type="slidenum">
              <a:rPr lang="en-IN" smtClean="0"/>
              <a:t>‹#›</a:t>
            </a:fld>
            <a:endParaRPr lang="en-IN"/>
          </a:p>
        </p:txBody>
      </p:sp>
    </p:spTree>
    <p:extLst>
      <p:ext uri="{BB962C8B-B14F-4D97-AF65-F5344CB8AC3E}">
        <p14:creationId xmlns:p14="http://schemas.microsoft.com/office/powerpoint/2010/main" val="17210950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24311-C025-2C91-C748-7A8109865189}"/>
              </a:ext>
            </a:extLst>
          </p:cNvPr>
          <p:cNvSpPr>
            <a:spLocks noGrp="1"/>
          </p:cNvSpPr>
          <p:nvPr>
            <p:ph type="title"/>
          </p:nvPr>
        </p:nvSpPr>
        <p:spPr>
          <a:xfrm>
            <a:off x="623888" y="1282700"/>
            <a:ext cx="7886700" cy="2139950"/>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DF0E126-8149-4E2A-5FD3-85793F50B21E}"/>
              </a:ext>
            </a:extLst>
          </p:cNvPr>
          <p:cNvSpPr>
            <a:spLocks noGrp="1"/>
          </p:cNvSpPr>
          <p:nvPr>
            <p:ph type="body" idx="1"/>
          </p:nvPr>
        </p:nvSpPr>
        <p:spPr>
          <a:xfrm>
            <a:off x="623888" y="3441700"/>
            <a:ext cx="7886700" cy="1125538"/>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210EB5-EEDA-D3C0-0219-F96D4728A62F}"/>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18F73616-BECC-73CD-AD55-019CE5D11F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D4269B-2436-0B45-A032-11DE6A97854F}"/>
              </a:ext>
            </a:extLst>
          </p:cNvPr>
          <p:cNvSpPr>
            <a:spLocks noGrp="1"/>
          </p:cNvSpPr>
          <p:nvPr>
            <p:ph type="sldNum" sz="quarter" idx="12"/>
          </p:nvPr>
        </p:nvSpPr>
        <p:spPr/>
        <p:txBody>
          <a:bodyPr/>
          <a:lstStyle/>
          <a:p>
            <a:fld id="{E868B3D9-1C40-4A10-B20A-BA27602F8600}" type="slidenum">
              <a:rPr lang="en-IN" smtClean="0"/>
              <a:t>‹#›</a:t>
            </a:fld>
            <a:endParaRPr lang="en-IN"/>
          </a:p>
        </p:txBody>
      </p:sp>
    </p:spTree>
    <p:extLst>
      <p:ext uri="{BB962C8B-B14F-4D97-AF65-F5344CB8AC3E}">
        <p14:creationId xmlns:p14="http://schemas.microsoft.com/office/powerpoint/2010/main" val="64463538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3C27C-FA3A-D941-1D9F-1BEAEF622C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72701D-E8A3-12E7-306A-74CBF33E8775}"/>
              </a:ext>
            </a:extLst>
          </p:cNvPr>
          <p:cNvSpPr>
            <a:spLocks noGrp="1"/>
          </p:cNvSpPr>
          <p:nvPr>
            <p:ph sz="half" idx="1"/>
          </p:nvPr>
        </p:nvSpPr>
        <p:spPr>
          <a:xfrm>
            <a:off x="62865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55FF5B9-2AA2-5AC9-61E2-C6C4F9454AA5}"/>
              </a:ext>
            </a:extLst>
          </p:cNvPr>
          <p:cNvSpPr>
            <a:spLocks noGrp="1"/>
          </p:cNvSpPr>
          <p:nvPr>
            <p:ph sz="half" idx="2"/>
          </p:nvPr>
        </p:nvSpPr>
        <p:spPr>
          <a:xfrm>
            <a:off x="4648200" y="1370013"/>
            <a:ext cx="3867150" cy="326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CE17193-AE41-27C9-0CDD-E7938BD31F2E}"/>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AF62BB68-156F-2D14-8764-AFDAC09101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472E454-ECFF-9B46-6EA2-89BE98A63210}"/>
              </a:ext>
            </a:extLst>
          </p:cNvPr>
          <p:cNvSpPr>
            <a:spLocks noGrp="1"/>
          </p:cNvSpPr>
          <p:nvPr>
            <p:ph type="sldNum" sz="quarter" idx="12"/>
          </p:nvPr>
        </p:nvSpPr>
        <p:spPr/>
        <p:txBody>
          <a:bodyPr/>
          <a:lstStyle/>
          <a:p>
            <a:fld id="{E868B3D9-1C40-4A10-B20A-BA27602F8600}" type="slidenum">
              <a:rPr lang="en-IN" smtClean="0"/>
              <a:t>‹#›</a:t>
            </a:fld>
            <a:endParaRPr lang="en-IN"/>
          </a:p>
        </p:txBody>
      </p:sp>
    </p:spTree>
    <p:extLst>
      <p:ext uri="{BB962C8B-B14F-4D97-AF65-F5344CB8AC3E}">
        <p14:creationId xmlns:p14="http://schemas.microsoft.com/office/powerpoint/2010/main" val="273766635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44B63-7480-2414-46B8-A32BD8CCBB4A}"/>
              </a:ext>
            </a:extLst>
          </p:cNvPr>
          <p:cNvSpPr>
            <a:spLocks noGrp="1"/>
          </p:cNvSpPr>
          <p:nvPr>
            <p:ph type="title"/>
          </p:nvPr>
        </p:nvSpPr>
        <p:spPr>
          <a:xfrm>
            <a:off x="630238" y="274638"/>
            <a:ext cx="7886700" cy="993775"/>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AFAC0FC-9D50-4F8A-1CA0-24B3A8E1C697}"/>
              </a:ext>
            </a:extLst>
          </p:cNvPr>
          <p:cNvSpPr>
            <a:spLocks noGrp="1"/>
          </p:cNvSpPr>
          <p:nvPr>
            <p:ph type="body" idx="1"/>
          </p:nvPr>
        </p:nvSpPr>
        <p:spPr>
          <a:xfrm>
            <a:off x="630238" y="1260475"/>
            <a:ext cx="3868737"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4D0EC4-E8C9-FB41-D461-CA2DB1E1DF9B}"/>
              </a:ext>
            </a:extLst>
          </p:cNvPr>
          <p:cNvSpPr>
            <a:spLocks noGrp="1"/>
          </p:cNvSpPr>
          <p:nvPr>
            <p:ph sz="half" idx="2"/>
          </p:nvPr>
        </p:nvSpPr>
        <p:spPr>
          <a:xfrm>
            <a:off x="630238" y="1879600"/>
            <a:ext cx="3868737"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8552ACB-9F52-D215-2BE3-8E40C7CF19E8}"/>
              </a:ext>
            </a:extLst>
          </p:cNvPr>
          <p:cNvSpPr>
            <a:spLocks noGrp="1"/>
          </p:cNvSpPr>
          <p:nvPr>
            <p:ph type="body" sz="quarter" idx="3"/>
          </p:nvPr>
        </p:nvSpPr>
        <p:spPr>
          <a:xfrm>
            <a:off x="4629150" y="1260475"/>
            <a:ext cx="3887788" cy="6191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05EC48-D73E-2AC2-C6FC-E447B1FF7280}"/>
              </a:ext>
            </a:extLst>
          </p:cNvPr>
          <p:cNvSpPr>
            <a:spLocks noGrp="1"/>
          </p:cNvSpPr>
          <p:nvPr>
            <p:ph sz="quarter" idx="4"/>
          </p:nvPr>
        </p:nvSpPr>
        <p:spPr>
          <a:xfrm>
            <a:off x="4629150" y="1879600"/>
            <a:ext cx="3887788" cy="2762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8ED61F9-7BCA-291A-AA07-C7A8760776D6}"/>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41DAC479-FEDA-981A-DCC0-8A8B25A5F2F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A819023-E6BE-8418-5079-5C7304370B3C}"/>
              </a:ext>
            </a:extLst>
          </p:cNvPr>
          <p:cNvSpPr>
            <a:spLocks noGrp="1"/>
          </p:cNvSpPr>
          <p:nvPr>
            <p:ph type="sldNum" sz="quarter" idx="12"/>
          </p:nvPr>
        </p:nvSpPr>
        <p:spPr/>
        <p:txBody>
          <a:bodyPr/>
          <a:lstStyle/>
          <a:p>
            <a:fld id="{E868B3D9-1C40-4A10-B20A-BA27602F8600}" type="slidenum">
              <a:rPr lang="en-IN" smtClean="0"/>
              <a:t>‹#›</a:t>
            </a:fld>
            <a:endParaRPr lang="en-IN"/>
          </a:p>
        </p:txBody>
      </p:sp>
    </p:spTree>
    <p:extLst>
      <p:ext uri="{BB962C8B-B14F-4D97-AF65-F5344CB8AC3E}">
        <p14:creationId xmlns:p14="http://schemas.microsoft.com/office/powerpoint/2010/main" val="25207652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2B2A3-FF21-C14F-C3F6-A2A2A505D38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93CE7AE-1419-CEB5-99CA-684E5590AED3}"/>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2D84DE05-AE07-F33C-9D38-EBA788B571E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7D1D7B3-FC45-E89A-6DCB-9FF87B7DB2DF}"/>
              </a:ext>
            </a:extLst>
          </p:cNvPr>
          <p:cNvSpPr>
            <a:spLocks noGrp="1"/>
          </p:cNvSpPr>
          <p:nvPr>
            <p:ph type="sldNum" sz="quarter" idx="12"/>
          </p:nvPr>
        </p:nvSpPr>
        <p:spPr/>
        <p:txBody>
          <a:bodyPr/>
          <a:lstStyle/>
          <a:p>
            <a:fld id="{E868B3D9-1C40-4A10-B20A-BA27602F8600}" type="slidenum">
              <a:rPr lang="en-IN" smtClean="0"/>
              <a:t>‹#›</a:t>
            </a:fld>
            <a:endParaRPr lang="en-IN"/>
          </a:p>
        </p:txBody>
      </p:sp>
    </p:spTree>
    <p:extLst>
      <p:ext uri="{BB962C8B-B14F-4D97-AF65-F5344CB8AC3E}">
        <p14:creationId xmlns:p14="http://schemas.microsoft.com/office/powerpoint/2010/main" val="33615443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D04E5C-2819-CC8D-5DE8-D87681C7AB16}"/>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6C6325C6-BFC4-8039-9620-263567E3401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977994F-521D-73D4-429D-AA0A13E601D2}"/>
              </a:ext>
            </a:extLst>
          </p:cNvPr>
          <p:cNvSpPr>
            <a:spLocks noGrp="1"/>
          </p:cNvSpPr>
          <p:nvPr>
            <p:ph type="sldNum" sz="quarter" idx="12"/>
          </p:nvPr>
        </p:nvSpPr>
        <p:spPr/>
        <p:txBody>
          <a:bodyPr/>
          <a:lstStyle/>
          <a:p>
            <a:fld id="{E868B3D9-1C40-4A10-B20A-BA27602F8600}" type="slidenum">
              <a:rPr lang="en-IN" smtClean="0"/>
              <a:t>‹#›</a:t>
            </a:fld>
            <a:endParaRPr lang="en-IN"/>
          </a:p>
        </p:txBody>
      </p:sp>
    </p:spTree>
    <p:extLst>
      <p:ext uri="{BB962C8B-B14F-4D97-AF65-F5344CB8AC3E}">
        <p14:creationId xmlns:p14="http://schemas.microsoft.com/office/powerpoint/2010/main" val="283238399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32B03-2EE4-FF58-6BA1-CD9ADEA083D8}"/>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68F17F4-9651-3D49-D252-658BB2B8EAD0}"/>
              </a:ext>
            </a:extLst>
          </p:cNvPr>
          <p:cNvSpPr>
            <a:spLocks noGrp="1"/>
          </p:cNvSpPr>
          <p:nvPr>
            <p:ph idx="1"/>
          </p:nvPr>
        </p:nvSpPr>
        <p:spPr>
          <a:xfrm>
            <a:off x="3887788" y="741363"/>
            <a:ext cx="4629150" cy="36544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4DC1556-A5C1-DC23-7C18-BFF1C37BF194}"/>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B95856-78DB-82D0-F5B5-B0D927C76D20}"/>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9F539C38-450F-518A-43EB-69CFBC13A8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E8ED4DF-2638-D6DB-3E84-2DC61A77DA3E}"/>
              </a:ext>
            </a:extLst>
          </p:cNvPr>
          <p:cNvSpPr>
            <a:spLocks noGrp="1"/>
          </p:cNvSpPr>
          <p:nvPr>
            <p:ph type="sldNum" sz="quarter" idx="12"/>
          </p:nvPr>
        </p:nvSpPr>
        <p:spPr/>
        <p:txBody>
          <a:bodyPr/>
          <a:lstStyle/>
          <a:p>
            <a:fld id="{E868B3D9-1C40-4A10-B20A-BA27602F8600}" type="slidenum">
              <a:rPr lang="en-IN" smtClean="0"/>
              <a:t>‹#›</a:t>
            </a:fld>
            <a:endParaRPr lang="en-IN"/>
          </a:p>
        </p:txBody>
      </p:sp>
    </p:spTree>
    <p:extLst>
      <p:ext uri="{BB962C8B-B14F-4D97-AF65-F5344CB8AC3E}">
        <p14:creationId xmlns:p14="http://schemas.microsoft.com/office/powerpoint/2010/main" val="311818072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7C095-78AF-0B79-225E-743F7FA1A26B}"/>
              </a:ext>
            </a:extLst>
          </p:cNvPr>
          <p:cNvSpPr>
            <a:spLocks noGrp="1"/>
          </p:cNvSpPr>
          <p:nvPr>
            <p:ph type="title"/>
          </p:nvPr>
        </p:nvSpPr>
        <p:spPr>
          <a:xfrm>
            <a:off x="630238" y="342900"/>
            <a:ext cx="2949575" cy="120015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A0012B9-1C72-33F0-9CB9-5E56C282BA5E}"/>
              </a:ext>
            </a:extLst>
          </p:cNvPr>
          <p:cNvSpPr>
            <a:spLocks noGrp="1"/>
          </p:cNvSpPr>
          <p:nvPr>
            <p:ph type="pic" idx="1"/>
          </p:nvPr>
        </p:nvSpPr>
        <p:spPr>
          <a:xfrm>
            <a:off x="3887788" y="741363"/>
            <a:ext cx="4629150" cy="3654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2D88584-3289-849D-C960-AD6A8D451A26}"/>
              </a:ext>
            </a:extLst>
          </p:cNvPr>
          <p:cNvSpPr>
            <a:spLocks noGrp="1"/>
          </p:cNvSpPr>
          <p:nvPr>
            <p:ph type="body" sz="half" idx="2"/>
          </p:nvPr>
        </p:nvSpPr>
        <p:spPr>
          <a:xfrm>
            <a:off x="630238" y="1543050"/>
            <a:ext cx="2949575" cy="2859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BD142B-E69D-3ACD-19E1-12010251F19F}"/>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A96F2566-4952-F180-789A-110C2E0F8F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CCF19C-454B-DDB1-A4E6-B5BEE12307FC}"/>
              </a:ext>
            </a:extLst>
          </p:cNvPr>
          <p:cNvSpPr>
            <a:spLocks noGrp="1"/>
          </p:cNvSpPr>
          <p:nvPr>
            <p:ph type="sldNum" sz="quarter" idx="12"/>
          </p:nvPr>
        </p:nvSpPr>
        <p:spPr/>
        <p:txBody>
          <a:bodyPr/>
          <a:lstStyle/>
          <a:p>
            <a:fld id="{E868B3D9-1C40-4A10-B20A-BA27602F8600}" type="slidenum">
              <a:rPr lang="en-IN" smtClean="0"/>
              <a:t>‹#›</a:t>
            </a:fld>
            <a:endParaRPr lang="en-IN"/>
          </a:p>
        </p:txBody>
      </p:sp>
    </p:spTree>
    <p:extLst>
      <p:ext uri="{BB962C8B-B14F-4D97-AF65-F5344CB8AC3E}">
        <p14:creationId xmlns:p14="http://schemas.microsoft.com/office/powerpoint/2010/main" val="21488952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04756-301B-F57E-BF34-37921FFC5FA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1217619-F5CC-5A9C-D504-444D1E9C29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ADCD1E-3E77-5029-EA16-65A1AE285177}"/>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FE04EA9-2115-A970-73D2-F4D62EE537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165F39-9936-94C2-29D9-3E31867540C8}"/>
              </a:ext>
            </a:extLst>
          </p:cNvPr>
          <p:cNvSpPr>
            <a:spLocks noGrp="1"/>
          </p:cNvSpPr>
          <p:nvPr>
            <p:ph type="sldNum" sz="quarter" idx="12"/>
          </p:nvPr>
        </p:nvSpPr>
        <p:spPr/>
        <p:txBody>
          <a:bodyPr/>
          <a:lstStyle/>
          <a:p>
            <a:fld id="{E868B3D9-1C40-4A10-B20A-BA27602F8600}" type="slidenum">
              <a:rPr lang="en-IN" smtClean="0"/>
              <a:t>‹#›</a:t>
            </a:fld>
            <a:endParaRPr lang="en-IN"/>
          </a:p>
        </p:txBody>
      </p:sp>
    </p:spTree>
    <p:extLst>
      <p:ext uri="{BB962C8B-B14F-4D97-AF65-F5344CB8AC3E}">
        <p14:creationId xmlns:p14="http://schemas.microsoft.com/office/powerpoint/2010/main" val="224531037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6794A1-ADA3-1EF7-E430-36DEDB76C010}"/>
              </a:ext>
            </a:extLst>
          </p:cNvPr>
          <p:cNvSpPr>
            <a:spLocks noGrp="1"/>
          </p:cNvSpPr>
          <p:nvPr>
            <p:ph type="title" orient="vert"/>
          </p:nvPr>
        </p:nvSpPr>
        <p:spPr>
          <a:xfrm>
            <a:off x="6543675" y="274638"/>
            <a:ext cx="1971675" cy="4357687"/>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AE37D63-A42B-CFD5-BAEA-3F28BCAAD19A}"/>
              </a:ext>
            </a:extLst>
          </p:cNvPr>
          <p:cNvSpPr>
            <a:spLocks noGrp="1"/>
          </p:cNvSpPr>
          <p:nvPr>
            <p:ph type="body" orient="vert" idx="1"/>
          </p:nvPr>
        </p:nvSpPr>
        <p:spPr>
          <a:xfrm>
            <a:off x="628650" y="274638"/>
            <a:ext cx="5762625" cy="43576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7E5B64-E5AF-5FAF-94A7-38E875AD240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A142921-9D42-6A6E-3616-2C3A2C630D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0C8F43-7DB7-892F-1186-75035EC75B68}"/>
              </a:ext>
            </a:extLst>
          </p:cNvPr>
          <p:cNvSpPr>
            <a:spLocks noGrp="1"/>
          </p:cNvSpPr>
          <p:nvPr>
            <p:ph type="sldNum" sz="quarter" idx="12"/>
          </p:nvPr>
        </p:nvSpPr>
        <p:spPr/>
        <p:txBody>
          <a:bodyPr/>
          <a:lstStyle/>
          <a:p>
            <a:fld id="{E868B3D9-1C40-4A10-B20A-BA27602F8600}" type="slidenum">
              <a:rPr lang="en-IN" smtClean="0"/>
              <a:t>‹#›</a:t>
            </a:fld>
            <a:endParaRPr lang="en-IN"/>
          </a:p>
        </p:txBody>
      </p:sp>
    </p:spTree>
    <p:extLst>
      <p:ext uri="{BB962C8B-B14F-4D97-AF65-F5344CB8AC3E}">
        <p14:creationId xmlns:p14="http://schemas.microsoft.com/office/powerpoint/2010/main" val="22967420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4.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5.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40000"/>
            <a:lumOff val="60000"/>
            <a:alpha val="82000"/>
          </a:scheme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BA139B-F80F-A2C8-11FB-7931E6AC338A}"/>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3" name="Footer Placeholder 2">
            <a:extLst>
              <a:ext uri="{FF2B5EF4-FFF2-40B4-BE49-F238E27FC236}">
                <a16:creationId xmlns:a16="http://schemas.microsoft.com/office/drawing/2014/main" id="{2DD635B0-F5A9-2F48-8649-B8762D731D80}"/>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4" name="Slide Number Placeholder 3">
            <a:extLst>
              <a:ext uri="{FF2B5EF4-FFF2-40B4-BE49-F238E27FC236}">
                <a16:creationId xmlns:a16="http://schemas.microsoft.com/office/drawing/2014/main" id="{3DAAE1E4-6E1B-30D2-EF8F-52BE2FB395D3}"/>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2929E56C-7446-4880-8BCA-02FD5F39653E}"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98" r:id="rId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5">
            <a:lumMod val="40000"/>
            <a:lumOff val="60000"/>
            <a:alpha val="82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9B28F9-E5B3-8992-7941-D8A0A9AABD54}"/>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F5C7C8A-A49B-B7BA-9877-E331C861A062}"/>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E58131-FDA0-2807-1814-D1FC1A6AC5AA}"/>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FCC9A6F7-CB62-B3BB-4388-00A8ECF54A25}"/>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2657978-22AB-6463-C597-D64C2250406A}"/>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8908A88B-AD3F-4EF8-B2CA-169199A26968}" type="slidenum">
              <a:rPr lang="en-IN" smtClean="0"/>
              <a:t>‹#›</a:t>
            </a:fld>
            <a:endParaRPr lang="en-IN"/>
          </a:p>
        </p:txBody>
      </p:sp>
    </p:spTree>
    <p:extLst>
      <p:ext uri="{BB962C8B-B14F-4D97-AF65-F5344CB8AC3E}">
        <p14:creationId xmlns:p14="http://schemas.microsoft.com/office/powerpoint/2010/main" val="213675700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accent5">
            <a:lumMod val="40000"/>
            <a:lumOff val="60000"/>
            <a:alpha val="82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5EC280-93C5-3207-7FDA-7A8C9C82BFE4}"/>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FE80C66-18B2-2C38-D622-92CAE5EDC9BC}"/>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9FD66A-8F74-F5ED-19B7-BE1111D38D70}"/>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595F2DD0-3CB7-C39F-E8C4-254C24F91774}"/>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1B83DEE-97FC-4B0A-F919-497825335DB5}"/>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3731A903-1866-43DA-880C-71007F69A2CF}" type="slidenum">
              <a:rPr lang="en-IN" smtClean="0"/>
              <a:t>‹#›</a:t>
            </a:fld>
            <a:endParaRPr lang="en-IN"/>
          </a:p>
        </p:txBody>
      </p:sp>
    </p:spTree>
    <p:extLst>
      <p:ext uri="{BB962C8B-B14F-4D97-AF65-F5344CB8AC3E}">
        <p14:creationId xmlns:p14="http://schemas.microsoft.com/office/powerpoint/2010/main" val="3732344750"/>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accent5">
            <a:lumMod val="40000"/>
            <a:lumOff val="60000"/>
            <a:alpha val="82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8CA37A-7E5D-2054-2726-E84907262D9D}"/>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2D0349A-8E26-34D1-4574-1B6C3EA6986E}"/>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D423C3-8FF1-EC59-FDDB-2A37D9D81CF0}"/>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dirty="0"/>
          </a:p>
        </p:txBody>
      </p:sp>
      <p:sp>
        <p:nvSpPr>
          <p:cNvPr id="5" name="Footer Placeholder 4">
            <a:extLst>
              <a:ext uri="{FF2B5EF4-FFF2-40B4-BE49-F238E27FC236}">
                <a16:creationId xmlns:a16="http://schemas.microsoft.com/office/drawing/2014/main" id="{5A64C2BE-3C95-29A4-F81A-5E14CD584AF0}"/>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F6708DFA-A6CD-3415-62B3-769982294EDD}"/>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IN" dirty="0"/>
              <a:t>1</a:t>
            </a:r>
          </a:p>
        </p:txBody>
      </p:sp>
    </p:spTree>
    <p:extLst>
      <p:ext uri="{BB962C8B-B14F-4D97-AF65-F5344CB8AC3E}">
        <p14:creationId xmlns:p14="http://schemas.microsoft.com/office/powerpoint/2010/main" val="2942118135"/>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accent5">
            <a:lumMod val="40000"/>
            <a:lumOff val="60000"/>
            <a:alpha val="82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D4CB96-27B6-68ED-E05E-4051F9EC3704}"/>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FAE557-6FFA-887F-78C2-9F3263BAA9FA}"/>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0560A76-CFFE-2AA4-5C14-F192FCDDF563}"/>
              </a:ext>
            </a:extLst>
          </p:cNvPr>
          <p:cNvSpPr>
            <a:spLocks noGrp="1"/>
          </p:cNvSpPr>
          <p:nvPr>
            <p:ph type="dt" sz="half" idx="2"/>
          </p:nvPr>
        </p:nvSpPr>
        <p:spPr>
          <a:xfrm>
            <a:off x="628650" y="4767263"/>
            <a:ext cx="2057400" cy="274637"/>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51630562-E803-85F4-8599-A6D2827AC426}"/>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90A12D4-7A36-3AEF-F5E7-4D14B5425807}"/>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75000"/>
                  </a:schemeClr>
                </a:solidFill>
              </a:defRPr>
            </a:lvl1pPr>
          </a:lstStyle>
          <a:p>
            <a:fld id="{E868B3D9-1C40-4A10-B20A-BA27602F8600}" type="slidenum">
              <a:rPr lang="en-IN" smtClean="0"/>
              <a:t>‹#›</a:t>
            </a:fld>
            <a:endParaRPr lang="en-IN"/>
          </a:p>
        </p:txBody>
      </p:sp>
    </p:spTree>
    <p:extLst>
      <p:ext uri="{BB962C8B-B14F-4D97-AF65-F5344CB8AC3E}">
        <p14:creationId xmlns:p14="http://schemas.microsoft.com/office/powerpoint/2010/main" val="3242836642"/>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E88E5"/>
          </a:solidFill>
          <a:ln w="12700">
            <a:solidFill>
              <a:srgbClr val="1E88E5"/>
            </a:solidFill>
            <a:prstDash val="solid"/>
          </a:ln>
        </p:spPr>
        <p:txBody>
          <a:bodyPr/>
          <a:lstStyle/>
          <a:p>
            <a:endParaRPr lang="en-IN"/>
          </a:p>
        </p:txBody>
      </p:sp>
      <p:grpSp>
        <p:nvGrpSpPr>
          <p:cNvPr id="4" name="Group 3">
            <a:extLst>
              <a:ext uri="{FF2B5EF4-FFF2-40B4-BE49-F238E27FC236}">
                <a16:creationId xmlns:a16="http://schemas.microsoft.com/office/drawing/2014/main" id="{E4227A7D-6C9E-FBB0-A227-7F7F2A35888A}"/>
              </a:ext>
            </a:extLst>
          </p:cNvPr>
          <p:cNvGrpSpPr/>
          <p:nvPr/>
        </p:nvGrpSpPr>
        <p:grpSpPr>
          <a:xfrm>
            <a:off x="640080" y="830529"/>
            <a:ext cx="7772400" cy="3452920"/>
            <a:chOff x="640080" y="799040"/>
            <a:chExt cx="7772400" cy="3452920"/>
          </a:xfrm>
        </p:grpSpPr>
        <p:sp>
          <p:nvSpPr>
            <p:cNvPr id="5" name="Text 3"/>
            <p:cNvSpPr/>
            <p:nvPr/>
          </p:nvSpPr>
          <p:spPr>
            <a:xfrm>
              <a:off x="731520" y="799040"/>
              <a:ext cx="7680960" cy="685800"/>
            </a:xfrm>
            <a:prstGeom prst="rect">
              <a:avLst/>
            </a:prstGeom>
            <a:noFill/>
            <a:ln/>
          </p:spPr>
          <p:txBody>
            <a:bodyPr wrap="square" rtlCol="0" anchor="ctr"/>
            <a:lstStyle/>
            <a:p>
              <a:pPr marL="0" indent="0" algn="ctr">
                <a:buNone/>
              </a:pPr>
              <a:r>
                <a:rPr lang="en-US" sz="4400" b="1" dirty="0">
                  <a:solidFill>
                    <a:schemeClr val="bg2">
                      <a:lumMod val="50000"/>
                    </a:schemeClr>
                  </a:solidFill>
                  <a:latin typeface="Times New Roman" panose="02020603050405020304" pitchFamily="18" charset="0"/>
                  <a:ea typeface="Calibri" pitchFamily="34" charset="-122"/>
                  <a:cs typeface="Times New Roman" panose="02020603050405020304" pitchFamily="18" charset="0"/>
                </a:rPr>
                <a:t>Hydrological Impact of Sir Arthur Cotton Barrage</a:t>
              </a:r>
              <a:endParaRPr lang="en-US" sz="4400" dirty="0">
                <a:solidFill>
                  <a:schemeClr val="bg2">
                    <a:lumMod val="50000"/>
                  </a:schemeClr>
                </a:solidFill>
                <a:latin typeface="Times New Roman" panose="02020603050405020304" pitchFamily="18" charset="0"/>
                <a:cs typeface="Times New Roman" panose="02020603050405020304" pitchFamily="18" charset="0"/>
              </a:endParaRPr>
            </a:p>
          </p:txBody>
        </p:sp>
        <p:sp>
          <p:nvSpPr>
            <p:cNvPr id="6" name="Shape 4"/>
            <p:cNvSpPr/>
            <p:nvPr/>
          </p:nvSpPr>
          <p:spPr>
            <a:xfrm>
              <a:off x="2286000" y="2057400"/>
              <a:ext cx="4572000" cy="45720"/>
            </a:xfrm>
            <a:prstGeom prst="rect">
              <a:avLst/>
            </a:prstGeom>
            <a:solidFill>
              <a:schemeClr val="accent1"/>
            </a:solidFill>
            <a:ln w="12700">
              <a:solidFill>
                <a:schemeClr val="accent1"/>
              </a:solidFill>
              <a:prstDash val="solid"/>
            </a:ln>
          </p:spPr>
          <p:txBody>
            <a:bodyPr/>
            <a:lstStyle/>
            <a:p>
              <a:endParaRPr lang="en-IN"/>
            </a:p>
          </p:txBody>
        </p:sp>
        <p:sp>
          <p:nvSpPr>
            <p:cNvPr id="7" name="Text 5"/>
            <p:cNvSpPr/>
            <p:nvPr/>
          </p:nvSpPr>
          <p:spPr>
            <a:xfrm>
              <a:off x="914400" y="2194560"/>
              <a:ext cx="7315200" cy="457200"/>
            </a:xfrm>
            <a:prstGeom prst="rect">
              <a:avLst/>
            </a:prstGeom>
            <a:noFill/>
            <a:ln/>
          </p:spPr>
          <p:txBody>
            <a:bodyPr wrap="square" rtlCol="0" anchor="ctr"/>
            <a:lstStyle/>
            <a:p>
              <a:pPr marL="0" indent="0" algn="ctr">
                <a:buNone/>
              </a:pPr>
              <a:r>
                <a:rPr lang="en-US" sz="3600" b="1"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BTP PHASE 2</a:t>
              </a:r>
              <a:endParaRPr lang="en-US" sz="3600" b="1"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8" name="Shape 6"/>
            <p:cNvSpPr/>
            <p:nvPr/>
          </p:nvSpPr>
          <p:spPr>
            <a:xfrm>
              <a:off x="640080" y="2834640"/>
              <a:ext cx="3931920" cy="1417320"/>
            </a:xfrm>
            <a:prstGeom prst="rect">
              <a:avLst/>
            </a:prstGeom>
            <a:solidFill>
              <a:schemeClr val="bg2">
                <a:lumMod val="90000"/>
                <a:alpha val="80000"/>
              </a:schemeClr>
            </a:solidFill>
            <a:ln w="12700">
              <a:solidFill>
                <a:srgbClr val="00BCD4"/>
              </a:solidFill>
              <a:prstDash val="solid"/>
            </a:ln>
          </p:spPr>
          <p:txBody>
            <a:bodyPr/>
            <a:lstStyle/>
            <a:p>
              <a:endParaRPr lang="en-IN"/>
            </a:p>
          </p:txBody>
        </p:sp>
        <p:sp>
          <p:nvSpPr>
            <p:cNvPr id="9" name="Text 7"/>
            <p:cNvSpPr/>
            <p:nvPr/>
          </p:nvSpPr>
          <p:spPr>
            <a:xfrm>
              <a:off x="777240" y="2907792"/>
              <a:ext cx="3657600" cy="1261872"/>
            </a:xfrm>
            <a:prstGeom prst="rect">
              <a:avLst/>
            </a:prstGeom>
            <a:noFill/>
            <a:ln/>
          </p:spPr>
          <p:txBody>
            <a:bodyPr wrap="square" lIns="0" tIns="0" rIns="0" bIns="0" rtlCol="0" anchor="ctr"/>
            <a:lstStyle/>
            <a:p>
              <a:pPr marL="0" indent="0">
                <a:buNone/>
              </a:pPr>
              <a:r>
                <a:rPr lang="en-US" sz="1100" b="1" dirty="0">
                  <a:solidFill>
                    <a:schemeClr val="bg2">
                      <a:lumMod val="25000"/>
                    </a:schemeClr>
                  </a:solidFill>
                  <a:latin typeface="Times New Roman" panose="02020603050405020304" pitchFamily="18" charset="0"/>
                  <a:cs typeface="Times New Roman" panose="02020603050405020304" pitchFamily="18" charset="0"/>
                </a:rPr>
                <a:t>Presented by
</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a:p>
              <a:pPr marL="0" indent="0">
                <a:buNone/>
              </a:pPr>
              <a:r>
                <a:rPr lang="en-US" sz="1500" b="1" dirty="0">
                  <a:solidFill>
                    <a:schemeClr val="bg2">
                      <a:lumMod val="25000"/>
                    </a:schemeClr>
                  </a:solidFill>
                  <a:latin typeface="Times New Roman" panose="02020603050405020304" pitchFamily="18" charset="0"/>
                  <a:cs typeface="Times New Roman" panose="02020603050405020304" pitchFamily="18" charset="0"/>
                </a:rPr>
                <a:t>S. Lakshmi Srija
</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a:p>
              <a:pPr marL="0" indent="0">
                <a:buNone/>
              </a:pPr>
              <a:r>
                <a:rPr lang="en-US" sz="1100" dirty="0">
                  <a:solidFill>
                    <a:schemeClr val="bg2">
                      <a:lumMod val="25000"/>
                    </a:schemeClr>
                  </a:solidFill>
                  <a:latin typeface="Times New Roman" panose="02020603050405020304" pitchFamily="18" charset="0"/>
                  <a:cs typeface="Times New Roman" panose="02020603050405020304" pitchFamily="18" charset="0"/>
                </a:rPr>
                <a:t>Roll No: 2201CE63  |  B.Tech 4th Year
</a:t>
              </a:r>
            </a:p>
            <a:p>
              <a:pPr marL="0" indent="0">
                <a:buNone/>
              </a:pPr>
              <a:r>
                <a:rPr lang="en-US" sz="1100" dirty="0">
                  <a:solidFill>
                    <a:schemeClr val="bg2">
                      <a:lumMod val="25000"/>
                    </a:schemeClr>
                  </a:solidFill>
                  <a:latin typeface="Times New Roman" panose="02020603050405020304" pitchFamily="18" charset="0"/>
                  <a:cs typeface="Times New Roman" panose="02020603050405020304" pitchFamily="18" charset="0"/>
                </a:rPr>
                <a:t>Civil &amp; Environmental Engineering, IIT Patna</a:t>
              </a:r>
            </a:p>
          </p:txBody>
        </p:sp>
        <p:sp>
          <p:nvSpPr>
            <p:cNvPr id="10" name="Shape 8"/>
            <p:cNvSpPr/>
            <p:nvPr/>
          </p:nvSpPr>
          <p:spPr>
            <a:xfrm>
              <a:off x="4846320" y="2834640"/>
              <a:ext cx="3566160" cy="1417320"/>
            </a:xfrm>
            <a:prstGeom prst="rect">
              <a:avLst/>
            </a:prstGeom>
            <a:solidFill>
              <a:schemeClr val="bg2">
                <a:lumMod val="90000"/>
                <a:alpha val="80000"/>
              </a:schemeClr>
            </a:solidFill>
            <a:ln w="12700">
              <a:solidFill>
                <a:srgbClr val="00BCD4"/>
              </a:solidFill>
              <a:prstDash val="solid"/>
            </a:ln>
          </p:spPr>
          <p:txBody>
            <a:bodyPr/>
            <a:lstStyle/>
            <a:p>
              <a:endParaRPr lang="en-IN"/>
            </a:p>
          </p:txBody>
        </p:sp>
        <p:sp>
          <p:nvSpPr>
            <p:cNvPr id="11" name="Text 9"/>
            <p:cNvSpPr/>
            <p:nvPr/>
          </p:nvSpPr>
          <p:spPr>
            <a:xfrm>
              <a:off x="4983480" y="2907792"/>
              <a:ext cx="3337560" cy="1261872"/>
            </a:xfrm>
            <a:prstGeom prst="rect">
              <a:avLst/>
            </a:prstGeom>
            <a:noFill/>
            <a:ln/>
          </p:spPr>
          <p:txBody>
            <a:bodyPr wrap="square" lIns="0" tIns="0" rIns="0" bIns="0" rtlCol="0" anchor="ctr"/>
            <a:lstStyle/>
            <a:p>
              <a:pPr marL="0" indent="0">
                <a:buNone/>
              </a:pPr>
              <a:r>
                <a:rPr lang="en-US" sz="1100" b="1" dirty="0">
                  <a:solidFill>
                    <a:schemeClr val="bg2">
                      <a:lumMod val="25000"/>
                    </a:schemeClr>
                  </a:solidFill>
                  <a:latin typeface="Times New Roman" panose="02020603050405020304" pitchFamily="18" charset="0"/>
                  <a:cs typeface="Times New Roman" panose="02020603050405020304" pitchFamily="18" charset="0"/>
                </a:rPr>
                <a:t>Supervisor
</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a:p>
              <a:pPr marL="0" indent="0">
                <a:buNone/>
              </a:pPr>
              <a:r>
                <a:rPr lang="en-US" sz="1500" b="1" dirty="0">
                  <a:solidFill>
                    <a:schemeClr val="bg2">
                      <a:lumMod val="25000"/>
                    </a:schemeClr>
                  </a:solidFill>
                  <a:latin typeface="Times New Roman" panose="02020603050405020304" pitchFamily="18" charset="0"/>
                  <a:cs typeface="Times New Roman" panose="02020603050405020304" pitchFamily="18" charset="0"/>
                </a:rPr>
                <a:t>Dr. Om Prakash
</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a:p>
              <a:pPr marL="0" indent="0">
                <a:buNone/>
              </a:pPr>
              <a:r>
                <a:rPr lang="en-US" sz="1100" dirty="0">
                  <a:solidFill>
                    <a:schemeClr val="bg2">
                      <a:lumMod val="25000"/>
                    </a:schemeClr>
                  </a:solidFill>
                  <a:latin typeface="Times New Roman" panose="02020603050405020304" pitchFamily="18" charset="0"/>
                  <a:cs typeface="Times New Roman" panose="02020603050405020304" pitchFamily="18" charset="0"/>
                </a:rPr>
                <a:t>Assistant Professor
</a:t>
              </a:r>
            </a:p>
            <a:p>
              <a:pPr marL="0" indent="0">
                <a:buNone/>
              </a:pPr>
              <a:r>
                <a:rPr lang="en-US" sz="1100" dirty="0">
                  <a:solidFill>
                    <a:schemeClr val="bg2">
                      <a:lumMod val="25000"/>
                    </a:schemeClr>
                  </a:solidFill>
                  <a:latin typeface="Times New Roman" panose="02020603050405020304" pitchFamily="18" charset="0"/>
                  <a:cs typeface="Times New Roman" panose="02020603050405020304" pitchFamily="18" charset="0"/>
                </a:rPr>
                <a:t>Civil &amp; Environmental Engineering, IIT Patna</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E88E5"/>
          </a:solidFill>
          <a:ln w="12700">
            <a:solidFill>
              <a:srgbClr val="1E88E5"/>
            </a:solidFill>
            <a:prstDash val="solid"/>
          </a:ln>
        </p:spPr>
        <p:txBody>
          <a:bodyPr/>
          <a:lstStyle/>
          <a:p>
            <a:endParaRPr lang="en-IN"/>
          </a:p>
        </p:txBody>
      </p:sp>
      <p:grpSp>
        <p:nvGrpSpPr>
          <p:cNvPr id="32" name="Group 31">
            <a:extLst>
              <a:ext uri="{FF2B5EF4-FFF2-40B4-BE49-F238E27FC236}">
                <a16:creationId xmlns:a16="http://schemas.microsoft.com/office/drawing/2014/main" id="{6D593705-E8D0-61C3-89E5-892A90B6A86A}"/>
              </a:ext>
            </a:extLst>
          </p:cNvPr>
          <p:cNvGrpSpPr/>
          <p:nvPr/>
        </p:nvGrpSpPr>
        <p:grpSpPr>
          <a:xfrm>
            <a:off x="601743" y="499348"/>
            <a:ext cx="8415206" cy="4233672"/>
            <a:chOff x="457200" y="182880"/>
            <a:chExt cx="8415206" cy="4233672"/>
          </a:xfrm>
        </p:grpSpPr>
        <p:sp>
          <p:nvSpPr>
            <p:cNvPr id="3" name="Text 1"/>
            <p:cNvSpPr/>
            <p:nvPr/>
          </p:nvSpPr>
          <p:spPr>
            <a:xfrm>
              <a:off x="457200" y="182880"/>
              <a:ext cx="8229600" cy="502920"/>
            </a:xfrm>
            <a:prstGeom prst="rect">
              <a:avLst/>
            </a:prstGeom>
            <a:noFill/>
            <a:ln/>
          </p:spPr>
          <p:txBody>
            <a:bodyPr wrap="square" rtlCol="0" anchor="ctr"/>
            <a:lstStyle/>
            <a:p>
              <a:pPr marL="0" indent="0" algn="ctr">
                <a:buNone/>
              </a:pPr>
              <a:r>
                <a:rPr lang="en-US" sz="2600" b="1"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Table of Contents</a:t>
              </a:r>
              <a:endParaRPr lang="en-US" sz="26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4" name="Shape 2"/>
            <p:cNvSpPr/>
            <p:nvPr/>
          </p:nvSpPr>
          <p:spPr>
            <a:xfrm>
              <a:off x="3200400" y="685800"/>
              <a:ext cx="2743200" cy="45720"/>
            </a:xfrm>
            <a:prstGeom prst="rect">
              <a:avLst/>
            </a:prstGeom>
            <a:solidFill>
              <a:schemeClr val="bg2">
                <a:lumMod val="50000"/>
              </a:schemeClr>
            </a:solidFill>
            <a:ln w="12700">
              <a:solidFill>
                <a:schemeClr val="bg2">
                  <a:lumMod val="50000"/>
                </a:schemeClr>
              </a:solidFill>
              <a:prstDash val="solid"/>
            </a:ln>
          </p:spPr>
          <p:txBody>
            <a:bodyPr/>
            <a:lstStyle/>
            <a:p>
              <a:endParaRPr lang="en-IN"/>
            </a:p>
          </p:txBody>
        </p:sp>
        <p:sp>
          <p:nvSpPr>
            <p:cNvPr id="5" name="Shape 3"/>
            <p:cNvSpPr/>
            <p:nvPr/>
          </p:nvSpPr>
          <p:spPr>
            <a:xfrm>
              <a:off x="548640" y="914400"/>
              <a:ext cx="502920" cy="502920"/>
            </a:xfrm>
            <a:prstGeom prst="rect">
              <a:avLst/>
            </a:prstGeom>
            <a:solidFill>
              <a:srgbClr val="1E88E5"/>
            </a:solidFill>
            <a:ln w="12700">
              <a:solidFill>
                <a:srgbClr val="1E88E5"/>
              </a:solidFill>
              <a:prstDash val="solid"/>
            </a:ln>
          </p:spPr>
          <p:txBody>
            <a:bodyPr/>
            <a:lstStyle/>
            <a:p>
              <a:endParaRPr lang="en-IN"/>
            </a:p>
          </p:txBody>
        </p:sp>
        <p:sp>
          <p:nvSpPr>
            <p:cNvPr id="6" name="Text 4"/>
            <p:cNvSpPr/>
            <p:nvPr/>
          </p:nvSpPr>
          <p:spPr>
            <a:xfrm>
              <a:off x="548640" y="914400"/>
              <a:ext cx="502920" cy="502920"/>
            </a:xfrm>
            <a:prstGeom prst="rect">
              <a:avLst/>
            </a:prstGeom>
            <a:noFill/>
            <a:ln/>
          </p:spPr>
          <p:txBody>
            <a:bodyPr wrap="square" lIns="0" tIns="0" rIns="0" bIns="0" rtlCol="0" anchor="ctr"/>
            <a:lstStyle/>
            <a:p>
              <a:pPr marL="0" indent="0" algn="ctr">
                <a:buNone/>
              </a:pPr>
              <a:r>
                <a:rPr lang="en-US" sz="1400" b="1" dirty="0">
                  <a:solidFill>
                    <a:schemeClr val="bg2">
                      <a:lumMod val="25000"/>
                    </a:schemeClr>
                  </a:solidFill>
                  <a:latin typeface="Times New Roman" panose="02020603050405020304" pitchFamily="18" charset="0"/>
                  <a:cs typeface="Times New Roman" panose="02020603050405020304" pitchFamily="18" charset="0"/>
                </a:rPr>
                <a:t>01</a:t>
              </a:r>
              <a:endParaRPr lang="en-US" sz="14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7" name="Text 5"/>
            <p:cNvSpPr/>
            <p:nvPr/>
          </p:nvSpPr>
          <p:spPr>
            <a:xfrm>
              <a:off x="1143000" y="987552"/>
              <a:ext cx="3200400" cy="365760"/>
            </a:xfrm>
            <a:prstGeom prst="rect">
              <a:avLst/>
            </a:prstGeom>
            <a:noFill/>
            <a:ln/>
          </p:spPr>
          <p:txBody>
            <a:bodyPr wrap="square" lIns="0" tIns="0" rIns="0" bIns="0" rtlCol="0" anchor="ctr"/>
            <a:lstStyle/>
            <a:p>
              <a:pPr marL="0" indent="0">
                <a:buNone/>
              </a:pPr>
              <a:r>
                <a:rPr lang="en-US" sz="14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Introduction</a:t>
              </a:r>
              <a:endParaRPr lang="en-US" sz="14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8" name="Shape 6"/>
            <p:cNvSpPr/>
            <p:nvPr/>
          </p:nvSpPr>
          <p:spPr>
            <a:xfrm>
              <a:off x="548640" y="1664208"/>
              <a:ext cx="502920" cy="502920"/>
            </a:xfrm>
            <a:prstGeom prst="rect">
              <a:avLst/>
            </a:prstGeom>
            <a:solidFill>
              <a:srgbClr val="1E88E5"/>
            </a:solidFill>
            <a:ln w="12700">
              <a:solidFill>
                <a:srgbClr val="1E88E5"/>
              </a:solidFill>
              <a:prstDash val="solid"/>
            </a:ln>
          </p:spPr>
          <p:txBody>
            <a:bodyPr/>
            <a:lstStyle/>
            <a:p>
              <a:endParaRPr lang="en-IN"/>
            </a:p>
          </p:txBody>
        </p:sp>
        <p:sp>
          <p:nvSpPr>
            <p:cNvPr id="9" name="Text 7"/>
            <p:cNvSpPr/>
            <p:nvPr/>
          </p:nvSpPr>
          <p:spPr>
            <a:xfrm>
              <a:off x="548640" y="1664208"/>
              <a:ext cx="502920" cy="502920"/>
            </a:xfrm>
            <a:prstGeom prst="rect">
              <a:avLst/>
            </a:prstGeom>
            <a:noFill/>
            <a:ln/>
          </p:spPr>
          <p:txBody>
            <a:bodyPr wrap="square" lIns="0" tIns="0" rIns="0" bIns="0" rtlCol="0" anchor="ctr"/>
            <a:lstStyle/>
            <a:p>
              <a:pPr marL="0" indent="0" algn="ctr">
                <a:buNone/>
              </a:pPr>
              <a:r>
                <a:rPr lang="en-US" sz="1400" b="1" dirty="0">
                  <a:solidFill>
                    <a:schemeClr val="bg2">
                      <a:lumMod val="25000"/>
                    </a:schemeClr>
                  </a:solidFill>
                  <a:latin typeface="Times New Roman" panose="02020603050405020304" pitchFamily="18" charset="0"/>
                  <a:cs typeface="Times New Roman" panose="02020603050405020304" pitchFamily="18" charset="0"/>
                </a:rPr>
                <a:t>02</a:t>
              </a:r>
              <a:endParaRPr lang="en-US" sz="14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0" name="Text 8"/>
            <p:cNvSpPr/>
            <p:nvPr/>
          </p:nvSpPr>
          <p:spPr>
            <a:xfrm>
              <a:off x="1143000" y="1737360"/>
              <a:ext cx="3200400" cy="365760"/>
            </a:xfrm>
            <a:prstGeom prst="rect">
              <a:avLst/>
            </a:prstGeom>
            <a:noFill/>
            <a:ln/>
          </p:spPr>
          <p:txBody>
            <a:bodyPr wrap="square" lIns="0" tIns="0" rIns="0" bIns="0" rtlCol="0" anchor="ctr"/>
            <a:lstStyle/>
            <a:p>
              <a:pPr marL="0" indent="0">
                <a:buNone/>
              </a:pPr>
              <a:r>
                <a:rPr lang="en-US" sz="14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Literature Review</a:t>
              </a:r>
              <a:endParaRPr lang="en-US" sz="14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1" name="Shape 9"/>
            <p:cNvSpPr/>
            <p:nvPr/>
          </p:nvSpPr>
          <p:spPr>
            <a:xfrm>
              <a:off x="548640" y="2414016"/>
              <a:ext cx="502920" cy="502920"/>
            </a:xfrm>
            <a:prstGeom prst="rect">
              <a:avLst/>
            </a:prstGeom>
            <a:solidFill>
              <a:srgbClr val="1E88E5"/>
            </a:solidFill>
            <a:ln w="12700">
              <a:solidFill>
                <a:srgbClr val="1E88E5"/>
              </a:solidFill>
              <a:prstDash val="solid"/>
            </a:ln>
          </p:spPr>
          <p:txBody>
            <a:bodyPr/>
            <a:lstStyle/>
            <a:p>
              <a:endParaRPr lang="en-IN"/>
            </a:p>
          </p:txBody>
        </p:sp>
        <p:sp>
          <p:nvSpPr>
            <p:cNvPr id="12" name="Text 10"/>
            <p:cNvSpPr/>
            <p:nvPr/>
          </p:nvSpPr>
          <p:spPr>
            <a:xfrm>
              <a:off x="548640" y="2414016"/>
              <a:ext cx="502920" cy="502920"/>
            </a:xfrm>
            <a:prstGeom prst="rect">
              <a:avLst/>
            </a:prstGeom>
            <a:noFill/>
            <a:ln/>
          </p:spPr>
          <p:txBody>
            <a:bodyPr wrap="square" lIns="0" tIns="0" rIns="0" bIns="0" rtlCol="0" anchor="ctr"/>
            <a:lstStyle/>
            <a:p>
              <a:pPr marL="0" indent="0" algn="ctr">
                <a:buNone/>
              </a:pPr>
              <a:r>
                <a:rPr lang="en-US" sz="1400" b="1" dirty="0">
                  <a:solidFill>
                    <a:schemeClr val="bg2">
                      <a:lumMod val="25000"/>
                    </a:schemeClr>
                  </a:solidFill>
                  <a:latin typeface="Times New Roman" panose="02020603050405020304" pitchFamily="18" charset="0"/>
                  <a:cs typeface="Times New Roman" panose="02020603050405020304" pitchFamily="18" charset="0"/>
                </a:rPr>
                <a:t>03</a:t>
              </a:r>
              <a:endParaRPr lang="en-US" sz="14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3" name="Text 11"/>
            <p:cNvSpPr/>
            <p:nvPr/>
          </p:nvSpPr>
          <p:spPr>
            <a:xfrm>
              <a:off x="1143000" y="2487168"/>
              <a:ext cx="3200400" cy="365760"/>
            </a:xfrm>
            <a:prstGeom prst="rect">
              <a:avLst/>
            </a:prstGeom>
            <a:noFill/>
            <a:ln/>
          </p:spPr>
          <p:txBody>
            <a:bodyPr wrap="square" lIns="0" tIns="0" rIns="0" bIns="0" rtlCol="0" anchor="ctr"/>
            <a:lstStyle/>
            <a:p>
              <a:pPr marL="0" indent="0">
                <a:buNone/>
              </a:pPr>
              <a:r>
                <a:rPr lang="en-US" sz="14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Research Gap</a:t>
              </a:r>
              <a:endParaRPr lang="en-US" sz="14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4" name="Shape 12"/>
            <p:cNvSpPr/>
            <p:nvPr/>
          </p:nvSpPr>
          <p:spPr>
            <a:xfrm>
              <a:off x="548640" y="3163824"/>
              <a:ext cx="502920" cy="502920"/>
            </a:xfrm>
            <a:prstGeom prst="rect">
              <a:avLst/>
            </a:prstGeom>
            <a:solidFill>
              <a:srgbClr val="1E88E5"/>
            </a:solidFill>
            <a:ln w="12700">
              <a:solidFill>
                <a:srgbClr val="1E88E5"/>
              </a:solidFill>
              <a:prstDash val="solid"/>
            </a:ln>
          </p:spPr>
          <p:txBody>
            <a:bodyPr/>
            <a:lstStyle/>
            <a:p>
              <a:endParaRPr lang="en-IN"/>
            </a:p>
          </p:txBody>
        </p:sp>
        <p:sp>
          <p:nvSpPr>
            <p:cNvPr id="15" name="Text 13"/>
            <p:cNvSpPr/>
            <p:nvPr/>
          </p:nvSpPr>
          <p:spPr>
            <a:xfrm>
              <a:off x="548640" y="3163824"/>
              <a:ext cx="502920" cy="502920"/>
            </a:xfrm>
            <a:prstGeom prst="rect">
              <a:avLst/>
            </a:prstGeom>
            <a:noFill/>
            <a:ln/>
          </p:spPr>
          <p:txBody>
            <a:bodyPr wrap="square" lIns="0" tIns="0" rIns="0" bIns="0" rtlCol="0" anchor="ctr"/>
            <a:lstStyle/>
            <a:p>
              <a:pPr marL="0" indent="0" algn="ctr">
                <a:buNone/>
              </a:pPr>
              <a:r>
                <a:rPr lang="en-US" sz="1400" b="1" dirty="0">
                  <a:solidFill>
                    <a:schemeClr val="bg2">
                      <a:lumMod val="25000"/>
                    </a:schemeClr>
                  </a:solidFill>
                  <a:latin typeface="Times New Roman" panose="02020603050405020304" pitchFamily="18" charset="0"/>
                  <a:cs typeface="Times New Roman" panose="02020603050405020304" pitchFamily="18" charset="0"/>
                </a:rPr>
                <a:t>04</a:t>
              </a:r>
              <a:endParaRPr lang="en-US" sz="14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43000" y="3236976"/>
              <a:ext cx="3200400" cy="365760"/>
            </a:xfrm>
            <a:prstGeom prst="rect">
              <a:avLst/>
            </a:prstGeom>
            <a:noFill/>
            <a:ln/>
          </p:spPr>
          <p:txBody>
            <a:bodyPr wrap="square" lIns="0" tIns="0" rIns="0" bIns="0" rtlCol="0" anchor="ctr"/>
            <a:lstStyle/>
            <a:p>
              <a:pPr marL="0" indent="0">
                <a:buNone/>
              </a:pPr>
              <a:r>
                <a:rPr lang="en-US" sz="14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Study Area</a:t>
              </a:r>
              <a:endParaRPr lang="en-US" sz="14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7" name="Shape 15"/>
            <p:cNvSpPr/>
            <p:nvPr/>
          </p:nvSpPr>
          <p:spPr>
            <a:xfrm>
              <a:off x="548640" y="3913632"/>
              <a:ext cx="502920" cy="502920"/>
            </a:xfrm>
            <a:prstGeom prst="rect">
              <a:avLst/>
            </a:prstGeom>
            <a:solidFill>
              <a:srgbClr val="1E88E5"/>
            </a:solidFill>
            <a:ln w="12700">
              <a:solidFill>
                <a:srgbClr val="1E88E5"/>
              </a:solidFill>
              <a:prstDash val="solid"/>
            </a:ln>
          </p:spPr>
          <p:txBody>
            <a:bodyPr/>
            <a:lstStyle/>
            <a:p>
              <a:endParaRPr lang="en-IN"/>
            </a:p>
          </p:txBody>
        </p:sp>
        <p:sp>
          <p:nvSpPr>
            <p:cNvPr id="18" name="Text 16"/>
            <p:cNvSpPr/>
            <p:nvPr/>
          </p:nvSpPr>
          <p:spPr>
            <a:xfrm>
              <a:off x="548640" y="3913632"/>
              <a:ext cx="502920" cy="502920"/>
            </a:xfrm>
            <a:prstGeom prst="rect">
              <a:avLst/>
            </a:prstGeom>
            <a:noFill/>
            <a:ln/>
          </p:spPr>
          <p:txBody>
            <a:bodyPr wrap="square" lIns="0" tIns="0" rIns="0" bIns="0" rtlCol="0" anchor="ctr"/>
            <a:lstStyle/>
            <a:p>
              <a:pPr marL="0" indent="0" algn="ctr">
                <a:buNone/>
              </a:pPr>
              <a:r>
                <a:rPr lang="en-US" sz="1400" b="1" dirty="0">
                  <a:solidFill>
                    <a:schemeClr val="bg2">
                      <a:lumMod val="25000"/>
                    </a:schemeClr>
                  </a:solidFill>
                  <a:latin typeface="Times New Roman" panose="02020603050405020304" pitchFamily="18" charset="0"/>
                  <a:cs typeface="Times New Roman" panose="02020603050405020304" pitchFamily="18" charset="0"/>
                </a:rPr>
                <a:t>05</a:t>
              </a:r>
              <a:endParaRPr lang="en-US" sz="14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9" name="Text 17"/>
            <p:cNvSpPr/>
            <p:nvPr/>
          </p:nvSpPr>
          <p:spPr>
            <a:xfrm>
              <a:off x="1143000" y="3986784"/>
              <a:ext cx="3200400" cy="365760"/>
            </a:xfrm>
            <a:prstGeom prst="rect">
              <a:avLst/>
            </a:prstGeom>
            <a:noFill/>
            <a:ln/>
          </p:spPr>
          <p:txBody>
            <a:bodyPr wrap="square" lIns="0" tIns="0" rIns="0" bIns="0" rtlCol="0" anchor="ctr"/>
            <a:lstStyle/>
            <a:p>
              <a:pPr marL="0" indent="0">
                <a:buNone/>
              </a:pPr>
              <a:r>
                <a:rPr lang="en-US" sz="14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Data Collection</a:t>
              </a:r>
              <a:endParaRPr lang="en-US" sz="14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20" name="Shape 18"/>
            <p:cNvSpPr/>
            <p:nvPr/>
          </p:nvSpPr>
          <p:spPr>
            <a:xfrm>
              <a:off x="5029200" y="914400"/>
              <a:ext cx="502920" cy="502920"/>
            </a:xfrm>
            <a:prstGeom prst="rect">
              <a:avLst/>
            </a:prstGeom>
            <a:solidFill>
              <a:srgbClr val="00BCD4"/>
            </a:solidFill>
            <a:ln w="12700">
              <a:solidFill>
                <a:srgbClr val="00BCD4"/>
              </a:solidFill>
              <a:prstDash val="solid"/>
            </a:ln>
          </p:spPr>
          <p:txBody>
            <a:bodyPr/>
            <a:lstStyle/>
            <a:p>
              <a:endParaRPr lang="en-IN"/>
            </a:p>
          </p:txBody>
        </p:sp>
        <p:sp>
          <p:nvSpPr>
            <p:cNvPr id="21" name="Text 19"/>
            <p:cNvSpPr/>
            <p:nvPr/>
          </p:nvSpPr>
          <p:spPr>
            <a:xfrm>
              <a:off x="5029200" y="914400"/>
              <a:ext cx="502920" cy="502920"/>
            </a:xfrm>
            <a:prstGeom prst="rect">
              <a:avLst/>
            </a:prstGeom>
            <a:noFill/>
            <a:ln/>
          </p:spPr>
          <p:txBody>
            <a:bodyPr wrap="square" lIns="0" tIns="0" rIns="0" bIns="0" rtlCol="0" anchor="ctr"/>
            <a:lstStyle/>
            <a:p>
              <a:pPr marL="0" indent="0" algn="ctr">
                <a:buNone/>
              </a:pPr>
              <a:r>
                <a:rPr lang="en-US" sz="1400" b="1" dirty="0">
                  <a:solidFill>
                    <a:schemeClr val="bg2">
                      <a:lumMod val="25000"/>
                    </a:schemeClr>
                  </a:solidFill>
                  <a:latin typeface="Times New Roman" panose="02020603050405020304" pitchFamily="18" charset="0"/>
                  <a:cs typeface="Times New Roman" panose="02020603050405020304" pitchFamily="18" charset="0"/>
                </a:rPr>
                <a:t>06</a:t>
              </a:r>
              <a:endParaRPr lang="en-US" sz="14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22" name="Text 20"/>
            <p:cNvSpPr/>
            <p:nvPr/>
          </p:nvSpPr>
          <p:spPr>
            <a:xfrm>
              <a:off x="5672006" y="1726947"/>
              <a:ext cx="3200400" cy="365760"/>
            </a:xfrm>
            <a:prstGeom prst="rect">
              <a:avLst/>
            </a:prstGeom>
            <a:noFill/>
            <a:ln/>
          </p:spPr>
          <p:txBody>
            <a:bodyPr wrap="square" lIns="0" tIns="0" rIns="0" bIns="0" rtlCol="0" anchor="ctr"/>
            <a:lstStyle/>
            <a:p>
              <a:pPr marL="0" indent="0">
                <a:buNone/>
              </a:pPr>
              <a:r>
                <a:rPr lang="en-US" sz="14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Results &amp; Discussion</a:t>
              </a:r>
              <a:endParaRPr lang="en-US" sz="14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23" name="Shape 21"/>
            <p:cNvSpPr/>
            <p:nvPr/>
          </p:nvSpPr>
          <p:spPr>
            <a:xfrm>
              <a:off x="5029200" y="1664208"/>
              <a:ext cx="502920" cy="502920"/>
            </a:xfrm>
            <a:prstGeom prst="rect">
              <a:avLst/>
            </a:prstGeom>
            <a:solidFill>
              <a:srgbClr val="00BCD4"/>
            </a:solidFill>
            <a:ln w="12700">
              <a:solidFill>
                <a:srgbClr val="00BCD4"/>
              </a:solidFill>
              <a:prstDash val="solid"/>
            </a:ln>
          </p:spPr>
          <p:txBody>
            <a:bodyPr/>
            <a:lstStyle/>
            <a:p>
              <a:endParaRPr lang="en-IN"/>
            </a:p>
          </p:txBody>
        </p:sp>
        <p:sp>
          <p:nvSpPr>
            <p:cNvPr id="24" name="Text 22"/>
            <p:cNvSpPr/>
            <p:nvPr/>
          </p:nvSpPr>
          <p:spPr>
            <a:xfrm>
              <a:off x="5029200" y="1664208"/>
              <a:ext cx="502920" cy="502920"/>
            </a:xfrm>
            <a:prstGeom prst="rect">
              <a:avLst/>
            </a:prstGeom>
            <a:noFill/>
            <a:ln/>
          </p:spPr>
          <p:txBody>
            <a:bodyPr wrap="square" lIns="0" tIns="0" rIns="0" bIns="0" rtlCol="0" anchor="ctr"/>
            <a:lstStyle/>
            <a:p>
              <a:pPr marL="0" indent="0" algn="ctr">
                <a:buNone/>
              </a:pPr>
              <a:r>
                <a:rPr lang="en-US" sz="1400" b="1" dirty="0">
                  <a:solidFill>
                    <a:schemeClr val="bg2">
                      <a:lumMod val="25000"/>
                    </a:schemeClr>
                  </a:solidFill>
                  <a:latin typeface="Times New Roman" panose="02020603050405020304" pitchFamily="18" charset="0"/>
                  <a:cs typeface="Times New Roman" panose="02020603050405020304" pitchFamily="18" charset="0"/>
                </a:rPr>
                <a:t>07</a:t>
              </a:r>
              <a:endParaRPr lang="en-US" sz="14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25" name="Text 23"/>
            <p:cNvSpPr/>
            <p:nvPr/>
          </p:nvSpPr>
          <p:spPr>
            <a:xfrm>
              <a:off x="5672006" y="2471546"/>
              <a:ext cx="3200400" cy="365760"/>
            </a:xfrm>
            <a:prstGeom prst="rect">
              <a:avLst/>
            </a:prstGeom>
            <a:noFill/>
            <a:ln/>
          </p:spPr>
          <p:txBody>
            <a:bodyPr wrap="square" lIns="0" tIns="0" rIns="0" bIns="0" rtlCol="0" anchor="ctr"/>
            <a:lstStyle/>
            <a:p>
              <a:pPr marL="0" indent="0">
                <a:buNone/>
              </a:pPr>
              <a:r>
                <a:rPr lang="en-US" sz="14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Conclusions</a:t>
              </a:r>
              <a:endParaRPr lang="en-US" sz="14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26" name="Shape 24"/>
            <p:cNvSpPr/>
            <p:nvPr/>
          </p:nvSpPr>
          <p:spPr>
            <a:xfrm>
              <a:off x="5029200" y="2414016"/>
              <a:ext cx="502920" cy="502920"/>
            </a:xfrm>
            <a:prstGeom prst="rect">
              <a:avLst/>
            </a:prstGeom>
            <a:solidFill>
              <a:srgbClr val="00BCD4"/>
            </a:solidFill>
            <a:ln w="12700">
              <a:solidFill>
                <a:srgbClr val="00BCD4"/>
              </a:solidFill>
              <a:prstDash val="solid"/>
            </a:ln>
          </p:spPr>
          <p:txBody>
            <a:bodyPr/>
            <a:lstStyle/>
            <a:p>
              <a:endParaRPr lang="en-IN"/>
            </a:p>
          </p:txBody>
        </p:sp>
        <p:sp>
          <p:nvSpPr>
            <p:cNvPr id="27" name="Text 25"/>
            <p:cNvSpPr/>
            <p:nvPr/>
          </p:nvSpPr>
          <p:spPr>
            <a:xfrm>
              <a:off x="5029200" y="2414016"/>
              <a:ext cx="502920" cy="502920"/>
            </a:xfrm>
            <a:prstGeom prst="rect">
              <a:avLst/>
            </a:prstGeom>
            <a:noFill/>
            <a:ln/>
          </p:spPr>
          <p:txBody>
            <a:bodyPr wrap="square" lIns="0" tIns="0" rIns="0" bIns="0" rtlCol="0" anchor="ctr"/>
            <a:lstStyle/>
            <a:p>
              <a:pPr marL="0" indent="0" algn="ctr">
                <a:buNone/>
              </a:pPr>
              <a:r>
                <a:rPr lang="en-US" sz="1400" b="1" dirty="0">
                  <a:solidFill>
                    <a:schemeClr val="bg2">
                      <a:lumMod val="25000"/>
                    </a:schemeClr>
                  </a:solidFill>
                  <a:latin typeface="Times New Roman" panose="02020603050405020304" pitchFamily="18" charset="0"/>
                  <a:cs typeface="Times New Roman" panose="02020603050405020304" pitchFamily="18" charset="0"/>
                </a:rPr>
                <a:t>08</a:t>
              </a:r>
              <a:endParaRPr lang="en-US" sz="14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28" name="Text 26"/>
            <p:cNvSpPr/>
            <p:nvPr/>
          </p:nvSpPr>
          <p:spPr>
            <a:xfrm>
              <a:off x="5623560" y="3200037"/>
              <a:ext cx="3200400" cy="365760"/>
            </a:xfrm>
            <a:prstGeom prst="rect">
              <a:avLst/>
            </a:prstGeom>
            <a:noFill/>
            <a:ln/>
          </p:spPr>
          <p:txBody>
            <a:bodyPr wrap="square" lIns="0" tIns="0" rIns="0" bIns="0" rtlCol="0" anchor="ctr"/>
            <a:lstStyle/>
            <a:p>
              <a:pPr marL="0" indent="0">
                <a:buNone/>
              </a:pPr>
              <a:r>
                <a:rPr lang="en-US" sz="14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Limitations &amp; Future Scope</a:t>
              </a:r>
              <a:endParaRPr lang="en-US" sz="14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29" name="Shape 27"/>
            <p:cNvSpPr/>
            <p:nvPr/>
          </p:nvSpPr>
          <p:spPr>
            <a:xfrm>
              <a:off x="5029200" y="3163824"/>
              <a:ext cx="502920" cy="502920"/>
            </a:xfrm>
            <a:prstGeom prst="rect">
              <a:avLst/>
            </a:prstGeom>
            <a:solidFill>
              <a:srgbClr val="00BCD4"/>
            </a:solidFill>
            <a:ln w="12700">
              <a:solidFill>
                <a:srgbClr val="00BCD4"/>
              </a:solidFill>
              <a:prstDash val="solid"/>
            </a:ln>
          </p:spPr>
          <p:txBody>
            <a:bodyPr/>
            <a:lstStyle/>
            <a:p>
              <a:endParaRPr lang="en-IN"/>
            </a:p>
          </p:txBody>
        </p:sp>
        <p:sp>
          <p:nvSpPr>
            <p:cNvPr id="30" name="Text 28"/>
            <p:cNvSpPr/>
            <p:nvPr/>
          </p:nvSpPr>
          <p:spPr>
            <a:xfrm>
              <a:off x="5029200" y="3163824"/>
              <a:ext cx="502920" cy="502920"/>
            </a:xfrm>
            <a:prstGeom prst="rect">
              <a:avLst/>
            </a:prstGeom>
            <a:noFill/>
            <a:ln/>
          </p:spPr>
          <p:txBody>
            <a:bodyPr wrap="square" lIns="0" tIns="0" rIns="0" bIns="0" rtlCol="0" anchor="ctr"/>
            <a:lstStyle/>
            <a:p>
              <a:pPr marL="0" indent="0" algn="ctr">
                <a:buNone/>
              </a:pPr>
              <a:r>
                <a:rPr lang="en-US" sz="1400" b="1" dirty="0">
                  <a:solidFill>
                    <a:schemeClr val="bg2">
                      <a:lumMod val="25000"/>
                    </a:schemeClr>
                  </a:solidFill>
                  <a:latin typeface="Times New Roman" panose="02020603050405020304" pitchFamily="18" charset="0"/>
                  <a:cs typeface="Times New Roman" panose="02020603050405020304" pitchFamily="18" charset="0"/>
                </a:rPr>
                <a:t>09</a:t>
              </a:r>
              <a:endParaRPr lang="en-US" sz="14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31" name="Text 29"/>
            <p:cNvSpPr/>
            <p:nvPr/>
          </p:nvSpPr>
          <p:spPr>
            <a:xfrm>
              <a:off x="5672006" y="3986784"/>
              <a:ext cx="3200400" cy="365760"/>
            </a:xfrm>
            <a:prstGeom prst="rect">
              <a:avLst/>
            </a:prstGeom>
            <a:noFill/>
            <a:ln/>
          </p:spPr>
          <p:txBody>
            <a:bodyPr wrap="square" lIns="0" tIns="0" rIns="0" bIns="0" rtlCol="0" anchor="ctr"/>
            <a:lstStyle/>
            <a:p>
              <a:pPr marL="0" indent="0">
                <a:buNone/>
              </a:pPr>
              <a:r>
                <a:rPr lang="en-US" sz="14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References</a:t>
              </a:r>
              <a:endParaRPr lang="en-US" sz="1400" dirty="0">
                <a:solidFill>
                  <a:schemeClr val="bg2">
                    <a:lumMod val="25000"/>
                  </a:schemeClr>
                </a:solidFill>
                <a:latin typeface="Times New Roman" panose="02020603050405020304" pitchFamily="18" charset="0"/>
                <a:cs typeface="Times New Roman" panose="02020603050405020304" pitchFamily="18" charset="0"/>
              </a:endParaRPr>
            </a:p>
          </p:txBody>
        </p:sp>
      </p:grpSp>
      <p:sp>
        <p:nvSpPr>
          <p:cNvPr id="33" name="Shape 27">
            <a:extLst>
              <a:ext uri="{FF2B5EF4-FFF2-40B4-BE49-F238E27FC236}">
                <a16:creationId xmlns:a16="http://schemas.microsoft.com/office/drawing/2014/main" id="{72CACF09-CB50-797F-0F40-33E9A85483B5}"/>
              </a:ext>
            </a:extLst>
          </p:cNvPr>
          <p:cNvSpPr/>
          <p:nvPr/>
        </p:nvSpPr>
        <p:spPr>
          <a:xfrm>
            <a:off x="5173743" y="4230100"/>
            <a:ext cx="502920" cy="502920"/>
          </a:xfrm>
          <a:prstGeom prst="rect">
            <a:avLst/>
          </a:prstGeom>
          <a:solidFill>
            <a:srgbClr val="00BCD4"/>
          </a:solidFill>
          <a:ln w="12700">
            <a:solidFill>
              <a:srgbClr val="00BCD4"/>
            </a:solidFill>
            <a:prstDash val="solid"/>
          </a:ln>
        </p:spPr>
        <p:txBody>
          <a:bodyPr/>
          <a:lstStyle/>
          <a:p>
            <a:endParaRPr lang="en-IN"/>
          </a:p>
        </p:txBody>
      </p:sp>
      <p:sp>
        <p:nvSpPr>
          <p:cNvPr id="36" name="TextBox 35">
            <a:extLst>
              <a:ext uri="{FF2B5EF4-FFF2-40B4-BE49-F238E27FC236}">
                <a16:creationId xmlns:a16="http://schemas.microsoft.com/office/drawing/2014/main" id="{801C3590-F8C1-55B3-5164-1A1955EB0EEC}"/>
              </a:ext>
            </a:extLst>
          </p:cNvPr>
          <p:cNvSpPr txBox="1"/>
          <p:nvPr/>
        </p:nvSpPr>
        <p:spPr>
          <a:xfrm>
            <a:off x="5238119" y="4297196"/>
            <a:ext cx="438544" cy="307777"/>
          </a:xfrm>
          <a:prstGeom prst="rect">
            <a:avLst/>
          </a:prstGeom>
          <a:noFill/>
        </p:spPr>
        <p:txBody>
          <a:bodyPr wrap="square" rtlCol="0">
            <a:spAutoFit/>
          </a:bodyPr>
          <a:lstStyle/>
          <a:p>
            <a:r>
              <a:rPr lang="en-US" sz="1400" b="1" dirty="0">
                <a:solidFill>
                  <a:schemeClr val="bg2">
                    <a:lumMod val="25000"/>
                  </a:schemeClr>
                </a:solidFill>
                <a:latin typeface="Times New Roman" panose="02020603050405020304" pitchFamily="18" charset="0"/>
                <a:cs typeface="Times New Roman" panose="02020603050405020304" pitchFamily="18" charset="0"/>
              </a:rPr>
              <a:t>10</a:t>
            </a:r>
            <a:endParaRPr lang="en-IN" sz="1400" b="1"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37" name="TextBox 36">
            <a:extLst>
              <a:ext uri="{FF2B5EF4-FFF2-40B4-BE49-F238E27FC236}">
                <a16:creationId xmlns:a16="http://schemas.microsoft.com/office/drawing/2014/main" id="{5A3796AF-CF4B-EB27-1963-6AD4D56B487B}"/>
              </a:ext>
            </a:extLst>
          </p:cNvPr>
          <p:cNvSpPr txBox="1"/>
          <p:nvPr/>
        </p:nvSpPr>
        <p:spPr>
          <a:xfrm>
            <a:off x="5676663" y="1362003"/>
            <a:ext cx="2077080" cy="307777"/>
          </a:xfrm>
          <a:prstGeom prst="rect">
            <a:avLst/>
          </a:prstGeom>
          <a:noFill/>
        </p:spPr>
        <p:txBody>
          <a:bodyPr wrap="square" rtlCol="0">
            <a:spAutoFit/>
          </a:bodyPr>
          <a:lstStyle/>
          <a:p>
            <a:r>
              <a:rPr lang="en-US" sz="1400" dirty="0">
                <a:solidFill>
                  <a:schemeClr val="bg2">
                    <a:lumMod val="25000"/>
                  </a:schemeClr>
                </a:solidFill>
                <a:latin typeface="Times New Roman" panose="02020603050405020304" pitchFamily="18" charset="0"/>
                <a:cs typeface="Times New Roman" panose="02020603050405020304" pitchFamily="18" charset="0"/>
              </a:rPr>
              <a:t>Methodology</a:t>
            </a:r>
            <a:endParaRPr lang="en-IN" sz="14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38" name="TextBox 37">
            <a:extLst>
              <a:ext uri="{FF2B5EF4-FFF2-40B4-BE49-F238E27FC236}">
                <a16:creationId xmlns:a16="http://schemas.microsoft.com/office/drawing/2014/main" id="{01F3E2B2-BB25-3A24-34F3-64D1047D527F}"/>
              </a:ext>
            </a:extLst>
          </p:cNvPr>
          <p:cNvSpPr txBox="1"/>
          <p:nvPr/>
        </p:nvSpPr>
        <p:spPr>
          <a:xfrm>
            <a:off x="8684005" y="4780950"/>
            <a:ext cx="286734"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1</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0C0"/>
          </a:solidFill>
          <a:ln w="12700">
            <a:solidFill>
              <a:srgbClr val="1E88E5"/>
            </a:solidFill>
            <a:prstDash val="solid"/>
          </a:ln>
        </p:spPr>
        <p:txBody>
          <a:bodyPr/>
          <a:lstStyle/>
          <a:p>
            <a:endParaRPr lang="en-IN"/>
          </a:p>
        </p:txBody>
      </p:sp>
      <p:sp>
        <p:nvSpPr>
          <p:cNvPr id="3" name="Shape 1"/>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4" name="Text 2"/>
          <p:cNvSpPr/>
          <p:nvPr/>
        </p:nvSpPr>
        <p:spPr>
          <a:xfrm>
            <a:off x="274320" y="0"/>
            <a:ext cx="8595360" cy="658368"/>
          </a:xfrm>
          <a:prstGeom prst="rect">
            <a:avLst/>
          </a:prstGeom>
          <a:noFill/>
          <a:ln/>
        </p:spPr>
        <p:txBody>
          <a:bodyPr wrap="square" lIns="0" tIns="0" rIns="0" bIns="0"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01  |  Introduction</a:t>
            </a:r>
            <a:endParaRPr lang="en-US" sz="2200" dirty="0">
              <a:latin typeface="Times New Roman" panose="02020603050405020304" pitchFamily="18" charset="0"/>
              <a:cs typeface="Times New Roman" panose="02020603050405020304" pitchFamily="18" charset="0"/>
            </a:endParaRPr>
          </a:p>
        </p:txBody>
      </p:sp>
      <p:sp>
        <p:nvSpPr>
          <p:cNvPr id="5" name="Text 3"/>
          <p:cNvSpPr/>
          <p:nvPr/>
        </p:nvSpPr>
        <p:spPr>
          <a:xfrm>
            <a:off x="365760" y="822960"/>
            <a:ext cx="8412480" cy="320040"/>
          </a:xfrm>
          <a:prstGeom prst="rect">
            <a:avLst/>
          </a:prstGeom>
          <a:noFill/>
          <a:ln/>
        </p:spPr>
        <p:txBody>
          <a:bodyPr wrap="square" rtlCol="0" anchor="ctr"/>
          <a:lstStyle/>
          <a:p>
            <a:pPr marL="0" indent="0">
              <a:buNone/>
            </a:pPr>
            <a:r>
              <a:rPr lang="en-US" sz="1400" b="1" dirty="0">
                <a:solidFill>
                  <a:srgbClr val="1E88E5"/>
                </a:solidFill>
                <a:latin typeface="Times New Roman" panose="02020603050405020304" pitchFamily="18" charset="0"/>
                <a:ea typeface="Calibri" pitchFamily="34" charset="-122"/>
                <a:cs typeface="Times New Roman" panose="02020603050405020304" pitchFamily="18" charset="0"/>
              </a:rPr>
              <a:t>Background  </a:t>
            </a:r>
            <a:endParaRPr lang="en-US" sz="1400" dirty="0">
              <a:latin typeface="Times New Roman" panose="02020603050405020304" pitchFamily="18" charset="0"/>
              <a:cs typeface="Times New Roman" panose="02020603050405020304" pitchFamily="18" charset="0"/>
            </a:endParaRPr>
          </a:p>
        </p:txBody>
      </p:sp>
      <p:sp>
        <p:nvSpPr>
          <p:cNvPr id="6" name="Shape 4"/>
          <p:cNvSpPr/>
          <p:nvPr/>
        </p:nvSpPr>
        <p:spPr>
          <a:xfrm>
            <a:off x="365760" y="1143000"/>
            <a:ext cx="8412480" cy="36576"/>
          </a:xfrm>
          <a:prstGeom prst="rect">
            <a:avLst/>
          </a:prstGeom>
          <a:solidFill>
            <a:srgbClr val="00BCD4"/>
          </a:solidFill>
          <a:ln w="12700">
            <a:solidFill>
              <a:srgbClr val="00BCD4"/>
            </a:solidFill>
            <a:prstDash val="solid"/>
          </a:ln>
        </p:spPr>
        <p:txBody>
          <a:bodyPr/>
          <a:lstStyle/>
          <a:p>
            <a:endParaRPr lang="en-IN"/>
          </a:p>
        </p:txBody>
      </p:sp>
      <p:sp>
        <p:nvSpPr>
          <p:cNvPr id="7" name="Text 5"/>
          <p:cNvSpPr/>
          <p:nvPr/>
        </p:nvSpPr>
        <p:spPr>
          <a:xfrm>
            <a:off x="384048" y="1294996"/>
            <a:ext cx="8412480" cy="685800"/>
          </a:xfrm>
          <a:prstGeom prst="rect">
            <a:avLst/>
          </a:prstGeom>
          <a:noFill/>
          <a:ln/>
        </p:spPr>
        <p:txBody>
          <a:bodyPr wrap="square" rtlCol="0" anchor="ctr"/>
          <a:lstStyle/>
          <a:p>
            <a:pPr marL="0" indent="0" algn="just">
              <a:buNone/>
            </a:pPr>
            <a:r>
              <a:rPr lang="en-US" sz="1200" dirty="0">
                <a:solidFill>
                  <a:srgbClr val="1A2B3C"/>
                </a:solidFill>
                <a:latin typeface="Times New Roman" panose="02020603050405020304" pitchFamily="18" charset="0"/>
                <a:ea typeface="Calibri" pitchFamily="34" charset="-122"/>
                <a:cs typeface="Times New Roman" panose="02020603050405020304" pitchFamily="18" charset="0"/>
              </a:rPr>
              <a:t>Water resources systems across the world face significant stress due to the combined influence of climate variability and human-induced changes. Rainfall-runoff processes are highly complex and non-linear, with behavior determined by rainfall characteristics, soil moisture, vegetation cover, and antecedent catchment conditions. The Godavari River Basin (≈3.13 lakh km²), the second largest in India, sustains millions through agriculture, domestic supply, hydropower, and irrigation.</a:t>
            </a:r>
            <a:endParaRPr lang="en-US" sz="1200" dirty="0">
              <a:latin typeface="Times New Roman" panose="02020603050405020304" pitchFamily="18" charset="0"/>
              <a:cs typeface="Times New Roman" panose="02020603050405020304" pitchFamily="18" charset="0"/>
            </a:endParaRPr>
          </a:p>
        </p:txBody>
      </p:sp>
      <p:grpSp>
        <p:nvGrpSpPr>
          <p:cNvPr id="27" name="Group 26">
            <a:extLst>
              <a:ext uri="{FF2B5EF4-FFF2-40B4-BE49-F238E27FC236}">
                <a16:creationId xmlns:a16="http://schemas.microsoft.com/office/drawing/2014/main" id="{52D35533-CD1F-FA35-9682-22451381E7B2}"/>
              </a:ext>
            </a:extLst>
          </p:cNvPr>
          <p:cNvGrpSpPr/>
          <p:nvPr/>
        </p:nvGrpSpPr>
        <p:grpSpPr>
          <a:xfrm>
            <a:off x="320040" y="2117956"/>
            <a:ext cx="2743200" cy="1463040"/>
            <a:chOff x="320040" y="1965960"/>
            <a:chExt cx="2743200" cy="1463040"/>
          </a:xfrm>
        </p:grpSpPr>
        <p:sp>
          <p:nvSpPr>
            <p:cNvPr id="8" name="Shape 6"/>
            <p:cNvSpPr/>
            <p:nvPr/>
          </p:nvSpPr>
          <p:spPr>
            <a:xfrm>
              <a:off x="320040" y="1965960"/>
              <a:ext cx="2743200" cy="1463040"/>
            </a:xfrm>
            <a:prstGeom prst="rect">
              <a:avLst/>
            </a:prstGeom>
            <a:solidFill>
              <a:srgbClr val="FFFFFF"/>
            </a:solidFill>
            <a:ln w="12700">
              <a:solidFill>
                <a:srgbClr val="1E88E5"/>
              </a:solidFill>
              <a:prstDash val="solid"/>
            </a:ln>
            <a:effectLst>
              <a:outerShdw blurRad="50800" dist="25400" dir="8100000" algn="bl" rotWithShape="0">
                <a:srgbClr val="000000">
                  <a:alpha val="8000"/>
                </a:srgbClr>
              </a:outerShdw>
            </a:effectLst>
          </p:spPr>
          <p:txBody>
            <a:bodyPr/>
            <a:lstStyle/>
            <a:p>
              <a:endParaRPr lang="en-IN"/>
            </a:p>
          </p:txBody>
        </p:sp>
        <p:grpSp>
          <p:nvGrpSpPr>
            <p:cNvPr id="22" name="Group 21">
              <a:extLst>
                <a:ext uri="{FF2B5EF4-FFF2-40B4-BE49-F238E27FC236}">
                  <a16:creationId xmlns:a16="http://schemas.microsoft.com/office/drawing/2014/main" id="{26BD5829-CC01-D250-79BF-F81F30EF1D37}"/>
                </a:ext>
              </a:extLst>
            </p:cNvPr>
            <p:cNvGrpSpPr/>
            <p:nvPr/>
          </p:nvGrpSpPr>
          <p:grpSpPr>
            <a:xfrm>
              <a:off x="320040" y="1965960"/>
              <a:ext cx="2743200" cy="1399032"/>
              <a:chOff x="320040" y="1965960"/>
              <a:chExt cx="2743200" cy="1399032"/>
            </a:xfrm>
          </p:grpSpPr>
          <p:sp>
            <p:nvSpPr>
              <p:cNvPr id="9" name="Shape 7"/>
              <p:cNvSpPr/>
              <p:nvPr/>
            </p:nvSpPr>
            <p:spPr>
              <a:xfrm>
                <a:off x="320040" y="1965960"/>
                <a:ext cx="2743200" cy="292608"/>
              </a:xfrm>
              <a:prstGeom prst="rect">
                <a:avLst/>
              </a:prstGeom>
              <a:solidFill>
                <a:srgbClr val="1E88E5"/>
              </a:solidFill>
              <a:ln w="12700">
                <a:solidFill>
                  <a:srgbClr val="1E88E5"/>
                </a:solidFill>
                <a:prstDash val="solid"/>
              </a:ln>
            </p:spPr>
            <p:txBody>
              <a:bodyPr/>
              <a:lstStyle/>
              <a:p>
                <a:endParaRPr lang="en-IN"/>
              </a:p>
            </p:txBody>
          </p:sp>
          <p:sp>
            <p:nvSpPr>
              <p:cNvPr id="10" name="Text 8"/>
              <p:cNvSpPr/>
              <p:nvPr/>
            </p:nvSpPr>
            <p:spPr>
              <a:xfrm>
                <a:off x="429768" y="1965960"/>
                <a:ext cx="2560320" cy="292608"/>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anose="02020603050405020304" pitchFamily="18" charset="0"/>
                    <a:cs typeface="Times New Roman" panose="02020603050405020304" pitchFamily="18" charset="0"/>
                  </a:rPr>
                  <a:t>Climate Variability</a:t>
                </a:r>
                <a:endParaRPr lang="en-US" sz="1200" dirty="0">
                  <a:latin typeface="Times New Roman" panose="02020603050405020304" pitchFamily="18" charset="0"/>
                  <a:cs typeface="Times New Roman" panose="02020603050405020304" pitchFamily="18" charset="0"/>
                </a:endParaRPr>
              </a:p>
            </p:txBody>
          </p:sp>
          <p:sp>
            <p:nvSpPr>
              <p:cNvPr id="11" name="Text 9"/>
              <p:cNvSpPr/>
              <p:nvPr/>
            </p:nvSpPr>
            <p:spPr>
              <a:xfrm>
                <a:off x="429768" y="2313432"/>
                <a:ext cx="2560320" cy="1051560"/>
              </a:xfrm>
              <a:prstGeom prst="rect">
                <a:avLst/>
              </a:prstGeom>
              <a:noFill/>
              <a:ln/>
            </p:spPr>
            <p:txBody>
              <a:bodyPr wrap="square" lIns="0" tIns="0" rIns="0" bIns="0" rtlCol="0" anchor="t"/>
              <a:lstStyle/>
              <a:p>
                <a:pPr marL="342900" indent="-342900">
                  <a:buSzPct val="100000"/>
                  <a:buChar char="•"/>
                </a:pPr>
                <a:r>
                  <a:rPr lang="en-US" sz="1200" dirty="0">
                    <a:solidFill>
                      <a:srgbClr val="1A2B3C"/>
                    </a:solidFill>
                    <a:latin typeface="Times New Roman" panose="02020603050405020304" pitchFamily="18" charset="0"/>
                    <a:ea typeface="Calibri" pitchFamily="34" charset="-122"/>
                    <a:cs typeface="Times New Roman" panose="02020603050405020304" pitchFamily="18" charset="0"/>
                  </a:rPr>
                  <a:t>Irregular rainfall, extreme storms &amp; droughts</a:t>
                </a:r>
                <a:endParaRPr lang="en-US" sz="1200" dirty="0">
                  <a:latin typeface="Times New Roman" panose="02020603050405020304" pitchFamily="18" charset="0"/>
                  <a:cs typeface="Times New Roman" panose="02020603050405020304" pitchFamily="18" charset="0"/>
                </a:endParaRPr>
              </a:p>
              <a:p>
                <a:pPr marL="342900" indent="-342900">
                  <a:buSzPct val="100000"/>
                  <a:buChar char="•"/>
                </a:pPr>
                <a:r>
                  <a:rPr lang="en-US" sz="1200" dirty="0">
                    <a:solidFill>
                      <a:srgbClr val="1A2B3C"/>
                    </a:solidFill>
                    <a:latin typeface="Times New Roman" panose="02020603050405020304" pitchFamily="18" charset="0"/>
                    <a:ea typeface="Calibri" pitchFamily="34" charset="-122"/>
                    <a:cs typeface="Times New Roman" panose="02020603050405020304" pitchFamily="18" charset="0"/>
                  </a:rPr>
                  <a:t>Higher flood occurrences, lower base flows</a:t>
                </a:r>
                <a:endParaRPr lang="en-US" sz="1200" dirty="0">
                  <a:latin typeface="Times New Roman" panose="02020603050405020304" pitchFamily="18" charset="0"/>
                  <a:cs typeface="Times New Roman" panose="02020603050405020304" pitchFamily="18" charset="0"/>
                </a:endParaRPr>
              </a:p>
              <a:p>
                <a:pPr marL="342900" indent="-342900">
                  <a:buSzPct val="100000"/>
                  <a:buChar char="•"/>
                </a:pPr>
                <a:r>
                  <a:rPr lang="en-US" sz="1200" dirty="0">
                    <a:solidFill>
                      <a:srgbClr val="1A2B3C"/>
                    </a:solidFill>
                    <a:latin typeface="Times New Roman" panose="02020603050405020304" pitchFamily="18" charset="0"/>
                    <a:ea typeface="Calibri" pitchFamily="34" charset="-122"/>
                    <a:cs typeface="Times New Roman" panose="02020603050405020304" pitchFamily="18" charset="0"/>
                  </a:rPr>
                  <a:t>Increasing non-stationarity of hydrology</a:t>
                </a:r>
                <a:endParaRPr lang="en-US" sz="1200" dirty="0">
                  <a:latin typeface="Times New Roman" panose="02020603050405020304" pitchFamily="18" charset="0"/>
                  <a:cs typeface="Times New Roman" panose="02020603050405020304" pitchFamily="18" charset="0"/>
                </a:endParaRPr>
              </a:p>
            </p:txBody>
          </p:sp>
        </p:grpSp>
      </p:grpSp>
      <p:grpSp>
        <p:nvGrpSpPr>
          <p:cNvPr id="26" name="Group 25">
            <a:extLst>
              <a:ext uri="{FF2B5EF4-FFF2-40B4-BE49-F238E27FC236}">
                <a16:creationId xmlns:a16="http://schemas.microsoft.com/office/drawing/2014/main" id="{88BABE26-EB59-F0BA-F56E-ACA5D541C9C7}"/>
              </a:ext>
            </a:extLst>
          </p:cNvPr>
          <p:cNvGrpSpPr/>
          <p:nvPr/>
        </p:nvGrpSpPr>
        <p:grpSpPr>
          <a:xfrm>
            <a:off x="3200400" y="2117956"/>
            <a:ext cx="2743200" cy="1463040"/>
            <a:chOff x="3200400" y="1965960"/>
            <a:chExt cx="2743200" cy="1463040"/>
          </a:xfrm>
        </p:grpSpPr>
        <p:sp>
          <p:nvSpPr>
            <p:cNvPr id="12" name="Shape 10"/>
            <p:cNvSpPr/>
            <p:nvPr/>
          </p:nvSpPr>
          <p:spPr>
            <a:xfrm>
              <a:off x="3200400" y="1965960"/>
              <a:ext cx="2743200" cy="1463040"/>
            </a:xfrm>
            <a:prstGeom prst="rect">
              <a:avLst/>
            </a:prstGeom>
            <a:solidFill>
              <a:srgbClr val="FFFFFF"/>
            </a:solidFill>
            <a:ln w="12700">
              <a:solidFill>
                <a:srgbClr val="1E88E5"/>
              </a:solidFill>
              <a:prstDash val="solid"/>
            </a:ln>
            <a:effectLst>
              <a:outerShdw blurRad="50800" dist="25400" dir="8100000" algn="bl" rotWithShape="0">
                <a:srgbClr val="000000">
                  <a:alpha val="8000"/>
                </a:srgbClr>
              </a:outerShdw>
            </a:effectLst>
          </p:spPr>
          <p:txBody>
            <a:bodyPr/>
            <a:lstStyle/>
            <a:p>
              <a:endParaRPr lang="en-IN"/>
            </a:p>
          </p:txBody>
        </p:sp>
        <p:grpSp>
          <p:nvGrpSpPr>
            <p:cNvPr id="23" name="Group 22">
              <a:extLst>
                <a:ext uri="{FF2B5EF4-FFF2-40B4-BE49-F238E27FC236}">
                  <a16:creationId xmlns:a16="http://schemas.microsoft.com/office/drawing/2014/main" id="{4E4D95C8-036C-A764-A605-9EFE59F0D5DF}"/>
                </a:ext>
              </a:extLst>
            </p:cNvPr>
            <p:cNvGrpSpPr/>
            <p:nvPr/>
          </p:nvGrpSpPr>
          <p:grpSpPr>
            <a:xfrm>
              <a:off x="3200400" y="1965960"/>
              <a:ext cx="2743200" cy="1399032"/>
              <a:chOff x="3200400" y="1965960"/>
              <a:chExt cx="2743200" cy="1399032"/>
            </a:xfrm>
          </p:grpSpPr>
          <p:sp>
            <p:nvSpPr>
              <p:cNvPr id="13" name="Shape 11"/>
              <p:cNvSpPr/>
              <p:nvPr/>
            </p:nvSpPr>
            <p:spPr>
              <a:xfrm>
                <a:off x="3200400" y="1965960"/>
                <a:ext cx="2743200" cy="292608"/>
              </a:xfrm>
              <a:prstGeom prst="rect">
                <a:avLst/>
              </a:prstGeom>
              <a:solidFill>
                <a:srgbClr val="00BCD4"/>
              </a:solidFill>
              <a:ln w="12700">
                <a:solidFill>
                  <a:srgbClr val="00BCD4"/>
                </a:solidFill>
                <a:prstDash val="solid"/>
              </a:ln>
            </p:spPr>
            <p:txBody>
              <a:bodyPr/>
              <a:lstStyle/>
              <a:p>
                <a:endParaRPr lang="en-IN" sz="1200" dirty="0"/>
              </a:p>
            </p:txBody>
          </p:sp>
          <p:sp>
            <p:nvSpPr>
              <p:cNvPr id="14" name="Text 12"/>
              <p:cNvSpPr/>
              <p:nvPr/>
            </p:nvSpPr>
            <p:spPr>
              <a:xfrm>
                <a:off x="3310128" y="1965960"/>
                <a:ext cx="2560320" cy="292608"/>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anose="02020603050405020304" pitchFamily="18" charset="0"/>
                    <a:cs typeface="Times New Roman" panose="02020603050405020304" pitchFamily="18" charset="0"/>
                  </a:rPr>
                  <a:t>LULC Changes</a:t>
                </a:r>
                <a:endParaRPr lang="en-US" sz="1200" dirty="0">
                  <a:latin typeface="Times New Roman" panose="02020603050405020304" pitchFamily="18" charset="0"/>
                  <a:cs typeface="Times New Roman" panose="02020603050405020304" pitchFamily="18" charset="0"/>
                </a:endParaRPr>
              </a:p>
            </p:txBody>
          </p:sp>
          <p:sp>
            <p:nvSpPr>
              <p:cNvPr id="15" name="Text 13"/>
              <p:cNvSpPr/>
              <p:nvPr/>
            </p:nvSpPr>
            <p:spPr>
              <a:xfrm>
                <a:off x="3310128" y="2313432"/>
                <a:ext cx="2560320" cy="1051560"/>
              </a:xfrm>
              <a:prstGeom prst="rect">
                <a:avLst/>
              </a:prstGeom>
              <a:noFill/>
              <a:ln/>
            </p:spPr>
            <p:txBody>
              <a:bodyPr wrap="square" lIns="0" tIns="0" rIns="0" bIns="0" rtlCol="0" anchor="t"/>
              <a:lstStyle/>
              <a:p>
                <a:pPr marL="342900" indent="-342900">
                  <a:buSzPct val="100000"/>
                  <a:buChar char="•"/>
                </a:pPr>
                <a:r>
                  <a:rPr lang="en-US" sz="1200" dirty="0">
                    <a:solidFill>
                      <a:srgbClr val="1A2B3C"/>
                    </a:solidFill>
                    <a:latin typeface="Times New Roman" panose="02020603050405020304" pitchFamily="18" charset="0"/>
                    <a:ea typeface="Calibri" pitchFamily="34" charset="-122"/>
                    <a:cs typeface="Times New Roman" panose="02020603050405020304" pitchFamily="18" charset="0"/>
                  </a:rPr>
                  <a:t>Urbanization, deforestation &amp; agriculture expansion</a:t>
                </a:r>
                <a:endParaRPr lang="en-US" sz="1200" dirty="0">
                  <a:latin typeface="Times New Roman" panose="02020603050405020304" pitchFamily="18" charset="0"/>
                  <a:cs typeface="Times New Roman" panose="02020603050405020304" pitchFamily="18" charset="0"/>
                </a:endParaRPr>
              </a:p>
              <a:p>
                <a:pPr marL="342900" indent="-342900">
                  <a:buSzPct val="100000"/>
                  <a:buChar char="•"/>
                </a:pPr>
                <a:r>
                  <a:rPr lang="en-US" sz="1200" dirty="0">
                    <a:solidFill>
                      <a:srgbClr val="1A2B3C"/>
                    </a:solidFill>
                    <a:latin typeface="Times New Roman" panose="02020603050405020304" pitchFamily="18" charset="0"/>
                    <a:ea typeface="Calibri" pitchFamily="34" charset="-122"/>
                    <a:cs typeface="Times New Roman" panose="02020603050405020304" pitchFamily="18" charset="0"/>
                  </a:rPr>
                  <a:t>Increased impervious area → higher runoff</a:t>
                </a:r>
                <a:endParaRPr lang="en-US" sz="1200" dirty="0">
                  <a:latin typeface="Times New Roman" panose="02020603050405020304" pitchFamily="18" charset="0"/>
                  <a:cs typeface="Times New Roman" panose="02020603050405020304" pitchFamily="18" charset="0"/>
                </a:endParaRPr>
              </a:p>
              <a:p>
                <a:pPr marL="342900" indent="-342900">
                  <a:buSzPct val="100000"/>
                  <a:buChar char="•"/>
                </a:pPr>
                <a:r>
                  <a:rPr lang="en-US" sz="1200" dirty="0">
                    <a:solidFill>
                      <a:srgbClr val="1A2B3C"/>
                    </a:solidFill>
                    <a:latin typeface="Times New Roman" panose="02020603050405020304" pitchFamily="18" charset="0"/>
                    <a:ea typeface="Calibri" pitchFamily="34" charset="-122"/>
                    <a:cs typeface="Times New Roman" panose="02020603050405020304" pitchFamily="18" charset="0"/>
                  </a:rPr>
                  <a:t>Reduced infiltration capacity</a:t>
                </a:r>
                <a:endParaRPr lang="en-US" sz="1200" dirty="0">
                  <a:latin typeface="Times New Roman" panose="02020603050405020304" pitchFamily="18" charset="0"/>
                  <a:cs typeface="Times New Roman" panose="02020603050405020304" pitchFamily="18" charset="0"/>
                </a:endParaRPr>
              </a:p>
            </p:txBody>
          </p:sp>
        </p:grpSp>
      </p:grpSp>
      <p:grpSp>
        <p:nvGrpSpPr>
          <p:cNvPr id="24" name="Group 23">
            <a:extLst>
              <a:ext uri="{FF2B5EF4-FFF2-40B4-BE49-F238E27FC236}">
                <a16:creationId xmlns:a16="http://schemas.microsoft.com/office/drawing/2014/main" id="{0CDE0A90-6989-D8CC-FAB2-52B3324C6F3B}"/>
              </a:ext>
            </a:extLst>
          </p:cNvPr>
          <p:cNvGrpSpPr/>
          <p:nvPr/>
        </p:nvGrpSpPr>
        <p:grpSpPr>
          <a:xfrm>
            <a:off x="6126480" y="2117956"/>
            <a:ext cx="2743200" cy="1463040"/>
            <a:chOff x="6080760" y="1965960"/>
            <a:chExt cx="2743200" cy="1463040"/>
          </a:xfrm>
        </p:grpSpPr>
        <p:sp>
          <p:nvSpPr>
            <p:cNvPr id="16" name="Shape 14"/>
            <p:cNvSpPr/>
            <p:nvPr/>
          </p:nvSpPr>
          <p:spPr>
            <a:xfrm>
              <a:off x="6080760" y="1965960"/>
              <a:ext cx="2743200" cy="1463040"/>
            </a:xfrm>
            <a:prstGeom prst="rect">
              <a:avLst/>
            </a:prstGeom>
            <a:solidFill>
              <a:srgbClr val="FFFFFF"/>
            </a:solidFill>
            <a:ln w="12700">
              <a:solidFill>
                <a:srgbClr val="1E88E5"/>
              </a:solidFill>
              <a:prstDash val="solid"/>
            </a:ln>
            <a:effectLst>
              <a:outerShdw blurRad="50800" dist="25400" dir="8100000" algn="bl" rotWithShape="0">
                <a:srgbClr val="000000">
                  <a:alpha val="8000"/>
                </a:srgbClr>
              </a:outerShdw>
            </a:effectLst>
          </p:spPr>
          <p:txBody>
            <a:bodyPr/>
            <a:lstStyle/>
            <a:p>
              <a:endParaRPr lang="en-IN"/>
            </a:p>
          </p:txBody>
        </p:sp>
        <p:sp>
          <p:nvSpPr>
            <p:cNvPr id="17" name="Shape 15"/>
            <p:cNvSpPr/>
            <p:nvPr/>
          </p:nvSpPr>
          <p:spPr>
            <a:xfrm>
              <a:off x="6080760" y="1965960"/>
              <a:ext cx="2743200" cy="292608"/>
            </a:xfrm>
            <a:prstGeom prst="rect">
              <a:avLst/>
            </a:prstGeom>
            <a:solidFill>
              <a:schemeClr val="bg2">
                <a:lumMod val="50000"/>
              </a:schemeClr>
            </a:solidFill>
            <a:ln w="12700">
              <a:solidFill>
                <a:srgbClr val="1A3A5C"/>
              </a:solidFill>
              <a:prstDash val="solid"/>
            </a:ln>
          </p:spPr>
          <p:txBody>
            <a:bodyPr/>
            <a:lstStyle/>
            <a:p>
              <a:endParaRPr lang="en-IN"/>
            </a:p>
          </p:txBody>
        </p:sp>
        <p:sp>
          <p:nvSpPr>
            <p:cNvPr id="18" name="Text 16"/>
            <p:cNvSpPr/>
            <p:nvPr/>
          </p:nvSpPr>
          <p:spPr>
            <a:xfrm>
              <a:off x="6190488" y="1965960"/>
              <a:ext cx="2560320" cy="292608"/>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anose="02020603050405020304" pitchFamily="18" charset="0"/>
                  <a:cs typeface="Times New Roman" panose="02020603050405020304" pitchFamily="18" charset="0"/>
                </a:rPr>
                <a:t>SACB Concern</a:t>
              </a:r>
              <a:endParaRPr lang="en-US" sz="1200" dirty="0">
                <a:latin typeface="Times New Roman" panose="02020603050405020304" pitchFamily="18" charset="0"/>
                <a:cs typeface="Times New Roman" panose="02020603050405020304" pitchFamily="18" charset="0"/>
              </a:endParaRPr>
            </a:p>
          </p:txBody>
        </p:sp>
        <p:sp>
          <p:nvSpPr>
            <p:cNvPr id="19" name="Text 17"/>
            <p:cNvSpPr/>
            <p:nvPr/>
          </p:nvSpPr>
          <p:spPr>
            <a:xfrm>
              <a:off x="6190488" y="2313432"/>
              <a:ext cx="2560320" cy="1051560"/>
            </a:xfrm>
            <a:prstGeom prst="rect">
              <a:avLst/>
            </a:prstGeom>
            <a:noFill/>
            <a:ln/>
          </p:spPr>
          <p:txBody>
            <a:bodyPr wrap="square" lIns="0" tIns="0" rIns="0" bIns="0" rtlCol="0" anchor="t"/>
            <a:lstStyle/>
            <a:p>
              <a:pPr marL="342900" indent="-342900">
                <a:buSzPct val="100000"/>
                <a:buChar char="•"/>
              </a:pPr>
              <a:r>
                <a:rPr lang="en-US" sz="1200" dirty="0">
                  <a:solidFill>
                    <a:srgbClr val="1A2B3C"/>
                  </a:solidFill>
                  <a:latin typeface="Times New Roman" panose="02020603050405020304" pitchFamily="18" charset="0"/>
                  <a:ea typeface="Calibri" pitchFamily="34" charset="-122"/>
                  <a:cs typeface="Times New Roman" panose="02020603050405020304" pitchFamily="18" charset="0"/>
                </a:rPr>
                <a:t>SAC Barrage (1852/1982) — lifeline of Godavari Delta</a:t>
              </a:r>
              <a:endParaRPr lang="en-US" sz="1200" dirty="0">
                <a:latin typeface="Times New Roman" panose="02020603050405020304" pitchFamily="18" charset="0"/>
                <a:cs typeface="Times New Roman" panose="02020603050405020304" pitchFamily="18" charset="0"/>
              </a:endParaRPr>
            </a:p>
            <a:p>
              <a:pPr marL="342900" indent="-342900">
                <a:buSzPct val="100000"/>
                <a:buChar char="•"/>
              </a:pPr>
              <a:r>
                <a:rPr lang="en-US" sz="1200" dirty="0">
                  <a:solidFill>
                    <a:srgbClr val="1A2B3C"/>
                  </a:solidFill>
                  <a:latin typeface="Times New Roman" panose="02020603050405020304" pitchFamily="18" charset="0"/>
                  <a:ea typeface="Calibri" pitchFamily="34" charset="-122"/>
                  <a:cs typeface="Times New Roman" panose="02020603050405020304" pitchFamily="18" charset="0"/>
                </a:rPr>
                <a:t>Irrigates 10+ lakh acres in Andhra Pradesh</a:t>
              </a:r>
              <a:endParaRPr lang="en-US" sz="1200" dirty="0">
                <a:latin typeface="Times New Roman" panose="02020603050405020304" pitchFamily="18" charset="0"/>
                <a:cs typeface="Times New Roman" panose="02020603050405020304" pitchFamily="18" charset="0"/>
              </a:endParaRPr>
            </a:p>
            <a:p>
              <a:pPr marL="342900" indent="-342900">
                <a:buSzPct val="100000"/>
                <a:buChar char="•"/>
              </a:pPr>
              <a:r>
                <a:rPr lang="en-US" sz="1200" dirty="0">
                  <a:solidFill>
                    <a:srgbClr val="1A2B3C"/>
                  </a:solidFill>
                  <a:latin typeface="Times New Roman" panose="02020603050405020304" pitchFamily="18" charset="0"/>
                  <a:ea typeface="Calibri" pitchFamily="34" charset="-122"/>
                  <a:cs typeface="Times New Roman" panose="02020603050405020304" pitchFamily="18" charset="0"/>
                </a:rPr>
                <a:t>Hydrological changes threaten long-term sustainability</a:t>
              </a:r>
              <a:endParaRPr lang="en-US" sz="1200" dirty="0">
                <a:latin typeface="Times New Roman" panose="02020603050405020304" pitchFamily="18" charset="0"/>
                <a:cs typeface="Times New Roman" panose="02020603050405020304" pitchFamily="18" charset="0"/>
              </a:endParaRPr>
            </a:p>
          </p:txBody>
        </p:sp>
      </p:grpSp>
      <p:grpSp>
        <p:nvGrpSpPr>
          <p:cNvPr id="25" name="Group 24">
            <a:extLst>
              <a:ext uri="{FF2B5EF4-FFF2-40B4-BE49-F238E27FC236}">
                <a16:creationId xmlns:a16="http://schemas.microsoft.com/office/drawing/2014/main" id="{DE9432BD-21DB-25A3-1E71-3DB03078286D}"/>
              </a:ext>
            </a:extLst>
          </p:cNvPr>
          <p:cNvGrpSpPr/>
          <p:nvPr/>
        </p:nvGrpSpPr>
        <p:grpSpPr>
          <a:xfrm>
            <a:off x="365760" y="3714220"/>
            <a:ext cx="8412480" cy="1353312"/>
            <a:chOff x="365760" y="3520440"/>
            <a:chExt cx="8412480" cy="1353312"/>
          </a:xfrm>
        </p:grpSpPr>
        <p:sp>
          <p:nvSpPr>
            <p:cNvPr id="20" name="Text 18"/>
            <p:cNvSpPr/>
            <p:nvPr/>
          </p:nvSpPr>
          <p:spPr>
            <a:xfrm>
              <a:off x="365760" y="3520440"/>
              <a:ext cx="8412480" cy="274320"/>
            </a:xfrm>
            <a:prstGeom prst="rect">
              <a:avLst/>
            </a:prstGeom>
            <a:noFill/>
            <a:ln/>
          </p:spPr>
          <p:txBody>
            <a:bodyPr wrap="square" rtlCol="0" anchor="ctr"/>
            <a:lstStyle/>
            <a:p>
              <a:pPr marL="0" indent="0">
                <a:buNone/>
              </a:pPr>
              <a:r>
                <a:rPr lang="en-US" sz="1200" b="1" dirty="0">
                  <a:solidFill>
                    <a:srgbClr val="1E88E5"/>
                  </a:solidFill>
                  <a:latin typeface="Times New Roman" panose="02020603050405020304" pitchFamily="18" charset="0"/>
                  <a:ea typeface="Calibri" pitchFamily="34" charset="-122"/>
                  <a:cs typeface="Times New Roman" panose="02020603050405020304" pitchFamily="18" charset="0"/>
                </a:rPr>
                <a:t>Objectives of the Study</a:t>
              </a:r>
              <a:endParaRPr lang="en-US" sz="1200" dirty="0">
                <a:latin typeface="Times New Roman" panose="02020603050405020304" pitchFamily="18" charset="0"/>
                <a:cs typeface="Times New Roman" panose="02020603050405020304" pitchFamily="18" charset="0"/>
              </a:endParaRPr>
            </a:p>
          </p:txBody>
        </p:sp>
        <p:sp>
          <p:nvSpPr>
            <p:cNvPr id="21" name="Text 19"/>
            <p:cNvSpPr/>
            <p:nvPr/>
          </p:nvSpPr>
          <p:spPr>
            <a:xfrm>
              <a:off x="457200" y="3822192"/>
              <a:ext cx="8321040" cy="1051560"/>
            </a:xfrm>
            <a:prstGeom prst="rect">
              <a:avLst/>
            </a:prstGeom>
            <a:noFill/>
            <a:ln/>
          </p:spPr>
          <p:txBody>
            <a:bodyPr wrap="square" lIns="0" tIns="0" rIns="0" bIns="0" rtlCol="0" anchor="t"/>
            <a:lstStyle/>
            <a:p>
              <a:pPr marL="342900" indent="-342900">
                <a:buSzPct val="100000"/>
                <a:buChar char="•"/>
              </a:pPr>
              <a:r>
                <a:rPr lang="en-US" sz="1200" dirty="0">
                  <a:solidFill>
                    <a:srgbClr val="1A2B3C"/>
                  </a:solidFill>
                  <a:latin typeface="Times New Roman" panose="02020603050405020304" pitchFamily="18" charset="0"/>
                  <a:cs typeface="Times New Roman" panose="02020603050405020304" pitchFamily="18" charset="0"/>
                </a:rPr>
                <a:t>Analyze long-term rainfall trends using Sen's Slope &amp; Mann-Kendall test (1988–2024)</a:t>
              </a:r>
              <a:endParaRPr lang="en-US" sz="1200" dirty="0">
                <a:latin typeface="Times New Roman" panose="02020603050405020304" pitchFamily="18" charset="0"/>
                <a:cs typeface="Times New Roman" panose="02020603050405020304" pitchFamily="18" charset="0"/>
              </a:endParaRPr>
            </a:p>
            <a:p>
              <a:pPr marL="342900" indent="-342900">
                <a:buSzPct val="100000"/>
                <a:buChar char="•"/>
              </a:pPr>
              <a:r>
                <a:rPr lang="en-US" sz="1200" dirty="0">
                  <a:solidFill>
                    <a:srgbClr val="1A2B3C"/>
                  </a:solidFill>
                  <a:latin typeface="Times New Roman" panose="02020603050405020304" pitchFamily="18" charset="0"/>
                  <a:cs typeface="Times New Roman" panose="02020603050405020304" pitchFamily="18" charset="0"/>
                </a:rPr>
                <a:t>Map LULC changes (2017–2024) and their hydrological implications using ArcGIS</a:t>
              </a:r>
              <a:endParaRPr lang="en-US" sz="1200" dirty="0">
                <a:latin typeface="Times New Roman" panose="02020603050405020304" pitchFamily="18" charset="0"/>
                <a:cs typeface="Times New Roman" panose="02020603050405020304" pitchFamily="18" charset="0"/>
              </a:endParaRPr>
            </a:p>
            <a:p>
              <a:pPr marL="342900" indent="-342900">
                <a:buSzPct val="100000"/>
                <a:buChar char="•"/>
              </a:pPr>
              <a:r>
                <a:rPr lang="en-US" sz="1200" dirty="0">
                  <a:solidFill>
                    <a:srgbClr val="1A2B3C"/>
                  </a:solidFill>
                  <a:latin typeface="Times New Roman" panose="02020603050405020304" pitchFamily="18" charset="0"/>
                  <a:cs typeface="Times New Roman" panose="02020603050405020304" pitchFamily="18" charset="0"/>
                </a:rPr>
                <a:t>Estimate surface runoff using SCS-Curve Number method with GIS-integrated soil data</a:t>
              </a:r>
              <a:endParaRPr lang="en-US" sz="1200" dirty="0">
                <a:latin typeface="Times New Roman" panose="02020603050405020304" pitchFamily="18" charset="0"/>
                <a:cs typeface="Times New Roman" panose="02020603050405020304" pitchFamily="18" charset="0"/>
              </a:endParaRPr>
            </a:p>
            <a:p>
              <a:pPr marL="342900" indent="-342900">
                <a:buSzPct val="100000"/>
                <a:buChar char="•"/>
              </a:pPr>
              <a:r>
                <a:rPr lang="en-US" sz="1200" dirty="0">
                  <a:solidFill>
                    <a:srgbClr val="1A2B3C"/>
                  </a:solidFill>
                  <a:latin typeface="Times New Roman" panose="02020603050405020304" pitchFamily="18" charset="0"/>
                  <a:cs typeface="Times New Roman" panose="02020603050405020304" pitchFamily="18" charset="0"/>
                </a:rPr>
                <a:t>Develop LSTM and Genetic Programming (GP) models for daily inflow prediction at SACB</a:t>
              </a:r>
              <a:endParaRPr lang="en-US" sz="1200" dirty="0">
                <a:latin typeface="Times New Roman" panose="02020603050405020304" pitchFamily="18" charset="0"/>
                <a:cs typeface="Times New Roman" panose="02020603050405020304" pitchFamily="18" charset="0"/>
              </a:endParaRPr>
            </a:p>
          </p:txBody>
        </p:sp>
      </p:grpSp>
      <p:sp>
        <p:nvSpPr>
          <p:cNvPr id="29" name="TextBox 28">
            <a:extLst>
              <a:ext uri="{FF2B5EF4-FFF2-40B4-BE49-F238E27FC236}">
                <a16:creationId xmlns:a16="http://schemas.microsoft.com/office/drawing/2014/main" id="{9BC753E4-8CF2-C790-F299-28BA03F07E25}"/>
              </a:ext>
            </a:extLst>
          </p:cNvPr>
          <p:cNvSpPr txBox="1"/>
          <p:nvPr/>
        </p:nvSpPr>
        <p:spPr>
          <a:xfrm>
            <a:off x="8684005" y="4780950"/>
            <a:ext cx="286734"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2</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0C0"/>
          </a:solidFill>
          <a:ln w="12700">
            <a:solidFill>
              <a:srgbClr val="1A3A5C"/>
            </a:solidFill>
            <a:prstDash val="solid"/>
          </a:ln>
        </p:spPr>
        <p:txBody>
          <a:bodyPr/>
          <a:lstStyle/>
          <a:p>
            <a:endParaRPr lang="en-IN"/>
          </a:p>
        </p:txBody>
      </p:sp>
      <p:sp>
        <p:nvSpPr>
          <p:cNvPr id="3" name="Shape 1"/>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4" name="Text 2"/>
          <p:cNvSpPr/>
          <p:nvPr/>
        </p:nvSpPr>
        <p:spPr>
          <a:xfrm>
            <a:off x="274320" y="0"/>
            <a:ext cx="8595360" cy="658368"/>
          </a:xfrm>
          <a:prstGeom prst="rect">
            <a:avLst/>
          </a:prstGeom>
          <a:solidFill>
            <a:srgbClr val="0070C0"/>
          </a:solidFill>
          <a:ln/>
        </p:spPr>
        <p:txBody>
          <a:bodyPr wrap="square" lIns="0" tIns="0" rIns="0" bIns="0"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02  |  Literature Review</a:t>
            </a:r>
            <a:endParaRPr lang="en-US" sz="2200" dirty="0">
              <a:latin typeface="Times New Roman" panose="02020603050405020304" pitchFamily="18" charset="0"/>
              <a:cs typeface="Times New Roman" panose="02020603050405020304" pitchFamily="18" charset="0"/>
            </a:endParaRPr>
          </a:p>
        </p:txBody>
      </p:sp>
      <p:graphicFrame>
        <p:nvGraphicFramePr>
          <p:cNvPr id="6" name="Table 0"/>
          <p:cNvGraphicFramePr>
            <a:graphicFrameLocks noGrp="1"/>
          </p:cNvGraphicFramePr>
          <p:nvPr>
            <p:extLst>
              <p:ext uri="{D42A27DB-BD31-4B8C-83A1-F6EECF244321}">
                <p14:modId xmlns:p14="http://schemas.microsoft.com/office/powerpoint/2010/main" val="89802026"/>
              </p:ext>
            </p:extLst>
          </p:nvPr>
        </p:nvGraphicFramePr>
        <p:xfrm>
          <a:off x="429950" y="834343"/>
          <a:ext cx="8617160" cy="3964273"/>
        </p:xfrm>
        <a:graphic>
          <a:graphicData uri="http://schemas.openxmlformats.org/drawingml/2006/table">
            <a:tbl>
              <a:tblPr/>
              <a:tblGrid>
                <a:gridCol w="1833438">
                  <a:extLst>
                    <a:ext uri="{9D8B030D-6E8A-4147-A177-3AD203B41FA5}">
                      <a16:colId xmlns:a16="http://schemas.microsoft.com/office/drawing/2014/main" val="20000"/>
                    </a:ext>
                  </a:extLst>
                </a:gridCol>
                <a:gridCol w="2727716">
                  <a:extLst>
                    <a:ext uri="{9D8B030D-6E8A-4147-A177-3AD203B41FA5}">
                      <a16:colId xmlns:a16="http://schemas.microsoft.com/office/drawing/2014/main" val="20001"/>
                    </a:ext>
                  </a:extLst>
                </a:gridCol>
                <a:gridCol w="4056006">
                  <a:extLst>
                    <a:ext uri="{9D8B030D-6E8A-4147-A177-3AD203B41FA5}">
                      <a16:colId xmlns:a16="http://schemas.microsoft.com/office/drawing/2014/main" val="20002"/>
                    </a:ext>
                  </a:extLst>
                </a:gridCol>
              </a:tblGrid>
              <a:tr h="415108">
                <a:tc>
                  <a:txBody>
                    <a:bodyPr/>
                    <a:lstStyle/>
                    <a:p>
                      <a:pPr marL="0" indent="0" algn="l">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Author &amp; Year</a:t>
                      </a:r>
                      <a:endParaRPr lang="en-US" sz="1100" dirty="0">
                        <a:latin typeface="Times New Roman" panose="02020603050405020304" pitchFamily="18" charset="0"/>
                        <a:ea typeface="Calibri" charset="0"/>
                        <a:cs typeface="Times New Roman" panose="02020603050405020304" pitchFamily="18" charset="0"/>
                      </a:endParaRP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1A3A5C"/>
                    </a:solidFill>
                  </a:tcPr>
                </a:tc>
                <a:tc>
                  <a:txBody>
                    <a:bodyPr/>
                    <a:lstStyle/>
                    <a:p>
                      <a:pPr marL="0" indent="0" algn="l">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Methodology</a:t>
                      </a:r>
                      <a:endParaRPr lang="en-US" sz="1100" dirty="0">
                        <a:latin typeface="Times New Roman" panose="02020603050405020304" pitchFamily="18" charset="0"/>
                        <a:ea typeface="Calibri" charset="0"/>
                        <a:cs typeface="Times New Roman" panose="02020603050405020304" pitchFamily="18" charset="0"/>
                      </a:endParaRP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1A3A5C"/>
                    </a:solidFill>
                  </a:tcPr>
                </a:tc>
                <a:tc>
                  <a:txBody>
                    <a:bodyPr/>
                    <a:lstStyle/>
                    <a:p>
                      <a:pPr marL="0" indent="0" algn="l">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Key Conclusion</a:t>
                      </a:r>
                      <a:endParaRPr lang="en-US" sz="1100" dirty="0">
                        <a:latin typeface="Times New Roman" panose="02020603050405020304" pitchFamily="18" charset="0"/>
                        <a:ea typeface="Calibri" charset="0"/>
                        <a:cs typeface="Times New Roman" panose="02020603050405020304" pitchFamily="18" charset="0"/>
                      </a:endParaRP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415108">
                <a:tc>
                  <a:txBody>
                    <a:bodyPr/>
                    <a:lstStyle/>
                    <a:p>
                      <a:pPr marL="0" indent="0" algn="l">
                        <a:buNone/>
                      </a:pP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Yokoo et al. (2021)</a:t>
                      </a:r>
                      <a:endParaRPr lang="en-US" sz="1100" dirty="0">
                        <a:latin typeface="Times New Roman" panose="02020603050405020304" pitchFamily="18" charset="0"/>
                        <a:ea typeface="Calibri" charset="0"/>
                        <a:cs typeface="Times New Roman" panose="02020603050405020304" pitchFamily="18" charset="0"/>
                      </a:endParaRP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LSTM Deep Learning — spatially distributed rainfall inputs</a:t>
                      </a:r>
                      <a:endParaRPr lang="en-US" sz="1100" dirty="0">
                        <a:latin typeface="Times New Roman" panose="02020603050405020304" pitchFamily="18" charset="0"/>
                        <a:ea typeface="Calibri" charset="0"/>
                        <a:cs typeface="Times New Roman" panose="02020603050405020304" pitchFamily="18" charset="0"/>
                      </a:endParaRP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LSTM-SWAT hybrid improved NSE from 0.72 to 0.89, LSTM effectively learnt catchment strong generalization ability.</a:t>
                      </a:r>
                      <a:endParaRPr lang="en-US" sz="1100" dirty="0">
                        <a:latin typeface="Times New Roman" panose="02020603050405020304" pitchFamily="18" charset="0"/>
                        <a:ea typeface="Calibri" charset="0"/>
                        <a:cs typeface="Times New Roman" panose="02020603050405020304" pitchFamily="18" charset="0"/>
                      </a:endParaRP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5108">
                <a:tc>
                  <a:txBody>
                    <a:bodyPr/>
                    <a:lstStyle/>
                    <a:p>
                      <a:pPr marL="0" indent="0" algn="l">
                        <a:buNone/>
                      </a:pP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Liong et al. (2002)</a:t>
                      </a:r>
                      <a:endParaRPr lang="en-US" sz="1100" dirty="0">
                        <a:latin typeface="Times New Roman" panose="02020603050405020304" pitchFamily="18" charset="0"/>
                        <a:ea typeface="Calibri" charset="0"/>
                        <a:cs typeface="Times New Roman" panose="02020603050405020304" pitchFamily="18" charset="0"/>
                      </a:endParaRP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Genetic Programming (GP) for rainfall–runoff modelling</a:t>
                      </a:r>
                      <a:endParaRPr lang="en-US" sz="1100" dirty="0">
                        <a:latin typeface="Times New Roman" panose="02020603050405020304" pitchFamily="18" charset="0"/>
                        <a:ea typeface="Calibri" charset="0"/>
                        <a:cs typeface="Times New Roman" panose="02020603050405020304" pitchFamily="18" charset="0"/>
                      </a:endParaRP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GP equations are physically interpretable with accuracy comparable to neural networks</a:t>
                      </a:r>
                      <a:endParaRPr lang="en-US" sz="1100" dirty="0">
                        <a:latin typeface="Times New Roman" panose="02020603050405020304" pitchFamily="18" charset="0"/>
                        <a:ea typeface="Calibri" charset="0"/>
                        <a:cs typeface="Times New Roman" panose="02020603050405020304" pitchFamily="18" charset="0"/>
                      </a:endParaRP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15108">
                <a:tc>
                  <a:txBody>
                    <a:bodyPr/>
                    <a:lstStyle/>
                    <a:p>
                      <a:pPr marL="0" indent="0" algn="l">
                        <a:buNone/>
                      </a:pP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Verma et al. (2021)</a:t>
                      </a:r>
                      <a:endParaRPr lang="en-US" sz="1100" dirty="0">
                        <a:latin typeface="Times New Roman" panose="02020603050405020304" pitchFamily="18" charset="0"/>
                        <a:ea typeface="Calibri" charset="0"/>
                        <a:cs typeface="Times New Roman" panose="02020603050405020304" pitchFamily="18" charset="0"/>
                      </a:endParaRP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SCS-CN improved models for direct surface runoff</a:t>
                      </a:r>
                      <a:endParaRPr lang="en-US" sz="1100" dirty="0">
                        <a:latin typeface="Times New Roman" panose="02020603050405020304" pitchFamily="18" charset="0"/>
                        <a:ea typeface="Calibri" charset="0"/>
                        <a:cs typeface="Times New Roman" panose="02020603050405020304" pitchFamily="18" charset="0"/>
                      </a:endParaRP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Modified CN approach reduces error; integrates LULC and soil groups for better estimation</a:t>
                      </a:r>
                      <a:endParaRPr lang="en-US" sz="1100" dirty="0">
                        <a:latin typeface="Times New Roman" panose="02020603050405020304" pitchFamily="18" charset="0"/>
                        <a:ea typeface="Calibri" charset="0"/>
                        <a:cs typeface="Times New Roman" panose="02020603050405020304" pitchFamily="18" charset="0"/>
                      </a:endParaRP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5108">
                <a:tc>
                  <a:txBody>
                    <a:bodyPr/>
                    <a:lstStyle/>
                    <a:p>
                      <a:pPr marL="0" indent="0" algn="l">
                        <a:buNone/>
                      </a:pP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Potapov et al. (2022)</a:t>
                      </a:r>
                      <a:endParaRPr lang="en-US" sz="1100" dirty="0">
                        <a:latin typeface="Times New Roman" panose="02020603050405020304" pitchFamily="18" charset="0"/>
                        <a:ea typeface="Calibri" charset="0"/>
                        <a:cs typeface="Times New Roman" panose="02020603050405020304" pitchFamily="18" charset="0"/>
                      </a:endParaRP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Global forest/cropland change analysis (2000–2020)</a:t>
                      </a:r>
                      <a:endParaRPr lang="en-US" sz="1100" dirty="0">
                        <a:latin typeface="Times New Roman" panose="02020603050405020304" pitchFamily="18" charset="0"/>
                        <a:ea typeface="Calibri" charset="0"/>
                        <a:cs typeface="Times New Roman" panose="02020603050405020304" pitchFamily="18" charset="0"/>
                      </a:endParaRP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Deforestation and agri-expansion increase peak discharge and reduce groundwater recharge</a:t>
                      </a:r>
                      <a:endParaRPr lang="en-US" sz="1100" dirty="0">
                        <a:latin typeface="Times New Roman" panose="02020603050405020304" pitchFamily="18" charset="0"/>
                        <a:ea typeface="Calibri" charset="0"/>
                        <a:cs typeface="Times New Roman" panose="02020603050405020304" pitchFamily="18" charset="0"/>
                      </a:endParaRP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15108">
                <a:tc>
                  <a:txBody>
                    <a:bodyPr/>
                    <a:lstStyle/>
                    <a:p>
                      <a:pPr marL="0" indent="0" algn="l">
                        <a:buNone/>
                      </a:pP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Subramanya (2008)</a:t>
                      </a:r>
                      <a:endParaRPr lang="en-US" sz="1100" dirty="0">
                        <a:latin typeface="Times New Roman" panose="02020603050405020304" pitchFamily="18" charset="0"/>
                        <a:ea typeface="Calibri" charset="0"/>
                        <a:cs typeface="Times New Roman" panose="02020603050405020304" pitchFamily="18" charset="0"/>
                      </a:endParaRP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SCS-CN method — Engineering Hydrology textbook review</a:t>
                      </a:r>
                      <a:endParaRPr lang="en-US" sz="1100" dirty="0">
                        <a:latin typeface="Times New Roman" panose="02020603050405020304" pitchFamily="18" charset="0"/>
                        <a:ea typeface="Calibri" charset="0"/>
                        <a:cs typeface="Times New Roman" panose="02020603050405020304" pitchFamily="18" charset="0"/>
                      </a:endParaRP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SCS-CN remains the standard empirical method for runoff estimation in Indian basins</a:t>
                      </a:r>
                      <a:endParaRPr lang="en-US" sz="1100" dirty="0">
                        <a:latin typeface="Times New Roman" panose="02020603050405020304" pitchFamily="18" charset="0"/>
                        <a:ea typeface="Calibri" charset="0"/>
                        <a:cs typeface="Times New Roman" panose="02020603050405020304" pitchFamily="18" charset="0"/>
                      </a:endParaRP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5108">
                <a:tc>
                  <a:txBody>
                    <a:bodyPr/>
                    <a:lstStyle/>
                    <a:p>
                      <a:pPr marL="0" indent="0" algn="l">
                        <a:buNone/>
                      </a:pP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Antar et al. (2006)</a:t>
                      </a:r>
                      <a:endParaRPr lang="en-US" sz="1100" dirty="0">
                        <a:latin typeface="Times New Roman" panose="02020603050405020304" pitchFamily="18" charset="0"/>
                        <a:ea typeface="Calibri" charset="0"/>
                        <a:cs typeface="Times New Roman" panose="02020603050405020304" pitchFamily="18" charset="0"/>
                      </a:endParaRP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ANN feedforward models — Blue Nile catchment streamflow</a:t>
                      </a:r>
                      <a:endParaRPr lang="en-US" sz="1100" dirty="0">
                        <a:latin typeface="Times New Roman" panose="02020603050405020304" pitchFamily="18" charset="0"/>
                        <a:ea typeface="Calibri" charset="0"/>
                        <a:cs typeface="Times New Roman" panose="02020603050405020304" pitchFamily="18" charset="0"/>
                      </a:endParaRP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ANNs outperform regression; handle non-linearity but miss temporal memory</a:t>
                      </a:r>
                      <a:endParaRPr lang="en-US" sz="1100" dirty="0">
                        <a:latin typeface="Times New Roman" panose="02020603050405020304" pitchFamily="18" charset="0"/>
                        <a:ea typeface="Calibri" charset="0"/>
                        <a:cs typeface="Times New Roman" panose="02020603050405020304" pitchFamily="18" charset="0"/>
                      </a:endParaRP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62125">
                <a:tc>
                  <a:txBody>
                    <a:bodyPr/>
                    <a:lstStyle/>
                    <a:p>
                      <a:pPr marL="0" indent="0" algn="l">
                        <a:buNone/>
                      </a:pPr>
                      <a:r>
                        <a:rPr lang="en-US" sz="1100" dirty="0">
                          <a:latin typeface="Times New Roman" panose="02020603050405020304" pitchFamily="18" charset="0"/>
                          <a:ea typeface="Calibri" charset="0"/>
                          <a:cs typeface="Times New Roman" panose="02020603050405020304" pitchFamily="18" charset="0"/>
                        </a:rPr>
                        <a:t>Bhadra et al. (2009)</a:t>
                      </a: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FFFFFF"/>
                    </a:solidFill>
                  </a:tcPr>
                </a:tc>
                <a:tc>
                  <a:txBody>
                    <a:bodyPr/>
                    <a:lstStyle/>
                    <a:p>
                      <a:pPr marL="0" indent="0" algn="l">
                        <a:buNone/>
                      </a:pPr>
                      <a:r>
                        <a:rPr lang="en-US" sz="1100" dirty="0">
                          <a:latin typeface="Times New Roman" panose="02020603050405020304" pitchFamily="18" charset="0"/>
                          <a:ea typeface="Calibri" charset="0"/>
                          <a:cs typeface="Times New Roman" panose="02020603050405020304" pitchFamily="18" charset="0"/>
                        </a:rPr>
                        <a:t>SCS-CN and continuous simulation(Himalayan basin)</a:t>
                      </a: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FFFFFF"/>
                    </a:solidFill>
                  </a:tcPr>
                </a:tc>
                <a:tc>
                  <a:txBody>
                    <a:bodyPr/>
                    <a:lstStyle/>
                    <a:p>
                      <a:pPr marL="0" indent="0" algn="l">
                        <a:buNone/>
                      </a:pPr>
                      <a:r>
                        <a:rPr lang="en-US" sz="1100" dirty="0">
                          <a:latin typeface="Times New Roman" panose="02020603050405020304" pitchFamily="18" charset="0"/>
                          <a:ea typeface="Calibri" charset="0"/>
                          <a:cs typeface="Times New Roman" panose="02020603050405020304" pitchFamily="18" charset="0"/>
                        </a:rPr>
                        <a:t>Fixed CN underestimates antecedent moisture variability, proposed modified AMC thresholds for high- altitude monsoon catchments</a:t>
                      </a: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FFFFFF"/>
                    </a:solidFill>
                  </a:tcPr>
                </a:tc>
                <a:extLst>
                  <a:ext uri="{0D108BD9-81ED-4DB2-BD59-A6C34878D82A}">
                    <a16:rowId xmlns:a16="http://schemas.microsoft.com/office/drawing/2014/main" val="1059306568"/>
                  </a:ext>
                </a:extLst>
              </a:tr>
              <a:tr h="415108">
                <a:tc>
                  <a:txBody>
                    <a:bodyPr/>
                    <a:lstStyle/>
                    <a:p>
                      <a:pPr marL="0" indent="0" algn="l">
                        <a:buNone/>
                      </a:pP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Hochreiter &amp; Schmidhuber (1997)</a:t>
                      </a:r>
                      <a:endParaRPr lang="en-US" sz="1100" dirty="0">
                        <a:latin typeface="Times New Roman" panose="02020603050405020304" pitchFamily="18" charset="0"/>
                        <a:ea typeface="Calibri" charset="0"/>
                        <a:cs typeface="Times New Roman" panose="02020603050405020304" pitchFamily="18" charset="0"/>
                      </a:endParaRP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LSTM architecture — gated memory for time-series</a:t>
                      </a:r>
                      <a:endParaRPr lang="en-US" sz="1100" dirty="0">
                        <a:latin typeface="Times New Roman" panose="02020603050405020304" pitchFamily="18" charset="0"/>
                        <a:ea typeface="Calibri" charset="0"/>
                        <a:cs typeface="Times New Roman" panose="02020603050405020304" pitchFamily="18" charset="0"/>
                      </a:endParaRP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Gated LSTM solves vanishing gradient problem; effective for long-term temporal dependencies</a:t>
                      </a:r>
                      <a:endParaRPr lang="en-US" sz="1100" dirty="0">
                        <a:latin typeface="Times New Roman" panose="02020603050405020304" pitchFamily="18" charset="0"/>
                        <a:ea typeface="Calibri" charset="0"/>
                        <a:cs typeface="Times New Roman" panose="02020603050405020304" pitchFamily="18" charset="0"/>
                      </a:endParaRPr>
                    </a:p>
                  </a:txBody>
                  <a:tcPr anchor="ctr">
                    <a:lnL w="10160" cap="flat" cmpd="sng" algn="ctr">
                      <a:solidFill>
                        <a:srgbClr val="B0C8E0"/>
                      </a:solidFill>
                      <a:prstDash val="solid"/>
                      <a:round/>
                      <a:headEnd type="none" w="med" len="med"/>
                      <a:tailEnd type="none" w="med" len="med"/>
                    </a:lnL>
                    <a:lnR w="10160" cap="flat" cmpd="sng" algn="ctr">
                      <a:solidFill>
                        <a:srgbClr val="B0C8E0"/>
                      </a:solidFill>
                      <a:prstDash val="solid"/>
                      <a:round/>
                      <a:headEnd type="none" w="med" len="med"/>
                      <a:tailEnd type="none" w="med" len="med"/>
                    </a:lnR>
                    <a:lnT w="10160" cap="flat" cmpd="sng" algn="ctr">
                      <a:solidFill>
                        <a:srgbClr val="B0C8E0"/>
                      </a:solidFill>
                      <a:prstDash val="solid"/>
                      <a:round/>
                      <a:headEnd type="none" w="med" len="med"/>
                      <a:tailEnd type="none" w="med" len="med"/>
                    </a:lnT>
                    <a:lnB w="10160" cap="flat" cmpd="sng" algn="ctr">
                      <a:solidFill>
                        <a:srgbClr val="B0C8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TextBox 6">
            <a:extLst>
              <a:ext uri="{FF2B5EF4-FFF2-40B4-BE49-F238E27FC236}">
                <a16:creationId xmlns:a16="http://schemas.microsoft.com/office/drawing/2014/main" id="{5560D100-2B75-B29B-1222-3F1C8D200CCA}"/>
              </a:ext>
            </a:extLst>
          </p:cNvPr>
          <p:cNvSpPr txBox="1"/>
          <p:nvPr/>
        </p:nvSpPr>
        <p:spPr>
          <a:xfrm>
            <a:off x="8684005" y="4780950"/>
            <a:ext cx="286734"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3</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0C0"/>
          </a:solidFill>
          <a:ln w="12700">
            <a:solidFill>
              <a:srgbClr val="1E88E5"/>
            </a:solidFill>
            <a:prstDash val="solid"/>
          </a:ln>
        </p:spPr>
        <p:txBody>
          <a:bodyPr/>
          <a:lstStyle/>
          <a:p>
            <a:endParaRPr lang="en-IN"/>
          </a:p>
        </p:txBody>
      </p:sp>
      <p:sp>
        <p:nvSpPr>
          <p:cNvPr id="3" name="Shape 1"/>
          <p:cNvSpPr/>
          <p:nvPr/>
        </p:nvSpPr>
        <p:spPr>
          <a:xfrm>
            <a:off x="0" y="658368"/>
            <a:ext cx="9144000" cy="54864"/>
          </a:xfrm>
          <a:prstGeom prst="rect">
            <a:avLst/>
          </a:prstGeom>
          <a:solidFill>
            <a:srgbClr val="00B0F0"/>
          </a:solidFill>
          <a:ln w="12700">
            <a:solidFill>
              <a:srgbClr val="00BCD4"/>
            </a:solidFill>
            <a:prstDash val="solid"/>
          </a:ln>
        </p:spPr>
        <p:txBody>
          <a:bodyPr/>
          <a:lstStyle/>
          <a:p>
            <a:endParaRPr lang="en-IN"/>
          </a:p>
        </p:txBody>
      </p:sp>
      <p:sp>
        <p:nvSpPr>
          <p:cNvPr id="4" name="Text 2"/>
          <p:cNvSpPr/>
          <p:nvPr/>
        </p:nvSpPr>
        <p:spPr>
          <a:xfrm>
            <a:off x="274320" y="0"/>
            <a:ext cx="8595360" cy="658368"/>
          </a:xfrm>
          <a:prstGeom prst="rect">
            <a:avLst/>
          </a:prstGeom>
          <a:noFill/>
          <a:ln/>
        </p:spPr>
        <p:txBody>
          <a:bodyPr wrap="square" lIns="0" tIns="0" rIns="0" bIns="0"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03  |  Research Gap</a:t>
            </a:r>
            <a:endParaRPr lang="en-US" sz="2200" dirty="0">
              <a:latin typeface="Times New Roman" panose="02020603050405020304" pitchFamily="18" charset="0"/>
              <a:cs typeface="Times New Roman" panose="02020603050405020304" pitchFamily="18" charset="0"/>
            </a:endParaRPr>
          </a:p>
        </p:txBody>
      </p:sp>
      <p:sp>
        <p:nvSpPr>
          <p:cNvPr id="5" name="Text 3"/>
          <p:cNvSpPr/>
          <p:nvPr/>
        </p:nvSpPr>
        <p:spPr>
          <a:xfrm>
            <a:off x="365760" y="777240"/>
            <a:ext cx="8412480" cy="320040"/>
          </a:xfrm>
          <a:prstGeom prst="rect">
            <a:avLst/>
          </a:prstGeom>
          <a:noFill/>
          <a:ln/>
        </p:spPr>
        <p:txBody>
          <a:bodyPr wrap="square" rtlCol="0" anchor="ctr"/>
          <a:lstStyle/>
          <a:p>
            <a:pPr marL="0" indent="0">
              <a:buNone/>
            </a:pPr>
            <a:r>
              <a:rPr lang="en-US" sz="1400" b="1" dirty="0">
                <a:solidFill>
                  <a:srgbClr val="1E88E5"/>
                </a:solidFill>
                <a:latin typeface="Times New Roman" panose="02020603050405020304" pitchFamily="18" charset="0"/>
                <a:cs typeface="Times New Roman" panose="02020603050405020304" pitchFamily="18" charset="0"/>
              </a:rPr>
              <a:t>Why This Study is Needed</a:t>
            </a:r>
            <a:endParaRPr lang="en-US" sz="1400" dirty="0">
              <a:latin typeface="Times New Roman" panose="02020603050405020304" pitchFamily="18" charset="0"/>
              <a:cs typeface="Times New Roman" panose="02020603050405020304" pitchFamily="18" charset="0"/>
            </a:endParaRPr>
          </a:p>
        </p:txBody>
      </p:sp>
      <p:grpSp>
        <p:nvGrpSpPr>
          <p:cNvPr id="27" name="Group 26">
            <a:extLst>
              <a:ext uri="{FF2B5EF4-FFF2-40B4-BE49-F238E27FC236}">
                <a16:creationId xmlns:a16="http://schemas.microsoft.com/office/drawing/2014/main" id="{EEF35136-7C69-E279-F576-637C5083E443}"/>
              </a:ext>
            </a:extLst>
          </p:cNvPr>
          <p:cNvGrpSpPr/>
          <p:nvPr/>
        </p:nvGrpSpPr>
        <p:grpSpPr>
          <a:xfrm>
            <a:off x="320040" y="1188720"/>
            <a:ext cx="4160520" cy="1600200"/>
            <a:chOff x="320040" y="1188720"/>
            <a:chExt cx="4160520" cy="1600200"/>
          </a:xfrm>
        </p:grpSpPr>
        <p:sp>
          <p:nvSpPr>
            <p:cNvPr id="6" name="Shape 4"/>
            <p:cNvSpPr/>
            <p:nvPr/>
          </p:nvSpPr>
          <p:spPr>
            <a:xfrm>
              <a:off x="320040" y="1188720"/>
              <a:ext cx="4160520" cy="1600200"/>
            </a:xfrm>
            <a:prstGeom prst="rect">
              <a:avLst/>
            </a:prstGeom>
            <a:solidFill>
              <a:srgbClr val="FFFFFF"/>
            </a:solidFill>
            <a:ln w="12700">
              <a:solidFill>
                <a:schemeClr val="bg2">
                  <a:lumMod val="50000"/>
                </a:schemeClr>
              </a:solidFill>
              <a:prstDash val="solid"/>
            </a:ln>
            <a:effectLst>
              <a:outerShdw blurRad="50800" dist="25400" dir="8100000" algn="bl" rotWithShape="0">
                <a:srgbClr val="000000">
                  <a:alpha val="8000"/>
                </a:srgbClr>
              </a:outerShdw>
            </a:effectLst>
          </p:spPr>
          <p:txBody>
            <a:bodyPr/>
            <a:lstStyle/>
            <a:p>
              <a:endParaRPr lang="en-IN"/>
            </a:p>
          </p:txBody>
        </p:sp>
        <p:grpSp>
          <p:nvGrpSpPr>
            <p:cNvPr id="26" name="Group 25">
              <a:extLst>
                <a:ext uri="{FF2B5EF4-FFF2-40B4-BE49-F238E27FC236}">
                  <a16:creationId xmlns:a16="http://schemas.microsoft.com/office/drawing/2014/main" id="{95415A5B-75CB-8C7D-EA08-F8FA15155DBD}"/>
                </a:ext>
              </a:extLst>
            </p:cNvPr>
            <p:cNvGrpSpPr/>
            <p:nvPr/>
          </p:nvGrpSpPr>
          <p:grpSpPr>
            <a:xfrm>
              <a:off x="320040" y="1188720"/>
              <a:ext cx="4087368" cy="1517904"/>
              <a:chOff x="320040" y="1188720"/>
              <a:chExt cx="4087368" cy="1517904"/>
            </a:xfrm>
          </p:grpSpPr>
          <p:sp>
            <p:nvSpPr>
              <p:cNvPr id="7" name="Shape 5"/>
              <p:cNvSpPr/>
              <p:nvPr/>
            </p:nvSpPr>
            <p:spPr>
              <a:xfrm>
                <a:off x="320040" y="1188720"/>
                <a:ext cx="1234440" cy="329184"/>
              </a:xfrm>
              <a:prstGeom prst="rect">
                <a:avLst/>
              </a:prstGeom>
              <a:solidFill>
                <a:schemeClr val="bg2">
                  <a:lumMod val="50000"/>
                </a:schemeClr>
              </a:solidFill>
              <a:ln w="12700">
                <a:solidFill>
                  <a:schemeClr val="bg2">
                    <a:lumMod val="50000"/>
                  </a:schemeClr>
                </a:solidFill>
                <a:prstDash val="solid"/>
              </a:ln>
            </p:spPr>
            <p:txBody>
              <a:bodyPr/>
              <a:lstStyle/>
              <a:p>
                <a:endParaRPr lang="en-IN"/>
              </a:p>
            </p:txBody>
          </p:sp>
          <p:sp>
            <p:nvSpPr>
              <p:cNvPr id="8" name="Text 6"/>
              <p:cNvSpPr/>
              <p:nvPr/>
            </p:nvSpPr>
            <p:spPr>
              <a:xfrm>
                <a:off x="365760" y="1188720"/>
                <a:ext cx="1188720" cy="329184"/>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anose="02020603050405020304" pitchFamily="18" charset="0"/>
                    <a:cs typeface="Times New Roman" panose="02020603050405020304" pitchFamily="18" charset="0"/>
                  </a:rPr>
                  <a:t>GAP 1</a:t>
                </a:r>
                <a:endParaRPr lang="en-US" sz="1200" dirty="0">
                  <a:latin typeface="Times New Roman" panose="02020603050405020304" pitchFamily="18" charset="0"/>
                  <a:cs typeface="Times New Roman" panose="02020603050405020304" pitchFamily="18" charset="0"/>
                </a:endParaRPr>
              </a:p>
            </p:txBody>
          </p:sp>
          <p:sp>
            <p:nvSpPr>
              <p:cNvPr id="9" name="Text 7"/>
              <p:cNvSpPr/>
              <p:nvPr/>
            </p:nvSpPr>
            <p:spPr>
              <a:xfrm>
                <a:off x="429768" y="1572768"/>
                <a:ext cx="3977640" cy="310896"/>
              </a:xfrm>
              <a:prstGeom prst="rect">
                <a:avLst/>
              </a:prstGeom>
              <a:noFill/>
              <a:ln/>
            </p:spPr>
            <p:txBody>
              <a:bodyPr wrap="square" lIns="0" tIns="0" rIns="0" bIns="0" rtlCol="0" anchor="ctr"/>
              <a:lstStyle/>
              <a:p>
                <a:pPr marL="0" indent="0">
                  <a:buNone/>
                </a:pPr>
                <a:r>
                  <a:rPr lang="en-US" sz="1200" b="1" dirty="0">
                    <a:solidFill>
                      <a:schemeClr val="bg2">
                        <a:lumMod val="50000"/>
                      </a:schemeClr>
                    </a:solidFill>
                    <a:latin typeface="Times New Roman" panose="02020603050405020304" pitchFamily="18" charset="0"/>
                    <a:cs typeface="Times New Roman" panose="02020603050405020304" pitchFamily="18" charset="0"/>
                  </a:rPr>
                  <a:t>Limited Spatial Rainfall Modeling</a:t>
                </a:r>
                <a:endParaRPr lang="en-US" sz="1200" dirty="0">
                  <a:solidFill>
                    <a:schemeClr val="bg2">
                      <a:lumMod val="50000"/>
                    </a:schemeClr>
                  </a:solidFill>
                  <a:latin typeface="Times New Roman" panose="02020603050405020304" pitchFamily="18" charset="0"/>
                  <a:cs typeface="Times New Roman" panose="02020603050405020304" pitchFamily="18" charset="0"/>
                </a:endParaRPr>
              </a:p>
            </p:txBody>
          </p:sp>
          <p:sp>
            <p:nvSpPr>
              <p:cNvPr id="10" name="Text 8"/>
              <p:cNvSpPr/>
              <p:nvPr/>
            </p:nvSpPr>
            <p:spPr>
              <a:xfrm>
                <a:off x="429768" y="1901952"/>
                <a:ext cx="3977640" cy="804672"/>
              </a:xfrm>
              <a:prstGeom prst="rect">
                <a:avLst/>
              </a:prstGeom>
              <a:noFill/>
              <a:ln/>
            </p:spPr>
            <p:txBody>
              <a:bodyPr wrap="square" lIns="0" tIns="0" rIns="0" bIns="0" rtlCol="0" anchor="ctr"/>
              <a:lstStyle/>
              <a:p>
                <a:pPr marL="0" indent="0" algn="just">
                  <a:buNone/>
                </a:pPr>
                <a:r>
                  <a:rPr lang="en-US" sz="1200" dirty="0">
                    <a:solidFill>
                      <a:srgbClr val="1A2B3C"/>
                    </a:solidFill>
                    <a:latin typeface="Times New Roman" panose="02020603050405020304" pitchFamily="18" charset="0"/>
                    <a:ea typeface="Calibri" pitchFamily="34" charset="-122"/>
                    <a:cs typeface="Times New Roman" panose="02020603050405020304" pitchFamily="18" charset="0"/>
                  </a:rPr>
                  <a:t>Most Indian river basin studies rely on lumped conceptual or linear regression models that cannot account for spatial rainfall variability and non-linear inflow dynamics.</a:t>
                </a:r>
                <a:endParaRPr lang="en-US" sz="1200" dirty="0">
                  <a:latin typeface="Times New Roman" panose="02020603050405020304" pitchFamily="18" charset="0"/>
                  <a:cs typeface="Times New Roman" panose="02020603050405020304" pitchFamily="18" charset="0"/>
                </a:endParaRPr>
              </a:p>
            </p:txBody>
          </p:sp>
        </p:grpSp>
      </p:grpSp>
      <p:grpSp>
        <p:nvGrpSpPr>
          <p:cNvPr id="38" name="Group 37">
            <a:extLst>
              <a:ext uri="{FF2B5EF4-FFF2-40B4-BE49-F238E27FC236}">
                <a16:creationId xmlns:a16="http://schemas.microsoft.com/office/drawing/2014/main" id="{7F189CBF-2E6B-8FC5-B6DE-D29B9A5C0B5F}"/>
              </a:ext>
            </a:extLst>
          </p:cNvPr>
          <p:cNvGrpSpPr/>
          <p:nvPr/>
        </p:nvGrpSpPr>
        <p:grpSpPr>
          <a:xfrm>
            <a:off x="4709160" y="1188720"/>
            <a:ext cx="4160520" cy="1600200"/>
            <a:chOff x="4709160" y="1188720"/>
            <a:chExt cx="4160520" cy="1600200"/>
          </a:xfrm>
        </p:grpSpPr>
        <p:sp>
          <p:nvSpPr>
            <p:cNvPr id="11" name="Shape 9"/>
            <p:cNvSpPr/>
            <p:nvPr/>
          </p:nvSpPr>
          <p:spPr>
            <a:xfrm>
              <a:off x="4709160" y="1188720"/>
              <a:ext cx="4160520" cy="1600200"/>
            </a:xfrm>
            <a:prstGeom prst="rect">
              <a:avLst/>
            </a:prstGeom>
            <a:solidFill>
              <a:srgbClr val="FFFFFF"/>
            </a:solidFill>
            <a:ln w="12700">
              <a:solidFill>
                <a:schemeClr val="bg2">
                  <a:lumMod val="50000"/>
                </a:schemeClr>
              </a:solidFill>
              <a:prstDash val="solid"/>
            </a:ln>
            <a:effectLst>
              <a:outerShdw blurRad="50800" dist="25400" dir="8100000" algn="bl" rotWithShape="0">
                <a:srgbClr val="000000">
                  <a:alpha val="8000"/>
                </a:srgbClr>
              </a:outerShdw>
            </a:effectLst>
          </p:spPr>
          <p:txBody>
            <a:bodyPr/>
            <a:lstStyle/>
            <a:p>
              <a:endParaRPr lang="en-IN"/>
            </a:p>
          </p:txBody>
        </p:sp>
        <p:grpSp>
          <p:nvGrpSpPr>
            <p:cNvPr id="37" name="Group 36">
              <a:extLst>
                <a:ext uri="{FF2B5EF4-FFF2-40B4-BE49-F238E27FC236}">
                  <a16:creationId xmlns:a16="http://schemas.microsoft.com/office/drawing/2014/main" id="{43D8399E-5426-E85A-DAC5-1385C6550BD1}"/>
                </a:ext>
              </a:extLst>
            </p:cNvPr>
            <p:cNvGrpSpPr/>
            <p:nvPr/>
          </p:nvGrpSpPr>
          <p:grpSpPr>
            <a:xfrm>
              <a:off x="4709160" y="1188720"/>
              <a:ext cx="4087368" cy="1517904"/>
              <a:chOff x="4709160" y="1188720"/>
              <a:chExt cx="4087368" cy="1517904"/>
            </a:xfrm>
          </p:grpSpPr>
          <p:sp>
            <p:nvSpPr>
              <p:cNvPr id="12" name="Shape 10"/>
              <p:cNvSpPr/>
              <p:nvPr/>
            </p:nvSpPr>
            <p:spPr>
              <a:xfrm>
                <a:off x="4709160" y="1188720"/>
                <a:ext cx="1234440" cy="329184"/>
              </a:xfrm>
              <a:prstGeom prst="rect">
                <a:avLst/>
              </a:prstGeom>
              <a:solidFill>
                <a:schemeClr val="bg2">
                  <a:lumMod val="50000"/>
                </a:schemeClr>
              </a:solidFill>
              <a:ln w="12700">
                <a:solidFill>
                  <a:schemeClr val="bg2">
                    <a:lumMod val="50000"/>
                  </a:schemeClr>
                </a:solidFill>
                <a:prstDash val="solid"/>
              </a:ln>
            </p:spPr>
            <p:txBody>
              <a:bodyPr/>
              <a:lstStyle/>
              <a:p>
                <a:endParaRPr lang="en-IN"/>
              </a:p>
            </p:txBody>
          </p:sp>
          <p:grpSp>
            <p:nvGrpSpPr>
              <p:cNvPr id="28" name="Group 27">
                <a:extLst>
                  <a:ext uri="{FF2B5EF4-FFF2-40B4-BE49-F238E27FC236}">
                    <a16:creationId xmlns:a16="http://schemas.microsoft.com/office/drawing/2014/main" id="{1DA13D66-9FE0-0C43-AA54-8F813B561A62}"/>
                  </a:ext>
                </a:extLst>
              </p:cNvPr>
              <p:cNvGrpSpPr/>
              <p:nvPr/>
            </p:nvGrpSpPr>
            <p:grpSpPr>
              <a:xfrm>
                <a:off x="4754880" y="1188720"/>
                <a:ext cx="4041648" cy="1517904"/>
                <a:chOff x="4754880" y="1188720"/>
                <a:chExt cx="4041648" cy="1517904"/>
              </a:xfrm>
            </p:grpSpPr>
            <p:sp>
              <p:nvSpPr>
                <p:cNvPr id="13" name="Text 11"/>
                <p:cNvSpPr/>
                <p:nvPr/>
              </p:nvSpPr>
              <p:spPr>
                <a:xfrm>
                  <a:off x="4754880" y="1188720"/>
                  <a:ext cx="1188720" cy="329184"/>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anose="02020603050405020304" pitchFamily="18" charset="0"/>
                      <a:cs typeface="Times New Roman" panose="02020603050405020304" pitchFamily="18" charset="0"/>
                    </a:rPr>
                    <a:t>GAP 2</a:t>
                  </a:r>
                  <a:endParaRPr lang="en-US" sz="1200" dirty="0">
                    <a:latin typeface="Times New Roman" panose="02020603050405020304" pitchFamily="18" charset="0"/>
                    <a:cs typeface="Times New Roman" panose="02020603050405020304" pitchFamily="18" charset="0"/>
                  </a:endParaRPr>
                </a:p>
              </p:txBody>
            </p:sp>
            <p:sp>
              <p:nvSpPr>
                <p:cNvPr id="14" name="Text 12"/>
                <p:cNvSpPr/>
                <p:nvPr/>
              </p:nvSpPr>
              <p:spPr>
                <a:xfrm>
                  <a:off x="4818888" y="1572768"/>
                  <a:ext cx="3977640" cy="310896"/>
                </a:xfrm>
                <a:prstGeom prst="rect">
                  <a:avLst/>
                </a:prstGeom>
                <a:noFill/>
                <a:ln/>
              </p:spPr>
              <p:txBody>
                <a:bodyPr wrap="square" lIns="0" tIns="0" rIns="0" bIns="0" rtlCol="0" anchor="ctr"/>
                <a:lstStyle/>
                <a:p>
                  <a:pPr marL="0" indent="0">
                    <a:buNone/>
                  </a:pPr>
                  <a:r>
                    <a:rPr lang="en-US" sz="1200" b="1" dirty="0">
                      <a:solidFill>
                        <a:schemeClr val="bg2">
                          <a:lumMod val="50000"/>
                        </a:schemeClr>
                      </a:solidFill>
                      <a:latin typeface="Times New Roman" panose="02020603050405020304" pitchFamily="18" charset="0"/>
                      <a:cs typeface="Times New Roman" panose="02020603050405020304" pitchFamily="18" charset="0"/>
                    </a:rPr>
                    <a:t>Absent LSTM Studies for Indian Barrages</a:t>
                  </a:r>
                  <a:endParaRPr lang="en-US" sz="1200" dirty="0">
                    <a:solidFill>
                      <a:schemeClr val="bg2">
                        <a:lumMod val="50000"/>
                      </a:schemeClr>
                    </a:solidFill>
                    <a:latin typeface="Times New Roman" panose="02020603050405020304" pitchFamily="18" charset="0"/>
                    <a:cs typeface="Times New Roman" panose="02020603050405020304" pitchFamily="18" charset="0"/>
                  </a:endParaRPr>
                </a:p>
              </p:txBody>
            </p:sp>
            <p:sp>
              <p:nvSpPr>
                <p:cNvPr id="15" name="Text 13"/>
                <p:cNvSpPr/>
                <p:nvPr/>
              </p:nvSpPr>
              <p:spPr>
                <a:xfrm>
                  <a:off x="4818888" y="1901952"/>
                  <a:ext cx="3977640" cy="804672"/>
                </a:xfrm>
                <a:prstGeom prst="rect">
                  <a:avLst/>
                </a:prstGeom>
                <a:noFill/>
                <a:ln/>
              </p:spPr>
              <p:txBody>
                <a:bodyPr wrap="square" lIns="0" tIns="0" rIns="0" bIns="0" rtlCol="0" anchor="ctr"/>
                <a:lstStyle/>
                <a:p>
                  <a:pPr marL="0" indent="0" algn="just">
                    <a:buNone/>
                  </a:pPr>
                  <a:r>
                    <a:rPr lang="en-US" sz="1200" dirty="0">
                      <a:solidFill>
                        <a:srgbClr val="1A2B3C"/>
                      </a:solidFill>
                      <a:latin typeface="Times New Roman" panose="02020603050405020304" pitchFamily="18" charset="0"/>
                      <a:ea typeface="Calibri" pitchFamily="34" charset="-122"/>
                      <a:cs typeface="Times New Roman" panose="02020603050405020304" pitchFamily="18" charset="0"/>
                    </a:rPr>
                    <a:t>Application of LSTM models for inflow forecasting in Indian barrages using distributed antecedent precipitation data has not been adequately addressed.</a:t>
                  </a:r>
                  <a:endParaRPr lang="en-US" sz="1200" dirty="0">
                    <a:latin typeface="Times New Roman" panose="02020603050405020304" pitchFamily="18" charset="0"/>
                    <a:cs typeface="Times New Roman" panose="02020603050405020304" pitchFamily="18" charset="0"/>
                  </a:endParaRPr>
                </a:p>
              </p:txBody>
            </p:sp>
          </p:grpSp>
        </p:grpSp>
      </p:grpSp>
      <p:grpSp>
        <p:nvGrpSpPr>
          <p:cNvPr id="34" name="Group 33">
            <a:extLst>
              <a:ext uri="{FF2B5EF4-FFF2-40B4-BE49-F238E27FC236}">
                <a16:creationId xmlns:a16="http://schemas.microsoft.com/office/drawing/2014/main" id="{8176C093-9831-48DC-E532-DFF5283CED29}"/>
              </a:ext>
            </a:extLst>
          </p:cNvPr>
          <p:cNvGrpSpPr/>
          <p:nvPr/>
        </p:nvGrpSpPr>
        <p:grpSpPr>
          <a:xfrm>
            <a:off x="320040" y="3063240"/>
            <a:ext cx="4160520" cy="1600200"/>
            <a:chOff x="320040" y="3063240"/>
            <a:chExt cx="4160520" cy="1600200"/>
          </a:xfrm>
        </p:grpSpPr>
        <p:sp>
          <p:nvSpPr>
            <p:cNvPr id="16" name="Shape 14"/>
            <p:cNvSpPr/>
            <p:nvPr/>
          </p:nvSpPr>
          <p:spPr>
            <a:xfrm>
              <a:off x="320040" y="3063240"/>
              <a:ext cx="4160520" cy="1600200"/>
            </a:xfrm>
            <a:prstGeom prst="rect">
              <a:avLst/>
            </a:prstGeom>
            <a:solidFill>
              <a:srgbClr val="FFFFFF"/>
            </a:solidFill>
            <a:ln w="12700">
              <a:solidFill>
                <a:schemeClr val="bg2">
                  <a:lumMod val="50000"/>
                </a:schemeClr>
              </a:solidFill>
              <a:prstDash val="solid"/>
            </a:ln>
            <a:effectLst>
              <a:outerShdw blurRad="50800" dist="25400" dir="8100000" algn="bl" rotWithShape="0">
                <a:srgbClr val="000000">
                  <a:alpha val="8000"/>
                </a:srgbClr>
              </a:outerShdw>
            </a:effectLst>
          </p:spPr>
          <p:txBody>
            <a:bodyPr/>
            <a:lstStyle/>
            <a:p>
              <a:endParaRPr lang="en-IN"/>
            </a:p>
          </p:txBody>
        </p:sp>
        <p:grpSp>
          <p:nvGrpSpPr>
            <p:cNvPr id="30" name="Group 29">
              <a:extLst>
                <a:ext uri="{FF2B5EF4-FFF2-40B4-BE49-F238E27FC236}">
                  <a16:creationId xmlns:a16="http://schemas.microsoft.com/office/drawing/2014/main" id="{B1321D01-8A61-19D2-1443-03F4D813D7E8}"/>
                </a:ext>
              </a:extLst>
            </p:cNvPr>
            <p:cNvGrpSpPr/>
            <p:nvPr/>
          </p:nvGrpSpPr>
          <p:grpSpPr>
            <a:xfrm>
              <a:off x="320040" y="3063240"/>
              <a:ext cx="4087368" cy="1517904"/>
              <a:chOff x="320040" y="3063240"/>
              <a:chExt cx="4087368" cy="1517904"/>
            </a:xfrm>
          </p:grpSpPr>
          <p:sp>
            <p:nvSpPr>
              <p:cNvPr id="17" name="Shape 15"/>
              <p:cNvSpPr/>
              <p:nvPr/>
            </p:nvSpPr>
            <p:spPr>
              <a:xfrm>
                <a:off x="320040" y="3063240"/>
                <a:ext cx="1234440" cy="329184"/>
              </a:xfrm>
              <a:prstGeom prst="rect">
                <a:avLst/>
              </a:prstGeom>
              <a:solidFill>
                <a:schemeClr val="bg2">
                  <a:lumMod val="50000"/>
                </a:schemeClr>
              </a:solidFill>
              <a:ln w="12700">
                <a:solidFill>
                  <a:schemeClr val="bg2">
                    <a:lumMod val="50000"/>
                  </a:schemeClr>
                </a:solidFill>
                <a:prstDash val="solid"/>
              </a:ln>
            </p:spPr>
            <p:txBody>
              <a:bodyPr/>
              <a:lstStyle/>
              <a:p>
                <a:endParaRPr lang="en-IN"/>
              </a:p>
            </p:txBody>
          </p:sp>
          <p:sp>
            <p:nvSpPr>
              <p:cNvPr id="18" name="Text 16"/>
              <p:cNvSpPr/>
              <p:nvPr/>
            </p:nvSpPr>
            <p:spPr>
              <a:xfrm>
                <a:off x="365760" y="3063240"/>
                <a:ext cx="1188720" cy="329184"/>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anose="02020603050405020304" pitchFamily="18" charset="0"/>
                    <a:cs typeface="Times New Roman" panose="02020603050405020304" pitchFamily="18" charset="0"/>
                  </a:rPr>
                  <a:t>GAP 3</a:t>
                </a:r>
                <a:endParaRPr lang="en-US" sz="1200" dirty="0">
                  <a:latin typeface="Times New Roman" panose="02020603050405020304" pitchFamily="18" charset="0"/>
                  <a:cs typeface="Times New Roman" panose="02020603050405020304" pitchFamily="18" charset="0"/>
                </a:endParaRPr>
              </a:p>
            </p:txBody>
          </p:sp>
          <p:sp>
            <p:nvSpPr>
              <p:cNvPr id="19" name="Text 17"/>
              <p:cNvSpPr/>
              <p:nvPr/>
            </p:nvSpPr>
            <p:spPr>
              <a:xfrm>
                <a:off x="429768" y="3447288"/>
                <a:ext cx="3977640" cy="310896"/>
              </a:xfrm>
              <a:prstGeom prst="rect">
                <a:avLst/>
              </a:prstGeom>
              <a:noFill/>
              <a:ln/>
            </p:spPr>
            <p:txBody>
              <a:bodyPr wrap="square" lIns="0" tIns="0" rIns="0" bIns="0" rtlCol="0" anchor="ctr"/>
              <a:lstStyle/>
              <a:p>
                <a:pPr marL="0" indent="0">
                  <a:buNone/>
                </a:pPr>
                <a:r>
                  <a:rPr lang="en-US" sz="1200" b="1" dirty="0">
                    <a:solidFill>
                      <a:schemeClr val="bg2">
                        <a:lumMod val="50000"/>
                      </a:schemeClr>
                    </a:solidFill>
                    <a:latin typeface="Times New Roman" panose="02020603050405020304" pitchFamily="18" charset="0"/>
                    <a:cs typeface="Times New Roman" panose="02020603050405020304" pitchFamily="18" charset="0"/>
                  </a:rPr>
                  <a:t>No GP vs. LSTM Comparison in India</a:t>
                </a:r>
                <a:endParaRPr lang="en-US" sz="1200" dirty="0">
                  <a:solidFill>
                    <a:schemeClr val="bg2">
                      <a:lumMod val="50000"/>
                    </a:schemeClr>
                  </a:solidFill>
                  <a:latin typeface="Times New Roman" panose="02020603050405020304" pitchFamily="18" charset="0"/>
                  <a:cs typeface="Times New Roman" panose="02020603050405020304" pitchFamily="18" charset="0"/>
                </a:endParaRPr>
              </a:p>
            </p:txBody>
          </p:sp>
          <p:sp>
            <p:nvSpPr>
              <p:cNvPr id="20" name="Text 18"/>
              <p:cNvSpPr/>
              <p:nvPr/>
            </p:nvSpPr>
            <p:spPr>
              <a:xfrm>
                <a:off x="429768" y="3776472"/>
                <a:ext cx="3977640" cy="804672"/>
              </a:xfrm>
              <a:prstGeom prst="rect">
                <a:avLst/>
              </a:prstGeom>
              <a:noFill/>
              <a:ln/>
            </p:spPr>
            <p:txBody>
              <a:bodyPr wrap="square" lIns="0" tIns="0" rIns="0" bIns="0" rtlCol="0" anchor="ctr"/>
              <a:lstStyle/>
              <a:p>
                <a:pPr marL="0" indent="0" algn="just">
                  <a:buNone/>
                </a:pPr>
                <a:r>
                  <a:rPr lang="en-US" sz="1200" dirty="0">
                    <a:solidFill>
                      <a:srgbClr val="1A2B3C"/>
                    </a:solidFill>
                    <a:latin typeface="Times New Roman" panose="02020603050405020304" pitchFamily="18" charset="0"/>
                    <a:ea typeface="Calibri" pitchFamily="34" charset="-122"/>
                    <a:cs typeface="Times New Roman" panose="02020603050405020304" pitchFamily="18" charset="0"/>
                  </a:rPr>
                  <a:t>A rigorous comparison between Genetic Programming and LSTM for rainfall-runoff analysis has not been carried out in the Indian hydrological context.</a:t>
                </a:r>
                <a:endParaRPr lang="en-US" sz="1200" dirty="0">
                  <a:latin typeface="Times New Roman" panose="02020603050405020304" pitchFamily="18" charset="0"/>
                  <a:cs typeface="Times New Roman" panose="02020603050405020304" pitchFamily="18" charset="0"/>
                </a:endParaRPr>
              </a:p>
            </p:txBody>
          </p:sp>
        </p:grpSp>
      </p:grpSp>
      <p:grpSp>
        <p:nvGrpSpPr>
          <p:cNvPr id="36" name="Group 35">
            <a:extLst>
              <a:ext uri="{FF2B5EF4-FFF2-40B4-BE49-F238E27FC236}">
                <a16:creationId xmlns:a16="http://schemas.microsoft.com/office/drawing/2014/main" id="{50252BC8-889C-B46D-37FB-469D968D845D}"/>
              </a:ext>
            </a:extLst>
          </p:cNvPr>
          <p:cNvGrpSpPr/>
          <p:nvPr/>
        </p:nvGrpSpPr>
        <p:grpSpPr>
          <a:xfrm>
            <a:off x="4709160" y="3063240"/>
            <a:ext cx="4160520" cy="1600200"/>
            <a:chOff x="4709160" y="3063240"/>
            <a:chExt cx="4160520" cy="1600200"/>
          </a:xfrm>
        </p:grpSpPr>
        <p:sp>
          <p:nvSpPr>
            <p:cNvPr id="21" name="Shape 19"/>
            <p:cNvSpPr/>
            <p:nvPr/>
          </p:nvSpPr>
          <p:spPr>
            <a:xfrm>
              <a:off x="4709160" y="3063240"/>
              <a:ext cx="4160520" cy="1600200"/>
            </a:xfrm>
            <a:prstGeom prst="rect">
              <a:avLst/>
            </a:prstGeom>
            <a:solidFill>
              <a:srgbClr val="FFFFFF"/>
            </a:solidFill>
            <a:ln w="12700">
              <a:solidFill>
                <a:schemeClr val="bg2">
                  <a:lumMod val="50000"/>
                </a:schemeClr>
              </a:solidFill>
              <a:prstDash val="solid"/>
            </a:ln>
            <a:effectLst>
              <a:outerShdw blurRad="50800" dist="25400" dir="8100000" algn="bl" rotWithShape="0">
                <a:srgbClr val="000000">
                  <a:alpha val="8000"/>
                </a:srgbClr>
              </a:outerShdw>
            </a:effectLst>
          </p:spPr>
          <p:txBody>
            <a:bodyPr/>
            <a:lstStyle/>
            <a:p>
              <a:endParaRPr lang="en-IN"/>
            </a:p>
          </p:txBody>
        </p:sp>
        <p:sp>
          <p:nvSpPr>
            <p:cNvPr id="22" name="Shape 20"/>
            <p:cNvSpPr/>
            <p:nvPr/>
          </p:nvSpPr>
          <p:spPr>
            <a:xfrm>
              <a:off x="4709160" y="3063240"/>
              <a:ext cx="1234440" cy="329184"/>
            </a:xfrm>
            <a:prstGeom prst="rect">
              <a:avLst/>
            </a:prstGeom>
            <a:solidFill>
              <a:schemeClr val="bg2">
                <a:lumMod val="50000"/>
              </a:schemeClr>
            </a:solidFill>
            <a:ln w="12700">
              <a:solidFill>
                <a:schemeClr val="bg2">
                  <a:lumMod val="50000"/>
                </a:schemeClr>
              </a:solidFill>
              <a:prstDash val="solid"/>
            </a:ln>
          </p:spPr>
          <p:txBody>
            <a:bodyPr/>
            <a:lstStyle/>
            <a:p>
              <a:endParaRPr lang="en-IN"/>
            </a:p>
          </p:txBody>
        </p:sp>
        <p:sp>
          <p:nvSpPr>
            <p:cNvPr id="23" name="Text 21"/>
            <p:cNvSpPr/>
            <p:nvPr/>
          </p:nvSpPr>
          <p:spPr>
            <a:xfrm>
              <a:off x="4754880" y="3063240"/>
              <a:ext cx="1188720" cy="329184"/>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anose="02020603050405020304" pitchFamily="18" charset="0"/>
                  <a:cs typeface="Times New Roman" panose="02020603050405020304" pitchFamily="18" charset="0"/>
                </a:rPr>
                <a:t>GAP 4</a:t>
              </a:r>
              <a:endParaRPr lang="en-US" sz="1200" dirty="0">
                <a:latin typeface="Times New Roman" panose="02020603050405020304" pitchFamily="18" charset="0"/>
                <a:cs typeface="Times New Roman" panose="02020603050405020304" pitchFamily="18" charset="0"/>
              </a:endParaRPr>
            </a:p>
          </p:txBody>
        </p:sp>
        <p:sp>
          <p:nvSpPr>
            <p:cNvPr id="24" name="Text 22"/>
            <p:cNvSpPr/>
            <p:nvPr/>
          </p:nvSpPr>
          <p:spPr>
            <a:xfrm>
              <a:off x="4818888" y="3447288"/>
              <a:ext cx="3977640" cy="310896"/>
            </a:xfrm>
            <a:prstGeom prst="rect">
              <a:avLst/>
            </a:prstGeom>
            <a:noFill/>
            <a:ln/>
          </p:spPr>
          <p:txBody>
            <a:bodyPr wrap="square" lIns="0" tIns="0" rIns="0" bIns="0" rtlCol="0" anchor="ctr"/>
            <a:lstStyle/>
            <a:p>
              <a:pPr marL="0" indent="0">
                <a:buNone/>
              </a:pPr>
              <a:r>
                <a:rPr lang="en-US" sz="1200" b="1" dirty="0">
                  <a:solidFill>
                    <a:schemeClr val="bg2">
                      <a:lumMod val="50000"/>
                    </a:schemeClr>
                  </a:solidFill>
                  <a:latin typeface="Times New Roman" panose="02020603050405020304" pitchFamily="18" charset="0"/>
                  <a:cs typeface="Times New Roman" panose="02020603050405020304" pitchFamily="18" charset="0"/>
                </a:rPr>
                <a:t>No Integrated Framework for SACB</a:t>
              </a:r>
              <a:endParaRPr lang="en-US" sz="1200" dirty="0">
                <a:solidFill>
                  <a:schemeClr val="bg2">
                    <a:lumMod val="50000"/>
                  </a:schemeClr>
                </a:solidFill>
                <a:latin typeface="Times New Roman" panose="02020603050405020304" pitchFamily="18" charset="0"/>
                <a:cs typeface="Times New Roman" panose="02020603050405020304" pitchFamily="18" charset="0"/>
              </a:endParaRPr>
            </a:p>
          </p:txBody>
        </p:sp>
        <p:sp>
          <p:nvSpPr>
            <p:cNvPr id="25" name="Text 23"/>
            <p:cNvSpPr/>
            <p:nvPr/>
          </p:nvSpPr>
          <p:spPr>
            <a:xfrm>
              <a:off x="4818888" y="3776472"/>
              <a:ext cx="3977640" cy="804672"/>
            </a:xfrm>
            <a:prstGeom prst="rect">
              <a:avLst/>
            </a:prstGeom>
            <a:noFill/>
            <a:ln/>
          </p:spPr>
          <p:txBody>
            <a:bodyPr wrap="square" lIns="0" tIns="0" rIns="0" bIns="0" rtlCol="0" anchor="ctr"/>
            <a:lstStyle/>
            <a:p>
              <a:pPr marL="0" indent="0" algn="just">
                <a:buNone/>
              </a:pPr>
              <a:r>
                <a:rPr lang="en-US" sz="1200" dirty="0">
                  <a:solidFill>
                    <a:srgbClr val="1A2B3C"/>
                  </a:solidFill>
                  <a:latin typeface="Times New Roman" panose="02020603050405020304" pitchFamily="18" charset="0"/>
                  <a:ea typeface="Calibri" pitchFamily="34" charset="-122"/>
                  <a:cs typeface="Times New Roman" panose="02020603050405020304" pitchFamily="18" charset="0"/>
                </a:rPr>
                <a:t>No comprehensive framework considers the combined impact of LULC alteration, soil characteristics, and rainfall trends specifically on the Sir Arthur Cotton Barrage.</a:t>
              </a:r>
              <a:endParaRPr lang="en-US" sz="1200" dirty="0">
                <a:latin typeface="Times New Roman" panose="02020603050405020304" pitchFamily="18" charset="0"/>
                <a:cs typeface="Times New Roman" panose="02020603050405020304" pitchFamily="18" charset="0"/>
              </a:endParaRPr>
            </a:p>
          </p:txBody>
        </p:sp>
      </p:grpSp>
      <p:sp>
        <p:nvSpPr>
          <p:cNvPr id="31" name="TextBox 30">
            <a:extLst>
              <a:ext uri="{FF2B5EF4-FFF2-40B4-BE49-F238E27FC236}">
                <a16:creationId xmlns:a16="http://schemas.microsoft.com/office/drawing/2014/main" id="{E9C9AE3C-338F-8CB2-5DF3-09AE659D9D4A}"/>
              </a:ext>
            </a:extLst>
          </p:cNvPr>
          <p:cNvSpPr txBox="1"/>
          <p:nvPr/>
        </p:nvSpPr>
        <p:spPr>
          <a:xfrm>
            <a:off x="8684005" y="4780950"/>
            <a:ext cx="286734"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4</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500"/>
                                        <p:tgtEl>
                                          <p:spTgt spid="3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0C0"/>
          </a:solidFill>
          <a:ln w="12700">
            <a:solidFill>
              <a:srgbClr val="1E88E5"/>
            </a:solidFill>
            <a:prstDash val="solid"/>
          </a:ln>
        </p:spPr>
        <p:txBody>
          <a:bodyPr/>
          <a:lstStyle/>
          <a:p>
            <a:endParaRPr lang="en-IN"/>
          </a:p>
        </p:txBody>
      </p:sp>
      <p:sp>
        <p:nvSpPr>
          <p:cNvPr id="3" name="Shape 1"/>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4" name="Text 2"/>
          <p:cNvSpPr/>
          <p:nvPr/>
        </p:nvSpPr>
        <p:spPr>
          <a:xfrm>
            <a:off x="274320" y="0"/>
            <a:ext cx="8595360" cy="658368"/>
          </a:xfrm>
          <a:prstGeom prst="rect">
            <a:avLst/>
          </a:prstGeom>
          <a:noFill/>
          <a:ln/>
        </p:spPr>
        <p:txBody>
          <a:bodyPr wrap="square" lIns="0" tIns="0" rIns="0" bIns="0"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04  |  Study Area</a:t>
            </a:r>
            <a:endParaRPr lang="en-US" sz="2200" dirty="0">
              <a:latin typeface="Times New Roman" panose="02020603050405020304" pitchFamily="18" charset="0"/>
              <a:cs typeface="Times New Roman" panose="02020603050405020304" pitchFamily="18" charset="0"/>
            </a:endParaRPr>
          </a:p>
        </p:txBody>
      </p:sp>
      <p:sp>
        <p:nvSpPr>
          <p:cNvPr id="5" name="Text 3"/>
          <p:cNvSpPr/>
          <p:nvPr/>
        </p:nvSpPr>
        <p:spPr>
          <a:xfrm>
            <a:off x="274320" y="818782"/>
            <a:ext cx="5029200" cy="320040"/>
          </a:xfrm>
          <a:prstGeom prst="rect">
            <a:avLst/>
          </a:prstGeom>
          <a:noFill/>
          <a:ln/>
        </p:spPr>
        <p:txBody>
          <a:bodyPr wrap="square" rtlCol="0" anchor="ctr"/>
          <a:lstStyle/>
          <a:p>
            <a:pPr marL="0" indent="0">
              <a:buNone/>
            </a:pPr>
            <a:r>
              <a:rPr lang="en-US" sz="1400" b="1" dirty="0">
                <a:solidFill>
                  <a:srgbClr val="1E88E5"/>
                </a:solidFill>
                <a:latin typeface="Times New Roman" panose="02020603050405020304" pitchFamily="18" charset="0"/>
                <a:cs typeface="Times New Roman" panose="02020603050405020304" pitchFamily="18" charset="0"/>
              </a:rPr>
              <a:t>Godavari River Basin</a:t>
            </a:r>
            <a:endParaRPr lang="en-US" sz="1400" dirty="0">
              <a:latin typeface="Times New Roman" panose="02020603050405020304" pitchFamily="18" charset="0"/>
              <a:cs typeface="Times New Roman" panose="02020603050405020304" pitchFamily="18" charset="0"/>
            </a:endParaRPr>
          </a:p>
        </p:txBody>
      </p:sp>
      <p:sp>
        <p:nvSpPr>
          <p:cNvPr id="6" name="Text 4"/>
          <p:cNvSpPr/>
          <p:nvPr/>
        </p:nvSpPr>
        <p:spPr>
          <a:xfrm>
            <a:off x="365760" y="1170432"/>
            <a:ext cx="5029200" cy="1234440"/>
          </a:xfrm>
          <a:prstGeom prst="rect">
            <a:avLst/>
          </a:prstGeom>
          <a:noFill/>
          <a:ln/>
        </p:spPr>
        <p:txBody>
          <a:bodyPr wrap="square" lIns="0" tIns="0" rIns="0" bIns="0" rtlCol="0" anchor="t"/>
          <a:lstStyle/>
          <a:p>
            <a:pPr marL="0" indent="0">
              <a:buNone/>
            </a:pPr>
            <a:r>
              <a:rPr lang="en-US" sz="1100" b="1" dirty="0">
                <a:solidFill>
                  <a:srgbClr val="1A2B3C"/>
                </a:solidFill>
                <a:latin typeface="Times New Roman" panose="02020603050405020304" pitchFamily="18" charset="0"/>
                <a:ea typeface="Calibri" pitchFamily="34" charset="-122"/>
                <a:cs typeface="Times New Roman" panose="02020603050405020304" pitchFamily="18" charset="0"/>
              </a:rPr>
              <a:t>Location: </a:t>
            </a: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Peninsular India, spanning Maharashtra, Andhra Pradesh, Telangana, Chhattisgarh, Odisha, Madhya Pradesh, Karnataka
</a:t>
            </a:r>
            <a:r>
              <a:rPr lang="en-US" sz="1100" b="1" dirty="0">
                <a:solidFill>
                  <a:srgbClr val="1A2B3C"/>
                </a:solidFill>
                <a:latin typeface="Times New Roman" panose="02020603050405020304" pitchFamily="18" charset="0"/>
                <a:ea typeface="Calibri" pitchFamily="34" charset="-122"/>
                <a:cs typeface="Times New Roman" panose="02020603050405020304" pitchFamily="18" charset="0"/>
              </a:rPr>
              <a:t>Area: </a:t>
            </a: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 3,02,065 km² (9.5% of India's total area) - Second largest basin in India
</a:t>
            </a:r>
            <a:r>
              <a:rPr lang="en-US" sz="1100" b="1" dirty="0">
                <a:solidFill>
                  <a:srgbClr val="1A2B3C"/>
                </a:solidFill>
                <a:latin typeface="Times New Roman" panose="02020603050405020304" pitchFamily="18" charset="0"/>
                <a:ea typeface="Calibri" pitchFamily="34" charset="-122"/>
                <a:cs typeface="Times New Roman" panose="02020603050405020304" pitchFamily="18" charset="0"/>
              </a:rPr>
              <a:t>River length: </a:t>
            </a: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 1,465 km, from Western Ghats (Nashik) to Bay of Bengal
</a:t>
            </a:r>
            <a:r>
              <a:rPr lang="en-US" sz="1100" b="1" dirty="0">
                <a:solidFill>
                  <a:srgbClr val="1A2B3C"/>
                </a:solidFill>
                <a:latin typeface="Times New Roman" panose="02020603050405020304" pitchFamily="18" charset="0"/>
                <a:ea typeface="Calibri" pitchFamily="34" charset="-122"/>
                <a:cs typeface="Times New Roman" panose="02020603050405020304" pitchFamily="18" charset="0"/>
              </a:rPr>
              <a:t>Rainfall: </a:t>
            </a: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Average 1,096 mm/year; 80%+ during SW monsoon (June–October)
</a:t>
            </a:r>
            <a:r>
              <a:rPr lang="en-US" sz="1100" b="1" dirty="0">
                <a:solidFill>
                  <a:srgbClr val="1A2B3C"/>
                </a:solidFill>
                <a:latin typeface="Times New Roman" panose="02020603050405020304" pitchFamily="18" charset="0"/>
                <a:ea typeface="Calibri" pitchFamily="34" charset="-122"/>
                <a:cs typeface="Times New Roman" panose="02020603050405020304" pitchFamily="18" charset="0"/>
              </a:rPr>
              <a:t>Data: </a:t>
            </a: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49 rain gauge stations; daily rainfall &amp; inflow data 1988–2024</a:t>
            </a:r>
            <a:endParaRPr lang="en-US" sz="1100" dirty="0">
              <a:latin typeface="Times New Roman" panose="02020603050405020304" pitchFamily="18" charset="0"/>
              <a:cs typeface="Times New Roman" panose="02020603050405020304" pitchFamily="18" charset="0"/>
            </a:endParaRPr>
          </a:p>
        </p:txBody>
      </p:sp>
      <p:grpSp>
        <p:nvGrpSpPr>
          <p:cNvPr id="58" name="Group 57">
            <a:extLst>
              <a:ext uri="{FF2B5EF4-FFF2-40B4-BE49-F238E27FC236}">
                <a16:creationId xmlns:a16="http://schemas.microsoft.com/office/drawing/2014/main" id="{A34363AD-8D60-5237-614B-BB063CECC186}"/>
              </a:ext>
            </a:extLst>
          </p:cNvPr>
          <p:cNvGrpSpPr/>
          <p:nvPr/>
        </p:nvGrpSpPr>
        <p:grpSpPr>
          <a:xfrm>
            <a:off x="365760" y="2528710"/>
            <a:ext cx="5029200" cy="2390762"/>
            <a:chOff x="365760" y="2528710"/>
            <a:chExt cx="5029200" cy="2390762"/>
          </a:xfrm>
        </p:grpSpPr>
        <p:sp>
          <p:nvSpPr>
            <p:cNvPr id="11" name="Shape 9"/>
            <p:cNvSpPr/>
            <p:nvPr/>
          </p:nvSpPr>
          <p:spPr>
            <a:xfrm>
              <a:off x="365760" y="3255264"/>
              <a:ext cx="1234440" cy="274320"/>
            </a:xfrm>
            <a:prstGeom prst="rect">
              <a:avLst/>
            </a:prstGeom>
            <a:solidFill>
              <a:srgbClr val="1E88E5"/>
            </a:solidFill>
            <a:ln w="12700">
              <a:solidFill>
                <a:srgbClr val="1E88E5"/>
              </a:solidFill>
              <a:prstDash val="solid"/>
            </a:ln>
          </p:spPr>
          <p:txBody>
            <a:bodyPr/>
            <a:lstStyle/>
            <a:p>
              <a:endParaRPr lang="en-IN"/>
            </a:p>
          </p:txBody>
        </p:sp>
        <p:sp>
          <p:nvSpPr>
            <p:cNvPr id="14" name="Shape 12"/>
            <p:cNvSpPr/>
            <p:nvPr/>
          </p:nvSpPr>
          <p:spPr>
            <a:xfrm>
              <a:off x="365760" y="3616846"/>
              <a:ext cx="1234440" cy="274320"/>
            </a:xfrm>
            <a:prstGeom prst="rect">
              <a:avLst/>
            </a:prstGeom>
            <a:solidFill>
              <a:srgbClr val="1E88E5"/>
            </a:solidFill>
            <a:ln w="12700">
              <a:solidFill>
                <a:srgbClr val="1E88E5"/>
              </a:solidFill>
              <a:prstDash val="solid"/>
            </a:ln>
          </p:spPr>
          <p:txBody>
            <a:bodyPr/>
            <a:lstStyle/>
            <a:p>
              <a:endParaRPr lang="en-IN"/>
            </a:p>
          </p:txBody>
        </p:sp>
        <p:sp>
          <p:nvSpPr>
            <p:cNvPr id="17" name="Shape 15"/>
            <p:cNvSpPr/>
            <p:nvPr/>
          </p:nvSpPr>
          <p:spPr>
            <a:xfrm>
              <a:off x="365760" y="3950208"/>
              <a:ext cx="1234440" cy="274320"/>
            </a:xfrm>
            <a:prstGeom prst="rect">
              <a:avLst/>
            </a:prstGeom>
            <a:solidFill>
              <a:srgbClr val="1E88E5"/>
            </a:solidFill>
            <a:ln w="12700">
              <a:solidFill>
                <a:srgbClr val="1E88E5"/>
              </a:solidFill>
              <a:prstDash val="solid"/>
            </a:ln>
          </p:spPr>
          <p:txBody>
            <a:bodyPr/>
            <a:lstStyle/>
            <a:p>
              <a:endParaRPr lang="en-IN"/>
            </a:p>
          </p:txBody>
        </p:sp>
        <p:sp>
          <p:nvSpPr>
            <p:cNvPr id="20" name="Shape 18"/>
            <p:cNvSpPr/>
            <p:nvPr/>
          </p:nvSpPr>
          <p:spPr>
            <a:xfrm>
              <a:off x="365760" y="4297680"/>
              <a:ext cx="1234440" cy="274320"/>
            </a:xfrm>
            <a:prstGeom prst="rect">
              <a:avLst/>
            </a:prstGeom>
            <a:solidFill>
              <a:srgbClr val="1E88E5"/>
            </a:solidFill>
            <a:ln w="12700">
              <a:solidFill>
                <a:srgbClr val="1E88E5"/>
              </a:solidFill>
              <a:prstDash val="solid"/>
            </a:ln>
          </p:spPr>
          <p:txBody>
            <a:bodyPr/>
            <a:lstStyle/>
            <a:p>
              <a:endParaRPr lang="en-IN"/>
            </a:p>
          </p:txBody>
        </p:sp>
        <p:sp>
          <p:nvSpPr>
            <p:cNvPr id="23" name="Shape 21"/>
            <p:cNvSpPr/>
            <p:nvPr/>
          </p:nvSpPr>
          <p:spPr>
            <a:xfrm>
              <a:off x="365760" y="4645152"/>
              <a:ext cx="1234440" cy="274320"/>
            </a:xfrm>
            <a:prstGeom prst="rect">
              <a:avLst/>
            </a:prstGeom>
            <a:solidFill>
              <a:srgbClr val="1E88E5"/>
            </a:solidFill>
            <a:ln w="12700">
              <a:solidFill>
                <a:srgbClr val="1E88E5"/>
              </a:solidFill>
              <a:prstDash val="solid"/>
            </a:ln>
          </p:spPr>
          <p:txBody>
            <a:bodyPr/>
            <a:lstStyle/>
            <a:p>
              <a:endParaRPr lang="en-IN"/>
            </a:p>
          </p:txBody>
        </p:sp>
        <p:grpSp>
          <p:nvGrpSpPr>
            <p:cNvPr id="57" name="Group 56">
              <a:extLst>
                <a:ext uri="{FF2B5EF4-FFF2-40B4-BE49-F238E27FC236}">
                  <a16:creationId xmlns:a16="http://schemas.microsoft.com/office/drawing/2014/main" id="{23345336-1991-FCA1-FD62-B1EE9BDC61EE}"/>
                </a:ext>
              </a:extLst>
            </p:cNvPr>
            <p:cNvGrpSpPr/>
            <p:nvPr/>
          </p:nvGrpSpPr>
          <p:grpSpPr>
            <a:xfrm>
              <a:off x="365760" y="2528710"/>
              <a:ext cx="5029200" cy="2390762"/>
              <a:chOff x="365760" y="2528710"/>
              <a:chExt cx="5029200" cy="2390762"/>
            </a:xfrm>
          </p:grpSpPr>
          <p:sp>
            <p:nvSpPr>
              <p:cNvPr id="7" name="Text 5"/>
              <p:cNvSpPr/>
              <p:nvPr/>
            </p:nvSpPr>
            <p:spPr>
              <a:xfrm>
                <a:off x="365760" y="2528710"/>
                <a:ext cx="5029200" cy="320040"/>
              </a:xfrm>
              <a:prstGeom prst="rect">
                <a:avLst/>
              </a:prstGeom>
              <a:noFill/>
              <a:ln/>
            </p:spPr>
            <p:txBody>
              <a:bodyPr wrap="square" rtlCol="0" anchor="ctr"/>
              <a:lstStyle/>
              <a:p>
                <a:pPr marL="0" indent="0">
                  <a:buNone/>
                </a:pPr>
                <a:r>
                  <a:rPr lang="en-US" sz="1400" b="1" dirty="0">
                    <a:solidFill>
                      <a:srgbClr val="1E88E5"/>
                    </a:solidFill>
                    <a:latin typeface="Times New Roman" panose="02020603050405020304" pitchFamily="18" charset="0"/>
                    <a:cs typeface="Times New Roman" panose="02020603050405020304" pitchFamily="18" charset="0"/>
                  </a:rPr>
                  <a:t>Sir Arthur Cotton Barrage (SACB)</a:t>
                </a:r>
                <a:endParaRPr lang="en-US" sz="1400" dirty="0">
                  <a:latin typeface="Times New Roman" panose="02020603050405020304" pitchFamily="18" charset="0"/>
                  <a:cs typeface="Times New Roman" panose="02020603050405020304" pitchFamily="18" charset="0"/>
                </a:endParaRPr>
              </a:p>
            </p:txBody>
          </p:sp>
          <p:sp>
            <p:nvSpPr>
              <p:cNvPr id="8" name="Shape 6"/>
              <p:cNvSpPr/>
              <p:nvPr/>
            </p:nvSpPr>
            <p:spPr>
              <a:xfrm>
                <a:off x="365760" y="2921902"/>
                <a:ext cx="1234440" cy="274320"/>
              </a:xfrm>
              <a:prstGeom prst="rect">
                <a:avLst/>
              </a:prstGeom>
              <a:solidFill>
                <a:srgbClr val="1E88E5"/>
              </a:solidFill>
              <a:ln w="12700">
                <a:solidFill>
                  <a:srgbClr val="1E88E5"/>
                </a:solidFill>
                <a:prstDash val="solid"/>
              </a:ln>
            </p:spPr>
            <p:txBody>
              <a:bodyPr/>
              <a:lstStyle/>
              <a:p>
                <a:endParaRPr lang="en-IN"/>
              </a:p>
            </p:txBody>
          </p:sp>
          <p:sp>
            <p:nvSpPr>
              <p:cNvPr id="9" name="Text 7"/>
              <p:cNvSpPr/>
              <p:nvPr/>
            </p:nvSpPr>
            <p:spPr>
              <a:xfrm>
                <a:off x="365760" y="2907792"/>
                <a:ext cx="123444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Times New Roman" panose="02020603050405020304" pitchFamily="18" charset="0"/>
                    <a:cs typeface="Times New Roman" panose="02020603050405020304" pitchFamily="18" charset="0"/>
                  </a:rPr>
                  <a:t>Location</a:t>
                </a:r>
                <a:endParaRPr lang="en-US" sz="950" dirty="0">
                  <a:latin typeface="Times New Roman" panose="02020603050405020304" pitchFamily="18" charset="0"/>
                  <a:cs typeface="Times New Roman" panose="02020603050405020304" pitchFamily="18" charset="0"/>
                </a:endParaRPr>
              </a:p>
            </p:txBody>
          </p:sp>
          <p:sp>
            <p:nvSpPr>
              <p:cNvPr id="10" name="Text 8"/>
              <p:cNvSpPr/>
              <p:nvPr/>
            </p:nvSpPr>
            <p:spPr>
              <a:xfrm>
                <a:off x="1664208" y="2958478"/>
                <a:ext cx="3566160" cy="237744"/>
              </a:xfrm>
              <a:prstGeom prst="rect">
                <a:avLst/>
              </a:prstGeom>
              <a:noFill/>
              <a:ln/>
            </p:spPr>
            <p:txBody>
              <a:bodyPr wrap="square" lIns="0" tIns="0" rIns="0" bIns="0" rtlCol="0" anchor="ctr"/>
              <a:lstStyle/>
              <a:p>
                <a:pPr marL="0" indent="0">
                  <a:buNone/>
                </a:pPr>
                <a:r>
                  <a:rPr lang="en-US" sz="950" dirty="0">
                    <a:solidFill>
                      <a:srgbClr val="1A2B3C"/>
                    </a:solidFill>
                    <a:latin typeface="Times New Roman" panose="02020603050405020304" pitchFamily="18" charset="0"/>
                    <a:cs typeface="Times New Roman" panose="02020603050405020304" pitchFamily="18" charset="0"/>
                  </a:rPr>
                  <a:t>Dowleswaram, East Godavari, AP | 17.00°N, 81.80°E</a:t>
                </a:r>
                <a:endParaRPr lang="en-US" sz="950" dirty="0">
                  <a:latin typeface="Times New Roman" panose="02020603050405020304" pitchFamily="18" charset="0"/>
                  <a:cs typeface="Times New Roman" panose="02020603050405020304" pitchFamily="18" charset="0"/>
                </a:endParaRPr>
              </a:p>
            </p:txBody>
          </p:sp>
          <p:sp>
            <p:nvSpPr>
              <p:cNvPr id="12" name="Text 10"/>
              <p:cNvSpPr/>
              <p:nvPr/>
            </p:nvSpPr>
            <p:spPr>
              <a:xfrm>
                <a:off x="365760" y="3269374"/>
                <a:ext cx="123444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Times New Roman" panose="02020603050405020304" pitchFamily="18" charset="0"/>
                    <a:cs typeface="Times New Roman" panose="02020603050405020304" pitchFamily="18" charset="0"/>
                  </a:rPr>
                  <a:t>Constructed</a:t>
                </a:r>
                <a:endParaRPr lang="en-US" sz="950" dirty="0">
                  <a:latin typeface="Times New Roman" panose="02020603050405020304" pitchFamily="18" charset="0"/>
                  <a:cs typeface="Times New Roman" panose="02020603050405020304" pitchFamily="18" charset="0"/>
                </a:endParaRPr>
              </a:p>
            </p:txBody>
          </p:sp>
          <p:sp>
            <p:nvSpPr>
              <p:cNvPr id="13" name="Text 11"/>
              <p:cNvSpPr/>
              <p:nvPr/>
            </p:nvSpPr>
            <p:spPr>
              <a:xfrm>
                <a:off x="1664208" y="3305950"/>
                <a:ext cx="3566160" cy="237744"/>
              </a:xfrm>
              <a:prstGeom prst="rect">
                <a:avLst/>
              </a:prstGeom>
              <a:noFill/>
              <a:ln/>
            </p:spPr>
            <p:txBody>
              <a:bodyPr wrap="square" lIns="0" tIns="0" rIns="0" bIns="0" rtlCol="0" anchor="ctr"/>
              <a:lstStyle/>
              <a:p>
                <a:pPr marL="0" indent="0">
                  <a:buNone/>
                </a:pPr>
                <a:r>
                  <a:rPr lang="en-US" sz="950" dirty="0">
                    <a:solidFill>
                      <a:srgbClr val="1A2B3C"/>
                    </a:solidFill>
                    <a:latin typeface="Times New Roman" panose="02020603050405020304" pitchFamily="18" charset="0"/>
                    <a:cs typeface="Times New Roman" panose="02020603050405020304" pitchFamily="18" charset="0"/>
                  </a:rPr>
                  <a:t>1852 (original anicut); Reconstructed 1982 as modern barrage</a:t>
                </a:r>
                <a:endParaRPr lang="en-US" sz="950" dirty="0">
                  <a:latin typeface="Times New Roman" panose="02020603050405020304" pitchFamily="18" charset="0"/>
                  <a:cs typeface="Times New Roman" panose="02020603050405020304" pitchFamily="18" charset="0"/>
                </a:endParaRPr>
              </a:p>
            </p:txBody>
          </p:sp>
          <p:sp>
            <p:nvSpPr>
              <p:cNvPr id="15" name="Text 13"/>
              <p:cNvSpPr/>
              <p:nvPr/>
            </p:nvSpPr>
            <p:spPr>
              <a:xfrm>
                <a:off x="365760" y="3602736"/>
                <a:ext cx="123444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Times New Roman" panose="02020603050405020304" pitchFamily="18" charset="0"/>
                    <a:cs typeface="Times New Roman" panose="02020603050405020304" pitchFamily="18" charset="0"/>
                  </a:rPr>
                  <a:t>Length</a:t>
                </a:r>
                <a:endParaRPr lang="en-US" sz="950" dirty="0">
                  <a:latin typeface="Times New Roman" panose="02020603050405020304" pitchFamily="18" charset="0"/>
                  <a:cs typeface="Times New Roman" panose="02020603050405020304" pitchFamily="18" charset="0"/>
                </a:endParaRPr>
              </a:p>
            </p:txBody>
          </p:sp>
          <p:sp>
            <p:nvSpPr>
              <p:cNvPr id="16" name="Text 14"/>
              <p:cNvSpPr/>
              <p:nvPr/>
            </p:nvSpPr>
            <p:spPr>
              <a:xfrm>
                <a:off x="1664208" y="3639312"/>
                <a:ext cx="3566160" cy="237744"/>
              </a:xfrm>
              <a:prstGeom prst="rect">
                <a:avLst/>
              </a:prstGeom>
              <a:noFill/>
              <a:ln/>
            </p:spPr>
            <p:txBody>
              <a:bodyPr wrap="square" lIns="0" tIns="0" rIns="0" bIns="0" rtlCol="0" anchor="ctr"/>
              <a:lstStyle/>
              <a:p>
                <a:pPr marL="0" indent="0">
                  <a:buNone/>
                </a:pPr>
                <a:r>
                  <a:rPr lang="en-US" sz="950" dirty="0">
                    <a:solidFill>
                      <a:srgbClr val="1A2B3C"/>
                    </a:solidFill>
                    <a:latin typeface="Times New Roman" panose="02020603050405020304" pitchFamily="18" charset="0"/>
                    <a:cs typeface="Times New Roman" panose="02020603050405020304" pitchFamily="18" charset="0"/>
                  </a:rPr>
                  <a:t>≈ 3592.6m across Godavari River</a:t>
                </a:r>
                <a:endParaRPr lang="en-US" sz="950" dirty="0">
                  <a:latin typeface="Times New Roman" panose="02020603050405020304" pitchFamily="18" charset="0"/>
                  <a:cs typeface="Times New Roman" panose="02020603050405020304" pitchFamily="18" charset="0"/>
                </a:endParaRPr>
              </a:p>
            </p:txBody>
          </p:sp>
          <p:sp>
            <p:nvSpPr>
              <p:cNvPr id="18" name="Text 16"/>
              <p:cNvSpPr/>
              <p:nvPr/>
            </p:nvSpPr>
            <p:spPr>
              <a:xfrm>
                <a:off x="365760" y="3950208"/>
                <a:ext cx="123444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Times New Roman" panose="02020603050405020304" pitchFamily="18" charset="0"/>
                    <a:cs typeface="Times New Roman" panose="02020603050405020304" pitchFamily="18" charset="0"/>
                  </a:rPr>
                  <a:t>Capacity</a:t>
                </a:r>
                <a:endParaRPr lang="en-US" sz="950" dirty="0">
                  <a:latin typeface="Times New Roman" panose="02020603050405020304" pitchFamily="18" charset="0"/>
                  <a:cs typeface="Times New Roman" panose="02020603050405020304" pitchFamily="18" charset="0"/>
                </a:endParaRPr>
              </a:p>
            </p:txBody>
          </p:sp>
          <p:sp>
            <p:nvSpPr>
              <p:cNvPr id="19" name="Text 17"/>
              <p:cNvSpPr/>
              <p:nvPr/>
            </p:nvSpPr>
            <p:spPr>
              <a:xfrm>
                <a:off x="1664208" y="3986784"/>
                <a:ext cx="3566160" cy="237744"/>
              </a:xfrm>
              <a:prstGeom prst="rect">
                <a:avLst/>
              </a:prstGeom>
              <a:noFill/>
              <a:ln/>
            </p:spPr>
            <p:txBody>
              <a:bodyPr wrap="square" lIns="0" tIns="0" rIns="0" bIns="0" rtlCol="0" anchor="ctr"/>
              <a:lstStyle/>
              <a:p>
                <a:pPr marL="0" indent="0">
                  <a:buNone/>
                </a:pPr>
                <a:r>
                  <a:rPr lang="en-US" sz="950" dirty="0">
                    <a:solidFill>
                      <a:srgbClr val="1A2B3C"/>
                    </a:solidFill>
                    <a:latin typeface="Times New Roman" panose="02020603050405020304" pitchFamily="18" charset="0"/>
                    <a:cs typeface="Times New Roman" panose="02020603050405020304" pitchFamily="18" charset="0"/>
                  </a:rPr>
                  <a:t>Handles flood flows exceeding 3.5 million cusecs</a:t>
                </a:r>
                <a:endParaRPr lang="en-US" sz="950" dirty="0">
                  <a:latin typeface="Times New Roman" panose="02020603050405020304" pitchFamily="18" charset="0"/>
                  <a:cs typeface="Times New Roman" panose="02020603050405020304" pitchFamily="18" charset="0"/>
                </a:endParaRPr>
              </a:p>
            </p:txBody>
          </p:sp>
          <p:sp>
            <p:nvSpPr>
              <p:cNvPr id="21" name="Text 19"/>
              <p:cNvSpPr/>
              <p:nvPr/>
            </p:nvSpPr>
            <p:spPr>
              <a:xfrm>
                <a:off x="365760" y="4297680"/>
                <a:ext cx="123444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Times New Roman" panose="02020603050405020304" pitchFamily="18" charset="0"/>
                    <a:cs typeface="Times New Roman" panose="02020603050405020304" pitchFamily="18" charset="0"/>
                  </a:rPr>
                  <a:t>Irrigation</a:t>
                </a:r>
                <a:endParaRPr lang="en-US" sz="950" dirty="0">
                  <a:latin typeface="Times New Roman" panose="02020603050405020304" pitchFamily="18" charset="0"/>
                  <a:cs typeface="Times New Roman" panose="02020603050405020304" pitchFamily="18" charset="0"/>
                </a:endParaRPr>
              </a:p>
            </p:txBody>
          </p:sp>
          <p:sp>
            <p:nvSpPr>
              <p:cNvPr id="22" name="Text 20"/>
              <p:cNvSpPr/>
              <p:nvPr/>
            </p:nvSpPr>
            <p:spPr>
              <a:xfrm>
                <a:off x="1664208" y="4334256"/>
                <a:ext cx="3566160" cy="237744"/>
              </a:xfrm>
              <a:prstGeom prst="rect">
                <a:avLst/>
              </a:prstGeom>
              <a:noFill/>
              <a:ln/>
            </p:spPr>
            <p:txBody>
              <a:bodyPr wrap="square" lIns="0" tIns="0" rIns="0" bIns="0" rtlCol="0" anchor="ctr"/>
              <a:lstStyle/>
              <a:p>
                <a:pPr marL="0" indent="0">
                  <a:buNone/>
                </a:pPr>
                <a:r>
                  <a:rPr lang="en-US" sz="950" dirty="0">
                    <a:solidFill>
                      <a:srgbClr val="1A2B3C"/>
                    </a:solidFill>
                    <a:latin typeface="Times New Roman" panose="02020603050405020304" pitchFamily="18" charset="0"/>
                    <a:cs typeface="Times New Roman" panose="02020603050405020304" pitchFamily="18" charset="0"/>
                  </a:rPr>
                  <a:t>Approximately 10 lakh hectares across East Godavari, West Godavari &amp; Krishna districts</a:t>
                </a:r>
                <a:endParaRPr lang="en-US" sz="950" dirty="0">
                  <a:latin typeface="Times New Roman" panose="02020603050405020304" pitchFamily="18" charset="0"/>
                  <a:cs typeface="Times New Roman" panose="02020603050405020304" pitchFamily="18" charset="0"/>
                </a:endParaRPr>
              </a:p>
            </p:txBody>
          </p:sp>
          <p:sp>
            <p:nvSpPr>
              <p:cNvPr id="24" name="Text 22"/>
              <p:cNvSpPr/>
              <p:nvPr/>
            </p:nvSpPr>
            <p:spPr>
              <a:xfrm>
                <a:off x="365760" y="4645152"/>
                <a:ext cx="123444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Times New Roman" panose="02020603050405020304" pitchFamily="18" charset="0"/>
                    <a:cs typeface="Times New Roman" panose="02020603050405020304" pitchFamily="18" charset="0"/>
                  </a:rPr>
                  <a:t>Significance</a:t>
                </a:r>
                <a:endParaRPr lang="en-US" sz="950" dirty="0">
                  <a:latin typeface="Times New Roman" panose="02020603050405020304" pitchFamily="18" charset="0"/>
                  <a:cs typeface="Times New Roman" panose="02020603050405020304" pitchFamily="18" charset="0"/>
                </a:endParaRPr>
              </a:p>
            </p:txBody>
          </p:sp>
          <p:sp>
            <p:nvSpPr>
              <p:cNvPr id="25" name="Text 23"/>
              <p:cNvSpPr/>
              <p:nvPr/>
            </p:nvSpPr>
            <p:spPr>
              <a:xfrm>
                <a:off x="1664208" y="4681728"/>
                <a:ext cx="3566160" cy="237744"/>
              </a:xfrm>
              <a:prstGeom prst="rect">
                <a:avLst/>
              </a:prstGeom>
              <a:noFill/>
              <a:ln/>
            </p:spPr>
            <p:txBody>
              <a:bodyPr wrap="square" lIns="0" tIns="0" rIns="0" bIns="0" rtlCol="0" anchor="ctr"/>
              <a:lstStyle/>
              <a:p>
                <a:pPr marL="0" indent="0">
                  <a:buNone/>
                </a:pPr>
                <a:r>
                  <a:rPr lang="en-US" sz="950" dirty="0">
                    <a:solidFill>
                      <a:srgbClr val="1A2B3C"/>
                    </a:solidFill>
                    <a:latin typeface="Times New Roman" panose="02020603050405020304" pitchFamily="18" charset="0"/>
                    <a:cs typeface="Times New Roman" panose="02020603050405020304" pitchFamily="18" charset="0"/>
                  </a:rPr>
                  <a:t>Integrating node for entire upstream 3.02 lakh km² Godavari catchment</a:t>
                </a:r>
                <a:endParaRPr lang="en-US" sz="950" dirty="0">
                  <a:latin typeface="Times New Roman" panose="02020603050405020304" pitchFamily="18" charset="0"/>
                  <a:cs typeface="Times New Roman" panose="02020603050405020304" pitchFamily="18" charset="0"/>
                </a:endParaRPr>
              </a:p>
            </p:txBody>
          </p:sp>
        </p:grpSp>
      </p:grpSp>
      <p:grpSp>
        <p:nvGrpSpPr>
          <p:cNvPr id="54" name="Group 53">
            <a:extLst>
              <a:ext uri="{FF2B5EF4-FFF2-40B4-BE49-F238E27FC236}">
                <a16:creationId xmlns:a16="http://schemas.microsoft.com/office/drawing/2014/main" id="{3A447171-41B9-D643-400E-C8396AAF9EE8}"/>
              </a:ext>
            </a:extLst>
          </p:cNvPr>
          <p:cNvGrpSpPr/>
          <p:nvPr/>
        </p:nvGrpSpPr>
        <p:grpSpPr>
          <a:xfrm>
            <a:off x="5684874" y="1138822"/>
            <a:ext cx="3246120" cy="3474720"/>
            <a:chOff x="5577840" y="777240"/>
            <a:chExt cx="3246120" cy="3474720"/>
          </a:xfrm>
        </p:grpSpPr>
        <p:sp>
          <p:nvSpPr>
            <p:cNvPr id="26" name="Shape 24"/>
            <p:cNvSpPr/>
            <p:nvPr/>
          </p:nvSpPr>
          <p:spPr>
            <a:xfrm>
              <a:off x="5577840" y="777240"/>
              <a:ext cx="3246120" cy="3474720"/>
            </a:xfrm>
            <a:prstGeom prst="rect">
              <a:avLst/>
            </a:prstGeom>
            <a:solidFill>
              <a:srgbClr val="1A3A5C"/>
            </a:solidFill>
            <a:ln w="12700">
              <a:solidFill>
                <a:srgbClr val="1E88E5"/>
              </a:solidFill>
              <a:prstDash val="solid"/>
            </a:ln>
          </p:spPr>
          <p:txBody>
            <a:bodyPr/>
            <a:lstStyle/>
            <a:p>
              <a:endParaRPr lang="en-IN" dirty="0">
                <a:latin typeface="Times New Roman" panose="02020603050405020304" pitchFamily="18" charset="0"/>
                <a:cs typeface="Times New Roman" panose="02020603050405020304" pitchFamily="18" charset="0"/>
              </a:endParaRPr>
            </a:p>
          </p:txBody>
        </p:sp>
        <p:sp>
          <p:nvSpPr>
            <p:cNvPr id="27" name="Text 25"/>
            <p:cNvSpPr/>
            <p:nvPr/>
          </p:nvSpPr>
          <p:spPr>
            <a:xfrm>
              <a:off x="5577840" y="777240"/>
              <a:ext cx="3246120" cy="320040"/>
            </a:xfrm>
            <a:prstGeom prst="rect">
              <a:avLst/>
            </a:prstGeom>
            <a:solidFill>
              <a:srgbClr val="1E88E5"/>
            </a:solid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cs typeface="Times New Roman" panose="02020603050405020304" pitchFamily="18" charset="0"/>
                </a:rPr>
                <a:t>STUDY AREA</a:t>
              </a:r>
              <a:endParaRPr lang="en-US" sz="1200" dirty="0">
                <a:latin typeface="Times New Roman" panose="02020603050405020304" pitchFamily="18" charset="0"/>
                <a:cs typeface="Times New Roman" panose="02020603050405020304" pitchFamily="18" charset="0"/>
              </a:endParaRPr>
            </a:p>
          </p:txBody>
        </p:sp>
        <p:sp>
          <p:nvSpPr>
            <p:cNvPr id="28" name="Shape 26"/>
            <p:cNvSpPr/>
            <p:nvPr/>
          </p:nvSpPr>
          <p:spPr>
            <a:xfrm>
              <a:off x="5669280" y="1188720"/>
              <a:ext cx="1463040" cy="621792"/>
            </a:xfrm>
            <a:prstGeom prst="rect">
              <a:avLst/>
            </a:prstGeom>
            <a:solidFill>
              <a:srgbClr val="17344F"/>
            </a:solidFill>
            <a:ln w="12700">
              <a:solidFill>
                <a:srgbClr val="00BCD4"/>
              </a:solidFill>
              <a:prstDash val="solid"/>
            </a:ln>
          </p:spPr>
          <p:txBody>
            <a:bodyPr/>
            <a:lstStyle/>
            <a:p>
              <a:endParaRPr lang="en-IN"/>
            </a:p>
          </p:txBody>
        </p:sp>
        <p:sp>
          <p:nvSpPr>
            <p:cNvPr id="29" name="Text 27"/>
            <p:cNvSpPr/>
            <p:nvPr/>
          </p:nvSpPr>
          <p:spPr>
            <a:xfrm>
              <a:off x="5669280" y="1225296"/>
              <a:ext cx="1463040" cy="310896"/>
            </a:xfrm>
            <a:prstGeom prst="rect">
              <a:avLst/>
            </a:prstGeom>
            <a:noFill/>
            <a:ln/>
          </p:spPr>
          <p:txBody>
            <a:bodyPr wrap="square" lIns="0" tIns="0" rIns="0" bIns="0" rtlCol="0" anchor="ctr"/>
            <a:lstStyle/>
            <a:p>
              <a:pPr marL="0" indent="0" algn="ctr">
                <a:buNone/>
              </a:pPr>
              <a:r>
                <a:rPr lang="en-US" sz="1500" b="1" dirty="0">
                  <a:solidFill>
                    <a:srgbClr val="00BCD4"/>
                  </a:solidFill>
                  <a:latin typeface="Times New Roman" panose="02020603050405020304" pitchFamily="18" charset="0"/>
                  <a:cs typeface="Times New Roman" panose="02020603050405020304" pitchFamily="18" charset="0"/>
                </a:rPr>
                <a:t>3,02,065 km²</a:t>
              </a:r>
              <a:endParaRPr lang="en-US" sz="1500" dirty="0">
                <a:latin typeface="Times New Roman" panose="02020603050405020304" pitchFamily="18" charset="0"/>
                <a:cs typeface="Times New Roman" panose="02020603050405020304" pitchFamily="18" charset="0"/>
              </a:endParaRPr>
            </a:p>
          </p:txBody>
        </p:sp>
        <p:sp>
          <p:nvSpPr>
            <p:cNvPr id="30" name="Text 28"/>
            <p:cNvSpPr/>
            <p:nvPr/>
          </p:nvSpPr>
          <p:spPr>
            <a:xfrm>
              <a:off x="5669280" y="1517904"/>
              <a:ext cx="1463040" cy="237744"/>
            </a:xfrm>
            <a:prstGeom prst="rect">
              <a:avLst/>
            </a:prstGeom>
            <a:noFill/>
            <a:ln/>
          </p:spPr>
          <p:txBody>
            <a:bodyPr wrap="square" lIns="0" tIns="0" rIns="0" bIns="0" rtlCol="0" anchor="ctr"/>
            <a:lstStyle/>
            <a:p>
              <a:pPr marL="0" indent="0" algn="ctr">
                <a:buNone/>
              </a:pPr>
              <a:r>
                <a:rPr lang="en-US" sz="900" dirty="0">
                  <a:solidFill>
                    <a:srgbClr val="AACDE8"/>
                  </a:solidFill>
                  <a:latin typeface="Times New Roman" panose="02020603050405020304" pitchFamily="18" charset="0"/>
                  <a:cs typeface="Times New Roman" panose="02020603050405020304" pitchFamily="18" charset="0"/>
                </a:rPr>
                <a:t>Basin Area</a:t>
              </a:r>
              <a:endParaRPr lang="en-US" sz="900" dirty="0">
                <a:latin typeface="Times New Roman" panose="02020603050405020304" pitchFamily="18" charset="0"/>
                <a:cs typeface="Times New Roman" panose="02020603050405020304" pitchFamily="18" charset="0"/>
              </a:endParaRPr>
            </a:p>
          </p:txBody>
        </p:sp>
        <p:sp>
          <p:nvSpPr>
            <p:cNvPr id="31" name="Shape 29"/>
            <p:cNvSpPr/>
            <p:nvPr/>
          </p:nvSpPr>
          <p:spPr>
            <a:xfrm>
              <a:off x="7242048" y="1188720"/>
              <a:ext cx="1463040" cy="621792"/>
            </a:xfrm>
            <a:prstGeom prst="rect">
              <a:avLst/>
            </a:prstGeom>
            <a:solidFill>
              <a:srgbClr val="17344F"/>
            </a:solidFill>
            <a:ln w="12700">
              <a:solidFill>
                <a:srgbClr val="00BCD4"/>
              </a:solidFill>
              <a:prstDash val="solid"/>
            </a:ln>
          </p:spPr>
          <p:txBody>
            <a:bodyPr/>
            <a:lstStyle/>
            <a:p>
              <a:endParaRPr lang="en-IN"/>
            </a:p>
          </p:txBody>
        </p:sp>
        <p:sp>
          <p:nvSpPr>
            <p:cNvPr id="32" name="Text 30"/>
            <p:cNvSpPr/>
            <p:nvPr/>
          </p:nvSpPr>
          <p:spPr>
            <a:xfrm>
              <a:off x="7242048" y="1225296"/>
              <a:ext cx="1463040" cy="310896"/>
            </a:xfrm>
            <a:prstGeom prst="rect">
              <a:avLst/>
            </a:prstGeom>
            <a:noFill/>
            <a:ln/>
          </p:spPr>
          <p:txBody>
            <a:bodyPr wrap="square" lIns="0" tIns="0" rIns="0" bIns="0" rtlCol="0" anchor="ctr"/>
            <a:lstStyle/>
            <a:p>
              <a:pPr marL="0" indent="0" algn="ctr">
                <a:buNone/>
              </a:pPr>
              <a:r>
                <a:rPr lang="en-US" sz="1500" b="1" dirty="0">
                  <a:solidFill>
                    <a:srgbClr val="00BCD4"/>
                  </a:solidFill>
                  <a:latin typeface="Times New Roman" panose="02020603050405020304" pitchFamily="18" charset="0"/>
                  <a:cs typeface="Times New Roman" panose="02020603050405020304" pitchFamily="18" charset="0"/>
                </a:rPr>
                <a:t>1,465 km</a:t>
              </a:r>
              <a:endParaRPr lang="en-US" sz="1500" dirty="0">
                <a:latin typeface="Times New Roman" panose="02020603050405020304" pitchFamily="18" charset="0"/>
                <a:cs typeface="Times New Roman" panose="02020603050405020304" pitchFamily="18" charset="0"/>
              </a:endParaRPr>
            </a:p>
          </p:txBody>
        </p:sp>
        <p:sp>
          <p:nvSpPr>
            <p:cNvPr id="33" name="Text 31"/>
            <p:cNvSpPr/>
            <p:nvPr/>
          </p:nvSpPr>
          <p:spPr>
            <a:xfrm>
              <a:off x="7242048" y="1517904"/>
              <a:ext cx="1463040" cy="237744"/>
            </a:xfrm>
            <a:prstGeom prst="rect">
              <a:avLst/>
            </a:prstGeom>
            <a:noFill/>
            <a:ln/>
          </p:spPr>
          <p:txBody>
            <a:bodyPr wrap="square" lIns="0" tIns="0" rIns="0" bIns="0" rtlCol="0" anchor="ctr"/>
            <a:lstStyle/>
            <a:p>
              <a:pPr marL="0" indent="0" algn="ctr">
                <a:buNone/>
              </a:pPr>
              <a:r>
                <a:rPr lang="en-US" sz="900" dirty="0">
                  <a:solidFill>
                    <a:srgbClr val="AACDE8"/>
                  </a:solidFill>
                  <a:latin typeface="Times New Roman" panose="02020603050405020304" pitchFamily="18" charset="0"/>
                  <a:cs typeface="Times New Roman" panose="02020603050405020304" pitchFamily="18" charset="0"/>
                </a:rPr>
                <a:t>River Length</a:t>
              </a:r>
              <a:endParaRPr lang="en-US" sz="900" dirty="0">
                <a:latin typeface="Times New Roman" panose="02020603050405020304" pitchFamily="18" charset="0"/>
                <a:cs typeface="Times New Roman" panose="02020603050405020304" pitchFamily="18" charset="0"/>
              </a:endParaRPr>
            </a:p>
          </p:txBody>
        </p:sp>
        <p:sp>
          <p:nvSpPr>
            <p:cNvPr id="34" name="Shape 32"/>
            <p:cNvSpPr/>
            <p:nvPr/>
          </p:nvSpPr>
          <p:spPr>
            <a:xfrm>
              <a:off x="5669280" y="1938528"/>
              <a:ext cx="1463040" cy="621792"/>
            </a:xfrm>
            <a:prstGeom prst="rect">
              <a:avLst/>
            </a:prstGeom>
            <a:solidFill>
              <a:srgbClr val="17344F"/>
            </a:solidFill>
            <a:ln w="12700">
              <a:solidFill>
                <a:srgbClr val="00BCD4"/>
              </a:solidFill>
              <a:prstDash val="solid"/>
            </a:ln>
          </p:spPr>
          <p:txBody>
            <a:bodyPr/>
            <a:lstStyle/>
            <a:p>
              <a:endParaRPr lang="en-IN"/>
            </a:p>
          </p:txBody>
        </p:sp>
        <p:sp>
          <p:nvSpPr>
            <p:cNvPr id="35" name="Text 33"/>
            <p:cNvSpPr/>
            <p:nvPr/>
          </p:nvSpPr>
          <p:spPr>
            <a:xfrm>
              <a:off x="5669280" y="1975104"/>
              <a:ext cx="1463040" cy="310896"/>
            </a:xfrm>
            <a:prstGeom prst="rect">
              <a:avLst/>
            </a:prstGeom>
            <a:noFill/>
            <a:ln/>
          </p:spPr>
          <p:txBody>
            <a:bodyPr wrap="square" lIns="0" tIns="0" rIns="0" bIns="0" rtlCol="0" anchor="ctr"/>
            <a:lstStyle/>
            <a:p>
              <a:pPr marL="0" indent="0" algn="ctr">
                <a:buNone/>
              </a:pPr>
              <a:r>
                <a:rPr lang="en-US" sz="1500" b="1" dirty="0">
                  <a:solidFill>
                    <a:srgbClr val="00BCD4"/>
                  </a:solidFill>
                  <a:latin typeface="Times New Roman" panose="02020603050405020304" pitchFamily="18" charset="0"/>
                  <a:cs typeface="Times New Roman" panose="02020603050405020304" pitchFamily="18" charset="0"/>
                </a:rPr>
                <a:t>49 Stations</a:t>
              </a:r>
              <a:endParaRPr lang="en-US" sz="1500" dirty="0">
                <a:latin typeface="Times New Roman" panose="02020603050405020304" pitchFamily="18" charset="0"/>
                <a:cs typeface="Times New Roman" panose="02020603050405020304" pitchFamily="18" charset="0"/>
              </a:endParaRPr>
            </a:p>
          </p:txBody>
        </p:sp>
        <p:sp>
          <p:nvSpPr>
            <p:cNvPr id="36" name="Text 34"/>
            <p:cNvSpPr/>
            <p:nvPr/>
          </p:nvSpPr>
          <p:spPr>
            <a:xfrm>
              <a:off x="5669280" y="2267712"/>
              <a:ext cx="1463040" cy="237744"/>
            </a:xfrm>
            <a:prstGeom prst="rect">
              <a:avLst/>
            </a:prstGeom>
            <a:noFill/>
            <a:ln/>
          </p:spPr>
          <p:txBody>
            <a:bodyPr wrap="square" lIns="0" tIns="0" rIns="0" bIns="0" rtlCol="0" anchor="ctr"/>
            <a:lstStyle/>
            <a:p>
              <a:pPr marL="0" indent="0" algn="ctr">
                <a:buNone/>
              </a:pPr>
              <a:r>
                <a:rPr lang="en-US" sz="900" dirty="0">
                  <a:solidFill>
                    <a:srgbClr val="AACDE8"/>
                  </a:solidFill>
                  <a:latin typeface="Times New Roman" panose="02020603050405020304" pitchFamily="18" charset="0"/>
                  <a:cs typeface="Times New Roman" panose="02020603050405020304" pitchFamily="18" charset="0"/>
                </a:rPr>
                <a:t>Rain Gauges</a:t>
              </a:r>
              <a:endParaRPr lang="en-US" sz="900" dirty="0">
                <a:latin typeface="Times New Roman" panose="02020603050405020304" pitchFamily="18" charset="0"/>
                <a:cs typeface="Times New Roman" panose="02020603050405020304" pitchFamily="18" charset="0"/>
              </a:endParaRPr>
            </a:p>
          </p:txBody>
        </p:sp>
        <p:sp>
          <p:nvSpPr>
            <p:cNvPr id="37" name="Shape 35"/>
            <p:cNvSpPr/>
            <p:nvPr/>
          </p:nvSpPr>
          <p:spPr>
            <a:xfrm>
              <a:off x="7242048" y="1938528"/>
              <a:ext cx="1463040" cy="621792"/>
            </a:xfrm>
            <a:prstGeom prst="rect">
              <a:avLst/>
            </a:prstGeom>
            <a:solidFill>
              <a:srgbClr val="17344F"/>
            </a:solidFill>
            <a:ln w="12700">
              <a:solidFill>
                <a:srgbClr val="00BCD4"/>
              </a:solidFill>
              <a:prstDash val="solid"/>
            </a:ln>
          </p:spPr>
          <p:txBody>
            <a:bodyPr/>
            <a:lstStyle/>
            <a:p>
              <a:endParaRPr lang="en-IN"/>
            </a:p>
          </p:txBody>
        </p:sp>
        <p:sp>
          <p:nvSpPr>
            <p:cNvPr id="38" name="Text 36"/>
            <p:cNvSpPr/>
            <p:nvPr/>
          </p:nvSpPr>
          <p:spPr>
            <a:xfrm>
              <a:off x="7242048" y="1975104"/>
              <a:ext cx="1463040" cy="310896"/>
            </a:xfrm>
            <a:prstGeom prst="rect">
              <a:avLst/>
            </a:prstGeom>
            <a:noFill/>
            <a:ln/>
          </p:spPr>
          <p:txBody>
            <a:bodyPr wrap="square" lIns="0" tIns="0" rIns="0" bIns="0" rtlCol="0" anchor="ctr"/>
            <a:lstStyle/>
            <a:p>
              <a:pPr marL="0" indent="0" algn="ctr">
                <a:buNone/>
              </a:pPr>
              <a:r>
                <a:rPr lang="en-US" sz="1500" b="1" dirty="0">
                  <a:solidFill>
                    <a:srgbClr val="00BCD4"/>
                  </a:solidFill>
                  <a:latin typeface="Times New Roman" panose="02020603050405020304" pitchFamily="18" charset="0"/>
                  <a:cs typeface="Times New Roman" panose="02020603050405020304" pitchFamily="18" charset="0"/>
                </a:rPr>
                <a:t>7 States</a:t>
              </a:r>
              <a:endParaRPr lang="en-US" sz="1500" dirty="0">
                <a:latin typeface="Times New Roman" panose="02020603050405020304" pitchFamily="18" charset="0"/>
                <a:cs typeface="Times New Roman" panose="02020603050405020304" pitchFamily="18" charset="0"/>
              </a:endParaRPr>
            </a:p>
          </p:txBody>
        </p:sp>
        <p:sp>
          <p:nvSpPr>
            <p:cNvPr id="39" name="Text 37"/>
            <p:cNvSpPr/>
            <p:nvPr/>
          </p:nvSpPr>
          <p:spPr>
            <a:xfrm>
              <a:off x="7242048" y="2267712"/>
              <a:ext cx="1463040" cy="237744"/>
            </a:xfrm>
            <a:prstGeom prst="rect">
              <a:avLst/>
            </a:prstGeom>
            <a:noFill/>
            <a:ln/>
          </p:spPr>
          <p:txBody>
            <a:bodyPr wrap="square" lIns="0" tIns="0" rIns="0" bIns="0" rtlCol="0" anchor="ctr"/>
            <a:lstStyle/>
            <a:p>
              <a:pPr marL="0" indent="0" algn="ctr">
                <a:buNone/>
              </a:pPr>
              <a:r>
                <a:rPr lang="en-US" sz="900" dirty="0">
                  <a:solidFill>
                    <a:srgbClr val="AACDE8"/>
                  </a:solidFill>
                  <a:latin typeface="Times New Roman" panose="02020603050405020304" pitchFamily="18" charset="0"/>
                  <a:cs typeface="Times New Roman" panose="02020603050405020304" pitchFamily="18" charset="0"/>
                </a:rPr>
                <a:t>States Covered</a:t>
              </a:r>
              <a:endParaRPr lang="en-US" sz="900" dirty="0">
                <a:latin typeface="Times New Roman" panose="02020603050405020304" pitchFamily="18" charset="0"/>
                <a:cs typeface="Times New Roman" panose="02020603050405020304" pitchFamily="18" charset="0"/>
              </a:endParaRPr>
            </a:p>
          </p:txBody>
        </p:sp>
        <p:sp>
          <p:nvSpPr>
            <p:cNvPr id="40" name="Shape 38"/>
            <p:cNvSpPr/>
            <p:nvPr/>
          </p:nvSpPr>
          <p:spPr>
            <a:xfrm>
              <a:off x="5669280" y="2688336"/>
              <a:ext cx="1463040" cy="621792"/>
            </a:xfrm>
            <a:prstGeom prst="rect">
              <a:avLst/>
            </a:prstGeom>
            <a:solidFill>
              <a:srgbClr val="17344F"/>
            </a:solidFill>
            <a:ln w="12700">
              <a:solidFill>
                <a:srgbClr val="00BCD4"/>
              </a:solidFill>
              <a:prstDash val="solid"/>
            </a:ln>
          </p:spPr>
          <p:txBody>
            <a:bodyPr/>
            <a:lstStyle/>
            <a:p>
              <a:endParaRPr lang="en-IN"/>
            </a:p>
          </p:txBody>
        </p:sp>
        <p:sp>
          <p:nvSpPr>
            <p:cNvPr id="41" name="Text 39"/>
            <p:cNvSpPr/>
            <p:nvPr/>
          </p:nvSpPr>
          <p:spPr>
            <a:xfrm>
              <a:off x="5669280" y="2724912"/>
              <a:ext cx="1463040" cy="310896"/>
            </a:xfrm>
            <a:prstGeom prst="rect">
              <a:avLst/>
            </a:prstGeom>
            <a:noFill/>
            <a:ln/>
          </p:spPr>
          <p:txBody>
            <a:bodyPr wrap="square" lIns="0" tIns="0" rIns="0" bIns="0" rtlCol="0" anchor="ctr"/>
            <a:lstStyle/>
            <a:p>
              <a:pPr marL="0" indent="0" algn="ctr">
                <a:buNone/>
              </a:pPr>
              <a:r>
                <a:rPr lang="en-US" sz="1500" b="1" dirty="0">
                  <a:solidFill>
                    <a:srgbClr val="00BCD4"/>
                  </a:solidFill>
                  <a:latin typeface="Times New Roman" panose="02020603050405020304" pitchFamily="18" charset="0"/>
                  <a:cs typeface="Times New Roman" panose="02020603050405020304" pitchFamily="18" charset="0"/>
                </a:rPr>
                <a:t>≈ 1,096 mm</a:t>
              </a:r>
              <a:endParaRPr lang="en-US" sz="1500" dirty="0">
                <a:latin typeface="Times New Roman" panose="02020603050405020304" pitchFamily="18" charset="0"/>
                <a:cs typeface="Times New Roman" panose="02020603050405020304" pitchFamily="18" charset="0"/>
              </a:endParaRPr>
            </a:p>
          </p:txBody>
        </p:sp>
        <p:sp>
          <p:nvSpPr>
            <p:cNvPr id="42" name="Text 40"/>
            <p:cNvSpPr/>
            <p:nvPr/>
          </p:nvSpPr>
          <p:spPr>
            <a:xfrm>
              <a:off x="5669280" y="3017520"/>
              <a:ext cx="1463040" cy="237744"/>
            </a:xfrm>
            <a:prstGeom prst="rect">
              <a:avLst/>
            </a:prstGeom>
            <a:noFill/>
            <a:ln/>
          </p:spPr>
          <p:txBody>
            <a:bodyPr wrap="square" lIns="0" tIns="0" rIns="0" bIns="0" rtlCol="0" anchor="ctr"/>
            <a:lstStyle/>
            <a:p>
              <a:pPr marL="0" indent="0" algn="ctr">
                <a:buNone/>
              </a:pPr>
              <a:r>
                <a:rPr lang="en-US" sz="900" dirty="0">
                  <a:solidFill>
                    <a:srgbClr val="AACDE8"/>
                  </a:solidFill>
                  <a:latin typeface="Times New Roman" panose="02020603050405020304" pitchFamily="18" charset="0"/>
                  <a:cs typeface="Times New Roman" panose="02020603050405020304" pitchFamily="18" charset="0"/>
                </a:rPr>
                <a:t>Annual Rainfall</a:t>
              </a:r>
              <a:endParaRPr lang="en-US" sz="900" dirty="0">
                <a:latin typeface="Times New Roman" panose="02020603050405020304" pitchFamily="18" charset="0"/>
                <a:cs typeface="Times New Roman" panose="02020603050405020304" pitchFamily="18" charset="0"/>
              </a:endParaRPr>
            </a:p>
          </p:txBody>
        </p:sp>
        <p:sp>
          <p:nvSpPr>
            <p:cNvPr id="43" name="Shape 41"/>
            <p:cNvSpPr/>
            <p:nvPr/>
          </p:nvSpPr>
          <p:spPr>
            <a:xfrm>
              <a:off x="7242048" y="2688336"/>
              <a:ext cx="1463040" cy="621792"/>
            </a:xfrm>
            <a:prstGeom prst="rect">
              <a:avLst/>
            </a:prstGeom>
            <a:solidFill>
              <a:srgbClr val="17344F"/>
            </a:solidFill>
            <a:ln w="12700">
              <a:solidFill>
                <a:srgbClr val="00BCD4"/>
              </a:solidFill>
              <a:prstDash val="solid"/>
            </a:ln>
          </p:spPr>
          <p:txBody>
            <a:bodyPr/>
            <a:lstStyle/>
            <a:p>
              <a:endParaRPr lang="en-IN"/>
            </a:p>
          </p:txBody>
        </p:sp>
        <p:sp>
          <p:nvSpPr>
            <p:cNvPr id="44" name="Text 42"/>
            <p:cNvSpPr/>
            <p:nvPr/>
          </p:nvSpPr>
          <p:spPr>
            <a:xfrm>
              <a:off x="7242048" y="2724912"/>
              <a:ext cx="1463040" cy="310896"/>
            </a:xfrm>
            <a:prstGeom prst="rect">
              <a:avLst/>
            </a:prstGeom>
            <a:noFill/>
            <a:ln/>
          </p:spPr>
          <p:txBody>
            <a:bodyPr wrap="square" lIns="0" tIns="0" rIns="0" bIns="0" rtlCol="0" anchor="ctr"/>
            <a:lstStyle/>
            <a:p>
              <a:pPr marL="0" indent="0" algn="ctr">
                <a:buNone/>
              </a:pPr>
              <a:r>
                <a:rPr lang="en-US" sz="1500" b="1" dirty="0">
                  <a:solidFill>
                    <a:srgbClr val="00BCD4"/>
                  </a:solidFill>
                  <a:latin typeface="Times New Roman" panose="02020603050405020304" pitchFamily="18" charset="0"/>
                  <a:cs typeface="Times New Roman" panose="02020603050405020304" pitchFamily="18" charset="0"/>
                </a:rPr>
                <a:t>3592.6 m</a:t>
              </a:r>
              <a:endParaRPr lang="en-US" sz="1500" dirty="0">
                <a:latin typeface="Times New Roman" panose="02020603050405020304" pitchFamily="18" charset="0"/>
                <a:cs typeface="Times New Roman" panose="02020603050405020304" pitchFamily="18" charset="0"/>
              </a:endParaRPr>
            </a:p>
          </p:txBody>
        </p:sp>
        <p:sp>
          <p:nvSpPr>
            <p:cNvPr id="45" name="Text 43"/>
            <p:cNvSpPr/>
            <p:nvPr/>
          </p:nvSpPr>
          <p:spPr>
            <a:xfrm>
              <a:off x="7242048" y="3017520"/>
              <a:ext cx="1463040" cy="237744"/>
            </a:xfrm>
            <a:prstGeom prst="rect">
              <a:avLst/>
            </a:prstGeom>
            <a:noFill/>
            <a:ln/>
          </p:spPr>
          <p:txBody>
            <a:bodyPr wrap="square" lIns="0" tIns="0" rIns="0" bIns="0" rtlCol="0" anchor="ctr"/>
            <a:lstStyle/>
            <a:p>
              <a:pPr marL="0" indent="0" algn="ctr">
                <a:buNone/>
              </a:pPr>
              <a:r>
                <a:rPr lang="en-US" sz="900" dirty="0">
                  <a:solidFill>
                    <a:srgbClr val="AACDE8"/>
                  </a:solidFill>
                  <a:latin typeface="Times New Roman" panose="02020603050405020304" pitchFamily="18" charset="0"/>
                  <a:cs typeface="Times New Roman" panose="02020603050405020304" pitchFamily="18" charset="0"/>
                </a:rPr>
                <a:t>Barrage Length</a:t>
              </a:r>
              <a:endParaRPr lang="en-US" sz="900" dirty="0">
                <a:latin typeface="Times New Roman" panose="02020603050405020304" pitchFamily="18" charset="0"/>
                <a:cs typeface="Times New Roman" panose="02020603050405020304" pitchFamily="18" charset="0"/>
              </a:endParaRPr>
            </a:p>
          </p:txBody>
        </p:sp>
        <p:sp>
          <p:nvSpPr>
            <p:cNvPr id="46" name="Shape 44"/>
            <p:cNvSpPr/>
            <p:nvPr/>
          </p:nvSpPr>
          <p:spPr>
            <a:xfrm>
              <a:off x="5669280" y="3438144"/>
              <a:ext cx="1463040" cy="621792"/>
            </a:xfrm>
            <a:prstGeom prst="rect">
              <a:avLst/>
            </a:prstGeom>
            <a:solidFill>
              <a:srgbClr val="17344F"/>
            </a:solidFill>
            <a:ln w="12700">
              <a:solidFill>
                <a:srgbClr val="00BCD4"/>
              </a:solidFill>
              <a:prstDash val="solid"/>
            </a:ln>
          </p:spPr>
          <p:txBody>
            <a:bodyPr/>
            <a:lstStyle/>
            <a:p>
              <a:endParaRPr lang="en-IN"/>
            </a:p>
          </p:txBody>
        </p:sp>
        <p:sp>
          <p:nvSpPr>
            <p:cNvPr id="47" name="Text 45"/>
            <p:cNvSpPr/>
            <p:nvPr/>
          </p:nvSpPr>
          <p:spPr>
            <a:xfrm>
              <a:off x="5669280" y="3474720"/>
              <a:ext cx="1463040" cy="310896"/>
            </a:xfrm>
            <a:prstGeom prst="rect">
              <a:avLst/>
            </a:prstGeom>
            <a:noFill/>
            <a:ln/>
          </p:spPr>
          <p:txBody>
            <a:bodyPr wrap="square" lIns="0" tIns="0" rIns="0" bIns="0" rtlCol="0" anchor="ctr"/>
            <a:lstStyle/>
            <a:p>
              <a:pPr marL="0" indent="0" algn="ctr">
                <a:buNone/>
              </a:pPr>
              <a:r>
                <a:rPr lang="en-US" sz="1500" b="1" dirty="0">
                  <a:solidFill>
                    <a:srgbClr val="00BCD4"/>
                  </a:solidFill>
                  <a:latin typeface="Times New Roman" panose="02020603050405020304" pitchFamily="18" charset="0"/>
                  <a:cs typeface="Times New Roman" panose="02020603050405020304" pitchFamily="18" charset="0"/>
                </a:rPr>
                <a:t>10 lakh ha</a:t>
              </a:r>
              <a:endParaRPr lang="en-US" sz="1500" dirty="0">
                <a:latin typeface="Times New Roman" panose="02020603050405020304" pitchFamily="18" charset="0"/>
                <a:cs typeface="Times New Roman" panose="02020603050405020304" pitchFamily="18" charset="0"/>
              </a:endParaRPr>
            </a:p>
          </p:txBody>
        </p:sp>
        <p:sp>
          <p:nvSpPr>
            <p:cNvPr id="48" name="Text 46"/>
            <p:cNvSpPr/>
            <p:nvPr/>
          </p:nvSpPr>
          <p:spPr>
            <a:xfrm>
              <a:off x="5669280" y="3767328"/>
              <a:ext cx="1463040" cy="237744"/>
            </a:xfrm>
            <a:prstGeom prst="rect">
              <a:avLst/>
            </a:prstGeom>
            <a:noFill/>
            <a:ln/>
          </p:spPr>
          <p:txBody>
            <a:bodyPr wrap="square" lIns="0" tIns="0" rIns="0" bIns="0" rtlCol="0" anchor="ctr"/>
            <a:lstStyle/>
            <a:p>
              <a:pPr marL="0" indent="0" algn="ctr">
                <a:buNone/>
              </a:pPr>
              <a:r>
                <a:rPr lang="en-US" sz="900" dirty="0">
                  <a:solidFill>
                    <a:srgbClr val="AACDE8"/>
                  </a:solidFill>
                  <a:latin typeface="Times New Roman" panose="02020603050405020304" pitchFamily="18" charset="0"/>
                  <a:cs typeface="Times New Roman" panose="02020603050405020304" pitchFamily="18" charset="0"/>
                </a:rPr>
                <a:t>Irrigated Area</a:t>
              </a:r>
              <a:endParaRPr lang="en-US" sz="900" dirty="0">
                <a:latin typeface="Times New Roman" panose="02020603050405020304" pitchFamily="18" charset="0"/>
                <a:cs typeface="Times New Roman" panose="02020603050405020304" pitchFamily="18" charset="0"/>
              </a:endParaRPr>
            </a:p>
          </p:txBody>
        </p:sp>
        <p:sp>
          <p:nvSpPr>
            <p:cNvPr id="49" name="Shape 47"/>
            <p:cNvSpPr/>
            <p:nvPr/>
          </p:nvSpPr>
          <p:spPr>
            <a:xfrm>
              <a:off x="7242048" y="3438144"/>
              <a:ext cx="1463040" cy="621792"/>
            </a:xfrm>
            <a:prstGeom prst="rect">
              <a:avLst/>
            </a:prstGeom>
            <a:solidFill>
              <a:srgbClr val="17344F"/>
            </a:solidFill>
            <a:ln w="12700">
              <a:solidFill>
                <a:srgbClr val="00BCD4"/>
              </a:solidFill>
              <a:prstDash val="solid"/>
            </a:ln>
          </p:spPr>
          <p:txBody>
            <a:bodyPr/>
            <a:lstStyle/>
            <a:p>
              <a:endParaRPr lang="en-IN"/>
            </a:p>
          </p:txBody>
        </p:sp>
        <p:sp>
          <p:nvSpPr>
            <p:cNvPr id="50" name="Text 48"/>
            <p:cNvSpPr/>
            <p:nvPr/>
          </p:nvSpPr>
          <p:spPr>
            <a:xfrm>
              <a:off x="7242048" y="3474720"/>
              <a:ext cx="1463040" cy="310896"/>
            </a:xfrm>
            <a:prstGeom prst="rect">
              <a:avLst/>
            </a:prstGeom>
            <a:noFill/>
            <a:ln/>
          </p:spPr>
          <p:txBody>
            <a:bodyPr wrap="square" lIns="0" tIns="0" rIns="0" bIns="0" rtlCol="0" anchor="ctr"/>
            <a:lstStyle/>
            <a:p>
              <a:pPr marL="0" indent="0" algn="ctr">
                <a:buNone/>
              </a:pPr>
              <a:r>
                <a:rPr lang="en-US" sz="1500" b="1" dirty="0">
                  <a:solidFill>
                    <a:srgbClr val="00BCD4"/>
                  </a:solidFill>
                  <a:latin typeface="Times New Roman" panose="02020603050405020304" pitchFamily="18" charset="0"/>
                  <a:cs typeface="Times New Roman" panose="02020603050405020304" pitchFamily="18" charset="0"/>
                </a:rPr>
                <a:t>1988–2024</a:t>
              </a:r>
              <a:endParaRPr lang="en-US" sz="1500" dirty="0">
                <a:latin typeface="Times New Roman" panose="02020603050405020304" pitchFamily="18" charset="0"/>
                <a:cs typeface="Times New Roman" panose="02020603050405020304" pitchFamily="18" charset="0"/>
              </a:endParaRPr>
            </a:p>
          </p:txBody>
        </p:sp>
        <p:sp>
          <p:nvSpPr>
            <p:cNvPr id="51" name="Text 49"/>
            <p:cNvSpPr/>
            <p:nvPr/>
          </p:nvSpPr>
          <p:spPr>
            <a:xfrm>
              <a:off x="7242048" y="3767328"/>
              <a:ext cx="1463040" cy="237744"/>
            </a:xfrm>
            <a:prstGeom prst="rect">
              <a:avLst/>
            </a:prstGeom>
            <a:noFill/>
            <a:ln/>
          </p:spPr>
          <p:txBody>
            <a:bodyPr wrap="square" lIns="0" tIns="0" rIns="0" bIns="0" rtlCol="0" anchor="ctr"/>
            <a:lstStyle/>
            <a:p>
              <a:pPr marL="0" indent="0" algn="ctr">
                <a:buNone/>
              </a:pPr>
              <a:r>
                <a:rPr lang="en-US" sz="900" dirty="0">
                  <a:solidFill>
                    <a:srgbClr val="AACDE8"/>
                  </a:solidFill>
                  <a:latin typeface="Times New Roman" panose="02020603050405020304" pitchFamily="18" charset="0"/>
                  <a:cs typeface="Times New Roman" panose="02020603050405020304" pitchFamily="18" charset="0"/>
                </a:rPr>
                <a:t>Data Period</a:t>
              </a:r>
              <a:endParaRPr lang="en-US" sz="900" dirty="0">
                <a:latin typeface="Times New Roman" panose="02020603050405020304" pitchFamily="18" charset="0"/>
                <a:cs typeface="Times New Roman" panose="02020603050405020304" pitchFamily="18" charset="0"/>
              </a:endParaRPr>
            </a:p>
          </p:txBody>
        </p:sp>
      </p:grpSp>
      <p:sp>
        <p:nvSpPr>
          <p:cNvPr id="53" name="TextBox 52">
            <a:extLst>
              <a:ext uri="{FF2B5EF4-FFF2-40B4-BE49-F238E27FC236}">
                <a16:creationId xmlns:a16="http://schemas.microsoft.com/office/drawing/2014/main" id="{078F33A6-06D0-F8B6-592D-6F520460F20C}"/>
              </a:ext>
            </a:extLst>
          </p:cNvPr>
          <p:cNvSpPr txBox="1"/>
          <p:nvPr/>
        </p:nvSpPr>
        <p:spPr>
          <a:xfrm>
            <a:off x="8684005" y="4780950"/>
            <a:ext cx="286734"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5</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4"/>
                                        </p:tgtEl>
                                        <p:attrNameLst>
                                          <p:attrName>style.visibility</p:attrName>
                                        </p:attrNameLst>
                                      </p:cBhvr>
                                      <p:to>
                                        <p:strVal val="visible"/>
                                      </p:to>
                                    </p:set>
                                    <p:animEffect transition="in" filter="fade">
                                      <p:cBhvr>
                                        <p:cTn id="12"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0C0"/>
          </a:solidFill>
          <a:ln>
            <a:solidFill>
              <a:schemeClr val="accent1"/>
            </a:solidFill>
          </a:ln>
        </p:spPr>
        <p:txBody>
          <a:bodyPr/>
          <a:lstStyle/>
          <a:p>
            <a:endParaRPr lang="en-IN"/>
          </a:p>
        </p:txBody>
      </p:sp>
      <p:sp>
        <p:nvSpPr>
          <p:cNvPr id="3" name="Text 1"/>
          <p:cNvSpPr/>
          <p:nvPr/>
        </p:nvSpPr>
        <p:spPr>
          <a:xfrm>
            <a:off x="365760" y="73152"/>
            <a:ext cx="7772400" cy="512064"/>
          </a:xfrm>
          <a:prstGeom prst="rect">
            <a:avLst/>
          </a:prstGeom>
          <a:noFill/>
          <a:ln/>
        </p:spPr>
        <p:txBody>
          <a:bodyPr wrap="square" lIns="0" tIns="0" rIns="0" bIns="0"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05 | Data Collection</a:t>
            </a:r>
            <a:endParaRPr lang="en-US" sz="2200" dirty="0">
              <a:latin typeface="Times New Roman" panose="02020603050405020304" pitchFamily="18" charset="0"/>
              <a:cs typeface="Times New Roman" panose="02020603050405020304" pitchFamily="18" charset="0"/>
            </a:endParaRPr>
          </a:p>
        </p:txBody>
      </p:sp>
      <p:sp>
        <p:nvSpPr>
          <p:cNvPr id="4" name="Shape 2"/>
          <p:cNvSpPr/>
          <p:nvPr/>
        </p:nvSpPr>
        <p:spPr>
          <a:xfrm>
            <a:off x="0" y="658368"/>
            <a:ext cx="9144000" cy="45720"/>
          </a:xfrm>
          <a:prstGeom prst="rect">
            <a:avLst/>
          </a:prstGeom>
          <a:solidFill>
            <a:srgbClr val="00B0F0"/>
          </a:solidFill>
          <a:ln/>
        </p:spPr>
        <p:txBody>
          <a:bodyPr/>
          <a:lstStyle/>
          <a:p>
            <a:endParaRPr lang="en-IN"/>
          </a:p>
        </p:txBody>
      </p:sp>
      <p:graphicFrame>
        <p:nvGraphicFramePr>
          <p:cNvPr id="17" name="Table 0"/>
          <p:cNvGraphicFramePr>
            <a:graphicFrameLocks noGrp="1"/>
          </p:cNvGraphicFramePr>
          <p:nvPr>
            <p:extLst>
              <p:ext uri="{D42A27DB-BD31-4B8C-83A1-F6EECF244321}">
                <p14:modId xmlns:p14="http://schemas.microsoft.com/office/powerpoint/2010/main" val="284216252"/>
              </p:ext>
            </p:extLst>
          </p:nvPr>
        </p:nvGraphicFramePr>
        <p:xfrm>
          <a:off x="228600" y="1301355"/>
          <a:ext cx="8686800" cy="2377440"/>
        </p:xfrm>
        <a:graphic>
          <a:graphicData uri="http://schemas.openxmlformats.org/drawingml/2006/table">
            <a:tbl>
              <a:tblPr/>
              <a:tblGrid>
                <a:gridCol w="155448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2514600">
                  <a:extLst>
                    <a:ext uri="{9D8B030D-6E8A-4147-A177-3AD203B41FA5}">
                      <a16:colId xmlns:a16="http://schemas.microsoft.com/office/drawing/2014/main" val="20004"/>
                    </a:ext>
                  </a:extLst>
                </a:gridCol>
              </a:tblGrid>
              <a:tr h="0">
                <a:tc>
                  <a:txBody>
                    <a:bodyPr/>
                    <a:lstStyle/>
                    <a:p>
                      <a:pPr marL="0" indent="0">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Dataset</a:t>
                      </a:r>
                      <a:endParaRPr lang="en-US" sz="12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B5E"/>
                    </a:solidFill>
                  </a:tcPr>
                </a:tc>
                <a:tc>
                  <a:txBody>
                    <a:bodyPr/>
                    <a:lstStyle/>
                    <a:p>
                      <a:pPr marL="0" indent="0">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Source</a:t>
                      </a:r>
                      <a:endParaRPr lang="en-US" sz="12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B5E"/>
                    </a:solidFill>
                  </a:tcPr>
                </a:tc>
                <a:tc>
                  <a:txBody>
                    <a:bodyPr/>
                    <a:lstStyle/>
                    <a:p>
                      <a:pPr marL="0" indent="0">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Spatial Resolution</a:t>
                      </a:r>
                      <a:endParaRPr lang="en-US" sz="12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B5E"/>
                    </a:solidFill>
                  </a:tcPr>
                </a:tc>
                <a:tc>
                  <a:txBody>
                    <a:bodyPr/>
                    <a:lstStyle/>
                    <a:p>
                      <a:pPr marL="0" indent="0">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Temporal Coverage</a:t>
                      </a:r>
                      <a:endParaRPr lang="en-US" sz="12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B5E"/>
                    </a:solidFill>
                  </a:tcPr>
                </a:tc>
                <a:tc>
                  <a:txBody>
                    <a:bodyPr/>
                    <a:lstStyle/>
                    <a:p>
                      <a:pPr marL="0" indent="0">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Application</a:t>
                      </a:r>
                      <a:endParaRPr lang="en-US" sz="1200" dirty="0">
                        <a:latin typeface="Times New Roman" panose="02020603050405020304" pitchFamily="18" charset="0"/>
                        <a:ea typeface="Calibri" charset="0"/>
                        <a:cs typeface="Times New Roman" panose="02020603050405020304" pitchFamily="18"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D2B5E"/>
                    </a:solidFill>
                  </a:tcPr>
                </a:tc>
                <a:extLst>
                  <a:ext uri="{0D108BD9-81ED-4DB2-BD59-A6C34878D82A}">
                    <a16:rowId xmlns:a16="http://schemas.microsoft.com/office/drawing/2014/main" val="10000"/>
                  </a:ext>
                </a:extLst>
              </a:tr>
              <a:tr h="0">
                <a:tc>
                  <a:txBody>
                    <a:bodyPr/>
                    <a:lstStyle/>
                    <a:p>
                      <a:pPr marL="0" indent="0" algn="l">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Daily Rainfall</a:t>
                      </a:r>
                      <a:endParaRPr lang="en-US" sz="12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l">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IMD (India Met. Dept.)</a:t>
                      </a:r>
                      <a:endParaRPr lang="en-US" sz="12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  3</a:t>
                      </a:r>
                      <a:r>
                        <a:rPr lang="en-IN" sz="1200" b="0" i="0" kern="1200" dirty="0">
                          <a:solidFill>
                            <a:schemeClr val="tx1"/>
                          </a:solidFill>
                          <a:effectLst/>
                          <a:latin typeface="Times New Roman" panose="02020603050405020304" pitchFamily="18" charset="0"/>
                          <a:ea typeface="+mn-ea"/>
                          <a:cs typeface="Times New Roman" panose="02020603050405020304" pitchFamily="18" charset="0"/>
                        </a:rPr>
                        <a:t>° x 3°</a:t>
                      </a:r>
                      <a:endParaRPr lang="en-IN" sz="1200" b="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p>
                      <a:pPr marL="0" indent="0" algn="l">
                        <a:buNone/>
                      </a:pPr>
                      <a:endParaRPr lang="en-US" sz="12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l">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1988–2024</a:t>
                      </a:r>
                      <a:endParaRPr lang="en-US" sz="12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l">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Trend analysis, ML model input</a:t>
                      </a:r>
                      <a:endParaRPr lang="en-US" sz="12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extLst>
                  <a:ext uri="{0D108BD9-81ED-4DB2-BD59-A6C34878D82A}">
                    <a16:rowId xmlns:a16="http://schemas.microsoft.com/office/drawing/2014/main" val="10001"/>
                  </a:ext>
                </a:extLst>
              </a:tr>
              <a:tr h="0">
                <a:tc>
                  <a:txBody>
                    <a:bodyPr/>
                    <a:lstStyle/>
                    <a:p>
                      <a:pPr marL="0" indent="0" algn="l">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SAC Inflow Data</a:t>
                      </a:r>
                      <a:endParaRPr lang="en-US" sz="12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Barrage Authority</a:t>
                      </a:r>
                      <a:endParaRPr lang="en-US" sz="12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Point (barrage site)</a:t>
                      </a:r>
                      <a:endParaRPr lang="en-US" sz="12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2006–2023</a:t>
                      </a:r>
                      <a:endParaRPr lang="en-US" sz="12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LSTM &amp; GP model target variable</a:t>
                      </a:r>
                      <a:endParaRPr lang="en-US" sz="12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lgn="l">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LULC Map </a:t>
                      </a:r>
                      <a:endParaRPr lang="en-US" sz="12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l">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NRSC Bhuvan Portal</a:t>
                      </a:r>
                      <a:endParaRPr lang="en-US" sz="12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l">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56m (multi-class)</a:t>
                      </a:r>
                      <a:endParaRPr lang="en-US" sz="12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l">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2017 (Kharif)</a:t>
                      </a:r>
                      <a:endParaRPr lang="en-US" sz="12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l">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Land cover baseline for SCS-CN</a:t>
                      </a:r>
                      <a:endParaRPr lang="en-US" sz="12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extLst>
                  <a:ext uri="{0D108BD9-81ED-4DB2-BD59-A6C34878D82A}">
                    <a16:rowId xmlns:a16="http://schemas.microsoft.com/office/drawing/2014/main" val="10003"/>
                  </a:ext>
                </a:extLst>
              </a:tr>
              <a:tr h="0">
                <a:tc>
                  <a:txBody>
                    <a:bodyPr/>
                    <a:lstStyle/>
                    <a:p>
                      <a:pPr marL="0" indent="0" algn="l">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SRTM DEM</a:t>
                      </a:r>
                      <a:endParaRPr lang="en-US" sz="12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l">
                        <a:buNone/>
                      </a:pPr>
                      <a:r>
                        <a:rPr lang="en-IN" sz="1200" dirty="0">
                          <a:latin typeface="Times New Roman" panose="02020603050405020304" pitchFamily="18" charset="0"/>
                          <a:cs typeface="Times New Roman" panose="02020603050405020304" pitchFamily="18" charset="0"/>
                        </a:rPr>
                        <a:t>USGS Earth Explorer portal.</a:t>
                      </a:r>
                      <a:endParaRPr lang="en-US" sz="12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l">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30m resolution</a:t>
                      </a:r>
                      <a:endParaRPr lang="en-US" sz="12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l">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2000 (static)</a:t>
                      </a:r>
                      <a:endParaRPr lang="en-US" sz="12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tc>
                  <a:txBody>
                    <a:bodyPr/>
                    <a:lstStyle/>
                    <a:p>
                      <a:pPr marL="0" indent="0" algn="l">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Drainage delineation, basin boundary</a:t>
                      </a:r>
                      <a:endParaRPr lang="en-US" sz="12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FF6FF"/>
                    </a:solidFill>
                  </a:tcPr>
                </a:tc>
                <a:extLst>
                  <a:ext uri="{0D108BD9-81ED-4DB2-BD59-A6C34878D82A}">
                    <a16:rowId xmlns:a16="http://schemas.microsoft.com/office/drawing/2014/main" val="10005"/>
                  </a:ext>
                </a:extLst>
              </a:tr>
              <a:tr h="0">
                <a:tc>
                  <a:txBody>
                    <a:bodyPr/>
                    <a:lstStyle/>
                    <a:p>
                      <a:pPr marL="0" indent="0" algn="l">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Soil Data (HSG)</a:t>
                      </a:r>
                      <a:endParaRPr lang="en-US" sz="12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NBSSLUP  </a:t>
                      </a:r>
                      <a:endParaRPr lang="en-US" sz="12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1:250,000 scale</a:t>
                      </a:r>
                      <a:endParaRPr lang="en-US" sz="12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Static</a:t>
                      </a:r>
                      <a:endParaRPr lang="en-US" sz="12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l">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Hydrological Soil Group classification</a:t>
                      </a:r>
                      <a:endParaRPr lang="en-US" sz="1200" dirty="0">
                        <a:latin typeface="Times New Roman" panose="02020603050405020304" pitchFamily="18" charset="0"/>
                        <a:ea typeface="Calibri" charset="0"/>
                        <a:cs typeface="Times New Roman" panose="02020603050405020304" pitchFamily="18"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8" name="TextBox 7">
            <a:extLst>
              <a:ext uri="{FF2B5EF4-FFF2-40B4-BE49-F238E27FC236}">
                <a16:creationId xmlns:a16="http://schemas.microsoft.com/office/drawing/2014/main" id="{74AC4686-24B9-4517-35D0-A4C3F2484EF4}"/>
              </a:ext>
            </a:extLst>
          </p:cNvPr>
          <p:cNvSpPr txBox="1"/>
          <p:nvPr/>
        </p:nvSpPr>
        <p:spPr>
          <a:xfrm>
            <a:off x="8684005" y="4780950"/>
            <a:ext cx="286734"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6</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0C0"/>
          </a:solidFill>
          <a:ln/>
        </p:spPr>
        <p:txBody>
          <a:bodyPr/>
          <a:lstStyle/>
          <a:p>
            <a:endParaRPr lang="en-IN"/>
          </a:p>
        </p:txBody>
      </p:sp>
      <p:sp>
        <p:nvSpPr>
          <p:cNvPr id="3" name="Text 1"/>
          <p:cNvSpPr/>
          <p:nvPr/>
        </p:nvSpPr>
        <p:spPr>
          <a:xfrm>
            <a:off x="365760" y="73152"/>
            <a:ext cx="7772400" cy="512064"/>
          </a:xfrm>
          <a:prstGeom prst="rect">
            <a:avLst/>
          </a:prstGeom>
          <a:noFill/>
          <a:ln/>
        </p:spPr>
        <p:txBody>
          <a:bodyPr wrap="square" lIns="0" tIns="0" rIns="0" bIns="0" rtlCol="0" anchor="ctr"/>
          <a:lstStyle/>
          <a:p>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06  |  Methodology- Framework</a:t>
            </a:r>
            <a:endParaRPr lang="en-US" sz="2200" dirty="0">
              <a:latin typeface="Times New Roman" panose="02020603050405020304" pitchFamily="18" charset="0"/>
              <a:cs typeface="Times New Roman" panose="02020603050405020304" pitchFamily="18" charset="0"/>
            </a:endParaRPr>
          </a:p>
        </p:txBody>
      </p:sp>
      <p:sp>
        <p:nvSpPr>
          <p:cNvPr id="4" name="Text 2"/>
          <p:cNvSpPr/>
          <p:nvPr/>
        </p:nvSpPr>
        <p:spPr>
          <a:xfrm>
            <a:off x="365760" y="73152"/>
            <a:ext cx="7772400" cy="512064"/>
          </a:xfrm>
          <a:prstGeom prst="rect">
            <a:avLst/>
          </a:prstGeom>
          <a:noFill/>
          <a:ln/>
        </p:spPr>
        <p:txBody>
          <a:bodyPr wrap="square" lIns="0" tIns="0" rIns="0" bIns="0" rtlCol="0" anchor="ctr"/>
          <a:lstStyle/>
          <a:p>
            <a:pPr marL="0" indent="0" algn="r">
              <a:buNone/>
            </a:pPr>
            <a:r>
              <a:rPr lang="en-US" sz="1100" dirty="0">
                <a:solidFill>
                  <a:srgbClr val="CADCFC"/>
                </a:solidFill>
                <a:latin typeface="Times New Roman" panose="02020603050405020304" pitchFamily="18" charset="0"/>
                <a:ea typeface="Calibri" pitchFamily="34" charset="-122"/>
                <a:cs typeface="Times New Roman" panose="02020603050405020304" pitchFamily="18" charset="0"/>
              </a:rPr>
              <a:t> </a:t>
            </a:r>
            <a:endParaRPr lang="en-US" sz="1100" dirty="0">
              <a:latin typeface="Times New Roman" panose="02020603050405020304" pitchFamily="18" charset="0"/>
              <a:cs typeface="Times New Roman" panose="02020603050405020304" pitchFamily="18" charset="0"/>
            </a:endParaRPr>
          </a:p>
        </p:txBody>
      </p:sp>
      <p:sp>
        <p:nvSpPr>
          <p:cNvPr id="5" name="Shape 3"/>
          <p:cNvSpPr/>
          <p:nvPr/>
        </p:nvSpPr>
        <p:spPr>
          <a:xfrm>
            <a:off x="0" y="658368"/>
            <a:ext cx="9144000" cy="45720"/>
          </a:xfrm>
          <a:prstGeom prst="rect">
            <a:avLst/>
          </a:prstGeom>
          <a:solidFill>
            <a:srgbClr val="00B0F0"/>
          </a:solidFill>
          <a:ln/>
        </p:spPr>
        <p:txBody>
          <a:bodyPr/>
          <a:lstStyle/>
          <a:p>
            <a:endParaRPr lang="en-IN"/>
          </a:p>
        </p:txBody>
      </p:sp>
      <p:grpSp>
        <p:nvGrpSpPr>
          <p:cNvPr id="59" name="Group 58">
            <a:extLst>
              <a:ext uri="{FF2B5EF4-FFF2-40B4-BE49-F238E27FC236}">
                <a16:creationId xmlns:a16="http://schemas.microsoft.com/office/drawing/2014/main" id="{68236223-0BDC-060F-6EB2-4B7CF6D6347A}"/>
              </a:ext>
            </a:extLst>
          </p:cNvPr>
          <p:cNvGrpSpPr/>
          <p:nvPr/>
        </p:nvGrpSpPr>
        <p:grpSpPr>
          <a:xfrm>
            <a:off x="765008" y="800100"/>
            <a:ext cx="6949440" cy="2331720"/>
            <a:chOff x="228600" y="960120"/>
            <a:chExt cx="6949440" cy="2331720"/>
          </a:xfrm>
        </p:grpSpPr>
        <p:sp>
          <p:nvSpPr>
            <p:cNvPr id="6" name="Shape 4"/>
            <p:cNvSpPr/>
            <p:nvPr/>
          </p:nvSpPr>
          <p:spPr>
            <a:xfrm>
              <a:off x="228600" y="960120"/>
              <a:ext cx="1508760" cy="1005840"/>
            </a:xfrm>
            <a:prstGeom prst="rect">
              <a:avLst/>
            </a:prstGeom>
            <a:solidFill>
              <a:schemeClr val="bg2">
                <a:lumMod val="50000"/>
              </a:schemeClr>
            </a:solidFill>
            <a:ln>
              <a:solidFill>
                <a:schemeClr val="accent1"/>
              </a:solidFill>
            </a:ln>
            <a:effectLst>
              <a:outerShdw blurRad="101600" dist="38100" dir="8100000" algn="bl" rotWithShape="0">
                <a:srgbClr val="000000">
                  <a:alpha val="12000"/>
                </a:srgbClr>
              </a:outerShdw>
            </a:effectLst>
          </p:spPr>
          <p:txBody>
            <a:bodyPr/>
            <a:lstStyle/>
            <a:p>
              <a:endParaRPr lang="en-IN"/>
            </a:p>
          </p:txBody>
        </p:sp>
        <p:sp>
          <p:nvSpPr>
            <p:cNvPr id="7" name="Text 5"/>
            <p:cNvSpPr/>
            <p:nvPr/>
          </p:nvSpPr>
          <p:spPr>
            <a:xfrm>
              <a:off x="228600" y="1014984"/>
              <a:ext cx="15087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1</a:t>
              </a:r>
              <a:endParaRPr lang="en-US" sz="1200" dirty="0">
                <a:latin typeface="Times New Roman" panose="02020603050405020304" pitchFamily="18" charset="0"/>
                <a:cs typeface="Times New Roman" panose="02020603050405020304" pitchFamily="18" charset="0"/>
              </a:endParaRPr>
            </a:p>
          </p:txBody>
        </p:sp>
        <p:sp>
          <p:nvSpPr>
            <p:cNvPr id="22" name="Shape 20"/>
            <p:cNvSpPr/>
            <p:nvPr/>
          </p:nvSpPr>
          <p:spPr>
            <a:xfrm>
              <a:off x="228601" y="2286000"/>
              <a:ext cx="1587180" cy="1005840"/>
            </a:xfrm>
            <a:prstGeom prst="rect">
              <a:avLst/>
            </a:prstGeom>
            <a:solidFill>
              <a:schemeClr val="bg2">
                <a:lumMod val="50000"/>
              </a:schemeClr>
            </a:solidFill>
            <a:ln/>
            <a:effectLst>
              <a:outerShdw blurRad="101600" dist="38100" dir="8100000" algn="bl" rotWithShape="0">
                <a:srgbClr val="000000">
                  <a:alpha val="12000"/>
                </a:srgbClr>
              </a:outerShdw>
            </a:effectLst>
          </p:spPr>
          <p:txBody>
            <a:bodyPr/>
            <a:lstStyle/>
            <a:p>
              <a:endParaRPr lang="en-IN" dirty="0"/>
            </a:p>
          </p:txBody>
        </p:sp>
        <p:sp>
          <p:nvSpPr>
            <p:cNvPr id="23" name="Text 21"/>
            <p:cNvSpPr/>
            <p:nvPr/>
          </p:nvSpPr>
          <p:spPr>
            <a:xfrm>
              <a:off x="349713" y="2332416"/>
              <a:ext cx="15087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5</a:t>
              </a:r>
              <a:endParaRPr lang="en-US" sz="1200" dirty="0">
                <a:latin typeface="Times New Roman" panose="02020603050405020304" pitchFamily="18" charset="0"/>
                <a:cs typeface="Times New Roman" panose="02020603050405020304" pitchFamily="18" charset="0"/>
              </a:endParaRPr>
            </a:p>
          </p:txBody>
        </p:sp>
        <p:sp>
          <p:nvSpPr>
            <p:cNvPr id="24" name="Text 22"/>
            <p:cNvSpPr/>
            <p:nvPr/>
          </p:nvSpPr>
          <p:spPr>
            <a:xfrm>
              <a:off x="326884" y="2679040"/>
              <a:ext cx="1399032" cy="502920"/>
            </a:xfrm>
            <a:prstGeom prst="rect">
              <a:avLst/>
            </a:prstGeom>
            <a:noFill/>
            <a:ln/>
          </p:spPr>
          <p:txBody>
            <a:bodyPr wrap="square" lIns="0" tIns="0" rIns="0" bIns="0" rtlCol="0" anchor="ctr"/>
            <a:lstStyle/>
            <a:p>
              <a:pPr marL="0" indent="0" algn="ctr">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Genetic Programming Model</a:t>
              </a:r>
              <a:endParaRPr lang="en-US" sz="1200" dirty="0">
                <a:latin typeface="Times New Roman" panose="02020603050405020304" pitchFamily="18" charset="0"/>
                <a:cs typeface="Times New Roman" panose="02020603050405020304" pitchFamily="18" charset="0"/>
              </a:endParaRPr>
            </a:p>
          </p:txBody>
        </p:sp>
        <p:sp>
          <p:nvSpPr>
            <p:cNvPr id="27" name="Text 25"/>
            <p:cNvSpPr/>
            <p:nvPr/>
          </p:nvSpPr>
          <p:spPr>
            <a:xfrm>
              <a:off x="283464" y="2724912"/>
              <a:ext cx="1581912" cy="502920"/>
            </a:xfrm>
            <a:prstGeom prst="rect">
              <a:avLst/>
            </a:prstGeom>
            <a:noFill/>
            <a:ln/>
          </p:spPr>
          <p:txBody>
            <a:bodyPr wrap="square" lIns="0" tIns="0" rIns="0" bIns="0" rtlCol="0" anchor="ctr"/>
            <a:lstStyle/>
            <a:p>
              <a:pPr marL="0" indent="0" algn="ctr">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p:txBody>
        </p:sp>
        <p:sp>
          <p:nvSpPr>
            <p:cNvPr id="29" name="Shape 27"/>
            <p:cNvSpPr/>
            <p:nvPr/>
          </p:nvSpPr>
          <p:spPr>
            <a:xfrm>
              <a:off x="2020824" y="2286000"/>
              <a:ext cx="1444752" cy="1005840"/>
            </a:xfrm>
            <a:prstGeom prst="rect">
              <a:avLst/>
            </a:prstGeom>
            <a:solidFill>
              <a:schemeClr val="bg2">
                <a:lumMod val="50000"/>
              </a:schemeClr>
            </a:solidFill>
            <a:ln/>
            <a:effectLst>
              <a:outerShdw blurRad="101600" dist="38100" dir="8100000" algn="bl" rotWithShape="0">
                <a:srgbClr val="000000">
                  <a:alpha val="12000"/>
                </a:srgbClr>
              </a:outerShdw>
            </a:effectLst>
          </p:spPr>
          <p:txBody>
            <a:bodyPr/>
            <a:lstStyle/>
            <a:p>
              <a:endParaRPr lang="en-IN"/>
            </a:p>
          </p:txBody>
        </p:sp>
        <p:sp>
          <p:nvSpPr>
            <p:cNvPr id="33" name="Shape 31"/>
            <p:cNvSpPr/>
            <p:nvPr/>
          </p:nvSpPr>
          <p:spPr>
            <a:xfrm>
              <a:off x="3712464" y="2286000"/>
              <a:ext cx="1581912" cy="1005840"/>
            </a:xfrm>
            <a:prstGeom prst="rect">
              <a:avLst/>
            </a:prstGeom>
            <a:solidFill>
              <a:schemeClr val="bg2">
                <a:lumMod val="50000"/>
              </a:schemeClr>
            </a:solidFill>
            <a:ln/>
            <a:effectLst>
              <a:outerShdw blurRad="101600" dist="38100" dir="8100000" algn="bl" rotWithShape="0">
                <a:srgbClr val="000000">
                  <a:alpha val="12000"/>
                </a:srgbClr>
              </a:outerShdw>
            </a:effectLst>
          </p:spPr>
          <p:txBody>
            <a:bodyPr/>
            <a:lstStyle/>
            <a:p>
              <a:endParaRPr lang="en-IN"/>
            </a:p>
          </p:txBody>
        </p:sp>
        <p:sp>
          <p:nvSpPr>
            <p:cNvPr id="35" name="Text 33"/>
            <p:cNvSpPr/>
            <p:nvPr/>
          </p:nvSpPr>
          <p:spPr>
            <a:xfrm>
              <a:off x="1965960" y="2666444"/>
              <a:ext cx="1581912" cy="502920"/>
            </a:xfrm>
            <a:prstGeom prst="rect">
              <a:avLst/>
            </a:prstGeom>
            <a:noFill/>
            <a:ln/>
          </p:spPr>
          <p:txBody>
            <a:bodyPr wrap="square" lIns="0" tIns="0" rIns="0" bIns="0" rtlCol="0" anchor="ctr"/>
            <a:lstStyle/>
            <a:p>
              <a:pPr marL="0" indent="0" algn="ctr">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Inflow</a:t>
              </a:r>
              <a:endParaRPr lang="en-US" sz="1200" dirty="0">
                <a:latin typeface="Times New Roman" panose="02020603050405020304" pitchFamily="18" charset="0"/>
                <a:cs typeface="Times New Roman" panose="02020603050405020304" pitchFamily="18" charset="0"/>
              </a:endParaRPr>
            </a:p>
            <a:p>
              <a:pPr marL="0" indent="0" algn="ctr">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Prediction</a:t>
              </a:r>
              <a:endParaRPr lang="en-US" sz="1200" dirty="0">
                <a:latin typeface="Times New Roman" panose="02020603050405020304" pitchFamily="18" charset="0"/>
                <a:cs typeface="Times New Roman" panose="02020603050405020304" pitchFamily="18" charset="0"/>
              </a:endParaRPr>
            </a:p>
          </p:txBody>
        </p:sp>
        <p:sp>
          <p:nvSpPr>
            <p:cNvPr id="37" name="Shape 35"/>
            <p:cNvSpPr/>
            <p:nvPr/>
          </p:nvSpPr>
          <p:spPr>
            <a:xfrm>
              <a:off x="5567425" y="2286000"/>
              <a:ext cx="1453592" cy="941832"/>
            </a:xfrm>
            <a:prstGeom prst="rect">
              <a:avLst/>
            </a:prstGeom>
            <a:solidFill>
              <a:schemeClr val="bg2">
                <a:lumMod val="50000"/>
              </a:schemeClr>
            </a:solidFill>
            <a:ln/>
            <a:effectLst>
              <a:outerShdw blurRad="101600" dist="38100" dir="8100000" algn="bl" rotWithShape="0">
                <a:srgbClr val="000000">
                  <a:alpha val="12000"/>
                </a:srgbClr>
              </a:outerShdw>
            </a:effectLst>
          </p:spPr>
          <p:txBody>
            <a:bodyPr/>
            <a:lstStyle/>
            <a:p>
              <a:endParaRPr lang="en-IN"/>
            </a:p>
          </p:txBody>
        </p:sp>
        <p:sp>
          <p:nvSpPr>
            <p:cNvPr id="39" name="Text 37"/>
            <p:cNvSpPr/>
            <p:nvPr/>
          </p:nvSpPr>
          <p:spPr>
            <a:xfrm>
              <a:off x="5497846" y="2674316"/>
              <a:ext cx="1581912" cy="502920"/>
            </a:xfrm>
            <a:prstGeom prst="rect">
              <a:avLst/>
            </a:prstGeom>
            <a:noFill/>
            <a:ln/>
          </p:spPr>
          <p:txBody>
            <a:bodyPr wrap="square" lIns="0" tIns="0" rIns="0" bIns="0" rtlCol="0" anchor="ctr"/>
            <a:lstStyle/>
            <a:p>
              <a:pPr marL="0" indent="0" algn="ctr">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Sustainability</a:t>
              </a:r>
              <a:endParaRPr lang="en-US" sz="1200" dirty="0">
                <a:latin typeface="Times New Roman" panose="02020603050405020304" pitchFamily="18" charset="0"/>
                <a:cs typeface="Times New Roman" panose="02020603050405020304" pitchFamily="18" charset="0"/>
              </a:endParaRPr>
            </a:p>
            <a:p>
              <a:pPr marL="0" indent="0" algn="ctr">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Assessment</a:t>
              </a:r>
              <a:endParaRPr lang="en-US" sz="1200" dirty="0">
                <a:latin typeface="Times New Roman" panose="02020603050405020304" pitchFamily="18" charset="0"/>
                <a:cs typeface="Times New Roman" panose="02020603050405020304" pitchFamily="18" charset="0"/>
              </a:endParaRPr>
            </a:p>
          </p:txBody>
        </p:sp>
        <p:grpSp>
          <p:nvGrpSpPr>
            <p:cNvPr id="57" name="Group 56">
              <a:extLst>
                <a:ext uri="{FF2B5EF4-FFF2-40B4-BE49-F238E27FC236}">
                  <a16:creationId xmlns:a16="http://schemas.microsoft.com/office/drawing/2014/main" id="{5AE85EDC-36C0-E09E-439C-92BE59D651C0}"/>
                </a:ext>
              </a:extLst>
            </p:cNvPr>
            <p:cNvGrpSpPr/>
            <p:nvPr/>
          </p:nvGrpSpPr>
          <p:grpSpPr>
            <a:xfrm>
              <a:off x="283464" y="960120"/>
              <a:ext cx="6894576" cy="2034085"/>
              <a:chOff x="283464" y="960120"/>
              <a:chExt cx="6894576" cy="2034085"/>
            </a:xfrm>
          </p:grpSpPr>
          <p:sp>
            <p:nvSpPr>
              <p:cNvPr id="8" name="Text 6"/>
              <p:cNvSpPr/>
              <p:nvPr/>
            </p:nvSpPr>
            <p:spPr>
              <a:xfrm>
                <a:off x="283464" y="1399032"/>
                <a:ext cx="1399032" cy="502920"/>
              </a:xfrm>
              <a:prstGeom prst="rect">
                <a:avLst/>
              </a:prstGeom>
              <a:noFill/>
              <a:ln/>
            </p:spPr>
            <p:txBody>
              <a:bodyPr wrap="square" lIns="0" tIns="0" rIns="0" bIns="0" rtlCol="0" anchor="ctr"/>
              <a:lstStyle/>
              <a:p>
                <a:pPr marL="0" indent="0" algn="ctr">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Data</a:t>
                </a:r>
                <a:endParaRPr lang="en-US" sz="1200" dirty="0">
                  <a:latin typeface="Times New Roman" panose="02020603050405020304" pitchFamily="18" charset="0"/>
                  <a:cs typeface="Times New Roman" panose="02020603050405020304" pitchFamily="18" charset="0"/>
                </a:endParaRPr>
              </a:p>
              <a:p>
                <a:pPr marL="0" indent="0" algn="ctr">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Collection</a:t>
                </a:r>
                <a:endParaRPr lang="en-US" sz="1200" dirty="0">
                  <a:latin typeface="Times New Roman" panose="02020603050405020304" pitchFamily="18" charset="0"/>
                  <a:cs typeface="Times New Roman" panose="02020603050405020304" pitchFamily="18" charset="0"/>
                </a:endParaRPr>
              </a:p>
            </p:txBody>
          </p:sp>
          <p:sp>
            <p:nvSpPr>
              <p:cNvPr id="9" name="Text 7"/>
              <p:cNvSpPr/>
              <p:nvPr/>
            </p:nvSpPr>
            <p:spPr>
              <a:xfrm>
                <a:off x="1737360" y="1280160"/>
                <a:ext cx="228600" cy="365760"/>
              </a:xfrm>
              <a:prstGeom prst="rect">
                <a:avLst/>
              </a:prstGeom>
              <a:noFill/>
              <a:ln/>
            </p:spPr>
            <p:txBody>
              <a:bodyPr wrap="square" lIns="0" tIns="0" rIns="0" bIns="0" rtlCol="0" anchor="ctr"/>
              <a:lstStyle/>
              <a:p>
                <a:pPr marL="0" indent="0" algn="ctr">
                  <a:buNone/>
                </a:pPr>
                <a:r>
                  <a:rPr lang="en-US" sz="1200" b="1" dirty="0">
                    <a:solidFill>
                      <a:srgbClr val="F0A500"/>
                    </a:solidFill>
                    <a:latin typeface="Times New Roman" panose="02020603050405020304" pitchFamily="18" charset="0"/>
                    <a:ea typeface="Calibri"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
            <p:nvSpPr>
              <p:cNvPr id="10" name="Shape 8"/>
              <p:cNvSpPr/>
              <p:nvPr/>
            </p:nvSpPr>
            <p:spPr>
              <a:xfrm>
                <a:off x="1965960" y="960120"/>
                <a:ext cx="1508760" cy="1005840"/>
              </a:xfrm>
              <a:prstGeom prst="rect">
                <a:avLst/>
              </a:prstGeom>
              <a:solidFill>
                <a:schemeClr val="bg2">
                  <a:lumMod val="50000"/>
                </a:schemeClr>
              </a:solidFill>
              <a:ln/>
              <a:effectLst>
                <a:outerShdw blurRad="101600" dist="38100" dir="8100000" algn="bl" rotWithShape="0">
                  <a:srgbClr val="000000">
                    <a:alpha val="12000"/>
                  </a:srgbClr>
                </a:outerShdw>
              </a:effectLst>
            </p:spPr>
            <p:txBody>
              <a:bodyPr/>
              <a:lstStyle/>
              <a:p>
                <a:endParaRPr lang="en-IN"/>
              </a:p>
            </p:txBody>
          </p:sp>
          <p:sp>
            <p:nvSpPr>
              <p:cNvPr id="11" name="Text 9"/>
              <p:cNvSpPr/>
              <p:nvPr/>
            </p:nvSpPr>
            <p:spPr>
              <a:xfrm>
                <a:off x="1965960" y="1014984"/>
                <a:ext cx="15087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2</a:t>
                </a:r>
                <a:endParaRPr lang="en-US" sz="1200" dirty="0">
                  <a:latin typeface="Times New Roman" panose="02020603050405020304" pitchFamily="18" charset="0"/>
                  <a:cs typeface="Times New Roman" panose="02020603050405020304" pitchFamily="18" charset="0"/>
                </a:endParaRPr>
              </a:p>
            </p:txBody>
          </p:sp>
          <p:sp>
            <p:nvSpPr>
              <p:cNvPr id="12" name="Text 10"/>
              <p:cNvSpPr/>
              <p:nvPr/>
            </p:nvSpPr>
            <p:spPr>
              <a:xfrm>
                <a:off x="2020824" y="1399032"/>
                <a:ext cx="1399032" cy="502920"/>
              </a:xfrm>
              <a:prstGeom prst="rect">
                <a:avLst/>
              </a:prstGeom>
              <a:noFill/>
              <a:ln/>
            </p:spPr>
            <p:txBody>
              <a:bodyPr wrap="square" lIns="0" tIns="0" rIns="0" bIns="0" rtlCol="0" anchor="ctr"/>
              <a:lstStyle/>
              <a:p>
                <a:pPr marL="0" indent="0" algn="ctr">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Rainfall Trend</a:t>
                </a:r>
                <a:endParaRPr lang="en-US" sz="1200" dirty="0">
                  <a:latin typeface="Times New Roman" panose="02020603050405020304" pitchFamily="18" charset="0"/>
                  <a:cs typeface="Times New Roman" panose="02020603050405020304" pitchFamily="18" charset="0"/>
                </a:endParaRPr>
              </a:p>
              <a:p>
                <a:pPr marL="0" indent="0" algn="ctr">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Analysis </a:t>
                </a:r>
                <a:endParaRPr lang="en-US" sz="1200" dirty="0">
                  <a:latin typeface="Times New Roman" panose="02020603050405020304" pitchFamily="18" charset="0"/>
                  <a:cs typeface="Times New Roman" panose="02020603050405020304" pitchFamily="18" charset="0"/>
                </a:endParaRPr>
              </a:p>
            </p:txBody>
          </p:sp>
          <p:sp>
            <p:nvSpPr>
              <p:cNvPr id="13" name="Text 11"/>
              <p:cNvSpPr/>
              <p:nvPr/>
            </p:nvSpPr>
            <p:spPr>
              <a:xfrm>
                <a:off x="3474720" y="1280160"/>
                <a:ext cx="228600" cy="365760"/>
              </a:xfrm>
              <a:prstGeom prst="rect">
                <a:avLst/>
              </a:prstGeom>
              <a:noFill/>
              <a:ln/>
            </p:spPr>
            <p:txBody>
              <a:bodyPr wrap="square" lIns="0" tIns="0" rIns="0" bIns="0" rtlCol="0" anchor="ctr"/>
              <a:lstStyle/>
              <a:p>
                <a:pPr marL="0" indent="0" algn="ctr">
                  <a:buNone/>
                </a:pPr>
                <a:r>
                  <a:rPr lang="en-US" sz="1200" b="1" dirty="0">
                    <a:solidFill>
                      <a:srgbClr val="F0A500"/>
                    </a:solidFill>
                    <a:latin typeface="Times New Roman" panose="02020603050405020304" pitchFamily="18" charset="0"/>
                    <a:ea typeface="Calibri"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
            <p:nvSpPr>
              <p:cNvPr id="14" name="Shape 12"/>
              <p:cNvSpPr/>
              <p:nvPr/>
            </p:nvSpPr>
            <p:spPr>
              <a:xfrm>
                <a:off x="3703320" y="960120"/>
                <a:ext cx="1508760" cy="1005840"/>
              </a:xfrm>
              <a:prstGeom prst="rect">
                <a:avLst/>
              </a:prstGeom>
              <a:solidFill>
                <a:schemeClr val="bg2">
                  <a:lumMod val="50000"/>
                </a:schemeClr>
              </a:solidFill>
              <a:ln/>
              <a:effectLst>
                <a:outerShdw blurRad="101600" dist="38100" dir="8100000" algn="bl" rotWithShape="0">
                  <a:srgbClr val="000000">
                    <a:alpha val="12000"/>
                  </a:srgbClr>
                </a:outerShdw>
              </a:effectLst>
            </p:spPr>
            <p:txBody>
              <a:bodyPr/>
              <a:lstStyle/>
              <a:p>
                <a:endParaRPr lang="en-IN"/>
              </a:p>
            </p:txBody>
          </p:sp>
          <p:sp>
            <p:nvSpPr>
              <p:cNvPr id="15" name="Text 13"/>
              <p:cNvSpPr/>
              <p:nvPr/>
            </p:nvSpPr>
            <p:spPr>
              <a:xfrm>
                <a:off x="3703320" y="1014984"/>
                <a:ext cx="15087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3</a:t>
                </a:r>
                <a:endParaRPr lang="en-US" sz="1200" dirty="0">
                  <a:latin typeface="Times New Roman" panose="02020603050405020304" pitchFamily="18" charset="0"/>
                  <a:cs typeface="Times New Roman" panose="02020603050405020304" pitchFamily="18" charset="0"/>
                </a:endParaRPr>
              </a:p>
            </p:txBody>
          </p:sp>
          <p:sp>
            <p:nvSpPr>
              <p:cNvPr id="16" name="Text 14"/>
              <p:cNvSpPr/>
              <p:nvPr/>
            </p:nvSpPr>
            <p:spPr>
              <a:xfrm>
                <a:off x="3758184" y="1399032"/>
                <a:ext cx="1399032" cy="502920"/>
              </a:xfrm>
              <a:prstGeom prst="rect">
                <a:avLst/>
              </a:prstGeom>
              <a:noFill/>
              <a:ln/>
            </p:spPr>
            <p:txBody>
              <a:bodyPr wrap="square" lIns="0" tIns="0" rIns="0" bIns="0" rtlCol="0" anchor="ctr"/>
              <a:lstStyle/>
              <a:p>
                <a:pPr marL="0" indent="0" algn="ctr">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SCS-CN Method</a:t>
                </a:r>
                <a:endParaRPr lang="en-US" sz="1200" dirty="0">
                  <a:latin typeface="Times New Roman" panose="02020603050405020304" pitchFamily="18" charset="0"/>
                  <a:cs typeface="Times New Roman" panose="02020603050405020304" pitchFamily="18" charset="0"/>
                </a:endParaRPr>
              </a:p>
            </p:txBody>
          </p:sp>
          <p:sp>
            <p:nvSpPr>
              <p:cNvPr id="17" name="Text 15"/>
              <p:cNvSpPr/>
              <p:nvPr/>
            </p:nvSpPr>
            <p:spPr>
              <a:xfrm>
                <a:off x="5212080" y="1280160"/>
                <a:ext cx="228600" cy="365760"/>
              </a:xfrm>
              <a:prstGeom prst="rect">
                <a:avLst/>
              </a:prstGeom>
              <a:noFill/>
              <a:ln/>
            </p:spPr>
            <p:txBody>
              <a:bodyPr wrap="square" lIns="0" tIns="0" rIns="0" bIns="0" rtlCol="0" anchor="ctr"/>
              <a:lstStyle/>
              <a:p>
                <a:pPr marL="0" indent="0" algn="ctr">
                  <a:buNone/>
                </a:pPr>
                <a:r>
                  <a:rPr lang="en-US" sz="1200" b="1" dirty="0">
                    <a:solidFill>
                      <a:srgbClr val="F0A500"/>
                    </a:solidFill>
                    <a:latin typeface="Times New Roman" panose="02020603050405020304" pitchFamily="18" charset="0"/>
                    <a:ea typeface="Calibri"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
            <p:nvSpPr>
              <p:cNvPr id="18" name="Shape 16"/>
              <p:cNvSpPr/>
              <p:nvPr/>
            </p:nvSpPr>
            <p:spPr>
              <a:xfrm>
                <a:off x="5440680" y="960120"/>
                <a:ext cx="1508760" cy="1005840"/>
              </a:xfrm>
              <a:prstGeom prst="rect">
                <a:avLst/>
              </a:prstGeom>
              <a:solidFill>
                <a:schemeClr val="bg2">
                  <a:lumMod val="50000"/>
                </a:schemeClr>
              </a:solidFill>
              <a:ln/>
              <a:effectLst>
                <a:outerShdw blurRad="101600" dist="38100" dir="8100000" algn="bl" rotWithShape="0">
                  <a:srgbClr val="000000">
                    <a:alpha val="12000"/>
                  </a:srgbClr>
                </a:outerShdw>
              </a:effectLst>
            </p:spPr>
            <p:txBody>
              <a:bodyPr/>
              <a:lstStyle/>
              <a:p>
                <a:endParaRPr lang="en-IN"/>
              </a:p>
            </p:txBody>
          </p:sp>
          <p:sp>
            <p:nvSpPr>
              <p:cNvPr id="19" name="Text 17"/>
              <p:cNvSpPr/>
              <p:nvPr/>
            </p:nvSpPr>
            <p:spPr>
              <a:xfrm>
                <a:off x="5440680" y="1014984"/>
                <a:ext cx="15087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4</a:t>
                </a:r>
                <a:endParaRPr lang="en-US" sz="1200" dirty="0">
                  <a:latin typeface="Times New Roman" panose="02020603050405020304" pitchFamily="18" charset="0"/>
                  <a:cs typeface="Times New Roman" panose="02020603050405020304" pitchFamily="18" charset="0"/>
                </a:endParaRPr>
              </a:p>
            </p:txBody>
          </p:sp>
          <p:sp>
            <p:nvSpPr>
              <p:cNvPr id="20" name="Text 18"/>
              <p:cNvSpPr/>
              <p:nvPr/>
            </p:nvSpPr>
            <p:spPr>
              <a:xfrm>
                <a:off x="5495544" y="1399032"/>
                <a:ext cx="1399032" cy="502920"/>
              </a:xfrm>
              <a:prstGeom prst="rect">
                <a:avLst/>
              </a:prstGeom>
              <a:noFill/>
              <a:ln/>
            </p:spPr>
            <p:txBody>
              <a:bodyPr wrap="square" lIns="0" tIns="0" rIns="0" bIns="0" rtlCol="0" anchor="ctr"/>
              <a:lstStyle/>
              <a:p>
                <a:pPr marL="0" indent="0" algn="ctr">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LSTM model</a:t>
                </a:r>
                <a:endParaRPr lang="en-US" sz="1200" dirty="0">
                  <a:latin typeface="Times New Roman" panose="02020603050405020304" pitchFamily="18" charset="0"/>
                  <a:cs typeface="Times New Roman" panose="02020603050405020304" pitchFamily="18" charset="0"/>
                </a:endParaRPr>
              </a:p>
            </p:txBody>
          </p:sp>
          <p:sp>
            <p:nvSpPr>
              <p:cNvPr id="21" name="Text 19"/>
              <p:cNvSpPr/>
              <p:nvPr/>
            </p:nvSpPr>
            <p:spPr>
              <a:xfrm>
                <a:off x="6949440" y="1280160"/>
                <a:ext cx="228600" cy="365760"/>
              </a:xfrm>
              <a:prstGeom prst="rect">
                <a:avLst/>
              </a:prstGeom>
              <a:noFill/>
              <a:ln/>
            </p:spPr>
            <p:txBody>
              <a:bodyPr wrap="square" lIns="0" tIns="0" rIns="0" bIns="0" rtlCol="0" anchor="ctr"/>
              <a:lstStyle/>
              <a:p>
                <a:pPr marL="0" indent="0" algn="ctr">
                  <a:buNone/>
                </a:pPr>
                <a:r>
                  <a:rPr lang="en-US" sz="1200" b="1" dirty="0">
                    <a:solidFill>
                      <a:srgbClr val="F0A500"/>
                    </a:solidFill>
                    <a:latin typeface="Times New Roman" panose="02020603050405020304" pitchFamily="18" charset="0"/>
                    <a:ea typeface="Calibri"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
            <p:nvSpPr>
              <p:cNvPr id="28" name="Text 26"/>
              <p:cNvSpPr/>
              <p:nvPr/>
            </p:nvSpPr>
            <p:spPr>
              <a:xfrm>
                <a:off x="1773936" y="2617697"/>
                <a:ext cx="292608" cy="365760"/>
              </a:xfrm>
              <a:prstGeom prst="rect">
                <a:avLst/>
              </a:prstGeom>
              <a:noFill/>
              <a:ln/>
            </p:spPr>
            <p:txBody>
              <a:bodyPr wrap="square" lIns="0" tIns="0" rIns="0" bIns="0" rtlCol="0" anchor="ctr"/>
              <a:lstStyle/>
              <a:p>
                <a:pPr marL="0" indent="0" algn="ctr">
                  <a:buNone/>
                </a:pPr>
                <a:r>
                  <a:rPr lang="en-US" sz="1200" b="1" dirty="0">
                    <a:solidFill>
                      <a:srgbClr val="F0A500"/>
                    </a:solidFill>
                    <a:latin typeface="Times New Roman" panose="02020603050405020304" pitchFamily="18" charset="0"/>
                    <a:ea typeface="Calibri"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
            <p:nvSpPr>
              <p:cNvPr id="30" name="Text 28"/>
              <p:cNvSpPr/>
              <p:nvPr/>
            </p:nvSpPr>
            <p:spPr>
              <a:xfrm>
                <a:off x="1865376" y="2336897"/>
                <a:ext cx="16916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6</a:t>
                </a:r>
                <a:endParaRPr lang="en-US" sz="1200" dirty="0">
                  <a:latin typeface="Times New Roman" panose="02020603050405020304" pitchFamily="18" charset="0"/>
                  <a:cs typeface="Times New Roman" panose="02020603050405020304" pitchFamily="18" charset="0"/>
                </a:endParaRPr>
              </a:p>
            </p:txBody>
          </p:sp>
          <p:sp>
            <p:nvSpPr>
              <p:cNvPr id="32" name="Text 30"/>
              <p:cNvSpPr/>
              <p:nvPr/>
            </p:nvSpPr>
            <p:spPr>
              <a:xfrm>
                <a:off x="3419856" y="2623298"/>
                <a:ext cx="292608" cy="365760"/>
              </a:xfrm>
              <a:prstGeom prst="rect">
                <a:avLst/>
              </a:prstGeom>
              <a:noFill/>
              <a:ln/>
            </p:spPr>
            <p:txBody>
              <a:bodyPr wrap="square" lIns="0" tIns="0" rIns="0" bIns="0" rtlCol="0" anchor="ctr"/>
              <a:lstStyle/>
              <a:p>
                <a:pPr marL="0" indent="0" algn="ctr">
                  <a:buNone/>
                </a:pPr>
                <a:r>
                  <a:rPr lang="en-US" sz="1200" b="1" dirty="0">
                    <a:solidFill>
                      <a:srgbClr val="F0A500"/>
                    </a:solidFill>
                    <a:latin typeface="Times New Roman" panose="02020603050405020304" pitchFamily="18" charset="0"/>
                    <a:ea typeface="Calibri"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
            <p:nvSpPr>
              <p:cNvPr id="34" name="Text 32"/>
              <p:cNvSpPr/>
              <p:nvPr/>
            </p:nvSpPr>
            <p:spPr>
              <a:xfrm>
                <a:off x="3692905" y="2366813"/>
                <a:ext cx="16916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7</a:t>
                </a:r>
                <a:endParaRPr lang="en-US" sz="1200" dirty="0">
                  <a:latin typeface="Times New Roman" panose="02020603050405020304" pitchFamily="18" charset="0"/>
                  <a:cs typeface="Times New Roman" panose="02020603050405020304" pitchFamily="18" charset="0"/>
                </a:endParaRPr>
              </a:p>
            </p:txBody>
          </p:sp>
          <p:sp>
            <p:nvSpPr>
              <p:cNvPr id="36" name="Text 34"/>
              <p:cNvSpPr/>
              <p:nvPr/>
            </p:nvSpPr>
            <p:spPr>
              <a:xfrm>
                <a:off x="5274817" y="2628445"/>
                <a:ext cx="292608" cy="365760"/>
              </a:xfrm>
              <a:prstGeom prst="rect">
                <a:avLst/>
              </a:prstGeom>
              <a:noFill/>
              <a:ln/>
            </p:spPr>
            <p:txBody>
              <a:bodyPr wrap="square" lIns="0" tIns="0" rIns="0" bIns="0" rtlCol="0" anchor="ctr"/>
              <a:lstStyle/>
              <a:p>
                <a:pPr marL="0" indent="0" algn="ctr">
                  <a:buNone/>
                </a:pPr>
                <a:r>
                  <a:rPr lang="en-US" sz="1200" b="1" dirty="0">
                    <a:solidFill>
                      <a:srgbClr val="F0A500"/>
                    </a:solidFill>
                    <a:latin typeface="Times New Roman" panose="02020603050405020304" pitchFamily="18" charset="0"/>
                    <a:ea typeface="Calibri"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
            <p:nvSpPr>
              <p:cNvPr id="38" name="Text 36"/>
              <p:cNvSpPr/>
              <p:nvPr/>
            </p:nvSpPr>
            <p:spPr>
              <a:xfrm>
                <a:off x="5384545" y="2347586"/>
                <a:ext cx="16916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8</a:t>
                </a:r>
                <a:endParaRPr lang="en-US" sz="1200" dirty="0">
                  <a:latin typeface="Times New Roman" panose="02020603050405020304" pitchFamily="18" charset="0"/>
                  <a:cs typeface="Times New Roman" panose="02020603050405020304" pitchFamily="18" charset="0"/>
                </a:endParaRPr>
              </a:p>
            </p:txBody>
          </p:sp>
          <p:sp>
            <p:nvSpPr>
              <p:cNvPr id="41" name="Text 39"/>
              <p:cNvSpPr/>
              <p:nvPr/>
            </p:nvSpPr>
            <p:spPr>
              <a:xfrm>
                <a:off x="658368" y="1965960"/>
                <a:ext cx="320040" cy="320040"/>
              </a:xfrm>
              <a:prstGeom prst="rect">
                <a:avLst/>
              </a:prstGeom>
              <a:noFill/>
              <a:ln/>
            </p:spPr>
            <p:txBody>
              <a:bodyPr wrap="square" lIns="0" tIns="0" rIns="0" bIns="0" rtlCol="0" anchor="ctr"/>
              <a:lstStyle/>
              <a:p>
                <a:pPr marL="0" indent="0" algn="ctr">
                  <a:buNone/>
                </a:pPr>
                <a:endParaRPr lang="en-US" sz="1200" dirty="0">
                  <a:latin typeface="Times New Roman" panose="02020603050405020304" pitchFamily="18" charset="0"/>
                  <a:cs typeface="Times New Roman" panose="02020603050405020304" pitchFamily="18" charset="0"/>
                </a:endParaRPr>
              </a:p>
            </p:txBody>
          </p:sp>
        </p:grpSp>
      </p:grpSp>
      <p:grpSp>
        <p:nvGrpSpPr>
          <p:cNvPr id="56" name="Group 55">
            <a:extLst>
              <a:ext uri="{FF2B5EF4-FFF2-40B4-BE49-F238E27FC236}">
                <a16:creationId xmlns:a16="http://schemas.microsoft.com/office/drawing/2014/main" id="{B09231A7-4511-CA6B-9EEC-9465F03CDD41}"/>
              </a:ext>
            </a:extLst>
          </p:cNvPr>
          <p:cNvGrpSpPr/>
          <p:nvPr/>
        </p:nvGrpSpPr>
        <p:grpSpPr>
          <a:xfrm>
            <a:off x="161565" y="3291840"/>
            <a:ext cx="8686800" cy="1371600"/>
            <a:chOff x="228600" y="3493008"/>
            <a:chExt cx="8686800" cy="1371600"/>
          </a:xfrm>
        </p:grpSpPr>
        <p:sp>
          <p:nvSpPr>
            <p:cNvPr id="42" name="Shape 40"/>
            <p:cNvSpPr/>
            <p:nvPr/>
          </p:nvSpPr>
          <p:spPr>
            <a:xfrm>
              <a:off x="228600" y="3493008"/>
              <a:ext cx="8686800" cy="1371600"/>
            </a:xfrm>
            <a:prstGeom prst="rect">
              <a:avLst/>
            </a:prstGeom>
            <a:solidFill>
              <a:srgbClr val="0D2B5E"/>
            </a:solidFill>
            <a:ln/>
            <a:effectLst>
              <a:outerShdw blurRad="101600" dist="38100" dir="8100000" algn="bl" rotWithShape="0">
                <a:srgbClr val="000000">
                  <a:alpha val="12000"/>
                </a:srgbClr>
              </a:outerShdw>
            </a:effectLst>
          </p:spPr>
          <p:txBody>
            <a:bodyPr/>
            <a:lstStyle/>
            <a:p>
              <a:endParaRPr lang="en-IN"/>
            </a:p>
          </p:txBody>
        </p:sp>
        <p:sp>
          <p:nvSpPr>
            <p:cNvPr id="43" name="Text 41"/>
            <p:cNvSpPr/>
            <p:nvPr/>
          </p:nvSpPr>
          <p:spPr>
            <a:xfrm>
              <a:off x="320040" y="3547872"/>
              <a:ext cx="1097280" cy="347472"/>
            </a:xfrm>
            <a:prstGeom prst="rect">
              <a:avLst/>
            </a:prstGeom>
            <a:noFill/>
            <a:ln/>
          </p:spPr>
          <p:txBody>
            <a:bodyPr wrap="square" lIns="0" tIns="0" rIns="0" bIns="0" rtlCol="0" anchor="ctr"/>
            <a:lstStyle/>
            <a:p>
              <a:pPr marL="0" indent="0">
                <a:buNone/>
              </a:pPr>
              <a:r>
                <a:rPr lang="en-US" sz="1200" b="1" dirty="0">
                  <a:solidFill>
                    <a:srgbClr val="00B0F0"/>
                  </a:solidFill>
                  <a:latin typeface="Times New Roman" panose="02020603050405020304" pitchFamily="18" charset="0"/>
                  <a:ea typeface="Calibri" pitchFamily="34" charset="-122"/>
                  <a:cs typeface="Times New Roman" panose="02020603050405020304" pitchFamily="18" charset="0"/>
                </a:rPr>
                <a:t>Outputs</a:t>
              </a:r>
              <a:endParaRPr lang="en-US" sz="1200" dirty="0">
                <a:solidFill>
                  <a:srgbClr val="00B0F0"/>
                </a:solidFill>
                <a:latin typeface="Times New Roman" panose="02020603050405020304" pitchFamily="18" charset="0"/>
                <a:cs typeface="Times New Roman" panose="02020603050405020304" pitchFamily="18" charset="0"/>
              </a:endParaRPr>
            </a:p>
          </p:txBody>
        </p:sp>
        <p:sp>
          <p:nvSpPr>
            <p:cNvPr id="44" name="Shape 42"/>
            <p:cNvSpPr/>
            <p:nvPr/>
          </p:nvSpPr>
          <p:spPr>
            <a:xfrm>
              <a:off x="320040" y="3950208"/>
              <a:ext cx="1600200" cy="804672"/>
            </a:xfrm>
            <a:prstGeom prst="rect">
              <a:avLst/>
            </a:prstGeom>
            <a:solidFill>
              <a:schemeClr val="accent1">
                <a:lumMod val="20000"/>
                <a:lumOff val="80000"/>
              </a:schemeClr>
            </a:solidFill>
            <a:ln/>
          </p:spPr>
          <p:txBody>
            <a:bodyPr/>
            <a:lstStyle/>
            <a:p>
              <a:endParaRPr lang="en-IN"/>
            </a:p>
          </p:txBody>
        </p:sp>
        <p:sp>
          <p:nvSpPr>
            <p:cNvPr id="45" name="Text 43"/>
            <p:cNvSpPr/>
            <p:nvPr/>
          </p:nvSpPr>
          <p:spPr>
            <a:xfrm>
              <a:off x="365760" y="3977640"/>
              <a:ext cx="1508760" cy="749808"/>
            </a:xfrm>
            <a:prstGeom prst="rect">
              <a:avLst/>
            </a:prstGeom>
            <a:noFill/>
            <a:ln/>
          </p:spPr>
          <p:txBody>
            <a:bodyPr wrap="square" lIns="0" tIns="0" rIns="0" bIns="0" rtlCol="0" anchor="ctr"/>
            <a:lstStyle/>
            <a:p>
              <a:pPr marL="0" indent="0" algn="ctr">
                <a:buNone/>
              </a:pPr>
              <a:r>
                <a:rPr lang="en-US" sz="12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Trend maps &amp;</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a:p>
              <a:pPr marL="0" indent="0" algn="ctr">
                <a:buNone/>
              </a:pPr>
              <a:r>
                <a:rPr lang="en-US" sz="12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Sen's Slope values</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46" name="Shape 44"/>
            <p:cNvSpPr/>
            <p:nvPr/>
          </p:nvSpPr>
          <p:spPr>
            <a:xfrm>
              <a:off x="2057400" y="3950208"/>
              <a:ext cx="1600200" cy="804672"/>
            </a:xfrm>
            <a:prstGeom prst="rect">
              <a:avLst/>
            </a:prstGeom>
            <a:solidFill>
              <a:schemeClr val="accent1">
                <a:lumMod val="20000"/>
                <a:lumOff val="80000"/>
              </a:schemeClr>
            </a:solidFill>
            <a:ln/>
          </p:spPr>
          <p:txBody>
            <a:bodyPr/>
            <a:lstStyle/>
            <a:p>
              <a:endParaRPr lang="en-IN"/>
            </a:p>
          </p:txBody>
        </p:sp>
        <p:sp>
          <p:nvSpPr>
            <p:cNvPr id="47" name="Text 45"/>
            <p:cNvSpPr/>
            <p:nvPr/>
          </p:nvSpPr>
          <p:spPr>
            <a:xfrm>
              <a:off x="2103120" y="3977640"/>
              <a:ext cx="1508760" cy="749808"/>
            </a:xfrm>
            <a:prstGeom prst="rect">
              <a:avLst/>
            </a:prstGeom>
            <a:noFill/>
            <a:ln/>
          </p:spPr>
          <p:txBody>
            <a:bodyPr wrap="square" lIns="0" tIns="0" rIns="0" bIns="0" rtlCol="0" anchor="ctr"/>
            <a:lstStyle/>
            <a:p>
              <a:pPr marL="0" indent="0" algn="ctr">
                <a:buNone/>
              </a:pPr>
              <a:r>
                <a:rPr lang="en-US" sz="12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LULC change</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a:p>
              <a:pPr marL="0" indent="0" algn="ctr">
                <a:buNone/>
              </a:pPr>
              <a:r>
                <a:rPr lang="en-US" sz="12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statistics &amp; maps</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48" name="Shape 46"/>
            <p:cNvSpPr/>
            <p:nvPr/>
          </p:nvSpPr>
          <p:spPr>
            <a:xfrm>
              <a:off x="3794760" y="3950208"/>
              <a:ext cx="1600200" cy="804672"/>
            </a:xfrm>
            <a:prstGeom prst="rect">
              <a:avLst/>
            </a:prstGeom>
            <a:solidFill>
              <a:schemeClr val="accent1">
                <a:lumMod val="20000"/>
                <a:lumOff val="80000"/>
              </a:schemeClr>
            </a:solidFill>
            <a:ln/>
          </p:spPr>
          <p:txBody>
            <a:bodyPr/>
            <a:lstStyle/>
            <a:p>
              <a:endParaRPr lang="en-IN"/>
            </a:p>
          </p:txBody>
        </p:sp>
        <p:sp>
          <p:nvSpPr>
            <p:cNvPr id="49" name="Text 47"/>
            <p:cNvSpPr/>
            <p:nvPr/>
          </p:nvSpPr>
          <p:spPr>
            <a:xfrm>
              <a:off x="3840480" y="3977640"/>
              <a:ext cx="1508760" cy="749808"/>
            </a:xfrm>
            <a:prstGeom prst="rect">
              <a:avLst/>
            </a:prstGeom>
            <a:noFill/>
            <a:ln/>
          </p:spPr>
          <p:txBody>
            <a:bodyPr wrap="square" lIns="0" tIns="0" rIns="0" bIns="0" rtlCol="0" anchor="ctr"/>
            <a:lstStyle/>
            <a:p>
              <a:pPr marL="0" indent="0" algn="ctr">
                <a:buNone/>
              </a:pPr>
              <a:r>
                <a:rPr lang="en-US" sz="12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Composite CN</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a:p>
              <a:pPr marL="0" indent="0" algn="ctr">
                <a:buNone/>
              </a:pPr>
              <a:r>
                <a:rPr lang="en-US" sz="12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&amp; Runoff trends</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50" name="Shape 48"/>
            <p:cNvSpPr/>
            <p:nvPr/>
          </p:nvSpPr>
          <p:spPr>
            <a:xfrm>
              <a:off x="5532120" y="3950208"/>
              <a:ext cx="1600200" cy="804672"/>
            </a:xfrm>
            <a:prstGeom prst="rect">
              <a:avLst/>
            </a:prstGeom>
            <a:solidFill>
              <a:schemeClr val="accent1">
                <a:lumMod val="20000"/>
                <a:lumOff val="80000"/>
              </a:schemeClr>
            </a:solidFill>
            <a:ln/>
          </p:spPr>
          <p:txBody>
            <a:bodyPr/>
            <a:lstStyle/>
            <a:p>
              <a:endParaRPr lang="en-IN"/>
            </a:p>
          </p:txBody>
        </p:sp>
        <p:sp>
          <p:nvSpPr>
            <p:cNvPr id="51" name="Text 49"/>
            <p:cNvSpPr/>
            <p:nvPr/>
          </p:nvSpPr>
          <p:spPr>
            <a:xfrm>
              <a:off x="5577840" y="3977640"/>
              <a:ext cx="1508760" cy="749808"/>
            </a:xfrm>
            <a:prstGeom prst="rect">
              <a:avLst/>
            </a:prstGeom>
            <a:noFill/>
            <a:ln/>
          </p:spPr>
          <p:txBody>
            <a:bodyPr wrap="square" lIns="0" tIns="0" rIns="0" bIns="0" rtlCol="0" anchor="ctr"/>
            <a:lstStyle/>
            <a:p>
              <a:pPr marL="0" indent="0" algn="ctr">
                <a:buNone/>
              </a:pPr>
              <a:r>
                <a:rPr lang="en-US" sz="12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LSTM &amp; GP model</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a:p>
              <a:pPr marL="0" indent="0" algn="ctr">
                <a:buNone/>
              </a:pPr>
              <a:r>
                <a:rPr lang="en-US" sz="12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performance</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52" name="Shape 50"/>
            <p:cNvSpPr/>
            <p:nvPr/>
          </p:nvSpPr>
          <p:spPr>
            <a:xfrm>
              <a:off x="7269480" y="3950208"/>
              <a:ext cx="1600200" cy="804672"/>
            </a:xfrm>
            <a:prstGeom prst="rect">
              <a:avLst/>
            </a:prstGeom>
            <a:solidFill>
              <a:schemeClr val="accent1">
                <a:lumMod val="20000"/>
                <a:lumOff val="80000"/>
              </a:schemeClr>
            </a:solidFill>
            <a:ln/>
          </p:spPr>
          <p:txBody>
            <a:bodyPr/>
            <a:lstStyle/>
            <a:p>
              <a:endParaRPr lang="en-IN"/>
            </a:p>
          </p:txBody>
        </p:sp>
        <p:sp>
          <p:nvSpPr>
            <p:cNvPr id="53" name="Text 51"/>
            <p:cNvSpPr/>
            <p:nvPr/>
          </p:nvSpPr>
          <p:spPr>
            <a:xfrm>
              <a:off x="7315200" y="3977640"/>
              <a:ext cx="1508760" cy="749808"/>
            </a:xfrm>
            <a:prstGeom prst="rect">
              <a:avLst/>
            </a:prstGeom>
            <a:noFill/>
            <a:ln/>
          </p:spPr>
          <p:txBody>
            <a:bodyPr wrap="square" lIns="0" tIns="0" rIns="0" bIns="0" rtlCol="0" anchor="ctr"/>
            <a:lstStyle/>
            <a:p>
              <a:pPr marL="0" indent="0" algn="ctr">
                <a:buNone/>
              </a:pPr>
              <a:r>
                <a:rPr lang="en-US" sz="12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Inflow forecasts</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a:p>
              <a:pPr marL="0" indent="0" algn="ctr">
                <a:buNone/>
              </a:pPr>
              <a:r>
                <a:rPr lang="en-US" sz="12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&amp; sustainability index</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p:txBody>
        </p:sp>
      </p:grpSp>
      <p:sp>
        <p:nvSpPr>
          <p:cNvPr id="62" name="TextBox 61">
            <a:extLst>
              <a:ext uri="{FF2B5EF4-FFF2-40B4-BE49-F238E27FC236}">
                <a16:creationId xmlns:a16="http://schemas.microsoft.com/office/drawing/2014/main" id="{C6ED336A-F2E2-CB29-CA05-A7AEBBF8C8F8}"/>
              </a:ext>
            </a:extLst>
          </p:cNvPr>
          <p:cNvSpPr txBox="1"/>
          <p:nvPr/>
        </p:nvSpPr>
        <p:spPr>
          <a:xfrm>
            <a:off x="8684005" y="4780950"/>
            <a:ext cx="286734"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7</a:t>
            </a:r>
            <a:endParaRPr lang="en-IN" sz="1200" dirty="0">
              <a:latin typeface="Times New Roman" panose="02020603050405020304" pitchFamily="18" charset="0"/>
              <a:cs typeface="Times New Roman" panose="02020603050405020304" pitchFamily="18" charset="0"/>
            </a:endParaRPr>
          </a:p>
        </p:txBody>
      </p:sp>
      <p:sp>
        <p:nvSpPr>
          <p:cNvPr id="64" name="Text 29">
            <a:extLst>
              <a:ext uri="{FF2B5EF4-FFF2-40B4-BE49-F238E27FC236}">
                <a16:creationId xmlns:a16="http://schemas.microsoft.com/office/drawing/2014/main" id="{C8489E06-5CCA-ED9C-F9E1-07DAEBFCDEAD}"/>
              </a:ext>
            </a:extLst>
          </p:cNvPr>
          <p:cNvSpPr/>
          <p:nvPr/>
        </p:nvSpPr>
        <p:spPr>
          <a:xfrm>
            <a:off x="4248872" y="2519868"/>
            <a:ext cx="1581912" cy="502920"/>
          </a:xfrm>
          <a:prstGeom prst="rect">
            <a:avLst/>
          </a:prstGeom>
          <a:noFill/>
          <a:ln/>
        </p:spPr>
        <p:txBody>
          <a:bodyPr wrap="square" lIns="0" tIns="0" rIns="0" bIns="0" rtlCol="0" anchor="ctr"/>
          <a:lstStyle/>
          <a:p>
            <a:pPr marL="0" indent="0" algn="ctr">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Performance</a:t>
            </a:r>
            <a:endParaRPr lang="en-US" sz="1200" dirty="0">
              <a:latin typeface="Times New Roman" panose="02020603050405020304" pitchFamily="18" charset="0"/>
              <a:cs typeface="Times New Roman" panose="02020603050405020304" pitchFamily="18" charset="0"/>
            </a:endParaRPr>
          </a:p>
          <a:p>
            <a:pPr marL="0" indent="0" algn="ctr">
              <a:buNone/>
            </a:pPr>
            <a:r>
              <a:rPr lang="en-US" sz="1200" dirty="0">
                <a:solidFill>
                  <a:srgbClr val="FFFFFF"/>
                </a:solidFill>
                <a:latin typeface="Times New Roman" panose="02020603050405020304" pitchFamily="18" charset="0"/>
                <a:ea typeface="Calibri" pitchFamily="34" charset="-122"/>
                <a:cs typeface="Times New Roman" panose="02020603050405020304" pitchFamily="18" charset="0"/>
              </a:rPr>
              <a:t>Evaluation</a:t>
            </a:r>
            <a:endParaRPr lang="en-US" sz="1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fade">
                                      <p:cBhvr>
                                        <p:cTn id="7"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0C0"/>
          </a:solidFill>
          <a:ln/>
        </p:spPr>
        <p:txBody>
          <a:bodyPr/>
          <a:lstStyle/>
          <a:p>
            <a:endParaRPr lang="en-IN"/>
          </a:p>
        </p:txBody>
      </p:sp>
      <p:sp>
        <p:nvSpPr>
          <p:cNvPr id="3" name="Text 1"/>
          <p:cNvSpPr/>
          <p:nvPr/>
        </p:nvSpPr>
        <p:spPr>
          <a:xfrm>
            <a:off x="365760" y="73152"/>
            <a:ext cx="7772400" cy="512064"/>
          </a:xfrm>
          <a:prstGeom prst="rect">
            <a:avLst/>
          </a:prstGeom>
          <a:noFill/>
          <a:ln/>
        </p:spPr>
        <p:txBody>
          <a:bodyPr wrap="square" lIns="0" tIns="0" rIns="0" bIns="0" rtlCol="0" anchor="ctr"/>
          <a:lstStyle/>
          <a:p>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06  |  Methodology- Rainfall Trend Analysis</a:t>
            </a:r>
            <a:endParaRPr lang="en-US" sz="2200" dirty="0">
              <a:latin typeface="Times New Roman" panose="02020603050405020304" pitchFamily="18" charset="0"/>
              <a:cs typeface="Times New Roman" panose="02020603050405020304" pitchFamily="18" charset="0"/>
            </a:endParaRPr>
          </a:p>
        </p:txBody>
      </p:sp>
      <p:sp>
        <p:nvSpPr>
          <p:cNvPr id="4" name="Text 2"/>
          <p:cNvSpPr/>
          <p:nvPr/>
        </p:nvSpPr>
        <p:spPr>
          <a:xfrm>
            <a:off x="365760" y="73152"/>
            <a:ext cx="7772400" cy="512064"/>
          </a:xfrm>
          <a:prstGeom prst="rect">
            <a:avLst/>
          </a:prstGeom>
          <a:noFill/>
          <a:ln/>
        </p:spPr>
        <p:txBody>
          <a:bodyPr wrap="square" lIns="0" tIns="0" rIns="0" bIns="0" rtlCol="0" anchor="ctr"/>
          <a:lstStyle/>
          <a:p>
            <a:pPr marL="0" indent="0" algn="r">
              <a:buNone/>
            </a:pPr>
            <a:r>
              <a:rPr lang="en-US" sz="1100" dirty="0">
                <a:solidFill>
                  <a:srgbClr val="CADCFC"/>
                </a:solidFill>
                <a:latin typeface="Times New Roman" panose="02020603050405020304" pitchFamily="18" charset="0"/>
                <a:ea typeface="Calibri" pitchFamily="34" charset="-122"/>
                <a:cs typeface="Times New Roman" panose="02020603050405020304" pitchFamily="18" charset="0"/>
              </a:rPr>
              <a:t> Sen's Slope Estimator</a:t>
            </a:r>
            <a:endParaRPr lang="en-US" sz="1100" dirty="0">
              <a:latin typeface="Times New Roman" panose="02020603050405020304" pitchFamily="18" charset="0"/>
              <a:cs typeface="Times New Roman" panose="02020603050405020304" pitchFamily="18" charset="0"/>
            </a:endParaRPr>
          </a:p>
        </p:txBody>
      </p:sp>
      <p:sp>
        <p:nvSpPr>
          <p:cNvPr id="5" name="Shape 3"/>
          <p:cNvSpPr/>
          <p:nvPr/>
        </p:nvSpPr>
        <p:spPr>
          <a:xfrm>
            <a:off x="0" y="658368"/>
            <a:ext cx="9144000" cy="45720"/>
          </a:xfrm>
          <a:prstGeom prst="rect">
            <a:avLst/>
          </a:prstGeom>
          <a:solidFill>
            <a:srgbClr val="00B0F0"/>
          </a:solidFill>
          <a:ln/>
        </p:spPr>
        <p:txBody>
          <a:bodyPr/>
          <a:lstStyle/>
          <a:p>
            <a:endParaRPr lang="en-IN"/>
          </a:p>
        </p:txBody>
      </p:sp>
      <p:grpSp>
        <p:nvGrpSpPr>
          <p:cNvPr id="50" name="Group 49">
            <a:extLst>
              <a:ext uri="{FF2B5EF4-FFF2-40B4-BE49-F238E27FC236}">
                <a16:creationId xmlns:a16="http://schemas.microsoft.com/office/drawing/2014/main" id="{CF30BC1E-FD9B-39EB-4F80-CD8D7C5C49E9}"/>
              </a:ext>
            </a:extLst>
          </p:cNvPr>
          <p:cNvGrpSpPr/>
          <p:nvPr/>
        </p:nvGrpSpPr>
        <p:grpSpPr>
          <a:xfrm>
            <a:off x="1245408" y="840762"/>
            <a:ext cx="6677336" cy="4044205"/>
            <a:chOff x="4663440" y="804671"/>
            <a:chExt cx="4251960" cy="4133088"/>
          </a:xfrm>
        </p:grpSpPr>
        <p:sp>
          <p:nvSpPr>
            <p:cNvPr id="27" name="Shape 25"/>
            <p:cNvSpPr/>
            <p:nvPr/>
          </p:nvSpPr>
          <p:spPr>
            <a:xfrm>
              <a:off x="4663440" y="804671"/>
              <a:ext cx="4251960" cy="4133088"/>
            </a:xfrm>
            <a:prstGeom prst="rect">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en-IN" sz="1200" dirty="0">
                <a:latin typeface="Times New Roman" panose="02020603050405020304" pitchFamily="18" charset="0"/>
                <a:cs typeface="Times New Roman" panose="02020603050405020304" pitchFamily="18" charset="0"/>
              </a:endParaRPr>
            </a:p>
          </p:txBody>
        </p:sp>
        <p:sp>
          <p:nvSpPr>
            <p:cNvPr id="28" name="Shape 26"/>
            <p:cNvSpPr/>
            <p:nvPr/>
          </p:nvSpPr>
          <p:spPr>
            <a:xfrm>
              <a:off x="4663440" y="804672"/>
              <a:ext cx="4251960" cy="384048"/>
            </a:xfrm>
            <a:prstGeom prst="rect">
              <a:avLst/>
            </a:prstGeom>
            <a:solidFill>
              <a:srgbClr val="1A56A8"/>
            </a:solidFill>
            <a:ln/>
          </p:spPr>
          <p:txBody>
            <a:bodyPr/>
            <a:lstStyle/>
            <a:p>
              <a:endParaRPr lang="en-IN"/>
            </a:p>
          </p:txBody>
        </p:sp>
        <p:sp>
          <p:nvSpPr>
            <p:cNvPr id="29" name="Text 27"/>
            <p:cNvSpPr/>
            <p:nvPr/>
          </p:nvSpPr>
          <p:spPr>
            <a:xfrm>
              <a:off x="4754880" y="804672"/>
              <a:ext cx="4069080" cy="384048"/>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Sen's Slope Estimator</a:t>
              </a:r>
              <a:endParaRPr lang="en-US" sz="1200" dirty="0">
                <a:latin typeface="Times New Roman" panose="02020603050405020304" pitchFamily="18" charset="0"/>
                <a:cs typeface="Times New Roman" panose="02020603050405020304" pitchFamily="18" charset="0"/>
              </a:endParaRPr>
            </a:p>
          </p:txBody>
        </p:sp>
        <p:sp>
          <p:nvSpPr>
            <p:cNvPr id="30" name="Shape 28"/>
            <p:cNvSpPr/>
            <p:nvPr/>
          </p:nvSpPr>
          <p:spPr>
            <a:xfrm>
              <a:off x="4754880" y="1298448"/>
              <a:ext cx="4069080" cy="420624"/>
            </a:xfrm>
            <a:prstGeom prst="rect">
              <a:avLst/>
            </a:prstGeom>
            <a:solidFill>
              <a:srgbClr val="F0F9FF"/>
            </a:solidFill>
            <a:ln/>
          </p:spPr>
          <p:txBody>
            <a:bodyPr/>
            <a:lstStyle/>
            <a:p>
              <a:endParaRPr lang="en-IN"/>
            </a:p>
          </p:txBody>
        </p:sp>
        <p:sp>
          <p:nvSpPr>
            <p:cNvPr id="31" name="Text 29"/>
            <p:cNvSpPr/>
            <p:nvPr/>
          </p:nvSpPr>
          <p:spPr>
            <a:xfrm>
              <a:off x="4818888" y="1298448"/>
              <a:ext cx="1051560" cy="420624"/>
            </a:xfrm>
            <a:prstGeom prst="rect">
              <a:avLst/>
            </a:prstGeom>
            <a:noFill/>
            <a:ln/>
          </p:spPr>
          <p:txBody>
            <a:bodyPr wrap="square" lIns="0" tIns="0" rIns="0" bIns="0" rtlCol="0" anchor="ctr"/>
            <a:lstStyle/>
            <a:p>
              <a:pPr marL="0" indent="0">
                <a:buNone/>
              </a:pPr>
              <a:r>
                <a:rPr lang="en-US" sz="1200" b="1" dirty="0">
                  <a:solidFill>
                    <a:srgbClr val="1A56A8"/>
                  </a:solidFill>
                  <a:latin typeface="Times New Roman" panose="02020603050405020304" pitchFamily="18" charset="0"/>
                  <a:ea typeface="Calibri" pitchFamily="34" charset="-122"/>
                  <a:cs typeface="Times New Roman" panose="02020603050405020304" pitchFamily="18" charset="0"/>
                </a:rPr>
                <a:t>Purpose</a:t>
              </a:r>
              <a:endParaRPr lang="en-US" sz="1200" dirty="0">
                <a:latin typeface="Times New Roman" panose="02020603050405020304" pitchFamily="18" charset="0"/>
                <a:cs typeface="Times New Roman" panose="02020603050405020304" pitchFamily="18" charset="0"/>
              </a:endParaRPr>
            </a:p>
          </p:txBody>
        </p:sp>
        <p:sp>
          <p:nvSpPr>
            <p:cNvPr id="32" name="Text 30"/>
            <p:cNvSpPr/>
            <p:nvPr/>
          </p:nvSpPr>
          <p:spPr>
            <a:xfrm>
              <a:off x="5916168" y="1298448"/>
              <a:ext cx="2834640" cy="420624"/>
            </a:xfrm>
            <a:prstGeom prst="rect">
              <a:avLst/>
            </a:prstGeom>
            <a:noFill/>
            <a:ln/>
          </p:spPr>
          <p:txBody>
            <a:bodyPr wrap="square" lIns="0" tIns="0" rIns="0" bIns="0" rtlCol="0" anchor="ctr"/>
            <a:lstStyle/>
            <a:p>
              <a:pPr marL="0" indent="0">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Robust non-parametric slope estimator; resistant to outliers</a:t>
              </a:r>
              <a:endParaRPr lang="en-US" sz="1200" dirty="0">
                <a:latin typeface="Times New Roman" panose="02020603050405020304" pitchFamily="18" charset="0"/>
                <a:cs typeface="Times New Roman" panose="02020603050405020304" pitchFamily="18" charset="0"/>
              </a:endParaRPr>
            </a:p>
          </p:txBody>
        </p:sp>
        <p:sp>
          <p:nvSpPr>
            <p:cNvPr id="33" name="Shape 31"/>
            <p:cNvSpPr/>
            <p:nvPr/>
          </p:nvSpPr>
          <p:spPr>
            <a:xfrm>
              <a:off x="4754880" y="1810512"/>
              <a:ext cx="4069080" cy="420624"/>
            </a:xfrm>
            <a:prstGeom prst="rect">
              <a:avLst/>
            </a:prstGeom>
            <a:solidFill>
              <a:srgbClr val="FFFFFF"/>
            </a:solidFill>
            <a:ln/>
          </p:spPr>
          <p:txBody>
            <a:bodyPr/>
            <a:lstStyle/>
            <a:p>
              <a:endParaRPr lang="en-IN"/>
            </a:p>
          </p:txBody>
        </p:sp>
        <p:sp>
          <p:nvSpPr>
            <p:cNvPr id="34" name="Text 32"/>
            <p:cNvSpPr/>
            <p:nvPr/>
          </p:nvSpPr>
          <p:spPr>
            <a:xfrm>
              <a:off x="4818888" y="1810512"/>
              <a:ext cx="1051560" cy="420624"/>
            </a:xfrm>
            <a:prstGeom prst="rect">
              <a:avLst/>
            </a:prstGeom>
            <a:noFill/>
            <a:ln/>
          </p:spPr>
          <p:txBody>
            <a:bodyPr wrap="square" lIns="0" tIns="0" rIns="0" bIns="0" rtlCol="0" anchor="ctr"/>
            <a:lstStyle/>
            <a:p>
              <a:pPr marL="0" indent="0">
                <a:buNone/>
              </a:pPr>
              <a:r>
                <a:rPr lang="en-US" sz="1200" b="1" dirty="0">
                  <a:solidFill>
                    <a:srgbClr val="1A56A8"/>
                  </a:solidFill>
                  <a:latin typeface="Times New Roman" panose="02020603050405020304" pitchFamily="18" charset="0"/>
                  <a:ea typeface="Calibri" pitchFamily="34" charset="-122"/>
                  <a:cs typeface="Times New Roman" panose="02020603050405020304" pitchFamily="18" charset="0"/>
                </a:rPr>
                <a:t>Formula</a:t>
              </a:r>
              <a:endParaRPr lang="en-US" sz="1200" dirty="0">
                <a:latin typeface="Times New Roman" panose="02020603050405020304" pitchFamily="18" charset="0"/>
                <a:cs typeface="Times New Roman" panose="02020603050405020304" pitchFamily="18" charset="0"/>
              </a:endParaRPr>
            </a:p>
          </p:txBody>
        </p:sp>
        <p:sp>
          <p:nvSpPr>
            <p:cNvPr id="35" name="Text 33"/>
            <p:cNvSpPr/>
            <p:nvPr/>
          </p:nvSpPr>
          <p:spPr>
            <a:xfrm>
              <a:off x="5916168" y="1810512"/>
              <a:ext cx="2834640" cy="420624"/>
            </a:xfrm>
            <a:prstGeom prst="rect">
              <a:avLst/>
            </a:prstGeom>
            <a:noFill/>
            <a:ln/>
          </p:spPr>
          <p:txBody>
            <a:bodyPr wrap="square" lIns="0" tIns="0" rIns="0" bIns="0" rtlCol="0" anchor="ctr"/>
            <a:lstStyle/>
            <a:p>
              <a:pPr marL="0" indent="0">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Qᵢ = (xⱼ – xₖ)/(j – k)  for all j &gt; k pairs</a:t>
              </a:r>
              <a:endParaRPr lang="en-US" sz="1200" dirty="0">
                <a:latin typeface="Times New Roman" panose="02020603050405020304" pitchFamily="18" charset="0"/>
                <a:cs typeface="Times New Roman" panose="02020603050405020304" pitchFamily="18" charset="0"/>
              </a:endParaRPr>
            </a:p>
          </p:txBody>
        </p:sp>
        <p:sp>
          <p:nvSpPr>
            <p:cNvPr id="36" name="Shape 34"/>
            <p:cNvSpPr/>
            <p:nvPr/>
          </p:nvSpPr>
          <p:spPr>
            <a:xfrm>
              <a:off x="4754880" y="2322576"/>
              <a:ext cx="4069080" cy="420624"/>
            </a:xfrm>
            <a:prstGeom prst="rect">
              <a:avLst/>
            </a:prstGeom>
            <a:solidFill>
              <a:srgbClr val="F0F9FF"/>
            </a:solidFill>
            <a:ln/>
          </p:spPr>
          <p:txBody>
            <a:bodyPr/>
            <a:lstStyle/>
            <a:p>
              <a:endParaRPr lang="en-IN"/>
            </a:p>
          </p:txBody>
        </p:sp>
        <p:sp>
          <p:nvSpPr>
            <p:cNvPr id="37" name="Text 35"/>
            <p:cNvSpPr/>
            <p:nvPr/>
          </p:nvSpPr>
          <p:spPr>
            <a:xfrm>
              <a:off x="4818888" y="2322576"/>
              <a:ext cx="1051560" cy="420624"/>
            </a:xfrm>
            <a:prstGeom prst="rect">
              <a:avLst/>
            </a:prstGeom>
            <a:noFill/>
            <a:ln/>
          </p:spPr>
          <p:txBody>
            <a:bodyPr wrap="square" lIns="0" tIns="0" rIns="0" bIns="0" rtlCol="0" anchor="ctr"/>
            <a:lstStyle/>
            <a:p>
              <a:pPr marL="0" indent="0">
                <a:buNone/>
              </a:pPr>
              <a:r>
                <a:rPr lang="en-US" sz="1200" b="1" dirty="0">
                  <a:solidFill>
                    <a:srgbClr val="1A56A8"/>
                  </a:solidFill>
                  <a:latin typeface="Times New Roman" panose="02020603050405020304" pitchFamily="18" charset="0"/>
                  <a:ea typeface="Calibri" pitchFamily="34" charset="-122"/>
                  <a:cs typeface="Times New Roman" panose="02020603050405020304" pitchFamily="18" charset="0"/>
                </a:rPr>
                <a:t>Sen's Slope β:</a:t>
              </a:r>
              <a:endParaRPr lang="en-US" sz="1200" dirty="0">
                <a:latin typeface="Times New Roman" panose="02020603050405020304" pitchFamily="18" charset="0"/>
                <a:cs typeface="Times New Roman" panose="02020603050405020304" pitchFamily="18" charset="0"/>
              </a:endParaRPr>
            </a:p>
          </p:txBody>
        </p:sp>
        <p:sp>
          <p:nvSpPr>
            <p:cNvPr id="38" name="Text 36"/>
            <p:cNvSpPr/>
            <p:nvPr/>
          </p:nvSpPr>
          <p:spPr>
            <a:xfrm>
              <a:off x="5916168" y="2322576"/>
              <a:ext cx="2834640" cy="420624"/>
            </a:xfrm>
            <a:prstGeom prst="rect">
              <a:avLst/>
            </a:prstGeom>
            <a:noFill/>
            <a:ln/>
          </p:spPr>
          <p:txBody>
            <a:bodyPr wrap="square" lIns="0" tIns="0" rIns="0" bIns="0" rtlCol="0" anchor="ctr"/>
            <a:lstStyle/>
            <a:p>
              <a:pPr marL="0" indent="0">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β = Median of all N slope estimates Qᵢ</a:t>
              </a:r>
              <a:endParaRPr lang="en-US" sz="1200" dirty="0">
                <a:latin typeface="Times New Roman" panose="02020603050405020304" pitchFamily="18" charset="0"/>
                <a:cs typeface="Times New Roman" panose="02020603050405020304" pitchFamily="18" charset="0"/>
              </a:endParaRPr>
            </a:p>
          </p:txBody>
        </p:sp>
        <p:sp>
          <p:nvSpPr>
            <p:cNvPr id="39" name="Shape 37"/>
            <p:cNvSpPr/>
            <p:nvPr/>
          </p:nvSpPr>
          <p:spPr>
            <a:xfrm>
              <a:off x="4754880" y="2834640"/>
              <a:ext cx="4069080" cy="420624"/>
            </a:xfrm>
            <a:prstGeom prst="rect">
              <a:avLst/>
            </a:prstGeom>
            <a:solidFill>
              <a:srgbClr val="FFFFFF"/>
            </a:solidFill>
            <a:ln/>
          </p:spPr>
          <p:txBody>
            <a:bodyPr/>
            <a:lstStyle/>
            <a:p>
              <a:endParaRPr lang="en-IN"/>
            </a:p>
          </p:txBody>
        </p:sp>
        <p:sp>
          <p:nvSpPr>
            <p:cNvPr id="40" name="Text 38"/>
            <p:cNvSpPr/>
            <p:nvPr/>
          </p:nvSpPr>
          <p:spPr>
            <a:xfrm>
              <a:off x="4818888" y="2834640"/>
              <a:ext cx="1051560" cy="420624"/>
            </a:xfrm>
            <a:prstGeom prst="rect">
              <a:avLst/>
            </a:prstGeom>
            <a:noFill/>
            <a:ln/>
          </p:spPr>
          <p:txBody>
            <a:bodyPr wrap="square" lIns="0" tIns="0" rIns="0" bIns="0" rtlCol="0" anchor="ctr"/>
            <a:lstStyle/>
            <a:p>
              <a:pPr marL="0" indent="0">
                <a:buNone/>
              </a:pPr>
              <a:r>
                <a:rPr lang="en-US" sz="1200" b="1" dirty="0">
                  <a:solidFill>
                    <a:srgbClr val="1A56A8"/>
                  </a:solidFill>
                  <a:latin typeface="Times New Roman" panose="02020603050405020304" pitchFamily="18" charset="0"/>
                  <a:ea typeface="Calibri" pitchFamily="34" charset="-122"/>
                  <a:cs typeface="Times New Roman" panose="02020603050405020304" pitchFamily="18" charset="0"/>
                </a:rPr>
                <a:t>Confidence Int.:</a:t>
              </a:r>
              <a:endParaRPr lang="en-US" sz="1200" dirty="0">
                <a:latin typeface="Times New Roman" panose="02020603050405020304" pitchFamily="18" charset="0"/>
                <a:cs typeface="Times New Roman" panose="02020603050405020304" pitchFamily="18" charset="0"/>
              </a:endParaRPr>
            </a:p>
          </p:txBody>
        </p:sp>
        <p:sp>
          <p:nvSpPr>
            <p:cNvPr id="41" name="Text 39"/>
            <p:cNvSpPr/>
            <p:nvPr/>
          </p:nvSpPr>
          <p:spPr>
            <a:xfrm>
              <a:off x="5916168" y="2834640"/>
              <a:ext cx="2834640" cy="420624"/>
            </a:xfrm>
            <a:prstGeom prst="rect">
              <a:avLst/>
            </a:prstGeom>
            <a:noFill/>
            <a:ln/>
          </p:spPr>
          <p:txBody>
            <a:bodyPr wrap="square" lIns="0" tIns="0" rIns="0" bIns="0" rtlCol="0" anchor="ctr"/>
            <a:lstStyle/>
            <a:p>
              <a:pPr marL="0" indent="0">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95% CI computed using normal approximation of Qᵢ values</a:t>
              </a:r>
              <a:endParaRPr lang="en-US" sz="1200" dirty="0">
                <a:latin typeface="Times New Roman" panose="02020603050405020304" pitchFamily="18" charset="0"/>
                <a:cs typeface="Times New Roman" panose="02020603050405020304" pitchFamily="18" charset="0"/>
              </a:endParaRPr>
            </a:p>
          </p:txBody>
        </p:sp>
        <p:sp>
          <p:nvSpPr>
            <p:cNvPr id="42" name="Shape 40"/>
            <p:cNvSpPr/>
            <p:nvPr/>
          </p:nvSpPr>
          <p:spPr>
            <a:xfrm>
              <a:off x="4754880" y="3346704"/>
              <a:ext cx="4069080" cy="420624"/>
            </a:xfrm>
            <a:prstGeom prst="rect">
              <a:avLst/>
            </a:prstGeom>
            <a:solidFill>
              <a:srgbClr val="F0F9FF"/>
            </a:solidFill>
            <a:ln/>
          </p:spPr>
          <p:txBody>
            <a:bodyPr/>
            <a:lstStyle/>
            <a:p>
              <a:endParaRPr lang="en-IN"/>
            </a:p>
          </p:txBody>
        </p:sp>
        <p:sp>
          <p:nvSpPr>
            <p:cNvPr id="43" name="Text 41"/>
            <p:cNvSpPr/>
            <p:nvPr/>
          </p:nvSpPr>
          <p:spPr>
            <a:xfrm>
              <a:off x="4818888" y="3346704"/>
              <a:ext cx="1051560" cy="420624"/>
            </a:xfrm>
            <a:prstGeom prst="rect">
              <a:avLst/>
            </a:prstGeom>
            <a:noFill/>
            <a:ln/>
          </p:spPr>
          <p:txBody>
            <a:bodyPr wrap="square" lIns="0" tIns="0" rIns="0" bIns="0" rtlCol="0" anchor="ctr"/>
            <a:lstStyle/>
            <a:p>
              <a:pPr marL="0" indent="0">
                <a:buNone/>
              </a:pPr>
              <a:r>
                <a:rPr lang="en-US" sz="1200" b="1" dirty="0">
                  <a:solidFill>
                    <a:srgbClr val="1A56A8"/>
                  </a:solidFill>
                  <a:latin typeface="Times New Roman" panose="02020603050405020304" pitchFamily="18" charset="0"/>
                  <a:ea typeface="Calibri" pitchFamily="34" charset="-122"/>
                  <a:cs typeface="Times New Roman" panose="02020603050405020304" pitchFamily="18" charset="0"/>
                </a:rPr>
                <a:t>Interpretation:</a:t>
              </a:r>
              <a:endParaRPr lang="en-US" sz="1200" dirty="0">
                <a:latin typeface="Times New Roman" panose="02020603050405020304" pitchFamily="18" charset="0"/>
                <a:cs typeface="Times New Roman" panose="02020603050405020304" pitchFamily="18" charset="0"/>
              </a:endParaRPr>
            </a:p>
          </p:txBody>
        </p:sp>
        <p:sp>
          <p:nvSpPr>
            <p:cNvPr id="44" name="Text 42"/>
            <p:cNvSpPr/>
            <p:nvPr/>
          </p:nvSpPr>
          <p:spPr>
            <a:xfrm>
              <a:off x="5916168" y="3346704"/>
              <a:ext cx="2834640" cy="420624"/>
            </a:xfrm>
            <a:prstGeom prst="rect">
              <a:avLst/>
            </a:prstGeom>
            <a:noFill/>
            <a:ln/>
          </p:spPr>
          <p:txBody>
            <a:bodyPr wrap="square" lIns="0" tIns="0" rIns="0" bIns="0" rtlCol="0" anchor="ctr"/>
            <a:lstStyle/>
            <a:p>
              <a:pPr marL="0" indent="0">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β &gt; 0 → increasing trend; β &lt; 0 → decreasing trend</a:t>
              </a:r>
              <a:endParaRPr lang="en-US" sz="1200" dirty="0">
                <a:latin typeface="Times New Roman" panose="02020603050405020304" pitchFamily="18" charset="0"/>
                <a:cs typeface="Times New Roman" panose="02020603050405020304" pitchFamily="18" charset="0"/>
              </a:endParaRPr>
            </a:p>
          </p:txBody>
        </p:sp>
        <p:sp>
          <p:nvSpPr>
            <p:cNvPr id="45" name="Shape 43"/>
            <p:cNvSpPr/>
            <p:nvPr/>
          </p:nvSpPr>
          <p:spPr>
            <a:xfrm>
              <a:off x="4754880" y="3858768"/>
              <a:ext cx="4069080" cy="420624"/>
            </a:xfrm>
            <a:prstGeom prst="rect">
              <a:avLst/>
            </a:prstGeom>
            <a:solidFill>
              <a:srgbClr val="FFFFFF"/>
            </a:solidFill>
            <a:ln/>
          </p:spPr>
          <p:txBody>
            <a:bodyPr/>
            <a:lstStyle/>
            <a:p>
              <a:endParaRPr lang="en-IN"/>
            </a:p>
          </p:txBody>
        </p:sp>
        <p:sp>
          <p:nvSpPr>
            <p:cNvPr id="46" name="Text 44"/>
            <p:cNvSpPr/>
            <p:nvPr/>
          </p:nvSpPr>
          <p:spPr>
            <a:xfrm>
              <a:off x="4818888" y="3858768"/>
              <a:ext cx="1051560" cy="420624"/>
            </a:xfrm>
            <a:prstGeom prst="rect">
              <a:avLst/>
            </a:prstGeom>
            <a:noFill/>
            <a:ln/>
          </p:spPr>
          <p:txBody>
            <a:bodyPr wrap="square" lIns="0" tIns="0" rIns="0" bIns="0" rtlCol="0" anchor="ctr"/>
            <a:lstStyle/>
            <a:p>
              <a:pPr marL="0" indent="0">
                <a:buNone/>
              </a:pPr>
              <a:r>
                <a:rPr lang="en-US" sz="1200" b="1" dirty="0">
                  <a:solidFill>
                    <a:srgbClr val="1A56A8"/>
                  </a:solidFill>
                  <a:latin typeface="Times New Roman" panose="02020603050405020304" pitchFamily="18" charset="0"/>
                  <a:ea typeface="Calibri" pitchFamily="34" charset="-122"/>
                  <a:cs typeface="Times New Roman" panose="02020603050405020304" pitchFamily="18" charset="0"/>
                </a:rPr>
                <a:t>Advantage:</a:t>
              </a:r>
              <a:endParaRPr lang="en-US" sz="1200" dirty="0">
                <a:latin typeface="Times New Roman" panose="02020603050405020304" pitchFamily="18" charset="0"/>
                <a:cs typeface="Times New Roman" panose="02020603050405020304" pitchFamily="18" charset="0"/>
              </a:endParaRPr>
            </a:p>
          </p:txBody>
        </p:sp>
        <p:sp>
          <p:nvSpPr>
            <p:cNvPr id="47" name="Text 45"/>
            <p:cNvSpPr/>
            <p:nvPr/>
          </p:nvSpPr>
          <p:spPr>
            <a:xfrm>
              <a:off x="5916168" y="3858768"/>
              <a:ext cx="2834640" cy="420624"/>
            </a:xfrm>
            <a:prstGeom prst="rect">
              <a:avLst/>
            </a:prstGeom>
            <a:noFill/>
            <a:ln/>
          </p:spPr>
          <p:txBody>
            <a:bodyPr wrap="square" lIns="0" tIns="0" rIns="0" bIns="0" rtlCol="0" anchor="ctr"/>
            <a:lstStyle/>
            <a:p>
              <a:pPr marL="0" indent="0">
                <a:buNone/>
              </a:pPr>
              <a:r>
                <a:rPr lang="en-US" sz="1200" dirty="0">
                  <a:solidFill>
                    <a:srgbClr val="0F172A"/>
                  </a:solidFill>
                  <a:latin typeface="Times New Roman" panose="02020603050405020304" pitchFamily="18" charset="0"/>
                  <a:ea typeface="Calibri" pitchFamily="34" charset="-122"/>
                  <a:cs typeface="Times New Roman" panose="02020603050405020304" pitchFamily="18" charset="0"/>
                </a:rPr>
                <a:t>More reliable than linear regression for non-normal data</a:t>
              </a:r>
              <a:endParaRPr lang="en-US" sz="1200" dirty="0">
                <a:latin typeface="Times New Roman" panose="02020603050405020304" pitchFamily="18" charset="0"/>
                <a:cs typeface="Times New Roman" panose="02020603050405020304" pitchFamily="18" charset="0"/>
              </a:endParaRPr>
            </a:p>
          </p:txBody>
        </p:sp>
      </p:grpSp>
      <p:sp>
        <p:nvSpPr>
          <p:cNvPr id="52" name="TextBox 51">
            <a:extLst>
              <a:ext uri="{FF2B5EF4-FFF2-40B4-BE49-F238E27FC236}">
                <a16:creationId xmlns:a16="http://schemas.microsoft.com/office/drawing/2014/main" id="{CFB4138E-1C1B-B92A-4F61-A188D0EBFBD0}"/>
              </a:ext>
            </a:extLst>
          </p:cNvPr>
          <p:cNvSpPr txBox="1"/>
          <p:nvPr/>
        </p:nvSpPr>
        <p:spPr>
          <a:xfrm>
            <a:off x="8684005" y="4780950"/>
            <a:ext cx="286734"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8</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B1767E69-4FF6-D924-CEA6-FA3A751E178B}"/>
              </a:ext>
            </a:extLst>
          </p:cNvPr>
          <p:cNvGrpSpPr/>
          <p:nvPr/>
        </p:nvGrpSpPr>
        <p:grpSpPr>
          <a:xfrm>
            <a:off x="0" y="0"/>
            <a:ext cx="9144000" cy="713232"/>
            <a:chOff x="0" y="0"/>
            <a:chExt cx="9144000" cy="713232"/>
          </a:xfrm>
        </p:grpSpPr>
        <p:sp>
          <p:nvSpPr>
            <p:cNvPr id="2" name="Shape 0"/>
            <p:cNvSpPr/>
            <p:nvPr/>
          </p:nvSpPr>
          <p:spPr>
            <a:xfrm>
              <a:off x="0" y="0"/>
              <a:ext cx="9144000" cy="658368"/>
            </a:xfrm>
            <a:prstGeom prst="rect">
              <a:avLst/>
            </a:prstGeom>
            <a:solidFill>
              <a:srgbClr val="0070C0"/>
            </a:solidFill>
            <a:ln w="12700">
              <a:solidFill>
                <a:srgbClr val="1E88E5"/>
              </a:solidFill>
              <a:prstDash val="solid"/>
            </a:ln>
          </p:spPr>
          <p:txBody>
            <a:bodyPr/>
            <a:lstStyle/>
            <a:p>
              <a:endParaRPr lang="en-IN"/>
            </a:p>
          </p:txBody>
        </p:sp>
        <p:sp>
          <p:nvSpPr>
            <p:cNvPr id="3" name="Shape 1"/>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4" name="Text 2"/>
            <p:cNvSpPr/>
            <p:nvPr/>
          </p:nvSpPr>
          <p:spPr>
            <a:xfrm>
              <a:off x="274320" y="0"/>
              <a:ext cx="8595360" cy="658368"/>
            </a:xfrm>
            <a:prstGeom prst="rect">
              <a:avLst/>
            </a:prstGeom>
            <a:noFill/>
            <a:ln/>
          </p:spPr>
          <p:txBody>
            <a:bodyPr wrap="square" lIns="0" tIns="0" rIns="0" bIns="0" rtlCol="0" anchor="ctr"/>
            <a:lstStyle/>
            <a:p>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06  |  </a:t>
              </a: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Methodology-</a:t>
              </a:r>
              <a:r>
                <a:rPr lang="en-US" sz="2400" b="1" dirty="0">
                  <a:solidFill>
                    <a:srgbClr val="FFFFFF"/>
                  </a:solidFill>
                  <a:latin typeface="Calibri" pitchFamily="34" charset="0"/>
                  <a:ea typeface="Calibri" pitchFamily="34" charset="-122"/>
                  <a:cs typeface="Calibri" pitchFamily="34" charset="-120"/>
                </a:rPr>
                <a:t> </a:t>
              </a: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SCS Curve Number Method </a:t>
              </a:r>
              <a:endParaRPr lang="en-US" sz="2400" dirty="0">
                <a:latin typeface="Times New Roman" panose="02020603050405020304" pitchFamily="18" charset="0"/>
                <a:cs typeface="Times New Roman" panose="02020603050405020304" pitchFamily="18" charset="0"/>
              </a:endParaRPr>
            </a:p>
          </p:txBody>
        </p:sp>
      </p:grpSp>
      <p:sp>
        <p:nvSpPr>
          <p:cNvPr id="24" name="TextBox 23">
            <a:extLst>
              <a:ext uri="{FF2B5EF4-FFF2-40B4-BE49-F238E27FC236}">
                <a16:creationId xmlns:a16="http://schemas.microsoft.com/office/drawing/2014/main" id="{38E9EFD2-05F9-039E-F7C0-BBA9ECD5F4E8}"/>
              </a:ext>
            </a:extLst>
          </p:cNvPr>
          <p:cNvSpPr txBox="1"/>
          <p:nvPr/>
        </p:nvSpPr>
        <p:spPr>
          <a:xfrm>
            <a:off x="8684005" y="4780950"/>
            <a:ext cx="286734"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9</a:t>
            </a:r>
            <a:endParaRPr lang="en-IN" sz="1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0" name="Content Placeholder 2">
                <a:extLst>
                  <a:ext uri="{FF2B5EF4-FFF2-40B4-BE49-F238E27FC236}">
                    <a16:creationId xmlns:a16="http://schemas.microsoft.com/office/drawing/2014/main" id="{83904EE0-EB4A-CEBF-2DD5-AA332C7C0BD3}"/>
                  </a:ext>
                </a:extLst>
              </p:cNvPr>
              <p:cNvSpPr txBox="1">
                <a:spLocks/>
              </p:cNvSpPr>
              <p:nvPr/>
            </p:nvSpPr>
            <p:spPr>
              <a:xfrm>
                <a:off x="490506" y="1288461"/>
                <a:ext cx="8312562" cy="2869694"/>
              </a:xfrm>
              <a:prstGeom prst="rect">
                <a:avLst/>
              </a:prstGeom>
            </p:spPr>
            <p:txBody>
              <a:bodyPr vert="horz" lIns="91440" tIns="45720" rIns="91440" bIns="45720" rtlCol="0" anchor="t">
                <a:normAutofit fontScale="77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en-US" sz="1600" dirty="0">
                    <a:latin typeface="Times New Roman"/>
                    <a:ea typeface="+mn-lt"/>
                    <a:cs typeface="+mn-lt"/>
                  </a:rPr>
                  <a:t>The SCS-CN method, developed by the U.S. Soil Conservation Service, is widely used to estimate </a:t>
                </a:r>
                <a:r>
                  <a:rPr lang="en-US" sz="1600" b="1" dirty="0">
                    <a:latin typeface="Times New Roman"/>
                    <a:ea typeface="+mn-lt"/>
                    <a:cs typeface="+mn-lt"/>
                  </a:rPr>
                  <a:t>direct runoff</a:t>
                </a:r>
                <a:r>
                  <a:rPr lang="en-US" sz="1600" dirty="0">
                    <a:latin typeface="Times New Roman"/>
                    <a:ea typeface="+mn-lt"/>
                    <a:cs typeface="+mn-lt"/>
                  </a:rPr>
                  <a:t> from rainfall events. It links rainfall, land use, soil type, and watershed conditions to derive runoff in a simple but robust way.</a:t>
                </a:r>
                <a:endParaRPr lang="en-US" dirty="0"/>
              </a:p>
              <a:p>
                <a:pPr>
                  <a:lnSpc>
                    <a:spcPct val="150000"/>
                  </a:lnSpc>
                  <a:buClr>
                    <a:srgbClr val="8D87A6"/>
                  </a:buClr>
                </a:pPr>
                <a:r>
                  <a:rPr lang="en-US" sz="1600" dirty="0">
                    <a:latin typeface="Times New Roman"/>
                    <a:cs typeface="Times New Roman"/>
                  </a:rPr>
                  <a:t>Runoff Equation: </a:t>
                </a:r>
              </a:p>
              <a:p>
                <a:pPr>
                  <a:lnSpc>
                    <a:spcPct val="150000"/>
                  </a:lnSpc>
                  <a:buClr>
                    <a:srgbClr val="8D87A6"/>
                  </a:buClr>
                </a:pPr>
                <a:endParaRPr lang="en-US" sz="1600" dirty="0">
                  <a:latin typeface="Times New Roman"/>
                  <a:cs typeface="Times New Roman"/>
                </a:endParaRPr>
              </a:p>
              <a:p>
                <a:pPr marL="0" indent="0">
                  <a:buNone/>
                </a:pPr>
                <a:r>
                  <a:rPr lang="en-IN" sz="1700" dirty="0">
                    <a:latin typeface="Times New Roman" panose="02020603050405020304" pitchFamily="18" charset="0"/>
                    <a:cs typeface="Times New Roman" panose="02020603050405020304" pitchFamily="18" charset="0"/>
                  </a:rPr>
                  <a:t>                                                                  </a:t>
                </a:r>
                <a14:m>
                  <m:oMath xmlns:m="http://schemas.openxmlformats.org/officeDocument/2006/math">
                    <m:r>
                      <a:rPr lang="en-IN" sz="1700" i="1">
                        <a:latin typeface="Cambria Math" panose="02040503050406030204" pitchFamily="18" charset="0"/>
                      </a:rPr>
                      <m:t>𝑄</m:t>
                    </m:r>
                    <m:r>
                      <a:rPr lang="en-IN" sz="1700" i="1">
                        <a:latin typeface="Cambria Math" panose="02040503050406030204" pitchFamily="18" charset="0"/>
                      </a:rPr>
                      <m:t>=</m:t>
                    </m:r>
                    <m:f>
                      <m:fPr>
                        <m:ctrlPr>
                          <a:rPr lang="en-IN" sz="1700" i="1">
                            <a:latin typeface="Cambria Math" panose="02040503050406030204" pitchFamily="18" charset="0"/>
                          </a:rPr>
                        </m:ctrlPr>
                      </m:fPr>
                      <m:num>
                        <m:sSup>
                          <m:sSupPr>
                            <m:ctrlPr>
                              <a:rPr lang="en-IN" sz="1700" i="1">
                                <a:latin typeface="Cambria Math" panose="02040503050406030204" pitchFamily="18" charset="0"/>
                              </a:rPr>
                            </m:ctrlPr>
                          </m:sSupPr>
                          <m:e>
                            <m:d>
                              <m:dPr>
                                <m:ctrlPr>
                                  <a:rPr lang="en-IN" sz="1700" i="1">
                                    <a:latin typeface="Cambria Math" panose="02040503050406030204" pitchFamily="18" charset="0"/>
                                  </a:rPr>
                                </m:ctrlPr>
                              </m:dPr>
                              <m:e>
                                <m:r>
                                  <a:rPr lang="en-IN" sz="1700" i="1">
                                    <a:latin typeface="Cambria Math" panose="02040503050406030204" pitchFamily="18" charset="0"/>
                                  </a:rPr>
                                  <m:t>𝑃</m:t>
                                </m:r>
                                <m:r>
                                  <a:rPr lang="en-IN" sz="1700" i="1">
                                    <a:latin typeface="Cambria Math" panose="02040503050406030204" pitchFamily="18" charset="0"/>
                                  </a:rPr>
                                  <m:t>−0.2</m:t>
                                </m:r>
                                <m:r>
                                  <a:rPr lang="en-IN" sz="1700" i="1">
                                    <a:latin typeface="Cambria Math" panose="02040503050406030204" pitchFamily="18" charset="0"/>
                                  </a:rPr>
                                  <m:t>𝑆</m:t>
                                </m:r>
                              </m:e>
                            </m:d>
                          </m:e>
                          <m:sup>
                            <m:r>
                              <a:rPr lang="en-IN" sz="1700" i="1">
                                <a:latin typeface="Cambria Math" panose="02040503050406030204" pitchFamily="18" charset="0"/>
                              </a:rPr>
                              <m:t>2</m:t>
                            </m:r>
                          </m:sup>
                        </m:sSup>
                      </m:num>
                      <m:den>
                        <m:r>
                          <a:rPr lang="en-IN" sz="1700" i="1">
                            <a:latin typeface="Cambria Math" panose="02040503050406030204" pitchFamily="18" charset="0"/>
                          </a:rPr>
                          <m:t>(</m:t>
                        </m:r>
                        <m:r>
                          <a:rPr lang="en-IN" sz="1700" i="1">
                            <a:latin typeface="Cambria Math" panose="02040503050406030204" pitchFamily="18" charset="0"/>
                          </a:rPr>
                          <m:t>𝑃</m:t>
                        </m:r>
                        <m:r>
                          <a:rPr lang="en-IN" sz="1700" i="1">
                            <a:latin typeface="Cambria Math" panose="02040503050406030204" pitchFamily="18" charset="0"/>
                          </a:rPr>
                          <m:t>+0.8</m:t>
                        </m:r>
                        <m:r>
                          <a:rPr lang="en-IN" sz="1700" i="1">
                            <a:latin typeface="Cambria Math" panose="02040503050406030204" pitchFamily="18" charset="0"/>
                          </a:rPr>
                          <m:t>𝑆</m:t>
                        </m:r>
                        <m:r>
                          <a:rPr lang="en-IN" sz="1700" i="1">
                            <a:latin typeface="Cambria Math" panose="02040503050406030204" pitchFamily="18" charset="0"/>
                          </a:rPr>
                          <m:t>)</m:t>
                        </m:r>
                      </m:den>
                    </m:f>
                  </m:oMath>
                </a14:m>
                <a:r>
                  <a:rPr lang="en-IN" sz="1700" dirty="0">
                    <a:latin typeface="Times New Roman" panose="02020603050405020304" pitchFamily="18" charset="0"/>
                    <a:cs typeface="Times New Roman" panose="02020603050405020304" pitchFamily="18" charset="0"/>
                  </a:rPr>
                  <a:t>     for P &gt; 0.2S, otherwise Q = 0   </a:t>
                </a:r>
              </a:p>
              <a:p>
                <a:pPr marL="0" indent="0">
                  <a:buNone/>
                </a:pPr>
                <a:r>
                  <a:rPr lang="en-IN" sz="1700" dirty="0">
                    <a:latin typeface="Times New Roman" panose="02020603050405020304" pitchFamily="18" charset="0"/>
                    <a:cs typeface="Times New Roman" panose="02020603050405020304" pitchFamily="18" charset="0"/>
                  </a:rPr>
                  <a:t>         </a:t>
                </a:r>
              </a:p>
              <a:p>
                <a:pPr marL="0" indent="0">
                  <a:buNone/>
                </a:pPr>
                <a:r>
                  <a:rPr lang="en-IN" sz="1700" dirty="0">
                    <a:latin typeface="Times New Roman" panose="02020603050405020304" pitchFamily="18" charset="0"/>
                    <a:cs typeface="Times New Roman" panose="02020603050405020304" pitchFamily="18" charset="0"/>
                  </a:rPr>
                  <a:t>                                                             </a:t>
                </a:r>
                <a14:m>
                  <m:oMath xmlns:m="http://schemas.openxmlformats.org/officeDocument/2006/math">
                    <m:r>
                      <a:rPr lang="en-US" sz="1700" b="0" i="0" smtClean="0">
                        <a:latin typeface="Cambria Math" panose="02040503050406030204" pitchFamily="18" charset="0"/>
                      </a:rPr>
                      <m:t>      </m:t>
                    </m:r>
                    <m:r>
                      <a:rPr lang="en-IN" sz="1700" i="1">
                        <a:latin typeface="Cambria Math" panose="02040503050406030204" pitchFamily="18" charset="0"/>
                      </a:rPr>
                      <m:t>𝑆</m:t>
                    </m:r>
                    <m:r>
                      <a:rPr lang="en-IN" sz="1700" i="1">
                        <a:latin typeface="Cambria Math" panose="02040503050406030204" pitchFamily="18" charset="0"/>
                      </a:rPr>
                      <m:t>=</m:t>
                    </m:r>
                    <m:f>
                      <m:fPr>
                        <m:ctrlPr>
                          <a:rPr lang="en-IN" sz="1700" i="1">
                            <a:latin typeface="Cambria Math" panose="02040503050406030204" pitchFamily="18" charset="0"/>
                          </a:rPr>
                        </m:ctrlPr>
                      </m:fPr>
                      <m:num>
                        <m:r>
                          <a:rPr lang="en-IN" sz="1700" i="1">
                            <a:latin typeface="Cambria Math" panose="02040503050406030204" pitchFamily="18" charset="0"/>
                          </a:rPr>
                          <m:t>25400</m:t>
                        </m:r>
                      </m:num>
                      <m:den>
                        <m:r>
                          <a:rPr lang="en-IN" sz="1700" i="1">
                            <a:latin typeface="Cambria Math" panose="02040503050406030204" pitchFamily="18" charset="0"/>
                          </a:rPr>
                          <m:t>𝐶𝑁</m:t>
                        </m:r>
                      </m:den>
                    </m:f>
                    <m:r>
                      <a:rPr lang="en-IN" sz="1700" i="1">
                        <a:latin typeface="Cambria Math" panose="02040503050406030204" pitchFamily="18" charset="0"/>
                      </a:rPr>
                      <m:t>−254 </m:t>
                    </m:r>
                  </m:oMath>
                </a14:m>
                <a:endParaRPr lang="en-US" sz="1700" dirty="0">
                  <a:latin typeface="Times New Roman" panose="02020603050405020304" pitchFamily="18" charset="0"/>
                  <a:cs typeface="Times New Roman" panose="02020603050405020304" pitchFamily="18" charset="0"/>
                </a:endParaRPr>
              </a:p>
              <a:p>
                <a:pPr>
                  <a:lnSpc>
                    <a:spcPct val="150000"/>
                  </a:lnSpc>
                  <a:buClr>
                    <a:srgbClr val="8D87A6"/>
                  </a:buClr>
                </a:pPr>
                <a:endParaRPr lang="en-US" sz="1600" dirty="0">
                  <a:latin typeface="Times New Roman"/>
                  <a:cs typeface="Times New Roman"/>
                </a:endParaRPr>
              </a:p>
              <a:p>
                <a:pPr>
                  <a:lnSpc>
                    <a:spcPct val="150000"/>
                  </a:lnSpc>
                  <a:buClr>
                    <a:srgbClr val="8D87A6"/>
                  </a:buClr>
                </a:pPr>
                <a:r>
                  <a:rPr lang="en-US" sz="1600" dirty="0">
                    <a:latin typeface="Times New Roman"/>
                    <a:ea typeface="+mn-lt"/>
                    <a:cs typeface="+mn-lt"/>
                  </a:rPr>
                  <a:t>where Q=direct runoff, P=cumulative precipitation for event, S = potential maximum retention and λ=initial abstraction coefficient.</a:t>
                </a:r>
                <a:endParaRPr lang="en-US" sz="1600" dirty="0">
                  <a:latin typeface="Times New Roman"/>
                  <a:cs typeface="Times New Roman"/>
                </a:endParaRPr>
              </a:p>
              <a:p>
                <a:pPr>
                  <a:buClr>
                    <a:srgbClr val="8D87A6"/>
                  </a:buClr>
                </a:pPr>
                <a:endParaRPr lang="en-US" sz="1600" dirty="0">
                  <a:latin typeface="Times New Roman"/>
                  <a:cs typeface="Times New Roman"/>
                </a:endParaRPr>
              </a:p>
              <a:p>
                <a:pPr>
                  <a:buClr>
                    <a:srgbClr val="8D87A6"/>
                  </a:buClr>
                </a:pPr>
                <a:endParaRPr lang="en-US" sz="1600" dirty="0">
                  <a:latin typeface="Times New Roman"/>
                  <a:cs typeface="Times New Roman"/>
                </a:endParaRPr>
              </a:p>
              <a:p>
                <a:pPr>
                  <a:buClr>
                    <a:srgbClr val="8D87A6"/>
                  </a:buClr>
                </a:pPr>
                <a:endParaRPr lang="en-US" sz="1600" dirty="0">
                  <a:latin typeface="Times New Roman"/>
                  <a:cs typeface="Times New Roman"/>
                </a:endParaRPr>
              </a:p>
              <a:p>
                <a:pPr>
                  <a:buClr>
                    <a:srgbClr val="8D87A6"/>
                  </a:buClr>
                </a:pPr>
                <a:endParaRPr lang="en-US" sz="1600" dirty="0">
                  <a:latin typeface="Times New Roman"/>
                  <a:cs typeface="Times New Roman"/>
                </a:endParaRPr>
              </a:p>
            </p:txBody>
          </p:sp>
        </mc:Choice>
        <mc:Fallback xmlns="">
          <p:sp>
            <p:nvSpPr>
              <p:cNvPr id="30" name="Content Placeholder 2">
                <a:extLst>
                  <a:ext uri="{FF2B5EF4-FFF2-40B4-BE49-F238E27FC236}">
                    <a16:creationId xmlns:a16="http://schemas.microsoft.com/office/drawing/2014/main" id="{83904EE0-EB4A-CEBF-2DD5-AA332C7C0BD3}"/>
                  </a:ext>
                </a:extLst>
              </p:cNvPr>
              <p:cNvSpPr txBox="1">
                <a:spLocks noRot="1" noChangeAspect="1" noMove="1" noResize="1" noEditPoints="1" noAdjustHandles="1" noChangeArrowheads="1" noChangeShapeType="1" noTextEdit="1"/>
              </p:cNvSpPr>
              <p:nvPr/>
            </p:nvSpPr>
            <p:spPr>
              <a:xfrm>
                <a:off x="490506" y="1288461"/>
                <a:ext cx="8312562" cy="2869694"/>
              </a:xfrm>
              <a:prstGeom prst="rect">
                <a:avLst/>
              </a:prstGeom>
              <a:blipFill>
                <a:blip r:embed="rId3"/>
                <a:stretch>
                  <a:fillRect/>
                </a:stretch>
              </a:blipFill>
            </p:spPr>
            <p:txBody>
              <a:bodyPr/>
              <a:lstStyle/>
              <a:p>
                <a:r>
                  <a:rPr lang="en-IN">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6" name="Group 105">
            <a:extLst>
              <a:ext uri="{FF2B5EF4-FFF2-40B4-BE49-F238E27FC236}">
                <a16:creationId xmlns:a16="http://schemas.microsoft.com/office/drawing/2014/main" id="{41459111-3B27-3D40-9743-6BC278ED527C}"/>
              </a:ext>
            </a:extLst>
          </p:cNvPr>
          <p:cNvGrpSpPr/>
          <p:nvPr/>
        </p:nvGrpSpPr>
        <p:grpSpPr>
          <a:xfrm>
            <a:off x="274320" y="900723"/>
            <a:ext cx="4023058" cy="3897952"/>
            <a:chOff x="164592" y="667512"/>
            <a:chExt cx="2926080" cy="3904488"/>
          </a:xfrm>
          <a:solidFill>
            <a:schemeClr val="bg2"/>
          </a:solidFill>
        </p:grpSpPr>
        <p:sp>
          <p:nvSpPr>
            <p:cNvPr id="4" name="Shape 2"/>
            <p:cNvSpPr/>
            <p:nvPr/>
          </p:nvSpPr>
          <p:spPr>
            <a:xfrm>
              <a:off x="164592" y="667512"/>
              <a:ext cx="2926080" cy="292608"/>
            </a:xfrm>
            <a:prstGeom prst="rect">
              <a:avLst/>
            </a:prstGeom>
            <a:grpFill/>
            <a:ln w="12700">
              <a:solidFill>
                <a:srgbClr val="2E5D8E"/>
              </a:solidFill>
              <a:prstDash val="solid"/>
            </a:ln>
          </p:spPr>
          <p:txBody>
            <a:bodyPr/>
            <a:lstStyle/>
            <a:p>
              <a:endParaRPr lang="en-IN" sz="1100">
                <a:latin typeface="Times New Roman" panose="02020603050405020304" pitchFamily="18" charset="0"/>
                <a:cs typeface="Times New Roman" panose="02020603050405020304" pitchFamily="18" charset="0"/>
              </a:endParaRPr>
            </a:p>
          </p:txBody>
        </p:sp>
        <p:sp>
          <p:nvSpPr>
            <p:cNvPr id="5" name="Text 3"/>
            <p:cNvSpPr/>
            <p:nvPr/>
          </p:nvSpPr>
          <p:spPr>
            <a:xfrm>
              <a:off x="164592" y="667512"/>
              <a:ext cx="2926080" cy="292608"/>
            </a:xfrm>
            <a:prstGeom prst="rect">
              <a:avLst/>
            </a:prstGeom>
            <a:grpFill/>
            <a:ln>
              <a:solidFill>
                <a:schemeClr val="bg2">
                  <a:lumMod val="25000"/>
                </a:schemeClr>
              </a:solidFill>
            </a:ln>
          </p:spPr>
          <p:txBody>
            <a:bodyPr wrap="square" lIns="0" tIns="0" rIns="0" bIns="0" rtlCol="0" anchor="ctr"/>
            <a:lstStyle/>
            <a:p>
              <a:pPr marL="0" indent="0">
                <a:buNone/>
              </a:pPr>
              <a:r>
                <a:rPr lang="en-US" sz="1100" b="1" dirty="0">
                  <a:solidFill>
                    <a:schemeClr val="bg2">
                      <a:lumMod val="25000"/>
                    </a:schemeClr>
                  </a:solidFill>
                  <a:latin typeface="Times New Roman" panose="02020603050405020304" pitchFamily="18" charset="0"/>
                  <a:cs typeface="Times New Roman" panose="02020603050405020304" pitchFamily="18" charset="0"/>
                </a:rPr>
                <a:t>① Data Preparation  </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7" name="Shape 5"/>
            <p:cNvSpPr/>
            <p:nvPr/>
          </p:nvSpPr>
          <p:spPr>
            <a:xfrm>
              <a:off x="164592" y="1005840"/>
              <a:ext cx="2926080" cy="457200"/>
            </a:xfrm>
            <a:prstGeom prst="rect">
              <a:avLst/>
            </a:prstGeom>
            <a:grpFill/>
            <a:ln w="15240">
              <a:solidFill>
                <a:schemeClr val="bg2">
                  <a:lumMod val="25000"/>
                </a:schemeClr>
              </a:solidFill>
              <a:prstDash val="solid"/>
            </a:ln>
            <a:effectLst>
              <a:outerShdw blurRad="63500" dist="12700" dir="8100000" algn="bl" rotWithShape="0">
                <a:srgbClr val="000000">
                  <a:alpha val="9000"/>
                </a:srgbClr>
              </a:outerShdw>
            </a:effectLst>
          </p:spPr>
          <p:txBody>
            <a:bodyPr/>
            <a:lstStyle/>
            <a:p>
              <a:endParaRPr lang="en-IN" sz="1100">
                <a:latin typeface="Times New Roman" panose="02020603050405020304" pitchFamily="18" charset="0"/>
                <a:cs typeface="Times New Roman" panose="02020603050405020304" pitchFamily="18" charset="0"/>
              </a:endParaRPr>
            </a:p>
          </p:txBody>
        </p:sp>
        <p:sp>
          <p:nvSpPr>
            <p:cNvPr id="9" name="Text 7"/>
            <p:cNvSpPr/>
            <p:nvPr/>
          </p:nvSpPr>
          <p:spPr>
            <a:xfrm>
              <a:off x="201168" y="1080294"/>
              <a:ext cx="310896" cy="310896"/>
            </a:xfrm>
            <a:prstGeom prst="rect">
              <a:avLst/>
            </a:prstGeom>
            <a:grpFill/>
            <a:ln/>
          </p:spPr>
          <p:txBody>
            <a:bodyPr wrap="square" lIns="0" tIns="0" rIns="0" bIns="0" rtlCol="0" anchor="ctr"/>
            <a:lstStyle/>
            <a:p>
              <a:pPr marL="0" indent="0" algn="ctr">
                <a:buNone/>
              </a:pPr>
              <a:r>
                <a:rPr lang="en-US" sz="1100" b="1" dirty="0">
                  <a:solidFill>
                    <a:schemeClr val="bg2">
                      <a:lumMod val="25000"/>
                    </a:schemeClr>
                  </a:solidFill>
                  <a:latin typeface="Times New Roman" panose="02020603050405020304" pitchFamily="18" charset="0"/>
                  <a:cs typeface="Times New Roman" panose="02020603050405020304" pitchFamily="18" charset="0"/>
                </a:rPr>
                <a:t>1</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0" name="Text 8"/>
            <p:cNvSpPr/>
            <p:nvPr/>
          </p:nvSpPr>
          <p:spPr>
            <a:xfrm>
              <a:off x="566928" y="1042416"/>
              <a:ext cx="2450592" cy="201168"/>
            </a:xfrm>
            <a:prstGeom prst="rect">
              <a:avLst/>
            </a:prstGeom>
            <a:grpFill/>
            <a:ln/>
          </p:spPr>
          <p:txBody>
            <a:bodyPr wrap="square" lIns="0" tIns="0" rIns="0" bIns="0" rtlCol="0" anchor="ctr"/>
            <a:lstStyle/>
            <a:p>
              <a:pPr marL="0" indent="0">
                <a:buNone/>
              </a:pPr>
              <a:r>
                <a:rPr lang="en-US" sz="1100" b="1" dirty="0">
                  <a:solidFill>
                    <a:schemeClr val="bg2">
                      <a:lumMod val="25000"/>
                    </a:schemeClr>
                  </a:solidFill>
                  <a:latin typeface="Times New Roman" panose="02020603050405020304" pitchFamily="18" charset="0"/>
                  <a:cs typeface="Times New Roman" panose="02020603050405020304" pitchFamily="18" charset="0"/>
                </a:rPr>
                <a:t>Raw Inputs</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1" name="Text 9"/>
            <p:cNvSpPr/>
            <p:nvPr/>
          </p:nvSpPr>
          <p:spPr>
            <a:xfrm>
              <a:off x="566928" y="1225296"/>
              <a:ext cx="2450592" cy="201168"/>
            </a:xfrm>
            <a:prstGeom prst="rect">
              <a:avLst/>
            </a:prstGeom>
            <a:grpFill/>
            <a:ln/>
          </p:spPr>
          <p:txBody>
            <a:bodyPr wrap="square" lIns="0" tIns="0" rIns="0" bIns="0" rtlCol="0" anchor="ctr"/>
            <a:lstStyle/>
            <a:p>
              <a:pPr marL="0" indent="0">
                <a:buNone/>
              </a:pPr>
              <a:r>
                <a:rPr lang="en-US" sz="1100" dirty="0">
                  <a:solidFill>
                    <a:schemeClr val="bg2">
                      <a:lumMod val="25000"/>
                    </a:schemeClr>
                  </a:solidFill>
                  <a:latin typeface="Times New Roman" panose="02020603050405020304" pitchFamily="18" charset="0"/>
                  <a:cs typeface="Times New Roman" panose="02020603050405020304" pitchFamily="18" charset="0"/>
                </a:rPr>
                <a:t>49 rainfall stations  ·  Daily inflow (1988–2024)</a:t>
              </a:r>
            </a:p>
          </p:txBody>
        </p:sp>
        <p:sp>
          <p:nvSpPr>
            <p:cNvPr id="13" name="Shape 11"/>
            <p:cNvSpPr/>
            <p:nvPr/>
          </p:nvSpPr>
          <p:spPr>
            <a:xfrm>
              <a:off x="164592" y="1627632"/>
              <a:ext cx="2926080" cy="457200"/>
            </a:xfrm>
            <a:prstGeom prst="rect">
              <a:avLst/>
            </a:prstGeom>
            <a:grpFill/>
            <a:ln w="15240">
              <a:solidFill>
                <a:schemeClr val="bg2">
                  <a:lumMod val="25000"/>
                </a:schemeClr>
              </a:solidFill>
              <a:prstDash val="solid"/>
            </a:ln>
            <a:effectLst>
              <a:outerShdw blurRad="63500" dist="12700" dir="8100000" algn="bl" rotWithShape="0">
                <a:srgbClr val="000000">
                  <a:alpha val="9000"/>
                </a:srgbClr>
              </a:outerShdw>
            </a:effectLst>
          </p:spPr>
          <p:txBody>
            <a:bodyPr/>
            <a:lstStyle/>
            <a:p>
              <a:endParaRPr lang="en-IN" sz="1100">
                <a:latin typeface="Times New Roman" panose="02020603050405020304" pitchFamily="18" charset="0"/>
                <a:cs typeface="Times New Roman" panose="02020603050405020304" pitchFamily="18" charset="0"/>
              </a:endParaRPr>
            </a:p>
          </p:txBody>
        </p:sp>
        <p:sp>
          <p:nvSpPr>
            <p:cNvPr id="15" name="Text 13"/>
            <p:cNvSpPr/>
            <p:nvPr/>
          </p:nvSpPr>
          <p:spPr>
            <a:xfrm>
              <a:off x="201168" y="1694385"/>
              <a:ext cx="310896" cy="310896"/>
            </a:xfrm>
            <a:prstGeom prst="rect">
              <a:avLst/>
            </a:prstGeom>
            <a:grpFill/>
            <a:ln/>
          </p:spPr>
          <p:txBody>
            <a:bodyPr wrap="square" lIns="0" tIns="0" rIns="0" bIns="0" rtlCol="0" anchor="ctr"/>
            <a:lstStyle/>
            <a:p>
              <a:pPr marL="0" indent="0" algn="ctr">
                <a:buNone/>
              </a:pPr>
              <a:r>
                <a:rPr lang="en-US" sz="1100" b="1" dirty="0">
                  <a:solidFill>
                    <a:schemeClr val="bg2">
                      <a:lumMod val="25000"/>
                    </a:schemeClr>
                  </a:solidFill>
                  <a:latin typeface="Times New Roman" panose="02020603050405020304" pitchFamily="18" charset="0"/>
                  <a:cs typeface="Times New Roman" panose="02020603050405020304" pitchFamily="18" charset="0"/>
                </a:rPr>
                <a:t>2</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566928" y="1664208"/>
              <a:ext cx="2450592" cy="201168"/>
            </a:xfrm>
            <a:prstGeom prst="rect">
              <a:avLst/>
            </a:prstGeom>
            <a:grpFill/>
            <a:ln/>
          </p:spPr>
          <p:txBody>
            <a:bodyPr wrap="square" lIns="0" tIns="0" rIns="0" bIns="0" rtlCol="0" anchor="ctr"/>
            <a:lstStyle/>
            <a:p>
              <a:pPr marL="0" indent="0">
                <a:buNone/>
              </a:pPr>
              <a:r>
                <a:rPr lang="en-US" sz="1100" b="1" dirty="0">
                  <a:solidFill>
                    <a:schemeClr val="bg2">
                      <a:lumMod val="25000"/>
                    </a:schemeClr>
                  </a:solidFill>
                  <a:latin typeface="Times New Roman" panose="02020603050405020304" pitchFamily="18" charset="0"/>
                  <a:cs typeface="Times New Roman" panose="02020603050405020304" pitchFamily="18" charset="0"/>
                </a:rPr>
                <a:t>API5 Computation</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7" name="Text 15"/>
            <p:cNvSpPr/>
            <p:nvPr/>
          </p:nvSpPr>
          <p:spPr>
            <a:xfrm>
              <a:off x="566928" y="1847088"/>
              <a:ext cx="2450592" cy="201168"/>
            </a:xfrm>
            <a:prstGeom prst="rect">
              <a:avLst/>
            </a:prstGeom>
            <a:grpFill/>
            <a:ln/>
          </p:spPr>
          <p:txBody>
            <a:bodyPr wrap="square" lIns="0" tIns="0" rIns="0" bIns="0" rtlCol="0" anchor="ctr"/>
            <a:lstStyle/>
            <a:p>
              <a:pPr marL="0" indent="0">
                <a:buNone/>
              </a:pPr>
              <a:r>
                <a:rPr lang="en-US" sz="1100" dirty="0">
                  <a:solidFill>
                    <a:schemeClr val="bg2">
                      <a:lumMod val="25000"/>
                    </a:schemeClr>
                  </a:solidFill>
                  <a:latin typeface="Times New Roman" panose="02020603050405020304" pitchFamily="18" charset="0"/>
                  <a:cs typeface="Times New Roman" panose="02020603050405020304" pitchFamily="18" charset="0"/>
                </a:rPr>
                <a:t>5-day antecedent rainfall sum per station → soil wetness </a:t>
              </a:r>
            </a:p>
          </p:txBody>
        </p:sp>
        <p:sp>
          <p:nvSpPr>
            <p:cNvPr id="19" name="Shape 17"/>
            <p:cNvSpPr/>
            <p:nvPr/>
          </p:nvSpPr>
          <p:spPr>
            <a:xfrm>
              <a:off x="164592" y="2249424"/>
              <a:ext cx="2926080" cy="457200"/>
            </a:xfrm>
            <a:prstGeom prst="rect">
              <a:avLst/>
            </a:prstGeom>
            <a:grpFill/>
            <a:ln w="15240">
              <a:solidFill>
                <a:schemeClr val="bg2">
                  <a:lumMod val="25000"/>
                </a:schemeClr>
              </a:solidFill>
              <a:prstDash val="solid"/>
            </a:ln>
            <a:effectLst>
              <a:outerShdw blurRad="63500" dist="12700" dir="8100000" algn="bl" rotWithShape="0">
                <a:srgbClr val="000000">
                  <a:alpha val="9000"/>
                </a:srgbClr>
              </a:outerShdw>
            </a:effectLst>
          </p:spPr>
          <p:txBody>
            <a:bodyPr/>
            <a:lstStyle/>
            <a:p>
              <a:endParaRPr lang="en-IN" sz="1100">
                <a:latin typeface="Times New Roman" panose="02020603050405020304" pitchFamily="18" charset="0"/>
                <a:cs typeface="Times New Roman" panose="02020603050405020304" pitchFamily="18" charset="0"/>
              </a:endParaRPr>
            </a:p>
          </p:txBody>
        </p:sp>
        <p:sp>
          <p:nvSpPr>
            <p:cNvPr id="21" name="Text 19"/>
            <p:cNvSpPr/>
            <p:nvPr/>
          </p:nvSpPr>
          <p:spPr>
            <a:xfrm>
              <a:off x="201168" y="2286000"/>
              <a:ext cx="310896" cy="310896"/>
            </a:xfrm>
            <a:prstGeom prst="rect">
              <a:avLst/>
            </a:prstGeom>
            <a:grpFill/>
            <a:ln/>
          </p:spPr>
          <p:txBody>
            <a:bodyPr wrap="square" lIns="0" tIns="0" rIns="0" bIns="0" rtlCol="0" anchor="ctr"/>
            <a:lstStyle/>
            <a:p>
              <a:pPr marL="0" indent="0" algn="ctr">
                <a:buNone/>
              </a:pPr>
              <a:r>
                <a:rPr lang="en-US" sz="1100" b="1" dirty="0">
                  <a:solidFill>
                    <a:schemeClr val="bg2">
                      <a:lumMod val="25000"/>
                    </a:schemeClr>
                  </a:solidFill>
                  <a:latin typeface="Times New Roman" panose="02020603050405020304" pitchFamily="18" charset="0"/>
                  <a:cs typeface="Times New Roman" panose="02020603050405020304" pitchFamily="18" charset="0"/>
                </a:rPr>
                <a:t>3</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22" name="Text 20"/>
            <p:cNvSpPr/>
            <p:nvPr/>
          </p:nvSpPr>
          <p:spPr>
            <a:xfrm>
              <a:off x="566928" y="2286000"/>
              <a:ext cx="2450592" cy="201168"/>
            </a:xfrm>
            <a:prstGeom prst="rect">
              <a:avLst/>
            </a:prstGeom>
            <a:grpFill/>
            <a:ln/>
          </p:spPr>
          <p:txBody>
            <a:bodyPr wrap="square" lIns="0" tIns="0" rIns="0" bIns="0" rtlCol="0" anchor="ctr"/>
            <a:lstStyle/>
            <a:p>
              <a:pPr marL="0" indent="0">
                <a:buNone/>
              </a:pPr>
              <a:r>
                <a:rPr lang="en-US" sz="1100" b="1" dirty="0">
                  <a:solidFill>
                    <a:schemeClr val="bg2">
                      <a:lumMod val="25000"/>
                    </a:schemeClr>
                  </a:solidFill>
                  <a:latin typeface="Times New Roman" panose="02020603050405020304" pitchFamily="18" charset="0"/>
                  <a:cs typeface="Times New Roman" panose="02020603050405020304" pitchFamily="18" charset="0"/>
                </a:rPr>
                <a:t>Feature Matrix</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23" name="Text 21"/>
            <p:cNvSpPr/>
            <p:nvPr/>
          </p:nvSpPr>
          <p:spPr>
            <a:xfrm>
              <a:off x="566928" y="2468880"/>
              <a:ext cx="2450592" cy="201168"/>
            </a:xfrm>
            <a:prstGeom prst="rect">
              <a:avLst/>
            </a:prstGeom>
            <a:grpFill/>
            <a:ln/>
          </p:spPr>
          <p:txBody>
            <a:bodyPr wrap="square" lIns="0" tIns="0" rIns="0" bIns="0" rtlCol="0" anchor="ctr"/>
            <a:lstStyle/>
            <a:p>
              <a:pPr marL="0" indent="0">
                <a:buNone/>
              </a:pPr>
              <a:r>
                <a:rPr lang="en-US" sz="1100" dirty="0">
                  <a:solidFill>
                    <a:schemeClr val="bg2">
                      <a:lumMod val="25000"/>
                    </a:schemeClr>
                  </a:solidFill>
                  <a:latin typeface="Times New Roman" panose="02020603050405020304" pitchFamily="18" charset="0"/>
                  <a:cs typeface="Times New Roman" panose="02020603050405020304" pitchFamily="18" charset="0"/>
                </a:rPr>
                <a:t>98 features per day: 49 rainfall + 49 API5 values</a:t>
              </a:r>
            </a:p>
          </p:txBody>
        </p:sp>
        <p:sp>
          <p:nvSpPr>
            <p:cNvPr id="25" name="Shape 23"/>
            <p:cNvSpPr/>
            <p:nvPr/>
          </p:nvSpPr>
          <p:spPr>
            <a:xfrm>
              <a:off x="164592" y="2871216"/>
              <a:ext cx="2926080" cy="457200"/>
            </a:xfrm>
            <a:prstGeom prst="rect">
              <a:avLst/>
            </a:prstGeom>
            <a:grpFill/>
            <a:ln w="15240">
              <a:solidFill>
                <a:schemeClr val="bg2">
                  <a:lumMod val="25000"/>
                </a:schemeClr>
              </a:solidFill>
              <a:prstDash val="solid"/>
            </a:ln>
            <a:effectLst>
              <a:outerShdw blurRad="63500" dist="12700" dir="8100000" algn="bl" rotWithShape="0">
                <a:srgbClr val="000000">
                  <a:alpha val="9000"/>
                </a:srgbClr>
              </a:outerShdw>
            </a:effectLst>
          </p:spPr>
          <p:txBody>
            <a:bodyPr/>
            <a:lstStyle/>
            <a:p>
              <a:endParaRPr lang="en-IN" sz="1100">
                <a:latin typeface="Times New Roman" panose="02020603050405020304" pitchFamily="18" charset="0"/>
                <a:cs typeface="Times New Roman" panose="02020603050405020304" pitchFamily="18" charset="0"/>
              </a:endParaRPr>
            </a:p>
          </p:txBody>
        </p:sp>
        <p:sp>
          <p:nvSpPr>
            <p:cNvPr id="27" name="Text 25"/>
            <p:cNvSpPr/>
            <p:nvPr/>
          </p:nvSpPr>
          <p:spPr>
            <a:xfrm>
              <a:off x="201168" y="2922568"/>
              <a:ext cx="310896" cy="310896"/>
            </a:xfrm>
            <a:prstGeom prst="rect">
              <a:avLst/>
            </a:prstGeom>
            <a:grpFill/>
            <a:ln/>
          </p:spPr>
          <p:txBody>
            <a:bodyPr wrap="square" lIns="0" tIns="0" rIns="0" bIns="0" rtlCol="0" anchor="ctr"/>
            <a:lstStyle/>
            <a:p>
              <a:pPr marL="0" indent="0" algn="ctr">
                <a:buNone/>
              </a:pPr>
              <a:r>
                <a:rPr lang="en-US" sz="1100" b="1" dirty="0">
                  <a:solidFill>
                    <a:schemeClr val="bg2">
                      <a:lumMod val="25000"/>
                    </a:schemeClr>
                  </a:solidFill>
                  <a:latin typeface="Times New Roman" panose="02020603050405020304" pitchFamily="18" charset="0"/>
                  <a:cs typeface="Times New Roman" panose="02020603050405020304" pitchFamily="18" charset="0"/>
                </a:rPr>
                <a:t>4</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28" name="Text 26"/>
            <p:cNvSpPr/>
            <p:nvPr/>
          </p:nvSpPr>
          <p:spPr>
            <a:xfrm>
              <a:off x="566928" y="2907792"/>
              <a:ext cx="2450592" cy="201168"/>
            </a:xfrm>
            <a:prstGeom prst="rect">
              <a:avLst/>
            </a:prstGeom>
            <a:grpFill/>
            <a:ln/>
          </p:spPr>
          <p:txBody>
            <a:bodyPr wrap="square" lIns="0" tIns="0" rIns="0" bIns="0" rtlCol="0" anchor="ctr"/>
            <a:lstStyle/>
            <a:p>
              <a:pPr marL="0" indent="0">
                <a:buNone/>
              </a:pPr>
              <a:r>
                <a:rPr lang="en-US" sz="1100" b="1" dirty="0">
                  <a:solidFill>
                    <a:schemeClr val="bg2">
                      <a:lumMod val="25000"/>
                    </a:schemeClr>
                  </a:solidFill>
                  <a:latin typeface="Times New Roman" panose="02020603050405020304" pitchFamily="18" charset="0"/>
                  <a:cs typeface="Times New Roman" panose="02020603050405020304" pitchFamily="18" charset="0"/>
                </a:rPr>
                <a:t>20-Day Lag Window</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29" name="Text 27"/>
            <p:cNvSpPr/>
            <p:nvPr/>
          </p:nvSpPr>
          <p:spPr>
            <a:xfrm>
              <a:off x="566928" y="3090672"/>
              <a:ext cx="2450592" cy="201168"/>
            </a:xfrm>
            <a:prstGeom prst="rect">
              <a:avLst/>
            </a:prstGeom>
            <a:grpFill/>
            <a:ln/>
          </p:spPr>
          <p:txBody>
            <a:bodyPr wrap="square" lIns="0" tIns="0" rIns="0" bIns="0" rtlCol="0" anchor="ctr"/>
            <a:lstStyle/>
            <a:p>
              <a:pPr marL="0" indent="0">
                <a:buNone/>
              </a:pPr>
              <a:r>
                <a:rPr lang="en-US" sz="1100" dirty="0">
                  <a:solidFill>
                    <a:schemeClr val="bg2">
                      <a:lumMod val="25000"/>
                    </a:schemeClr>
                  </a:solidFill>
                  <a:latin typeface="Times New Roman" panose="02020603050405020304" pitchFamily="18" charset="0"/>
                  <a:cs typeface="Times New Roman" panose="02020603050405020304" pitchFamily="18" charset="0"/>
                </a:rPr>
                <a:t>Sliding window → each sample: 20 days × 98 features</a:t>
              </a:r>
            </a:p>
          </p:txBody>
        </p:sp>
        <p:sp>
          <p:nvSpPr>
            <p:cNvPr id="31" name="Shape 29"/>
            <p:cNvSpPr/>
            <p:nvPr/>
          </p:nvSpPr>
          <p:spPr>
            <a:xfrm>
              <a:off x="164592" y="3493008"/>
              <a:ext cx="2926080" cy="457200"/>
            </a:xfrm>
            <a:prstGeom prst="rect">
              <a:avLst/>
            </a:prstGeom>
            <a:grpFill/>
            <a:ln w="15240">
              <a:solidFill>
                <a:schemeClr val="bg2">
                  <a:lumMod val="25000"/>
                </a:schemeClr>
              </a:solidFill>
              <a:prstDash val="solid"/>
            </a:ln>
            <a:effectLst>
              <a:outerShdw blurRad="63500" dist="12700" dir="8100000" algn="bl" rotWithShape="0">
                <a:srgbClr val="000000">
                  <a:alpha val="9000"/>
                </a:srgbClr>
              </a:outerShdw>
            </a:effectLst>
          </p:spPr>
          <p:txBody>
            <a:bodyPr/>
            <a:lstStyle/>
            <a:p>
              <a:endParaRPr lang="en-IN" sz="1100">
                <a:latin typeface="Times New Roman" panose="02020603050405020304" pitchFamily="18" charset="0"/>
                <a:cs typeface="Times New Roman" panose="02020603050405020304" pitchFamily="18" charset="0"/>
              </a:endParaRPr>
            </a:p>
          </p:txBody>
        </p:sp>
        <p:sp>
          <p:nvSpPr>
            <p:cNvPr id="33" name="Text 31"/>
            <p:cNvSpPr/>
            <p:nvPr/>
          </p:nvSpPr>
          <p:spPr>
            <a:xfrm>
              <a:off x="201168" y="3557016"/>
              <a:ext cx="310896" cy="310896"/>
            </a:xfrm>
            <a:prstGeom prst="rect">
              <a:avLst/>
            </a:prstGeom>
            <a:grpFill/>
            <a:ln/>
          </p:spPr>
          <p:txBody>
            <a:bodyPr wrap="square" lIns="0" tIns="0" rIns="0" bIns="0" rtlCol="0" anchor="ctr"/>
            <a:lstStyle/>
            <a:p>
              <a:pPr marL="0" indent="0" algn="ctr">
                <a:buNone/>
              </a:pPr>
              <a:r>
                <a:rPr lang="en-US" sz="1100" b="1" dirty="0">
                  <a:solidFill>
                    <a:schemeClr val="bg2">
                      <a:lumMod val="25000"/>
                    </a:schemeClr>
                  </a:solidFill>
                  <a:latin typeface="Times New Roman" panose="02020603050405020304" pitchFamily="18" charset="0"/>
                  <a:cs typeface="Times New Roman" panose="02020603050405020304" pitchFamily="18" charset="0"/>
                </a:rPr>
                <a:t>5</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34" name="Text 32"/>
            <p:cNvSpPr/>
            <p:nvPr/>
          </p:nvSpPr>
          <p:spPr>
            <a:xfrm>
              <a:off x="566928" y="3529584"/>
              <a:ext cx="2450592" cy="201168"/>
            </a:xfrm>
            <a:prstGeom prst="rect">
              <a:avLst/>
            </a:prstGeom>
            <a:grpFill/>
            <a:ln/>
          </p:spPr>
          <p:txBody>
            <a:bodyPr wrap="square" lIns="0" tIns="0" rIns="0" bIns="0" rtlCol="0" anchor="ctr"/>
            <a:lstStyle/>
            <a:p>
              <a:pPr marL="0" indent="0">
                <a:buNone/>
              </a:pPr>
              <a:r>
                <a:rPr lang="en-US" sz="1100" b="1" dirty="0">
                  <a:solidFill>
                    <a:schemeClr val="bg2">
                      <a:lumMod val="25000"/>
                    </a:schemeClr>
                  </a:solidFill>
                  <a:latin typeface="Times New Roman" panose="02020603050405020304" pitchFamily="18" charset="0"/>
                  <a:cs typeface="Times New Roman" panose="02020603050405020304" pitchFamily="18" charset="0"/>
                </a:rPr>
                <a:t>Min-Max Normalise</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35" name="Text 33"/>
            <p:cNvSpPr/>
            <p:nvPr/>
          </p:nvSpPr>
          <p:spPr>
            <a:xfrm>
              <a:off x="566928" y="3712464"/>
              <a:ext cx="2450592" cy="201168"/>
            </a:xfrm>
            <a:prstGeom prst="rect">
              <a:avLst/>
            </a:prstGeom>
            <a:grpFill/>
            <a:ln/>
          </p:spPr>
          <p:txBody>
            <a:bodyPr wrap="square" lIns="0" tIns="0" rIns="0" bIns="0" rtlCol="0" anchor="ctr"/>
            <a:lstStyle/>
            <a:p>
              <a:pPr marL="0" indent="0">
                <a:buNone/>
              </a:pPr>
              <a:r>
                <a:rPr lang="en-US" sz="1100" dirty="0">
                  <a:solidFill>
                    <a:schemeClr val="bg2">
                      <a:lumMod val="25000"/>
                    </a:schemeClr>
                  </a:solidFill>
                  <a:latin typeface="Times New Roman" panose="02020603050405020304" pitchFamily="18" charset="0"/>
                  <a:cs typeface="Times New Roman" panose="02020603050405020304" pitchFamily="18" charset="0"/>
                </a:rPr>
                <a:t>Scale all values to [0,1] — equal weight to all inputs</a:t>
              </a:r>
            </a:p>
          </p:txBody>
        </p:sp>
        <p:sp>
          <p:nvSpPr>
            <p:cNvPr id="36" name="Shape 34"/>
            <p:cNvSpPr/>
            <p:nvPr/>
          </p:nvSpPr>
          <p:spPr>
            <a:xfrm>
              <a:off x="164592" y="4114800"/>
              <a:ext cx="2926080" cy="457200"/>
            </a:xfrm>
            <a:prstGeom prst="rect">
              <a:avLst/>
            </a:prstGeom>
            <a:grpFill/>
            <a:ln w="15240">
              <a:solidFill>
                <a:schemeClr val="bg2">
                  <a:lumMod val="25000"/>
                </a:schemeClr>
              </a:solidFill>
              <a:prstDash val="solid"/>
            </a:ln>
            <a:effectLst>
              <a:outerShdw blurRad="63500" dist="12700" dir="8100000" algn="bl" rotWithShape="0">
                <a:srgbClr val="000000">
                  <a:alpha val="9000"/>
                </a:srgbClr>
              </a:outerShdw>
            </a:effectLst>
          </p:spPr>
          <p:txBody>
            <a:bodyPr/>
            <a:lstStyle/>
            <a:p>
              <a:endParaRPr lang="en-IN" sz="1100">
                <a:latin typeface="Times New Roman" panose="02020603050405020304" pitchFamily="18" charset="0"/>
                <a:cs typeface="Times New Roman" panose="02020603050405020304" pitchFamily="18" charset="0"/>
              </a:endParaRPr>
            </a:p>
          </p:txBody>
        </p:sp>
        <p:sp>
          <p:nvSpPr>
            <p:cNvPr id="38" name="Text 36"/>
            <p:cNvSpPr/>
            <p:nvPr/>
          </p:nvSpPr>
          <p:spPr>
            <a:xfrm>
              <a:off x="201168" y="4151376"/>
              <a:ext cx="310896" cy="310896"/>
            </a:xfrm>
            <a:prstGeom prst="rect">
              <a:avLst/>
            </a:prstGeom>
            <a:grpFill/>
            <a:ln/>
          </p:spPr>
          <p:txBody>
            <a:bodyPr wrap="square" lIns="0" tIns="0" rIns="0" bIns="0" rtlCol="0" anchor="ctr"/>
            <a:lstStyle/>
            <a:p>
              <a:pPr marL="0" indent="0" algn="ctr">
                <a:buNone/>
              </a:pPr>
              <a:r>
                <a:rPr lang="en-US" sz="1100" b="1" dirty="0">
                  <a:solidFill>
                    <a:schemeClr val="bg2">
                      <a:lumMod val="25000"/>
                    </a:schemeClr>
                  </a:solidFill>
                  <a:latin typeface="Times New Roman" panose="02020603050405020304" pitchFamily="18" charset="0"/>
                  <a:cs typeface="Times New Roman" panose="02020603050405020304" pitchFamily="18" charset="0"/>
                </a:rPr>
                <a:t>6</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39" name="Text 37"/>
            <p:cNvSpPr/>
            <p:nvPr/>
          </p:nvSpPr>
          <p:spPr>
            <a:xfrm>
              <a:off x="566928" y="4151376"/>
              <a:ext cx="2450592" cy="201168"/>
            </a:xfrm>
            <a:prstGeom prst="rect">
              <a:avLst/>
            </a:prstGeom>
            <a:grpFill/>
            <a:ln/>
          </p:spPr>
          <p:txBody>
            <a:bodyPr wrap="square" lIns="0" tIns="0" rIns="0" bIns="0" rtlCol="0" anchor="ctr"/>
            <a:lstStyle/>
            <a:p>
              <a:pPr marL="0" indent="0">
                <a:buNone/>
              </a:pPr>
              <a:r>
                <a:rPr lang="en-US" sz="1100" b="1" dirty="0">
                  <a:solidFill>
                    <a:schemeClr val="bg2">
                      <a:lumMod val="25000"/>
                    </a:schemeClr>
                  </a:solidFill>
                  <a:latin typeface="Times New Roman" panose="02020603050405020304" pitchFamily="18" charset="0"/>
                  <a:cs typeface="Times New Roman" panose="02020603050405020304" pitchFamily="18" charset="0"/>
                </a:rPr>
                <a:t>80:20 Train/Test</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40" name="Text 38"/>
            <p:cNvSpPr/>
            <p:nvPr/>
          </p:nvSpPr>
          <p:spPr>
            <a:xfrm>
              <a:off x="566928" y="4334256"/>
              <a:ext cx="2450592" cy="201168"/>
            </a:xfrm>
            <a:prstGeom prst="rect">
              <a:avLst/>
            </a:prstGeom>
            <a:grpFill/>
            <a:ln/>
          </p:spPr>
          <p:txBody>
            <a:bodyPr wrap="square" lIns="0" tIns="0" rIns="0" bIns="0" rtlCol="0" anchor="ctr"/>
            <a:lstStyle/>
            <a:p>
              <a:pPr marL="0" indent="0">
                <a:buNone/>
              </a:pPr>
              <a:r>
                <a:rPr lang="en-US" sz="1100" dirty="0">
                  <a:solidFill>
                    <a:schemeClr val="bg2">
                      <a:lumMod val="25000"/>
                    </a:schemeClr>
                  </a:solidFill>
                  <a:latin typeface="Times New Roman" panose="02020603050405020304" pitchFamily="18" charset="0"/>
                  <a:cs typeface="Times New Roman" panose="02020603050405020304" pitchFamily="18" charset="0"/>
                </a:rPr>
                <a:t>Chronological split — no data leakage</a:t>
              </a:r>
            </a:p>
          </p:txBody>
        </p:sp>
      </p:grpSp>
      <p:grpSp>
        <p:nvGrpSpPr>
          <p:cNvPr id="105" name="Group 104">
            <a:extLst>
              <a:ext uri="{FF2B5EF4-FFF2-40B4-BE49-F238E27FC236}">
                <a16:creationId xmlns:a16="http://schemas.microsoft.com/office/drawing/2014/main" id="{C5271D9D-6142-8D89-F8D5-BBA70D0A134C}"/>
              </a:ext>
            </a:extLst>
          </p:cNvPr>
          <p:cNvGrpSpPr/>
          <p:nvPr/>
        </p:nvGrpSpPr>
        <p:grpSpPr>
          <a:xfrm>
            <a:off x="4512360" y="891540"/>
            <a:ext cx="4254794" cy="3907135"/>
            <a:chOff x="3273552" y="667512"/>
            <a:chExt cx="3108960" cy="3904488"/>
          </a:xfrm>
          <a:solidFill>
            <a:schemeClr val="bg2"/>
          </a:solidFill>
        </p:grpSpPr>
        <p:sp>
          <p:nvSpPr>
            <p:cNvPr id="41" name="Shape 39"/>
            <p:cNvSpPr/>
            <p:nvPr/>
          </p:nvSpPr>
          <p:spPr>
            <a:xfrm>
              <a:off x="3273552" y="667512"/>
              <a:ext cx="3108960" cy="292608"/>
            </a:xfrm>
            <a:prstGeom prst="rect">
              <a:avLst/>
            </a:prstGeom>
            <a:grpFill/>
            <a:ln w="12700">
              <a:solidFill>
                <a:schemeClr val="bg2">
                  <a:lumMod val="25000"/>
                </a:schemeClr>
              </a:solidFill>
              <a:prstDash val="solid"/>
            </a:ln>
          </p:spPr>
          <p:txBody>
            <a:bodyPr/>
            <a:lstStyle/>
            <a:p>
              <a:endParaRPr lang="en-IN" sz="1100">
                <a:latin typeface="Times New Roman" panose="02020603050405020304" pitchFamily="18" charset="0"/>
                <a:cs typeface="Times New Roman" panose="02020603050405020304" pitchFamily="18" charset="0"/>
              </a:endParaRPr>
            </a:p>
          </p:txBody>
        </p:sp>
        <p:sp>
          <p:nvSpPr>
            <p:cNvPr id="42" name="Text 40"/>
            <p:cNvSpPr/>
            <p:nvPr/>
          </p:nvSpPr>
          <p:spPr>
            <a:xfrm>
              <a:off x="3337560" y="667512"/>
              <a:ext cx="3017520" cy="292608"/>
            </a:xfrm>
            <a:prstGeom prst="rect">
              <a:avLst/>
            </a:prstGeom>
            <a:grpFill/>
            <a:ln/>
          </p:spPr>
          <p:txBody>
            <a:bodyPr wrap="square" lIns="0" tIns="0" rIns="0" bIns="0" rtlCol="0" anchor="ctr"/>
            <a:lstStyle/>
            <a:p>
              <a:pPr marL="0" indent="0">
                <a:buNone/>
              </a:pPr>
              <a:r>
                <a:rPr lang="en-US" sz="1100" b="1" dirty="0">
                  <a:solidFill>
                    <a:schemeClr val="bg2">
                      <a:lumMod val="25000"/>
                    </a:schemeClr>
                  </a:solidFill>
                  <a:latin typeface="Times New Roman" panose="02020603050405020304" pitchFamily="18" charset="0"/>
                  <a:cs typeface="Times New Roman" panose="02020603050405020304" pitchFamily="18" charset="0"/>
                </a:rPr>
                <a:t>② LSTM Network Architecture</a:t>
              </a:r>
            </a:p>
          </p:txBody>
        </p:sp>
        <p:sp>
          <p:nvSpPr>
            <p:cNvPr id="43" name="Shape 41"/>
            <p:cNvSpPr/>
            <p:nvPr/>
          </p:nvSpPr>
          <p:spPr>
            <a:xfrm>
              <a:off x="3273552" y="1005840"/>
              <a:ext cx="3108960" cy="502920"/>
            </a:xfrm>
            <a:prstGeom prst="rect">
              <a:avLst/>
            </a:prstGeom>
            <a:grpFill/>
            <a:ln w="15240">
              <a:solidFill>
                <a:schemeClr val="bg2">
                  <a:lumMod val="25000"/>
                </a:schemeClr>
              </a:solidFill>
              <a:prstDash val="solid"/>
            </a:ln>
            <a:effectLst>
              <a:outerShdw blurRad="63500" dist="12700" dir="8100000" algn="bl" rotWithShape="0">
                <a:srgbClr val="000000">
                  <a:alpha val="9000"/>
                </a:srgbClr>
              </a:outerShdw>
            </a:effectLst>
          </p:spPr>
          <p:txBody>
            <a:bodyPr/>
            <a:lstStyle/>
            <a:p>
              <a:endParaRPr lang="en-IN" sz="1100">
                <a:latin typeface="Times New Roman" panose="02020603050405020304" pitchFamily="18" charset="0"/>
                <a:cs typeface="Times New Roman" panose="02020603050405020304" pitchFamily="18" charset="0"/>
              </a:endParaRPr>
            </a:p>
          </p:txBody>
        </p:sp>
        <p:sp>
          <p:nvSpPr>
            <p:cNvPr id="44" name="Text 42"/>
            <p:cNvSpPr/>
            <p:nvPr/>
          </p:nvSpPr>
          <p:spPr>
            <a:xfrm>
              <a:off x="3364992" y="1042416"/>
              <a:ext cx="2944368" cy="201168"/>
            </a:xfrm>
            <a:prstGeom prst="rect">
              <a:avLst/>
            </a:prstGeom>
            <a:grpFill/>
            <a:ln/>
          </p:spPr>
          <p:txBody>
            <a:bodyPr wrap="square" lIns="0" tIns="0" rIns="0" bIns="0" rtlCol="0" anchor="ctr"/>
            <a:lstStyle/>
            <a:p>
              <a:pPr marL="0" indent="0">
                <a:buNone/>
              </a:pPr>
              <a:r>
                <a:rPr lang="en-US" sz="1100" b="1" dirty="0">
                  <a:solidFill>
                    <a:schemeClr val="bg2">
                      <a:lumMod val="25000"/>
                    </a:schemeClr>
                  </a:solidFill>
                  <a:latin typeface="Times New Roman" panose="02020603050405020304" pitchFamily="18" charset="0"/>
                  <a:cs typeface="Times New Roman" panose="02020603050405020304" pitchFamily="18" charset="0"/>
                </a:rPr>
                <a:t>INPUT TENSOR</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45" name="Text 43"/>
            <p:cNvSpPr/>
            <p:nvPr/>
          </p:nvSpPr>
          <p:spPr>
            <a:xfrm>
              <a:off x="3364992" y="1249636"/>
              <a:ext cx="2944368" cy="237744"/>
            </a:xfrm>
            <a:prstGeom prst="rect">
              <a:avLst/>
            </a:prstGeom>
            <a:grpFill/>
            <a:ln/>
          </p:spPr>
          <p:txBody>
            <a:bodyPr wrap="square" lIns="0" tIns="0" rIns="0" bIns="0" rtlCol="0" anchor="t"/>
            <a:lstStyle/>
            <a:p>
              <a:pPr marL="0" indent="0">
                <a:buNone/>
              </a:pPr>
              <a:r>
                <a:rPr lang="en-US" sz="1100" dirty="0">
                  <a:solidFill>
                    <a:schemeClr val="bg2">
                      <a:lumMod val="25000"/>
                    </a:schemeClr>
                  </a:solidFill>
                  <a:latin typeface="Times New Roman" panose="02020603050405020304" pitchFamily="18" charset="0"/>
                  <a:cs typeface="Times New Roman" panose="02020603050405020304" pitchFamily="18" charset="0"/>
                </a:rPr>
                <a:t> (20 days × 98 features)</a:t>
              </a:r>
            </a:p>
          </p:txBody>
        </p:sp>
        <p:sp>
          <p:nvSpPr>
            <p:cNvPr id="46" name="Text 44"/>
            <p:cNvSpPr/>
            <p:nvPr/>
          </p:nvSpPr>
          <p:spPr>
            <a:xfrm>
              <a:off x="4553712" y="1517904"/>
              <a:ext cx="548640" cy="118872"/>
            </a:xfrm>
            <a:prstGeom prst="rect">
              <a:avLst/>
            </a:prstGeom>
            <a:grpFill/>
            <a:ln/>
          </p:spPr>
          <p:txBody>
            <a:bodyPr wrap="square" lIns="0" tIns="0" rIns="0" bIns="0" rtlCol="0" anchor="ctr"/>
            <a:lstStyle/>
            <a:p>
              <a:pPr marL="0" indent="0" algn="ctr">
                <a:buNone/>
              </a:pPr>
              <a:r>
                <a:rPr lang="en-US" sz="1100" dirty="0">
                  <a:solidFill>
                    <a:schemeClr val="bg2">
                      <a:lumMod val="25000"/>
                    </a:schemeClr>
                  </a:solidFill>
                  <a:latin typeface="Times New Roman" panose="02020603050405020304" pitchFamily="18" charset="0"/>
                  <a:cs typeface="Times New Roman" panose="02020603050405020304" pitchFamily="18" charset="0"/>
                </a:rPr>
                <a:t>▼</a:t>
              </a:r>
            </a:p>
          </p:txBody>
        </p:sp>
        <p:sp>
          <p:nvSpPr>
            <p:cNvPr id="47" name="Shape 45"/>
            <p:cNvSpPr/>
            <p:nvPr/>
          </p:nvSpPr>
          <p:spPr>
            <a:xfrm>
              <a:off x="3273552" y="1618488"/>
              <a:ext cx="3108960" cy="502920"/>
            </a:xfrm>
            <a:prstGeom prst="rect">
              <a:avLst/>
            </a:prstGeom>
            <a:grpFill/>
            <a:ln w="15240">
              <a:solidFill>
                <a:schemeClr val="bg2">
                  <a:lumMod val="25000"/>
                </a:schemeClr>
              </a:solidFill>
              <a:prstDash val="solid"/>
            </a:ln>
            <a:effectLst>
              <a:outerShdw blurRad="63500" dist="12700" dir="8100000" algn="bl" rotWithShape="0">
                <a:srgbClr val="000000">
                  <a:alpha val="9000"/>
                </a:srgbClr>
              </a:outerShdw>
            </a:effectLst>
          </p:spPr>
          <p:txBody>
            <a:bodyPr/>
            <a:lstStyle/>
            <a:p>
              <a:endParaRPr lang="en-IN" sz="1100">
                <a:latin typeface="Times New Roman" panose="02020603050405020304" pitchFamily="18" charset="0"/>
                <a:cs typeface="Times New Roman" panose="02020603050405020304" pitchFamily="18" charset="0"/>
              </a:endParaRPr>
            </a:p>
          </p:txBody>
        </p:sp>
        <p:sp>
          <p:nvSpPr>
            <p:cNvPr id="48" name="Text 46"/>
            <p:cNvSpPr/>
            <p:nvPr/>
          </p:nvSpPr>
          <p:spPr>
            <a:xfrm>
              <a:off x="3364992" y="1655064"/>
              <a:ext cx="2944368" cy="201168"/>
            </a:xfrm>
            <a:prstGeom prst="rect">
              <a:avLst/>
            </a:prstGeom>
            <a:grpFill/>
            <a:ln/>
          </p:spPr>
          <p:txBody>
            <a:bodyPr wrap="square" lIns="0" tIns="0" rIns="0" bIns="0" rtlCol="0" anchor="ctr"/>
            <a:lstStyle/>
            <a:p>
              <a:pPr marL="0" indent="0">
                <a:buNone/>
              </a:pPr>
              <a:r>
                <a:rPr lang="en-US" sz="1100" b="1" dirty="0">
                  <a:solidFill>
                    <a:schemeClr val="bg2">
                      <a:lumMod val="25000"/>
                    </a:schemeClr>
                  </a:solidFill>
                  <a:latin typeface="Times New Roman" panose="02020603050405020304" pitchFamily="18" charset="0"/>
                  <a:cs typeface="Times New Roman" panose="02020603050405020304" pitchFamily="18" charset="0"/>
                </a:rPr>
                <a:t>LSTM Layer 1 — 64 neurons</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49" name="Text 47"/>
            <p:cNvSpPr/>
            <p:nvPr/>
          </p:nvSpPr>
          <p:spPr>
            <a:xfrm>
              <a:off x="3364992" y="1856232"/>
              <a:ext cx="2944368" cy="237744"/>
            </a:xfrm>
            <a:prstGeom prst="rect">
              <a:avLst/>
            </a:prstGeom>
            <a:grpFill/>
            <a:ln/>
          </p:spPr>
          <p:txBody>
            <a:bodyPr wrap="square" lIns="0" tIns="0" rIns="0" bIns="0" rtlCol="0" anchor="t"/>
            <a:lstStyle/>
            <a:p>
              <a:r>
                <a:rPr lang="en-US" sz="1100" dirty="0">
                  <a:solidFill>
                    <a:schemeClr val="bg2">
                      <a:lumMod val="25000"/>
                    </a:schemeClr>
                  </a:solidFill>
                  <a:latin typeface="Times New Roman" panose="02020603050405020304" pitchFamily="18" charset="0"/>
                  <a:cs typeface="Times New Roman" panose="02020603050405020304" pitchFamily="18" charset="0"/>
                </a:rPr>
                <a:t>Captures broad temporal patterns(multi-week rainfall trends)</a:t>
              </a:r>
            </a:p>
            <a:p>
              <a:pPr marL="0" indent="0">
                <a:buNone/>
              </a:pP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50" name="Text 48"/>
            <p:cNvSpPr/>
            <p:nvPr/>
          </p:nvSpPr>
          <p:spPr>
            <a:xfrm>
              <a:off x="4553712" y="2130552"/>
              <a:ext cx="548640" cy="118872"/>
            </a:xfrm>
            <a:prstGeom prst="rect">
              <a:avLst/>
            </a:prstGeom>
            <a:grpFill/>
            <a:ln/>
          </p:spPr>
          <p:txBody>
            <a:bodyPr wrap="square" lIns="0" tIns="0" rIns="0" bIns="0" rtlCol="0" anchor="ctr"/>
            <a:lstStyle/>
            <a:p>
              <a:pPr marL="0" indent="0" algn="ctr">
                <a:buNone/>
              </a:pPr>
              <a:r>
                <a:rPr lang="en-US" sz="1100" dirty="0">
                  <a:solidFill>
                    <a:schemeClr val="bg2">
                      <a:lumMod val="25000"/>
                    </a:schemeClr>
                  </a:solidFill>
                  <a:latin typeface="Times New Roman" panose="02020603050405020304" pitchFamily="18" charset="0"/>
                  <a:cs typeface="Times New Roman" panose="02020603050405020304" pitchFamily="18" charset="0"/>
                </a:rPr>
                <a:t>▼</a:t>
              </a:r>
            </a:p>
          </p:txBody>
        </p:sp>
        <p:sp>
          <p:nvSpPr>
            <p:cNvPr id="51" name="Shape 49"/>
            <p:cNvSpPr/>
            <p:nvPr/>
          </p:nvSpPr>
          <p:spPr>
            <a:xfrm>
              <a:off x="3273552" y="2231136"/>
              <a:ext cx="3108960" cy="502920"/>
            </a:xfrm>
            <a:prstGeom prst="rect">
              <a:avLst/>
            </a:prstGeom>
            <a:grpFill/>
            <a:ln w="15240">
              <a:solidFill>
                <a:schemeClr val="bg2">
                  <a:lumMod val="25000"/>
                </a:schemeClr>
              </a:solidFill>
              <a:prstDash val="solid"/>
            </a:ln>
            <a:effectLst>
              <a:outerShdw blurRad="63500" dist="12700" dir="8100000" algn="bl" rotWithShape="0">
                <a:srgbClr val="000000">
                  <a:alpha val="9000"/>
                </a:srgbClr>
              </a:outerShdw>
            </a:effectLst>
          </p:spPr>
          <p:txBody>
            <a:bodyPr/>
            <a:lstStyle/>
            <a:p>
              <a:endParaRPr lang="en-IN" sz="1100">
                <a:latin typeface="Times New Roman" panose="02020603050405020304" pitchFamily="18" charset="0"/>
                <a:cs typeface="Times New Roman" panose="02020603050405020304" pitchFamily="18" charset="0"/>
              </a:endParaRPr>
            </a:p>
          </p:txBody>
        </p:sp>
        <p:sp>
          <p:nvSpPr>
            <p:cNvPr id="52" name="Text 50"/>
            <p:cNvSpPr/>
            <p:nvPr/>
          </p:nvSpPr>
          <p:spPr>
            <a:xfrm>
              <a:off x="3364992" y="2267712"/>
              <a:ext cx="2944368" cy="201168"/>
            </a:xfrm>
            <a:prstGeom prst="rect">
              <a:avLst/>
            </a:prstGeom>
            <a:grpFill/>
            <a:ln/>
          </p:spPr>
          <p:txBody>
            <a:bodyPr wrap="square" lIns="0" tIns="0" rIns="0" bIns="0" rtlCol="0" anchor="ctr"/>
            <a:lstStyle/>
            <a:p>
              <a:pPr marL="0" indent="0">
                <a:buNone/>
              </a:pPr>
              <a:r>
                <a:rPr lang="en-US" sz="1100" b="1" dirty="0">
                  <a:solidFill>
                    <a:schemeClr val="bg2">
                      <a:lumMod val="25000"/>
                    </a:schemeClr>
                  </a:solidFill>
                  <a:latin typeface="Times New Roman" panose="02020603050405020304" pitchFamily="18" charset="0"/>
                  <a:cs typeface="Times New Roman" panose="02020603050405020304" pitchFamily="18" charset="0"/>
                </a:rPr>
                <a:t>Dropout  (rate = 0.20)</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53" name="Text 51"/>
            <p:cNvSpPr/>
            <p:nvPr/>
          </p:nvSpPr>
          <p:spPr>
            <a:xfrm>
              <a:off x="3364992" y="2492068"/>
              <a:ext cx="3017520" cy="237744"/>
            </a:xfrm>
            <a:prstGeom prst="rect">
              <a:avLst/>
            </a:prstGeom>
            <a:grpFill/>
            <a:ln>
              <a:noFill/>
            </a:ln>
          </p:spPr>
          <p:txBody>
            <a:bodyPr wrap="square" lIns="0" tIns="0" rIns="0" bIns="0" rtlCol="0" anchor="t"/>
            <a:lstStyle/>
            <a:p>
              <a:pPr marL="0" indent="0">
                <a:buNone/>
              </a:pPr>
              <a:r>
                <a:rPr lang="en-US" sz="1100" dirty="0">
                  <a:solidFill>
                    <a:schemeClr val="bg2">
                      <a:lumMod val="25000"/>
                    </a:schemeClr>
                  </a:solidFill>
                  <a:latin typeface="Times New Roman" panose="02020603050405020304" pitchFamily="18" charset="0"/>
                  <a:cs typeface="Times New Roman" panose="02020603050405020304" pitchFamily="18" charset="0"/>
                </a:rPr>
                <a:t>Randomly drops 20% of neurons prevents overfitting to training data</a:t>
              </a:r>
            </a:p>
          </p:txBody>
        </p:sp>
        <p:sp>
          <p:nvSpPr>
            <p:cNvPr id="54" name="Text 52"/>
            <p:cNvSpPr/>
            <p:nvPr/>
          </p:nvSpPr>
          <p:spPr>
            <a:xfrm>
              <a:off x="4553712" y="2743200"/>
              <a:ext cx="548640" cy="118872"/>
            </a:xfrm>
            <a:prstGeom prst="rect">
              <a:avLst/>
            </a:prstGeom>
            <a:grpFill/>
            <a:ln/>
          </p:spPr>
          <p:txBody>
            <a:bodyPr wrap="square" lIns="0" tIns="0" rIns="0" bIns="0" rtlCol="0" anchor="ctr"/>
            <a:lstStyle/>
            <a:p>
              <a:pPr marL="0" indent="0" algn="ctr">
                <a:buNone/>
              </a:pPr>
              <a:r>
                <a:rPr lang="en-US" sz="1100" dirty="0">
                  <a:solidFill>
                    <a:schemeClr val="bg2">
                      <a:lumMod val="25000"/>
                    </a:schemeClr>
                  </a:solidFill>
                  <a:latin typeface="Times New Roman" panose="02020603050405020304" pitchFamily="18" charset="0"/>
                  <a:cs typeface="Times New Roman" panose="02020603050405020304" pitchFamily="18" charset="0"/>
                </a:rPr>
                <a:t>▼</a:t>
              </a:r>
            </a:p>
          </p:txBody>
        </p:sp>
        <p:sp>
          <p:nvSpPr>
            <p:cNvPr id="55" name="Shape 53"/>
            <p:cNvSpPr/>
            <p:nvPr/>
          </p:nvSpPr>
          <p:spPr>
            <a:xfrm>
              <a:off x="3273552" y="2843784"/>
              <a:ext cx="3108960" cy="502920"/>
            </a:xfrm>
            <a:prstGeom prst="rect">
              <a:avLst/>
            </a:prstGeom>
            <a:grpFill/>
            <a:ln w="15240">
              <a:solidFill>
                <a:schemeClr val="bg2">
                  <a:lumMod val="25000"/>
                </a:schemeClr>
              </a:solidFill>
              <a:prstDash val="solid"/>
            </a:ln>
            <a:effectLst>
              <a:outerShdw blurRad="63500" dist="12700" dir="8100000" algn="bl" rotWithShape="0">
                <a:srgbClr val="000000">
                  <a:alpha val="9000"/>
                </a:srgbClr>
              </a:outerShdw>
            </a:effectLst>
          </p:spPr>
          <p:txBody>
            <a:bodyPr/>
            <a:lstStyle/>
            <a:p>
              <a:endParaRPr lang="en-IN" sz="1100">
                <a:latin typeface="Times New Roman" panose="02020603050405020304" pitchFamily="18" charset="0"/>
                <a:cs typeface="Times New Roman" panose="02020603050405020304" pitchFamily="18" charset="0"/>
              </a:endParaRPr>
            </a:p>
          </p:txBody>
        </p:sp>
        <p:sp>
          <p:nvSpPr>
            <p:cNvPr id="56" name="Text 54"/>
            <p:cNvSpPr/>
            <p:nvPr/>
          </p:nvSpPr>
          <p:spPr>
            <a:xfrm>
              <a:off x="3364992" y="2880360"/>
              <a:ext cx="2944368" cy="201168"/>
            </a:xfrm>
            <a:prstGeom prst="rect">
              <a:avLst/>
            </a:prstGeom>
            <a:grpFill/>
            <a:ln/>
          </p:spPr>
          <p:txBody>
            <a:bodyPr wrap="square" lIns="0" tIns="0" rIns="0" bIns="0" rtlCol="0" anchor="ctr"/>
            <a:lstStyle/>
            <a:p>
              <a:pPr marL="0" indent="0">
                <a:buNone/>
              </a:pPr>
              <a:r>
                <a:rPr lang="en-US" sz="1100" b="1" dirty="0">
                  <a:solidFill>
                    <a:schemeClr val="bg2">
                      <a:lumMod val="25000"/>
                    </a:schemeClr>
                  </a:solidFill>
                  <a:latin typeface="Times New Roman" panose="02020603050405020304" pitchFamily="18" charset="0"/>
                  <a:cs typeface="Times New Roman" panose="02020603050405020304" pitchFamily="18" charset="0"/>
                </a:rPr>
                <a:t>LSTM Layer 2 — 32 neurons</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57" name="Text 55"/>
            <p:cNvSpPr/>
            <p:nvPr/>
          </p:nvSpPr>
          <p:spPr>
            <a:xfrm>
              <a:off x="3364992" y="3081528"/>
              <a:ext cx="2944368" cy="237744"/>
            </a:xfrm>
            <a:prstGeom prst="rect">
              <a:avLst/>
            </a:prstGeom>
            <a:grpFill/>
            <a:ln/>
          </p:spPr>
          <p:txBody>
            <a:bodyPr wrap="square" lIns="0" tIns="0" rIns="0" bIns="0" rtlCol="0" anchor="t"/>
            <a:lstStyle/>
            <a:p>
              <a:pPr marL="0" indent="0">
                <a:buNone/>
              </a:pPr>
              <a:r>
                <a:rPr lang="en-US" sz="1100" dirty="0">
                  <a:solidFill>
                    <a:schemeClr val="bg2">
                      <a:lumMod val="25000"/>
                    </a:schemeClr>
                  </a:solidFill>
                  <a:latin typeface="Times New Roman" panose="02020603050405020304" pitchFamily="18" charset="0"/>
                  <a:cs typeface="Times New Roman" panose="02020603050405020304" pitchFamily="18" charset="0"/>
                </a:rPr>
                <a:t>Refines patterns into fine-detail (peak flow, recession limb)</a:t>
              </a:r>
            </a:p>
          </p:txBody>
        </p:sp>
        <p:sp>
          <p:nvSpPr>
            <p:cNvPr id="58" name="Text 56"/>
            <p:cNvSpPr/>
            <p:nvPr/>
          </p:nvSpPr>
          <p:spPr>
            <a:xfrm>
              <a:off x="4553712" y="3355848"/>
              <a:ext cx="548640" cy="118872"/>
            </a:xfrm>
            <a:prstGeom prst="rect">
              <a:avLst/>
            </a:prstGeom>
            <a:grpFill/>
            <a:ln/>
          </p:spPr>
          <p:txBody>
            <a:bodyPr wrap="square" lIns="0" tIns="0" rIns="0" bIns="0" rtlCol="0" anchor="ctr"/>
            <a:lstStyle/>
            <a:p>
              <a:pPr marL="0" indent="0" algn="ctr">
                <a:buNone/>
              </a:pPr>
              <a:r>
                <a:rPr lang="en-US" sz="1100" dirty="0">
                  <a:solidFill>
                    <a:schemeClr val="bg2">
                      <a:lumMod val="25000"/>
                    </a:schemeClr>
                  </a:solidFill>
                  <a:latin typeface="Times New Roman" panose="02020603050405020304" pitchFamily="18" charset="0"/>
                  <a:cs typeface="Times New Roman" panose="02020603050405020304" pitchFamily="18" charset="0"/>
                </a:rPr>
                <a:t>▼</a:t>
              </a:r>
            </a:p>
          </p:txBody>
        </p:sp>
        <p:sp>
          <p:nvSpPr>
            <p:cNvPr id="59" name="Shape 57"/>
            <p:cNvSpPr/>
            <p:nvPr/>
          </p:nvSpPr>
          <p:spPr>
            <a:xfrm>
              <a:off x="3273552" y="3456432"/>
              <a:ext cx="3108960" cy="502920"/>
            </a:xfrm>
            <a:prstGeom prst="rect">
              <a:avLst/>
            </a:prstGeom>
            <a:grpFill/>
            <a:ln w="15240">
              <a:solidFill>
                <a:schemeClr val="bg2">
                  <a:lumMod val="25000"/>
                </a:schemeClr>
              </a:solidFill>
              <a:prstDash val="solid"/>
            </a:ln>
            <a:effectLst>
              <a:outerShdw blurRad="63500" dist="12700" dir="8100000" algn="bl" rotWithShape="0">
                <a:srgbClr val="000000">
                  <a:alpha val="9000"/>
                </a:srgbClr>
              </a:outerShdw>
            </a:effectLst>
          </p:spPr>
          <p:txBody>
            <a:bodyPr/>
            <a:lstStyle/>
            <a:p>
              <a:endParaRPr lang="en-IN" sz="1100">
                <a:latin typeface="Times New Roman" panose="02020603050405020304" pitchFamily="18" charset="0"/>
                <a:cs typeface="Times New Roman" panose="02020603050405020304" pitchFamily="18" charset="0"/>
              </a:endParaRPr>
            </a:p>
          </p:txBody>
        </p:sp>
        <p:sp>
          <p:nvSpPr>
            <p:cNvPr id="60" name="Text 58"/>
            <p:cNvSpPr/>
            <p:nvPr/>
          </p:nvSpPr>
          <p:spPr>
            <a:xfrm>
              <a:off x="3364992" y="3493008"/>
              <a:ext cx="2944368" cy="201168"/>
            </a:xfrm>
            <a:prstGeom prst="rect">
              <a:avLst/>
            </a:prstGeom>
            <a:grpFill/>
            <a:ln/>
          </p:spPr>
          <p:txBody>
            <a:bodyPr wrap="square" lIns="0" tIns="0" rIns="0" bIns="0" rtlCol="0" anchor="ctr"/>
            <a:lstStyle/>
            <a:p>
              <a:pPr marL="0" indent="0">
                <a:buNone/>
              </a:pPr>
              <a:r>
                <a:rPr lang="en-US" sz="1100" b="1" dirty="0">
                  <a:solidFill>
                    <a:schemeClr val="bg2">
                      <a:lumMod val="25000"/>
                    </a:schemeClr>
                  </a:solidFill>
                  <a:latin typeface="Times New Roman" panose="02020603050405020304" pitchFamily="18" charset="0"/>
                  <a:cs typeface="Times New Roman" panose="02020603050405020304" pitchFamily="18" charset="0"/>
                </a:rPr>
                <a:t>Dropout  (rate = 0.20)</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61" name="Text 59"/>
            <p:cNvSpPr/>
            <p:nvPr/>
          </p:nvSpPr>
          <p:spPr>
            <a:xfrm>
              <a:off x="3364992" y="3694176"/>
              <a:ext cx="2944368" cy="237744"/>
            </a:xfrm>
            <a:prstGeom prst="rect">
              <a:avLst/>
            </a:prstGeom>
            <a:grpFill/>
            <a:ln/>
          </p:spPr>
          <p:txBody>
            <a:bodyPr wrap="square" lIns="0" tIns="0" rIns="0" bIns="0" rtlCol="0" anchor="t"/>
            <a:lstStyle/>
            <a:p>
              <a:pPr marL="0" indent="0">
                <a:buNone/>
              </a:pPr>
              <a:r>
                <a:rPr lang="en-US" sz="1100" dirty="0">
                  <a:solidFill>
                    <a:schemeClr val="bg2">
                      <a:lumMod val="25000"/>
                    </a:schemeClr>
                  </a:solidFill>
                  <a:latin typeface="Times New Roman" panose="02020603050405020304" pitchFamily="18" charset="0"/>
                  <a:cs typeface="Times New Roman" panose="02020603050405020304" pitchFamily="18" charset="0"/>
                </a:rPr>
                <a:t>Second regularisation layer</a:t>
              </a:r>
            </a:p>
          </p:txBody>
        </p:sp>
        <p:sp>
          <p:nvSpPr>
            <p:cNvPr id="62" name="Text 60"/>
            <p:cNvSpPr/>
            <p:nvPr/>
          </p:nvSpPr>
          <p:spPr>
            <a:xfrm>
              <a:off x="4553712" y="3968496"/>
              <a:ext cx="548640" cy="118872"/>
            </a:xfrm>
            <a:prstGeom prst="rect">
              <a:avLst/>
            </a:prstGeom>
            <a:grpFill/>
            <a:ln/>
          </p:spPr>
          <p:txBody>
            <a:bodyPr wrap="square" lIns="0" tIns="0" rIns="0" bIns="0" rtlCol="0" anchor="ctr"/>
            <a:lstStyle/>
            <a:p>
              <a:pPr marL="0" indent="0" algn="ctr">
                <a:buNone/>
              </a:pPr>
              <a:r>
                <a:rPr lang="en-US" sz="1100" dirty="0">
                  <a:solidFill>
                    <a:schemeClr val="bg2">
                      <a:lumMod val="25000"/>
                    </a:schemeClr>
                  </a:solidFill>
                  <a:latin typeface="Times New Roman" panose="02020603050405020304" pitchFamily="18" charset="0"/>
                  <a:cs typeface="Times New Roman" panose="02020603050405020304" pitchFamily="18" charset="0"/>
                </a:rPr>
                <a:t>▼</a:t>
              </a:r>
            </a:p>
          </p:txBody>
        </p:sp>
        <p:sp>
          <p:nvSpPr>
            <p:cNvPr id="63" name="Shape 61"/>
            <p:cNvSpPr/>
            <p:nvPr/>
          </p:nvSpPr>
          <p:spPr>
            <a:xfrm>
              <a:off x="3273552" y="4069080"/>
              <a:ext cx="3108960" cy="502920"/>
            </a:xfrm>
            <a:prstGeom prst="rect">
              <a:avLst/>
            </a:prstGeom>
            <a:grpFill/>
            <a:ln w="15240">
              <a:solidFill>
                <a:schemeClr val="bg2">
                  <a:lumMod val="25000"/>
                </a:schemeClr>
              </a:solidFill>
              <a:prstDash val="solid"/>
            </a:ln>
            <a:effectLst>
              <a:outerShdw blurRad="63500" dist="12700" dir="8100000" algn="bl" rotWithShape="0">
                <a:srgbClr val="000000">
                  <a:alpha val="9000"/>
                </a:srgbClr>
              </a:outerShdw>
            </a:effectLst>
          </p:spPr>
          <p:txBody>
            <a:bodyPr/>
            <a:lstStyle/>
            <a:p>
              <a:endParaRPr lang="en-IN" sz="1100">
                <a:latin typeface="Times New Roman" panose="02020603050405020304" pitchFamily="18" charset="0"/>
                <a:cs typeface="Times New Roman" panose="02020603050405020304" pitchFamily="18" charset="0"/>
              </a:endParaRPr>
            </a:p>
          </p:txBody>
        </p:sp>
        <p:sp>
          <p:nvSpPr>
            <p:cNvPr id="64" name="Text 62"/>
            <p:cNvSpPr/>
            <p:nvPr/>
          </p:nvSpPr>
          <p:spPr>
            <a:xfrm>
              <a:off x="3364992" y="4105656"/>
              <a:ext cx="2944368" cy="201168"/>
            </a:xfrm>
            <a:prstGeom prst="rect">
              <a:avLst/>
            </a:prstGeom>
            <a:grpFill/>
            <a:ln/>
          </p:spPr>
          <p:txBody>
            <a:bodyPr wrap="square" lIns="0" tIns="0" rIns="0" bIns="0" rtlCol="0" anchor="ctr"/>
            <a:lstStyle/>
            <a:p>
              <a:pPr marL="0" indent="0">
                <a:buNone/>
              </a:pPr>
              <a:r>
                <a:rPr lang="en-US" sz="1100" b="1" dirty="0">
                  <a:solidFill>
                    <a:schemeClr val="bg2">
                      <a:lumMod val="25000"/>
                    </a:schemeClr>
                  </a:solidFill>
                  <a:latin typeface="Times New Roman" panose="02020603050405020304" pitchFamily="18" charset="0"/>
                  <a:cs typeface="Times New Roman" panose="02020603050405020304" pitchFamily="18" charset="0"/>
                </a:rPr>
                <a:t>Dense Output — 1 neuron</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65" name="Text 63"/>
            <p:cNvSpPr/>
            <p:nvPr/>
          </p:nvSpPr>
          <p:spPr>
            <a:xfrm>
              <a:off x="3364992" y="4306824"/>
              <a:ext cx="2944368" cy="237744"/>
            </a:xfrm>
            <a:prstGeom prst="rect">
              <a:avLst/>
            </a:prstGeom>
            <a:grpFill/>
            <a:ln/>
          </p:spPr>
          <p:txBody>
            <a:bodyPr wrap="square" lIns="0" tIns="0" rIns="0" bIns="0" rtlCol="0" anchor="t"/>
            <a:lstStyle/>
            <a:p>
              <a:pPr marL="0" indent="0">
                <a:buNone/>
              </a:pPr>
              <a:r>
                <a:rPr lang="en-US" sz="1100" dirty="0">
                  <a:solidFill>
                    <a:schemeClr val="bg2">
                      <a:lumMod val="25000"/>
                    </a:schemeClr>
                  </a:solidFill>
                  <a:latin typeface="Times New Roman" panose="02020603050405020304" pitchFamily="18" charset="0"/>
                  <a:cs typeface="Times New Roman" panose="02020603050405020304" pitchFamily="18" charset="0"/>
                </a:rPr>
                <a:t>Linear activation → outputs single daily inflow value (cusecs)</a:t>
              </a:r>
            </a:p>
          </p:txBody>
        </p:sp>
      </p:grpSp>
      <p:grpSp>
        <p:nvGrpSpPr>
          <p:cNvPr id="100" name="Group 99">
            <a:extLst>
              <a:ext uri="{FF2B5EF4-FFF2-40B4-BE49-F238E27FC236}">
                <a16:creationId xmlns:a16="http://schemas.microsoft.com/office/drawing/2014/main" id="{C4B870FA-07A9-E619-9DDF-D63CF86DE968}"/>
              </a:ext>
            </a:extLst>
          </p:cNvPr>
          <p:cNvGrpSpPr/>
          <p:nvPr/>
        </p:nvGrpSpPr>
        <p:grpSpPr>
          <a:xfrm>
            <a:off x="0" y="0"/>
            <a:ext cx="9144000" cy="713232"/>
            <a:chOff x="0" y="0"/>
            <a:chExt cx="9144000" cy="713232"/>
          </a:xfrm>
        </p:grpSpPr>
        <p:sp>
          <p:nvSpPr>
            <p:cNvPr id="101" name="Shape 0">
              <a:extLst>
                <a:ext uri="{FF2B5EF4-FFF2-40B4-BE49-F238E27FC236}">
                  <a16:creationId xmlns:a16="http://schemas.microsoft.com/office/drawing/2014/main" id="{B063976B-252B-480B-3826-52CA235AE923}"/>
                </a:ext>
              </a:extLst>
            </p:cNvPr>
            <p:cNvSpPr/>
            <p:nvPr/>
          </p:nvSpPr>
          <p:spPr>
            <a:xfrm>
              <a:off x="0" y="0"/>
              <a:ext cx="9144000" cy="658368"/>
            </a:xfrm>
            <a:prstGeom prst="rect">
              <a:avLst/>
            </a:prstGeom>
            <a:solidFill>
              <a:srgbClr val="0070C0"/>
            </a:solidFill>
            <a:ln w="12700">
              <a:solidFill>
                <a:srgbClr val="1E88E5"/>
              </a:solidFill>
              <a:prstDash val="solid"/>
            </a:ln>
          </p:spPr>
          <p:txBody>
            <a:bodyPr/>
            <a:lstStyle/>
            <a:p>
              <a:endParaRPr lang="en-IN"/>
            </a:p>
          </p:txBody>
        </p:sp>
        <p:sp>
          <p:nvSpPr>
            <p:cNvPr id="102" name="Shape 1">
              <a:extLst>
                <a:ext uri="{FF2B5EF4-FFF2-40B4-BE49-F238E27FC236}">
                  <a16:creationId xmlns:a16="http://schemas.microsoft.com/office/drawing/2014/main" id="{58C9C7EA-EEEF-F0D1-C698-7EA6A2CE40F9}"/>
                </a:ext>
              </a:extLst>
            </p:cNvPr>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103" name="Text 2">
              <a:extLst>
                <a:ext uri="{FF2B5EF4-FFF2-40B4-BE49-F238E27FC236}">
                  <a16:creationId xmlns:a16="http://schemas.microsoft.com/office/drawing/2014/main" id="{CCC3AC46-2E93-EFEE-46E6-F9604BB2FC10}"/>
                </a:ext>
              </a:extLst>
            </p:cNvPr>
            <p:cNvSpPr/>
            <p:nvPr/>
          </p:nvSpPr>
          <p:spPr>
            <a:xfrm>
              <a:off x="274320" y="0"/>
              <a:ext cx="8595360" cy="658368"/>
            </a:xfrm>
            <a:prstGeom prst="rect">
              <a:avLst/>
            </a:prstGeom>
            <a:noFill/>
            <a:ln/>
          </p:spPr>
          <p:txBody>
            <a:bodyPr wrap="square" lIns="0" tIns="0" rIns="0" bIns="0" rtlCol="0" anchor="ctr"/>
            <a:lstStyle/>
            <a:p>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06  |  </a:t>
              </a: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Methodology-</a:t>
              </a:r>
              <a:r>
                <a:rPr lang="en-US" sz="2400" b="1" dirty="0">
                  <a:solidFill>
                    <a:srgbClr val="FFFFFF"/>
                  </a:solidFill>
                  <a:latin typeface="Calibri" pitchFamily="34" charset="0"/>
                  <a:ea typeface="Calibri" pitchFamily="34" charset="-122"/>
                  <a:cs typeface="Calibri" pitchFamily="34" charset="-120"/>
                </a:rPr>
                <a:t> </a:t>
              </a: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LSTM</a:t>
              </a:r>
              <a:endParaRPr lang="en-US" sz="2400" dirty="0">
                <a:latin typeface="Times New Roman" panose="02020603050405020304" pitchFamily="18" charset="0"/>
                <a:cs typeface="Times New Roman" panose="02020603050405020304" pitchFamily="18" charset="0"/>
              </a:endParaRPr>
            </a:p>
          </p:txBody>
        </p:sp>
      </p:grpSp>
      <p:sp>
        <p:nvSpPr>
          <p:cNvPr id="107" name="TextBox 106">
            <a:extLst>
              <a:ext uri="{FF2B5EF4-FFF2-40B4-BE49-F238E27FC236}">
                <a16:creationId xmlns:a16="http://schemas.microsoft.com/office/drawing/2014/main" id="{232880AE-F310-3DE4-6574-28E8E72994E7}"/>
              </a:ext>
            </a:extLst>
          </p:cNvPr>
          <p:cNvSpPr txBox="1"/>
          <p:nvPr/>
        </p:nvSpPr>
        <p:spPr>
          <a:xfrm>
            <a:off x="8684005" y="4780950"/>
            <a:ext cx="350994"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10</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6267FF81-8114-2534-7C85-FB76E3FDE0C6}"/>
              </a:ext>
            </a:extLst>
          </p:cNvPr>
          <p:cNvGrpSpPr/>
          <p:nvPr/>
        </p:nvGrpSpPr>
        <p:grpSpPr>
          <a:xfrm>
            <a:off x="0" y="0"/>
            <a:ext cx="9144000" cy="713232"/>
            <a:chOff x="0" y="0"/>
            <a:chExt cx="9144000" cy="713232"/>
          </a:xfrm>
        </p:grpSpPr>
        <p:sp>
          <p:nvSpPr>
            <p:cNvPr id="7" name="Shape 0">
              <a:extLst>
                <a:ext uri="{FF2B5EF4-FFF2-40B4-BE49-F238E27FC236}">
                  <a16:creationId xmlns:a16="http://schemas.microsoft.com/office/drawing/2014/main" id="{916036BC-C995-69B5-B89D-9DD069138F38}"/>
                </a:ext>
              </a:extLst>
            </p:cNvPr>
            <p:cNvSpPr/>
            <p:nvPr/>
          </p:nvSpPr>
          <p:spPr>
            <a:xfrm>
              <a:off x="0" y="0"/>
              <a:ext cx="9144000" cy="658368"/>
            </a:xfrm>
            <a:prstGeom prst="rect">
              <a:avLst/>
            </a:prstGeom>
            <a:solidFill>
              <a:srgbClr val="0070C0"/>
            </a:solidFill>
            <a:ln w="12700">
              <a:solidFill>
                <a:srgbClr val="1E88E5"/>
              </a:solidFill>
              <a:prstDash val="solid"/>
            </a:ln>
          </p:spPr>
          <p:txBody>
            <a:bodyPr/>
            <a:lstStyle/>
            <a:p>
              <a:endParaRPr lang="en-IN"/>
            </a:p>
          </p:txBody>
        </p:sp>
        <p:sp>
          <p:nvSpPr>
            <p:cNvPr id="8" name="Shape 1">
              <a:extLst>
                <a:ext uri="{FF2B5EF4-FFF2-40B4-BE49-F238E27FC236}">
                  <a16:creationId xmlns:a16="http://schemas.microsoft.com/office/drawing/2014/main" id="{400F5957-F540-0199-1333-9D28368A3BC9}"/>
                </a:ext>
              </a:extLst>
            </p:cNvPr>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9" name="Text 2">
              <a:extLst>
                <a:ext uri="{FF2B5EF4-FFF2-40B4-BE49-F238E27FC236}">
                  <a16:creationId xmlns:a16="http://schemas.microsoft.com/office/drawing/2014/main" id="{E1EEAAF5-29A0-7883-E292-85FAF2E979DD}"/>
                </a:ext>
              </a:extLst>
            </p:cNvPr>
            <p:cNvSpPr/>
            <p:nvPr/>
          </p:nvSpPr>
          <p:spPr>
            <a:xfrm>
              <a:off x="274320" y="0"/>
              <a:ext cx="8595360" cy="658368"/>
            </a:xfrm>
            <a:prstGeom prst="rect">
              <a:avLst/>
            </a:prstGeom>
            <a:noFill/>
            <a:ln/>
          </p:spPr>
          <p:txBody>
            <a:bodyPr wrap="square" lIns="0" tIns="0" rIns="0" bIns="0" rtlCol="0" anchor="ctr"/>
            <a:lstStyle/>
            <a:p>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06  |  </a:t>
              </a: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Methodology- Genetic Programming (GP)</a:t>
              </a:r>
              <a:endParaRPr lang="en-US" sz="2400" dirty="0">
                <a:latin typeface="Times New Roman" panose="02020603050405020304" pitchFamily="18" charset="0"/>
                <a:cs typeface="Times New Roman" panose="02020603050405020304" pitchFamily="18" charset="0"/>
              </a:endParaRPr>
            </a:p>
          </p:txBody>
        </p:sp>
      </p:grpSp>
      <p:pic>
        <p:nvPicPr>
          <p:cNvPr id="78" name="Picture 77">
            <a:extLst>
              <a:ext uri="{FF2B5EF4-FFF2-40B4-BE49-F238E27FC236}">
                <a16:creationId xmlns:a16="http://schemas.microsoft.com/office/drawing/2014/main" id="{3D166CAE-86AD-969A-B1B9-D61D69C9400D}"/>
              </a:ext>
            </a:extLst>
          </p:cNvPr>
          <p:cNvPicPr>
            <a:picLocks noChangeAspect="1"/>
          </p:cNvPicPr>
          <p:nvPr/>
        </p:nvPicPr>
        <p:blipFill>
          <a:blip r:embed="rId2"/>
          <a:srcRect l="861" t="4849" r="53642"/>
          <a:stretch>
            <a:fillRect/>
          </a:stretch>
        </p:blipFill>
        <p:spPr>
          <a:xfrm>
            <a:off x="274320" y="814786"/>
            <a:ext cx="4052872" cy="4073912"/>
          </a:xfrm>
          <a:prstGeom prst="rect">
            <a:avLst/>
          </a:prstGeom>
        </p:spPr>
      </p:pic>
      <p:grpSp>
        <p:nvGrpSpPr>
          <p:cNvPr id="79" name="Group 78">
            <a:extLst>
              <a:ext uri="{FF2B5EF4-FFF2-40B4-BE49-F238E27FC236}">
                <a16:creationId xmlns:a16="http://schemas.microsoft.com/office/drawing/2014/main" id="{323FA9D3-4BBB-EBEA-4DF4-483FF8F4A46B}"/>
              </a:ext>
            </a:extLst>
          </p:cNvPr>
          <p:cNvGrpSpPr/>
          <p:nvPr/>
        </p:nvGrpSpPr>
        <p:grpSpPr>
          <a:xfrm>
            <a:off x="4533707" y="877693"/>
            <a:ext cx="4315968" cy="3836816"/>
            <a:chOff x="4617720" y="960120"/>
            <a:chExt cx="4315968" cy="3836816"/>
          </a:xfrm>
        </p:grpSpPr>
        <p:sp>
          <p:nvSpPr>
            <p:cNvPr id="80" name="Shape 38">
              <a:extLst>
                <a:ext uri="{FF2B5EF4-FFF2-40B4-BE49-F238E27FC236}">
                  <a16:creationId xmlns:a16="http://schemas.microsoft.com/office/drawing/2014/main" id="{2A58C985-58A6-3224-280B-9D2BDF1D3D1F}"/>
                </a:ext>
              </a:extLst>
            </p:cNvPr>
            <p:cNvSpPr/>
            <p:nvPr/>
          </p:nvSpPr>
          <p:spPr>
            <a:xfrm>
              <a:off x="4617720" y="960120"/>
              <a:ext cx="4315968" cy="256032"/>
            </a:xfrm>
            <a:prstGeom prst="rect">
              <a:avLst/>
            </a:prstGeom>
            <a:solidFill>
              <a:schemeClr val="bg2">
                <a:lumMod val="25000"/>
              </a:schemeClr>
            </a:solidFill>
            <a:ln w="12700">
              <a:solidFill>
                <a:srgbClr val="1A5C3A"/>
              </a:solidFill>
              <a:prstDash val="solid"/>
            </a:ln>
          </p:spPr>
          <p:txBody>
            <a:bodyPr/>
            <a:lstStyle/>
            <a:p>
              <a:endParaRPr lang="en-IN" sz="1100" dirty="0">
                <a:latin typeface="Times New Roman" panose="02020603050405020304" pitchFamily="18" charset="0"/>
                <a:cs typeface="Times New Roman" panose="02020603050405020304" pitchFamily="18" charset="0"/>
              </a:endParaRPr>
            </a:p>
          </p:txBody>
        </p:sp>
        <p:sp>
          <p:nvSpPr>
            <p:cNvPr id="81" name="Text 39">
              <a:extLst>
                <a:ext uri="{FF2B5EF4-FFF2-40B4-BE49-F238E27FC236}">
                  <a16:creationId xmlns:a16="http://schemas.microsoft.com/office/drawing/2014/main" id="{C2B55851-8B10-7135-5FEB-18D843D5EF1F}"/>
                </a:ext>
              </a:extLst>
            </p:cNvPr>
            <p:cNvSpPr/>
            <p:nvPr/>
          </p:nvSpPr>
          <p:spPr>
            <a:xfrm>
              <a:off x="4709160" y="960120"/>
              <a:ext cx="4133088" cy="256032"/>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62 Engineered Features (each lagged t−1 to t−5)</a:t>
              </a:r>
              <a:endParaRPr lang="en-US" sz="1100" dirty="0">
                <a:latin typeface="Times New Roman" panose="02020603050405020304" pitchFamily="18" charset="0"/>
                <a:cs typeface="Times New Roman" panose="02020603050405020304" pitchFamily="18" charset="0"/>
              </a:endParaRPr>
            </a:p>
          </p:txBody>
        </p:sp>
        <p:sp>
          <p:nvSpPr>
            <p:cNvPr id="82" name="Shape 40">
              <a:extLst>
                <a:ext uri="{FF2B5EF4-FFF2-40B4-BE49-F238E27FC236}">
                  <a16:creationId xmlns:a16="http://schemas.microsoft.com/office/drawing/2014/main" id="{C550240D-38DF-CF17-1BD8-507A8D3E1062}"/>
                </a:ext>
              </a:extLst>
            </p:cNvPr>
            <p:cNvSpPr/>
            <p:nvPr/>
          </p:nvSpPr>
          <p:spPr>
            <a:xfrm>
              <a:off x="4617720" y="1243584"/>
              <a:ext cx="4315968" cy="329184"/>
            </a:xfrm>
            <a:prstGeom prst="rect">
              <a:avLst/>
            </a:prstGeom>
            <a:solidFill>
              <a:schemeClr val="accent1">
                <a:lumMod val="20000"/>
                <a:lumOff val="80000"/>
              </a:schemeClr>
            </a:solidFill>
            <a:ln w="12700">
              <a:solidFill>
                <a:srgbClr val="C0CCC0"/>
              </a:solidFill>
              <a:prstDash val="solid"/>
            </a:ln>
          </p:spPr>
          <p:txBody>
            <a:bodyPr/>
            <a:lstStyle/>
            <a:p>
              <a:endParaRPr lang="en-IN">
                <a:solidFill>
                  <a:schemeClr val="bg2"/>
                </a:solidFill>
              </a:endParaRPr>
            </a:p>
          </p:txBody>
        </p:sp>
        <p:sp>
          <p:nvSpPr>
            <p:cNvPr id="83" name="Text 41">
              <a:extLst>
                <a:ext uri="{FF2B5EF4-FFF2-40B4-BE49-F238E27FC236}">
                  <a16:creationId xmlns:a16="http://schemas.microsoft.com/office/drawing/2014/main" id="{29C8668F-8CDB-E2B8-DB07-C1472741978E}"/>
                </a:ext>
              </a:extLst>
            </p:cNvPr>
            <p:cNvSpPr/>
            <p:nvPr/>
          </p:nvSpPr>
          <p:spPr>
            <a:xfrm>
              <a:off x="4681728" y="1243584"/>
              <a:ext cx="1444752" cy="329184"/>
            </a:xfrm>
            <a:prstGeom prst="rect">
              <a:avLst/>
            </a:prstGeom>
            <a:noFill/>
            <a:ln/>
          </p:spPr>
          <p:txBody>
            <a:bodyPr wrap="square" lIns="0" tIns="0" rIns="0" bIns="0" rtlCol="0" anchor="ctr"/>
            <a:lstStyle/>
            <a:p>
              <a:pPr marL="0" indent="0">
                <a:buNone/>
              </a:pPr>
              <a:r>
                <a:rPr lang="en-US" sz="1100" b="1"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Basin Avg Rainfall</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84" name="Text 42">
              <a:extLst>
                <a:ext uri="{FF2B5EF4-FFF2-40B4-BE49-F238E27FC236}">
                  <a16:creationId xmlns:a16="http://schemas.microsoft.com/office/drawing/2014/main" id="{1A1D1038-582D-615F-A1D5-EB40AC37E049}"/>
                </a:ext>
              </a:extLst>
            </p:cNvPr>
            <p:cNvSpPr/>
            <p:nvPr/>
          </p:nvSpPr>
          <p:spPr>
            <a:xfrm>
              <a:off x="6144768" y="1243584"/>
              <a:ext cx="2724912" cy="329184"/>
            </a:xfrm>
            <a:prstGeom prst="rect">
              <a:avLst/>
            </a:prstGeom>
            <a:noFill/>
            <a:ln/>
          </p:spPr>
          <p:txBody>
            <a:bodyPr wrap="square" lIns="0" tIns="0" rIns="0" bIns="0" rtlCol="0" anchor="ctr"/>
            <a:lstStyle/>
            <a:p>
              <a:pPr marL="0" indent="0">
                <a:buNone/>
              </a:pPr>
              <a:r>
                <a:rPr lang="en-US" sz="11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Spatially averaged rainfall across all 49 stations for each day</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85" name="Shape 43">
              <a:extLst>
                <a:ext uri="{FF2B5EF4-FFF2-40B4-BE49-F238E27FC236}">
                  <a16:creationId xmlns:a16="http://schemas.microsoft.com/office/drawing/2014/main" id="{4150C5CA-31DE-AF3C-565A-8E46655AC020}"/>
                </a:ext>
              </a:extLst>
            </p:cNvPr>
            <p:cNvSpPr/>
            <p:nvPr/>
          </p:nvSpPr>
          <p:spPr>
            <a:xfrm>
              <a:off x="4617720" y="1595628"/>
              <a:ext cx="4315968" cy="329184"/>
            </a:xfrm>
            <a:prstGeom prst="rect">
              <a:avLst/>
            </a:prstGeom>
            <a:solidFill>
              <a:srgbClr val="FFFFFF"/>
            </a:solidFill>
            <a:ln w="12700">
              <a:solidFill>
                <a:srgbClr val="C0CCC0"/>
              </a:solidFill>
              <a:prstDash val="solid"/>
            </a:ln>
          </p:spPr>
          <p:txBody>
            <a:bodyPr/>
            <a:lstStyle/>
            <a:p>
              <a:endParaRPr lang="en-IN"/>
            </a:p>
          </p:txBody>
        </p:sp>
        <p:sp>
          <p:nvSpPr>
            <p:cNvPr id="86" name="Text 44">
              <a:extLst>
                <a:ext uri="{FF2B5EF4-FFF2-40B4-BE49-F238E27FC236}">
                  <a16:creationId xmlns:a16="http://schemas.microsoft.com/office/drawing/2014/main" id="{AAD736B5-57B2-83C3-FDA8-CB36CBB87C8F}"/>
                </a:ext>
              </a:extLst>
            </p:cNvPr>
            <p:cNvSpPr/>
            <p:nvPr/>
          </p:nvSpPr>
          <p:spPr>
            <a:xfrm>
              <a:off x="4681728" y="1595628"/>
              <a:ext cx="1444752" cy="329184"/>
            </a:xfrm>
            <a:prstGeom prst="rect">
              <a:avLst/>
            </a:prstGeom>
            <a:noFill/>
            <a:ln/>
          </p:spPr>
          <p:txBody>
            <a:bodyPr wrap="square" lIns="0" tIns="0" rIns="0" bIns="0" rtlCol="0" anchor="ctr"/>
            <a:lstStyle/>
            <a:p>
              <a:pPr marL="0" indent="0">
                <a:buNone/>
              </a:pPr>
              <a:r>
                <a:rPr lang="en-US" sz="1100" b="1"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Rain3, Rain5, Rain7</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87" name="Text 45">
              <a:extLst>
                <a:ext uri="{FF2B5EF4-FFF2-40B4-BE49-F238E27FC236}">
                  <a16:creationId xmlns:a16="http://schemas.microsoft.com/office/drawing/2014/main" id="{34A197A4-6379-4498-0AB9-9AC76E3C4244}"/>
                </a:ext>
              </a:extLst>
            </p:cNvPr>
            <p:cNvSpPr/>
            <p:nvPr/>
          </p:nvSpPr>
          <p:spPr>
            <a:xfrm>
              <a:off x="6144768" y="1595628"/>
              <a:ext cx="2724912" cy="329184"/>
            </a:xfrm>
            <a:prstGeom prst="rect">
              <a:avLst/>
            </a:prstGeom>
            <a:noFill/>
            <a:ln/>
          </p:spPr>
          <p:txBody>
            <a:bodyPr wrap="square" lIns="0" tIns="0" rIns="0" bIns="0" rtlCol="0" anchor="ctr"/>
            <a:lstStyle/>
            <a:p>
              <a:pPr marL="0" indent="0">
                <a:buNone/>
              </a:pPr>
              <a:r>
                <a:rPr lang="en-US" sz="11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Cumulative accumulated rainfall over past 3, 5, and 7 days</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88" name="Shape 46">
              <a:extLst>
                <a:ext uri="{FF2B5EF4-FFF2-40B4-BE49-F238E27FC236}">
                  <a16:creationId xmlns:a16="http://schemas.microsoft.com/office/drawing/2014/main" id="{92F4F0F7-0FA1-5B60-1D1F-9BEA937020B6}"/>
                </a:ext>
              </a:extLst>
            </p:cNvPr>
            <p:cNvSpPr/>
            <p:nvPr/>
          </p:nvSpPr>
          <p:spPr>
            <a:xfrm>
              <a:off x="4617720" y="1947672"/>
              <a:ext cx="4315968" cy="329184"/>
            </a:xfrm>
            <a:prstGeom prst="rect">
              <a:avLst/>
            </a:prstGeom>
            <a:solidFill>
              <a:schemeClr val="accent1">
                <a:lumMod val="20000"/>
                <a:lumOff val="80000"/>
              </a:schemeClr>
            </a:solidFill>
            <a:ln w="12700">
              <a:solidFill>
                <a:srgbClr val="C0CCC0"/>
              </a:solidFill>
              <a:prstDash val="solid"/>
            </a:ln>
          </p:spPr>
          <p:txBody>
            <a:bodyPr/>
            <a:lstStyle/>
            <a:p>
              <a:endParaRPr lang="en-IN"/>
            </a:p>
          </p:txBody>
        </p:sp>
        <p:sp>
          <p:nvSpPr>
            <p:cNvPr id="89" name="Text 47">
              <a:extLst>
                <a:ext uri="{FF2B5EF4-FFF2-40B4-BE49-F238E27FC236}">
                  <a16:creationId xmlns:a16="http://schemas.microsoft.com/office/drawing/2014/main" id="{A22D7F9C-A92B-3783-DC55-57BDC0E6C753}"/>
                </a:ext>
              </a:extLst>
            </p:cNvPr>
            <p:cNvSpPr/>
            <p:nvPr/>
          </p:nvSpPr>
          <p:spPr>
            <a:xfrm>
              <a:off x="4681728" y="1947672"/>
              <a:ext cx="1444752" cy="329184"/>
            </a:xfrm>
            <a:prstGeom prst="rect">
              <a:avLst/>
            </a:prstGeom>
            <a:noFill/>
            <a:ln/>
          </p:spPr>
          <p:txBody>
            <a:bodyPr wrap="square" lIns="0" tIns="0" rIns="0" bIns="0" rtlCol="0" anchor="ctr"/>
            <a:lstStyle/>
            <a:p>
              <a:pPr marL="0" indent="0">
                <a:buNone/>
              </a:pPr>
              <a:r>
                <a:rPr lang="en-US" sz="1100" b="1"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RainMax</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90" name="Text 48">
              <a:extLst>
                <a:ext uri="{FF2B5EF4-FFF2-40B4-BE49-F238E27FC236}">
                  <a16:creationId xmlns:a16="http://schemas.microsoft.com/office/drawing/2014/main" id="{F9BEE2D9-0E6F-8FE4-A530-18C2B1E99394}"/>
                </a:ext>
              </a:extLst>
            </p:cNvPr>
            <p:cNvSpPr/>
            <p:nvPr/>
          </p:nvSpPr>
          <p:spPr>
            <a:xfrm>
              <a:off x="6144768" y="1947672"/>
              <a:ext cx="2724912" cy="329184"/>
            </a:xfrm>
            <a:prstGeom prst="rect">
              <a:avLst/>
            </a:prstGeom>
            <a:noFill/>
            <a:ln/>
          </p:spPr>
          <p:txBody>
            <a:bodyPr wrap="square" lIns="0" tIns="0" rIns="0" bIns="0" rtlCol="0" anchor="ctr"/>
            <a:lstStyle/>
            <a:p>
              <a:pPr marL="0" indent="0">
                <a:buNone/>
              </a:pPr>
              <a:r>
                <a:rPr lang="en-US" sz="11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Maximum rainfall recorded at any single station on that day</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91" name="Shape 49">
              <a:extLst>
                <a:ext uri="{FF2B5EF4-FFF2-40B4-BE49-F238E27FC236}">
                  <a16:creationId xmlns:a16="http://schemas.microsoft.com/office/drawing/2014/main" id="{1CEC6B24-C618-A87C-1D07-6CF997450B1A}"/>
                </a:ext>
              </a:extLst>
            </p:cNvPr>
            <p:cNvSpPr/>
            <p:nvPr/>
          </p:nvSpPr>
          <p:spPr>
            <a:xfrm>
              <a:off x="4617720" y="2299716"/>
              <a:ext cx="4315968" cy="329184"/>
            </a:xfrm>
            <a:prstGeom prst="rect">
              <a:avLst/>
            </a:prstGeom>
            <a:solidFill>
              <a:srgbClr val="FFFFFF"/>
            </a:solidFill>
            <a:ln w="12700">
              <a:solidFill>
                <a:srgbClr val="C0CCC0"/>
              </a:solidFill>
              <a:prstDash val="solid"/>
            </a:ln>
          </p:spPr>
          <p:txBody>
            <a:bodyPr/>
            <a:lstStyle/>
            <a:p>
              <a:endParaRPr lang="en-IN"/>
            </a:p>
          </p:txBody>
        </p:sp>
        <p:sp>
          <p:nvSpPr>
            <p:cNvPr id="92" name="Text 50">
              <a:extLst>
                <a:ext uri="{FF2B5EF4-FFF2-40B4-BE49-F238E27FC236}">
                  <a16:creationId xmlns:a16="http://schemas.microsoft.com/office/drawing/2014/main" id="{6A81C0A7-92C4-A39A-035E-D669B70AFFBB}"/>
                </a:ext>
              </a:extLst>
            </p:cNvPr>
            <p:cNvSpPr/>
            <p:nvPr/>
          </p:nvSpPr>
          <p:spPr>
            <a:xfrm>
              <a:off x="4681728" y="2299716"/>
              <a:ext cx="1444752" cy="329184"/>
            </a:xfrm>
            <a:prstGeom prst="rect">
              <a:avLst/>
            </a:prstGeom>
            <a:noFill/>
            <a:ln/>
          </p:spPr>
          <p:txBody>
            <a:bodyPr wrap="square" lIns="0" tIns="0" rIns="0" bIns="0" rtlCol="0" anchor="ctr"/>
            <a:lstStyle/>
            <a:p>
              <a:pPr marL="0" indent="0">
                <a:buNone/>
              </a:pPr>
              <a:r>
                <a:rPr lang="en-US" sz="1100" b="1"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RainStd</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93" name="Text 51">
              <a:extLst>
                <a:ext uri="{FF2B5EF4-FFF2-40B4-BE49-F238E27FC236}">
                  <a16:creationId xmlns:a16="http://schemas.microsoft.com/office/drawing/2014/main" id="{B51E140B-99D3-97EF-9BFB-A0F75ED35C6D}"/>
                </a:ext>
              </a:extLst>
            </p:cNvPr>
            <p:cNvSpPr/>
            <p:nvPr/>
          </p:nvSpPr>
          <p:spPr>
            <a:xfrm>
              <a:off x="6144768" y="2299716"/>
              <a:ext cx="2724912" cy="329184"/>
            </a:xfrm>
            <a:prstGeom prst="rect">
              <a:avLst/>
            </a:prstGeom>
            <a:noFill/>
            <a:ln/>
          </p:spPr>
          <p:txBody>
            <a:bodyPr wrap="square" lIns="0" tIns="0" rIns="0" bIns="0" rtlCol="0" anchor="ctr"/>
            <a:lstStyle/>
            <a:p>
              <a:pPr marL="0" indent="0">
                <a:buNone/>
              </a:pPr>
              <a:r>
                <a:rPr lang="en-US" sz="11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Spatial standard deviation of rainfall across all 49 stations</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94" name="Shape 52">
              <a:extLst>
                <a:ext uri="{FF2B5EF4-FFF2-40B4-BE49-F238E27FC236}">
                  <a16:creationId xmlns:a16="http://schemas.microsoft.com/office/drawing/2014/main" id="{6C48DBC3-D65D-2025-4A9E-3D50D79866F6}"/>
                </a:ext>
              </a:extLst>
            </p:cNvPr>
            <p:cNvSpPr/>
            <p:nvPr/>
          </p:nvSpPr>
          <p:spPr>
            <a:xfrm>
              <a:off x="4617720" y="2651760"/>
              <a:ext cx="4315968" cy="329184"/>
            </a:xfrm>
            <a:prstGeom prst="rect">
              <a:avLst/>
            </a:prstGeom>
            <a:solidFill>
              <a:schemeClr val="accent1">
                <a:lumMod val="20000"/>
                <a:lumOff val="80000"/>
              </a:schemeClr>
            </a:solidFill>
            <a:ln w="12700">
              <a:solidFill>
                <a:srgbClr val="C0CCC0"/>
              </a:solidFill>
              <a:prstDash val="solid"/>
            </a:ln>
          </p:spPr>
          <p:txBody>
            <a:bodyPr/>
            <a:lstStyle/>
            <a:p>
              <a:endParaRPr lang="en-IN"/>
            </a:p>
          </p:txBody>
        </p:sp>
        <p:sp>
          <p:nvSpPr>
            <p:cNvPr id="95" name="Text 53">
              <a:extLst>
                <a:ext uri="{FF2B5EF4-FFF2-40B4-BE49-F238E27FC236}">
                  <a16:creationId xmlns:a16="http://schemas.microsoft.com/office/drawing/2014/main" id="{AA51A71F-11B3-32D2-6DD9-D32AA343A2F5}"/>
                </a:ext>
              </a:extLst>
            </p:cNvPr>
            <p:cNvSpPr/>
            <p:nvPr/>
          </p:nvSpPr>
          <p:spPr>
            <a:xfrm>
              <a:off x="4681728" y="2651760"/>
              <a:ext cx="1444752" cy="329184"/>
            </a:xfrm>
            <a:prstGeom prst="rect">
              <a:avLst/>
            </a:prstGeom>
            <a:noFill/>
            <a:ln/>
          </p:spPr>
          <p:txBody>
            <a:bodyPr wrap="square" lIns="0" tIns="0" rIns="0" bIns="0" rtlCol="0" anchor="ctr"/>
            <a:lstStyle/>
            <a:p>
              <a:pPr marL="0" indent="0">
                <a:buNone/>
              </a:pPr>
              <a:r>
                <a:rPr lang="en-US" sz="1100" b="1"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WetDays</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96" name="Text 54">
              <a:extLst>
                <a:ext uri="{FF2B5EF4-FFF2-40B4-BE49-F238E27FC236}">
                  <a16:creationId xmlns:a16="http://schemas.microsoft.com/office/drawing/2014/main" id="{87A6F13F-DBB6-431B-779C-560B112F3C50}"/>
                </a:ext>
              </a:extLst>
            </p:cNvPr>
            <p:cNvSpPr/>
            <p:nvPr/>
          </p:nvSpPr>
          <p:spPr>
            <a:xfrm>
              <a:off x="6144768" y="2651760"/>
              <a:ext cx="2724912" cy="329184"/>
            </a:xfrm>
            <a:prstGeom prst="rect">
              <a:avLst/>
            </a:prstGeom>
            <a:noFill/>
            <a:ln/>
          </p:spPr>
          <p:txBody>
            <a:bodyPr wrap="square" lIns="0" tIns="0" rIns="0" bIns="0" rtlCol="0" anchor="ctr"/>
            <a:lstStyle/>
            <a:p>
              <a:pPr marL="0" indent="0">
                <a:buNone/>
              </a:pPr>
              <a:r>
                <a:rPr lang="en-US" sz="11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Count of stations recording &gt;1 mm rainfall on that day</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97" name="Shape 55">
              <a:extLst>
                <a:ext uri="{FF2B5EF4-FFF2-40B4-BE49-F238E27FC236}">
                  <a16:creationId xmlns:a16="http://schemas.microsoft.com/office/drawing/2014/main" id="{97B9BF09-8A95-1478-B6A4-510508BBC2AF}"/>
                </a:ext>
              </a:extLst>
            </p:cNvPr>
            <p:cNvSpPr/>
            <p:nvPr/>
          </p:nvSpPr>
          <p:spPr>
            <a:xfrm>
              <a:off x="4617720" y="3003804"/>
              <a:ext cx="4315968" cy="329184"/>
            </a:xfrm>
            <a:prstGeom prst="rect">
              <a:avLst/>
            </a:prstGeom>
            <a:solidFill>
              <a:srgbClr val="FFFFFF"/>
            </a:solidFill>
            <a:ln w="12700">
              <a:solidFill>
                <a:srgbClr val="C0CCC0"/>
              </a:solidFill>
              <a:prstDash val="solid"/>
            </a:ln>
          </p:spPr>
          <p:txBody>
            <a:bodyPr/>
            <a:lstStyle/>
            <a:p>
              <a:endParaRPr lang="en-IN"/>
            </a:p>
          </p:txBody>
        </p:sp>
        <p:sp>
          <p:nvSpPr>
            <p:cNvPr id="98" name="Text 56">
              <a:extLst>
                <a:ext uri="{FF2B5EF4-FFF2-40B4-BE49-F238E27FC236}">
                  <a16:creationId xmlns:a16="http://schemas.microsoft.com/office/drawing/2014/main" id="{69A4DE91-420D-F767-1EA7-CF9C5EA8CE52}"/>
                </a:ext>
              </a:extLst>
            </p:cNvPr>
            <p:cNvSpPr/>
            <p:nvPr/>
          </p:nvSpPr>
          <p:spPr>
            <a:xfrm>
              <a:off x="4681728" y="3003804"/>
              <a:ext cx="1444752" cy="329184"/>
            </a:xfrm>
            <a:prstGeom prst="rect">
              <a:avLst/>
            </a:prstGeom>
            <a:noFill/>
            <a:ln/>
          </p:spPr>
          <p:txBody>
            <a:bodyPr wrap="square" lIns="0" tIns="0" rIns="0" bIns="0" rtlCol="0" anchor="ctr"/>
            <a:lstStyle/>
            <a:p>
              <a:pPr marL="0" indent="0">
                <a:buNone/>
              </a:pPr>
              <a:r>
                <a:rPr lang="en-US" sz="1100" b="1"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AMI (Antecedent Moisture)</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99" name="Text 57">
              <a:extLst>
                <a:ext uri="{FF2B5EF4-FFF2-40B4-BE49-F238E27FC236}">
                  <a16:creationId xmlns:a16="http://schemas.microsoft.com/office/drawing/2014/main" id="{64CC3500-4C79-360A-1F98-49B6B5D0A4B6}"/>
                </a:ext>
              </a:extLst>
            </p:cNvPr>
            <p:cNvSpPr/>
            <p:nvPr/>
          </p:nvSpPr>
          <p:spPr>
            <a:xfrm>
              <a:off x="6144768" y="3003804"/>
              <a:ext cx="2724912" cy="329184"/>
            </a:xfrm>
            <a:prstGeom prst="rect">
              <a:avLst/>
            </a:prstGeom>
            <a:noFill/>
            <a:ln/>
          </p:spPr>
          <p:txBody>
            <a:bodyPr wrap="square" lIns="0" tIns="0" rIns="0" bIns="0" rtlCol="0" anchor="ctr"/>
            <a:lstStyle/>
            <a:p>
              <a:pPr marL="0" indent="0">
                <a:buNone/>
              </a:pPr>
              <a:r>
                <a:rPr lang="en-US" sz="11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Exponential decay moisture index: AMIₜ = k×AMIₜ₋₁ + Rₜ₋₁</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00" name="Shape 58">
              <a:extLst>
                <a:ext uri="{FF2B5EF4-FFF2-40B4-BE49-F238E27FC236}">
                  <a16:creationId xmlns:a16="http://schemas.microsoft.com/office/drawing/2014/main" id="{BB96EE0B-AD0C-F3DA-B3ED-3B124337F5AE}"/>
                </a:ext>
              </a:extLst>
            </p:cNvPr>
            <p:cNvSpPr/>
            <p:nvPr/>
          </p:nvSpPr>
          <p:spPr>
            <a:xfrm>
              <a:off x="4617720" y="3355848"/>
              <a:ext cx="4315968" cy="329184"/>
            </a:xfrm>
            <a:prstGeom prst="rect">
              <a:avLst/>
            </a:prstGeom>
            <a:solidFill>
              <a:schemeClr val="accent1">
                <a:lumMod val="20000"/>
                <a:lumOff val="80000"/>
              </a:schemeClr>
            </a:solidFill>
            <a:ln w="12700">
              <a:solidFill>
                <a:srgbClr val="C0CCC0"/>
              </a:solidFill>
              <a:prstDash val="solid"/>
            </a:ln>
          </p:spPr>
          <p:txBody>
            <a:bodyPr/>
            <a:lstStyle/>
            <a:p>
              <a:endParaRPr lang="en-IN"/>
            </a:p>
          </p:txBody>
        </p:sp>
        <p:sp>
          <p:nvSpPr>
            <p:cNvPr id="101" name="Text 59">
              <a:extLst>
                <a:ext uri="{FF2B5EF4-FFF2-40B4-BE49-F238E27FC236}">
                  <a16:creationId xmlns:a16="http://schemas.microsoft.com/office/drawing/2014/main" id="{39B26D9D-470D-C63F-800C-BB387390B5A4}"/>
                </a:ext>
              </a:extLst>
            </p:cNvPr>
            <p:cNvSpPr/>
            <p:nvPr/>
          </p:nvSpPr>
          <p:spPr>
            <a:xfrm>
              <a:off x="4681728" y="3355848"/>
              <a:ext cx="1444752" cy="329184"/>
            </a:xfrm>
            <a:prstGeom prst="rect">
              <a:avLst/>
            </a:prstGeom>
            <a:noFill/>
            <a:ln/>
          </p:spPr>
          <p:txBody>
            <a:bodyPr wrap="square" lIns="0" tIns="0" rIns="0" bIns="0" rtlCol="0" anchor="ctr"/>
            <a:lstStyle/>
            <a:p>
              <a:pPr marL="0" indent="0">
                <a:buNone/>
              </a:pPr>
              <a:r>
                <a:rPr lang="en-US" sz="1100" b="1"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RainAnom</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02" name="Text 60">
              <a:extLst>
                <a:ext uri="{FF2B5EF4-FFF2-40B4-BE49-F238E27FC236}">
                  <a16:creationId xmlns:a16="http://schemas.microsoft.com/office/drawing/2014/main" id="{412C9A15-2939-6F21-400E-D2C6BEC74CD7}"/>
                </a:ext>
              </a:extLst>
            </p:cNvPr>
            <p:cNvSpPr/>
            <p:nvPr/>
          </p:nvSpPr>
          <p:spPr>
            <a:xfrm>
              <a:off x="6144768" y="3355848"/>
              <a:ext cx="2724912" cy="329184"/>
            </a:xfrm>
            <a:prstGeom prst="rect">
              <a:avLst/>
            </a:prstGeom>
            <a:noFill/>
            <a:ln/>
          </p:spPr>
          <p:txBody>
            <a:bodyPr wrap="square" lIns="0" tIns="0" rIns="0" bIns="0" rtlCol="0" anchor="ctr"/>
            <a:lstStyle/>
            <a:p>
              <a:pPr marL="0" indent="0">
                <a:buNone/>
              </a:pPr>
              <a:r>
                <a:rPr lang="en-US" sz="11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Deviation of daily basin rainfall from monsoon climatological mean</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03" name="Shape 61">
              <a:extLst>
                <a:ext uri="{FF2B5EF4-FFF2-40B4-BE49-F238E27FC236}">
                  <a16:creationId xmlns:a16="http://schemas.microsoft.com/office/drawing/2014/main" id="{8129B322-E571-3E7E-42F8-BC42572DB787}"/>
                </a:ext>
              </a:extLst>
            </p:cNvPr>
            <p:cNvSpPr/>
            <p:nvPr/>
          </p:nvSpPr>
          <p:spPr>
            <a:xfrm>
              <a:off x="4617720" y="3707892"/>
              <a:ext cx="4315968" cy="329184"/>
            </a:xfrm>
            <a:prstGeom prst="rect">
              <a:avLst/>
            </a:prstGeom>
            <a:solidFill>
              <a:srgbClr val="FFFFFF"/>
            </a:solidFill>
            <a:ln w="12700">
              <a:solidFill>
                <a:srgbClr val="C0CCC0"/>
              </a:solidFill>
              <a:prstDash val="solid"/>
            </a:ln>
          </p:spPr>
          <p:txBody>
            <a:bodyPr/>
            <a:lstStyle/>
            <a:p>
              <a:endParaRPr lang="en-IN"/>
            </a:p>
          </p:txBody>
        </p:sp>
        <p:sp>
          <p:nvSpPr>
            <p:cNvPr id="104" name="Text 62">
              <a:extLst>
                <a:ext uri="{FF2B5EF4-FFF2-40B4-BE49-F238E27FC236}">
                  <a16:creationId xmlns:a16="http://schemas.microsoft.com/office/drawing/2014/main" id="{FF9ADBA2-E3CE-1D58-02E8-D3A47D840F52}"/>
                </a:ext>
              </a:extLst>
            </p:cNvPr>
            <p:cNvSpPr/>
            <p:nvPr/>
          </p:nvSpPr>
          <p:spPr>
            <a:xfrm>
              <a:off x="4681728" y="3707892"/>
              <a:ext cx="1444752" cy="329184"/>
            </a:xfrm>
            <a:prstGeom prst="rect">
              <a:avLst/>
            </a:prstGeom>
            <a:noFill/>
            <a:ln/>
          </p:spPr>
          <p:txBody>
            <a:bodyPr wrap="square" lIns="0" tIns="0" rIns="0" bIns="0" rtlCol="0" anchor="ctr"/>
            <a:lstStyle/>
            <a:p>
              <a:pPr marL="0" indent="0">
                <a:buNone/>
              </a:pPr>
              <a:r>
                <a:rPr lang="en-US" sz="1100" b="1"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BaseFlow</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05" name="Text 63">
              <a:extLst>
                <a:ext uri="{FF2B5EF4-FFF2-40B4-BE49-F238E27FC236}">
                  <a16:creationId xmlns:a16="http://schemas.microsoft.com/office/drawing/2014/main" id="{680A6806-F7F8-FAC5-3C6A-158DF71EFE8D}"/>
                </a:ext>
              </a:extLst>
            </p:cNvPr>
            <p:cNvSpPr/>
            <p:nvPr/>
          </p:nvSpPr>
          <p:spPr>
            <a:xfrm>
              <a:off x="6144768" y="3707892"/>
              <a:ext cx="2724912" cy="329184"/>
            </a:xfrm>
            <a:prstGeom prst="rect">
              <a:avLst/>
            </a:prstGeom>
            <a:noFill/>
            <a:ln/>
          </p:spPr>
          <p:txBody>
            <a:bodyPr wrap="square" lIns="0" tIns="0" rIns="0" bIns="0" rtlCol="0" anchor="ctr"/>
            <a:lstStyle/>
            <a:p>
              <a:pPr marL="0" indent="0">
                <a:buNone/>
              </a:pPr>
              <a:r>
                <a:rPr lang="en-US" sz="11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5-day running mean of previous inflow values at SAC Barrage</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06" name="Shape 64">
              <a:extLst>
                <a:ext uri="{FF2B5EF4-FFF2-40B4-BE49-F238E27FC236}">
                  <a16:creationId xmlns:a16="http://schemas.microsoft.com/office/drawing/2014/main" id="{3A2E13BF-A518-5EDB-8F76-ECA0DFEABE15}"/>
                </a:ext>
              </a:extLst>
            </p:cNvPr>
            <p:cNvSpPr/>
            <p:nvPr/>
          </p:nvSpPr>
          <p:spPr>
            <a:xfrm>
              <a:off x="4617720" y="4059936"/>
              <a:ext cx="4315968" cy="329184"/>
            </a:xfrm>
            <a:prstGeom prst="rect">
              <a:avLst/>
            </a:prstGeom>
            <a:solidFill>
              <a:schemeClr val="accent1">
                <a:lumMod val="20000"/>
                <a:lumOff val="80000"/>
              </a:schemeClr>
            </a:solidFill>
            <a:ln w="12700">
              <a:solidFill>
                <a:srgbClr val="C0CCC0"/>
              </a:solidFill>
              <a:prstDash val="solid"/>
            </a:ln>
          </p:spPr>
          <p:txBody>
            <a:bodyPr/>
            <a:lstStyle/>
            <a:p>
              <a:endParaRPr lang="en-IN"/>
            </a:p>
          </p:txBody>
        </p:sp>
        <p:sp>
          <p:nvSpPr>
            <p:cNvPr id="107" name="Text 65">
              <a:extLst>
                <a:ext uri="{FF2B5EF4-FFF2-40B4-BE49-F238E27FC236}">
                  <a16:creationId xmlns:a16="http://schemas.microsoft.com/office/drawing/2014/main" id="{0AC1BB4F-6477-7489-91BD-A1F1BE1BFFAF}"/>
                </a:ext>
              </a:extLst>
            </p:cNvPr>
            <p:cNvSpPr/>
            <p:nvPr/>
          </p:nvSpPr>
          <p:spPr>
            <a:xfrm>
              <a:off x="4681728" y="4059936"/>
              <a:ext cx="1444752" cy="329184"/>
            </a:xfrm>
            <a:prstGeom prst="rect">
              <a:avLst/>
            </a:prstGeom>
            <a:noFill/>
            <a:ln/>
          </p:spPr>
          <p:txBody>
            <a:bodyPr wrap="square" lIns="0" tIns="0" rIns="0" bIns="0" rtlCol="0" anchor="ctr"/>
            <a:lstStyle/>
            <a:p>
              <a:pPr marL="0" indent="0">
                <a:buNone/>
              </a:pPr>
              <a:r>
                <a:rPr lang="en-US" sz="1100" b="1"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InflowTrend (ΔQ)</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08" name="Text 66">
              <a:extLst>
                <a:ext uri="{FF2B5EF4-FFF2-40B4-BE49-F238E27FC236}">
                  <a16:creationId xmlns:a16="http://schemas.microsoft.com/office/drawing/2014/main" id="{FB0FE208-07EE-D3C4-DEF8-AB860C46102F}"/>
                </a:ext>
              </a:extLst>
            </p:cNvPr>
            <p:cNvSpPr/>
            <p:nvPr/>
          </p:nvSpPr>
          <p:spPr>
            <a:xfrm>
              <a:off x="6144768" y="4059936"/>
              <a:ext cx="2724912" cy="329184"/>
            </a:xfrm>
            <a:prstGeom prst="rect">
              <a:avLst/>
            </a:prstGeom>
            <a:noFill/>
            <a:ln/>
          </p:spPr>
          <p:txBody>
            <a:bodyPr wrap="square" lIns="0" tIns="0" rIns="0" bIns="0" rtlCol="0" anchor="ctr"/>
            <a:lstStyle/>
            <a:p>
              <a:pPr marL="0" indent="0">
                <a:buNone/>
              </a:pPr>
              <a:r>
                <a:rPr lang="en-US" sz="11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Change in inflow from previous day: Qₜ − Qₜ₋₁</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09" name="Text 68">
              <a:extLst>
                <a:ext uri="{FF2B5EF4-FFF2-40B4-BE49-F238E27FC236}">
                  <a16:creationId xmlns:a16="http://schemas.microsoft.com/office/drawing/2014/main" id="{71F0086E-F91B-137D-AC57-E429F4976AEE}"/>
                </a:ext>
              </a:extLst>
            </p:cNvPr>
            <p:cNvSpPr/>
            <p:nvPr/>
          </p:nvSpPr>
          <p:spPr>
            <a:xfrm>
              <a:off x="4914446" y="4504328"/>
              <a:ext cx="3557240" cy="292608"/>
            </a:xfrm>
            <a:prstGeom prst="rect">
              <a:avLst/>
            </a:prstGeom>
            <a:noFill/>
            <a:ln/>
          </p:spPr>
          <p:txBody>
            <a:bodyPr wrap="square" lIns="0" tIns="0" rIns="0" bIns="0" rtlCol="0" anchor="ctr"/>
            <a:lstStyle/>
            <a:p>
              <a:pPr marL="0" indent="0">
                <a:buNone/>
              </a:pPr>
              <a:r>
                <a:rPr lang="en-US" sz="1100" b="1"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Total features: 49  +  12 additional lag variants </a:t>
              </a:r>
            </a:p>
            <a:p>
              <a:pPr marL="0" indent="0">
                <a:buNone/>
              </a:pPr>
              <a:r>
                <a:rPr lang="en-US" sz="1100" b="1"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                          62 × 5 = 310 features per sample</a:t>
              </a:r>
              <a:endParaRPr lang="en-US" sz="1100" dirty="0">
                <a:solidFill>
                  <a:schemeClr val="bg2">
                    <a:lumMod val="25000"/>
                  </a:schemeClr>
                </a:solidFill>
                <a:latin typeface="Times New Roman" panose="02020603050405020304" pitchFamily="18" charset="0"/>
                <a:cs typeface="Times New Roman" panose="02020603050405020304" pitchFamily="18" charset="0"/>
              </a:endParaRPr>
            </a:p>
          </p:txBody>
        </p:sp>
      </p:grpSp>
      <p:sp>
        <p:nvSpPr>
          <p:cNvPr id="113" name="TextBox 112">
            <a:extLst>
              <a:ext uri="{FF2B5EF4-FFF2-40B4-BE49-F238E27FC236}">
                <a16:creationId xmlns:a16="http://schemas.microsoft.com/office/drawing/2014/main" id="{A476D982-8BFC-3A01-CF52-342786348A6F}"/>
              </a:ext>
            </a:extLst>
          </p:cNvPr>
          <p:cNvSpPr txBox="1"/>
          <p:nvPr/>
        </p:nvSpPr>
        <p:spPr>
          <a:xfrm>
            <a:off x="8684005" y="4780950"/>
            <a:ext cx="350994"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11</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1014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E1ED25D4-9710-4241-4355-8A82A70C4670}"/>
              </a:ext>
            </a:extLst>
          </p:cNvPr>
          <p:cNvGrpSpPr/>
          <p:nvPr/>
        </p:nvGrpSpPr>
        <p:grpSpPr>
          <a:xfrm>
            <a:off x="0" y="0"/>
            <a:ext cx="9144000" cy="713232"/>
            <a:chOff x="0" y="0"/>
            <a:chExt cx="9144000" cy="713232"/>
          </a:xfrm>
        </p:grpSpPr>
        <p:sp>
          <p:nvSpPr>
            <p:cNvPr id="5" name="Shape 0">
              <a:extLst>
                <a:ext uri="{FF2B5EF4-FFF2-40B4-BE49-F238E27FC236}">
                  <a16:creationId xmlns:a16="http://schemas.microsoft.com/office/drawing/2014/main" id="{20D360A8-60A9-DFFA-3CA0-C0BCD036C2B2}"/>
                </a:ext>
              </a:extLst>
            </p:cNvPr>
            <p:cNvSpPr/>
            <p:nvPr/>
          </p:nvSpPr>
          <p:spPr>
            <a:xfrm>
              <a:off x="0" y="0"/>
              <a:ext cx="9144000" cy="658368"/>
            </a:xfrm>
            <a:prstGeom prst="rect">
              <a:avLst/>
            </a:prstGeom>
            <a:solidFill>
              <a:srgbClr val="0070C0"/>
            </a:solidFill>
            <a:ln w="12700">
              <a:solidFill>
                <a:srgbClr val="1E88E5"/>
              </a:solidFill>
              <a:prstDash val="solid"/>
            </a:ln>
          </p:spPr>
          <p:txBody>
            <a:bodyPr/>
            <a:lstStyle/>
            <a:p>
              <a:endParaRPr lang="en-IN"/>
            </a:p>
          </p:txBody>
        </p:sp>
        <p:sp>
          <p:nvSpPr>
            <p:cNvPr id="6" name="Shape 1">
              <a:extLst>
                <a:ext uri="{FF2B5EF4-FFF2-40B4-BE49-F238E27FC236}">
                  <a16:creationId xmlns:a16="http://schemas.microsoft.com/office/drawing/2014/main" id="{035B5ADE-5712-EE23-A1D3-CF24854CB636}"/>
                </a:ext>
              </a:extLst>
            </p:cNvPr>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7" name="Text 2">
              <a:extLst>
                <a:ext uri="{FF2B5EF4-FFF2-40B4-BE49-F238E27FC236}">
                  <a16:creationId xmlns:a16="http://schemas.microsoft.com/office/drawing/2014/main" id="{D3D2BE1D-EBDC-5138-7C46-76C464E4450F}"/>
                </a:ext>
              </a:extLst>
            </p:cNvPr>
            <p:cNvSpPr/>
            <p:nvPr/>
          </p:nvSpPr>
          <p:spPr>
            <a:xfrm>
              <a:off x="274320" y="0"/>
              <a:ext cx="8595360" cy="658368"/>
            </a:xfrm>
            <a:prstGeom prst="rect">
              <a:avLst/>
            </a:prstGeom>
            <a:noFill/>
            <a:ln/>
          </p:spPr>
          <p:txBody>
            <a:bodyPr wrap="square" lIns="0" tIns="0" rIns="0" bIns="0" rtlCol="0" anchor="ctr"/>
            <a:lstStyle/>
            <a:p>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05  |  </a:t>
              </a: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Methodology- Genetic Programming (GP)</a:t>
              </a:r>
              <a:endParaRPr lang="en-US" sz="2400" dirty="0">
                <a:latin typeface="Times New Roman" panose="02020603050405020304" pitchFamily="18" charset="0"/>
                <a:cs typeface="Times New Roman" panose="02020603050405020304" pitchFamily="18" charset="0"/>
              </a:endParaRPr>
            </a:p>
          </p:txBody>
        </p:sp>
      </p:grpSp>
      <p:grpSp>
        <p:nvGrpSpPr>
          <p:cNvPr id="43" name="Group 42">
            <a:extLst>
              <a:ext uri="{FF2B5EF4-FFF2-40B4-BE49-F238E27FC236}">
                <a16:creationId xmlns:a16="http://schemas.microsoft.com/office/drawing/2014/main" id="{97DF54F0-6230-9088-D240-D4853DE1D977}"/>
              </a:ext>
            </a:extLst>
          </p:cNvPr>
          <p:cNvGrpSpPr/>
          <p:nvPr/>
        </p:nvGrpSpPr>
        <p:grpSpPr>
          <a:xfrm>
            <a:off x="292607" y="923544"/>
            <a:ext cx="6992316" cy="3977640"/>
            <a:chOff x="292608" y="960120"/>
            <a:chExt cx="4114800" cy="3977640"/>
          </a:xfrm>
        </p:grpSpPr>
        <p:sp>
          <p:nvSpPr>
            <p:cNvPr id="44" name="Shape 7">
              <a:extLst>
                <a:ext uri="{FF2B5EF4-FFF2-40B4-BE49-F238E27FC236}">
                  <a16:creationId xmlns:a16="http://schemas.microsoft.com/office/drawing/2014/main" id="{99AAA7C5-50C3-316E-D3E0-1D81E7161A73}"/>
                </a:ext>
              </a:extLst>
            </p:cNvPr>
            <p:cNvSpPr/>
            <p:nvPr/>
          </p:nvSpPr>
          <p:spPr>
            <a:xfrm>
              <a:off x="292608" y="960120"/>
              <a:ext cx="4114800" cy="256032"/>
            </a:xfrm>
            <a:prstGeom prst="rect">
              <a:avLst/>
            </a:prstGeom>
            <a:solidFill>
              <a:schemeClr val="bg2">
                <a:lumMod val="25000"/>
              </a:schemeClr>
            </a:solidFill>
            <a:ln w="12700">
              <a:solidFill>
                <a:srgbClr val="1A5C3A"/>
              </a:solidFill>
              <a:prstDash val="solid"/>
            </a:ln>
          </p:spPr>
          <p:txBody>
            <a:bodyPr/>
            <a:lstStyle/>
            <a:p>
              <a:endParaRPr lang="en-IN"/>
            </a:p>
          </p:txBody>
        </p:sp>
        <p:sp>
          <p:nvSpPr>
            <p:cNvPr id="45" name="Text 8">
              <a:extLst>
                <a:ext uri="{FF2B5EF4-FFF2-40B4-BE49-F238E27FC236}">
                  <a16:creationId xmlns:a16="http://schemas.microsoft.com/office/drawing/2014/main" id="{A0C202F2-8AFA-278C-B5DF-129C3229329E}"/>
                </a:ext>
              </a:extLst>
            </p:cNvPr>
            <p:cNvSpPr/>
            <p:nvPr/>
          </p:nvSpPr>
          <p:spPr>
            <a:xfrm>
              <a:off x="384048" y="960120"/>
              <a:ext cx="3931920" cy="256032"/>
            </a:xfrm>
            <a:prstGeom prst="rect">
              <a:avLst/>
            </a:prstGeom>
            <a:noFill/>
            <a:ln/>
          </p:spPr>
          <p:txBody>
            <a:bodyPr wrap="square" lIns="0" tIns="0" rIns="0" bIns="0" rtlCol="0" anchor="ctr"/>
            <a:lstStyle/>
            <a:p>
              <a:pPr marL="0" indent="0">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GP Programming Engine  </a:t>
              </a:r>
              <a:endParaRPr lang="en-US" sz="1200" dirty="0">
                <a:latin typeface="Times New Roman" panose="02020603050405020304" pitchFamily="18" charset="0"/>
                <a:cs typeface="Times New Roman" panose="02020603050405020304" pitchFamily="18" charset="0"/>
              </a:endParaRPr>
            </a:p>
          </p:txBody>
        </p:sp>
        <p:sp>
          <p:nvSpPr>
            <p:cNvPr id="46" name="Shape 9">
              <a:extLst>
                <a:ext uri="{FF2B5EF4-FFF2-40B4-BE49-F238E27FC236}">
                  <a16:creationId xmlns:a16="http://schemas.microsoft.com/office/drawing/2014/main" id="{F4D05EAC-9031-CDB1-AAB4-6C6755BB07DA}"/>
                </a:ext>
              </a:extLst>
            </p:cNvPr>
            <p:cNvSpPr/>
            <p:nvPr/>
          </p:nvSpPr>
          <p:spPr>
            <a:xfrm>
              <a:off x="292608" y="1243584"/>
              <a:ext cx="4114800" cy="621792"/>
            </a:xfrm>
            <a:prstGeom prst="rect">
              <a:avLst/>
            </a:prstGeom>
            <a:solidFill>
              <a:schemeClr val="bg2"/>
            </a:solidFill>
            <a:ln w="12700">
              <a:solidFill>
                <a:srgbClr val="C0CCC0"/>
              </a:solidFill>
              <a:prstDash val="solid"/>
            </a:ln>
          </p:spPr>
          <p:txBody>
            <a:bodyPr/>
            <a:lstStyle/>
            <a:p>
              <a:endParaRPr lang="en-IN"/>
            </a:p>
          </p:txBody>
        </p:sp>
        <p:sp>
          <p:nvSpPr>
            <p:cNvPr id="47" name="Shape 10">
              <a:extLst>
                <a:ext uri="{FF2B5EF4-FFF2-40B4-BE49-F238E27FC236}">
                  <a16:creationId xmlns:a16="http://schemas.microsoft.com/office/drawing/2014/main" id="{3AF0EA15-E304-23C9-597F-71895D672FC7}"/>
                </a:ext>
              </a:extLst>
            </p:cNvPr>
            <p:cNvSpPr/>
            <p:nvPr/>
          </p:nvSpPr>
          <p:spPr>
            <a:xfrm>
              <a:off x="292608" y="1243584"/>
              <a:ext cx="365760" cy="621792"/>
            </a:xfrm>
            <a:prstGeom prst="rect">
              <a:avLst/>
            </a:prstGeom>
            <a:solidFill>
              <a:schemeClr val="bg2">
                <a:lumMod val="25000"/>
              </a:schemeClr>
            </a:solidFill>
            <a:ln w="12700">
              <a:solidFill>
                <a:srgbClr val="1E4976"/>
              </a:solidFill>
              <a:prstDash val="solid"/>
            </a:ln>
          </p:spPr>
          <p:txBody>
            <a:bodyPr/>
            <a:lstStyle/>
            <a:p>
              <a:endParaRPr lang="en-IN"/>
            </a:p>
          </p:txBody>
        </p:sp>
        <p:sp>
          <p:nvSpPr>
            <p:cNvPr id="48" name="Text 11">
              <a:extLst>
                <a:ext uri="{FF2B5EF4-FFF2-40B4-BE49-F238E27FC236}">
                  <a16:creationId xmlns:a16="http://schemas.microsoft.com/office/drawing/2014/main" id="{B061283D-2B74-0DD4-182F-6D42423FAE21}"/>
                </a:ext>
              </a:extLst>
            </p:cNvPr>
            <p:cNvSpPr/>
            <p:nvPr/>
          </p:nvSpPr>
          <p:spPr>
            <a:xfrm>
              <a:off x="292608" y="1243584"/>
              <a:ext cx="365760" cy="62179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1</a:t>
              </a:r>
              <a:endParaRPr lang="en-US" sz="1200" dirty="0">
                <a:latin typeface="Times New Roman" panose="02020603050405020304" pitchFamily="18" charset="0"/>
                <a:cs typeface="Times New Roman" panose="02020603050405020304" pitchFamily="18" charset="0"/>
              </a:endParaRPr>
            </a:p>
          </p:txBody>
        </p:sp>
        <p:sp>
          <p:nvSpPr>
            <p:cNvPr id="49" name="Text 12">
              <a:extLst>
                <a:ext uri="{FF2B5EF4-FFF2-40B4-BE49-F238E27FC236}">
                  <a16:creationId xmlns:a16="http://schemas.microsoft.com/office/drawing/2014/main" id="{28EC9801-0F65-631F-A645-B382D40CE444}"/>
                </a:ext>
              </a:extLst>
            </p:cNvPr>
            <p:cNvSpPr/>
            <p:nvPr/>
          </p:nvSpPr>
          <p:spPr>
            <a:xfrm>
              <a:off x="713232" y="1280160"/>
              <a:ext cx="3621024" cy="201168"/>
            </a:xfrm>
            <a:prstGeom prst="rect">
              <a:avLst/>
            </a:prstGeom>
            <a:noFill/>
            <a:ln/>
          </p:spPr>
          <p:txBody>
            <a:bodyPr wrap="square" lIns="0" tIns="0" rIns="0" bIns="0" rtlCol="0" anchor="ctr"/>
            <a:lstStyle/>
            <a:p>
              <a:pPr marL="0" indent="0">
                <a:buNone/>
              </a:pPr>
              <a:r>
                <a:rPr lang="en-US" sz="1200" b="1"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INITIALIZE POPULATION</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50" name="Text 13">
              <a:extLst>
                <a:ext uri="{FF2B5EF4-FFF2-40B4-BE49-F238E27FC236}">
                  <a16:creationId xmlns:a16="http://schemas.microsoft.com/office/drawing/2014/main" id="{168015C9-7506-94C0-CAD8-AD9C74021FB5}"/>
                </a:ext>
              </a:extLst>
            </p:cNvPr>
            <p:cNvSpPr/>
            <p:nvPr/>
          </p:nvSpPr>
          <p:spPr>
            <a:xfrm>
              <a:off x="713232" y="1481328"/>
              <a:ext cx="3621024" cy="347472"/>
            </a:xfrm>
            <a:prstGeom prst="rect">
              <a:avLst/>
            </a:prstGeom>
            <a:noFill/>
            <a:ln/>
          </p:spPr>
          <p:txBody>
            <a:bodyPr wrap="square" lIns="0" tIns="0" rIns="0" bIns="0" rtlCol="0" anchor="ctr"/>
            <a:lstStyle/>
            <a:p>
              <a:pPr marL="0" indent="0">
                <a:buNone/>
              </a:pPr>
              <a:r>
                <a:rPr lang="en-US" sz="1200" dirty="0">
                  <a:solidFill>
                    <a:srgbClr val="1A2733"/>
                  </a:solidFill>
                  <a:latin typeface="Times New Roman" panose="02020603050405020304" pitchFamily="18" charset="0"/>
                  <a:ea typeface="Calibri" pitchFamily="34" charset="-122"/>
                  <a:cs typeface="Times New Roman" panose="02020603050405020304" pitchFamily="18" charset="0"/>
                </a:rPr>
                <a:t>Ramped half-and-half method (full + grow trees at varying depths)</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solidFill>
                    <a:srgbClr val="1A2733"/>
                  </a:solidFill>
                  <a:latin typeface="Times New Roman" panose="02020603050405020304" pitchFamily="18" charset="0"/>
                  <a:ea typeface="Calibri" pitchFamily="34" charset="-122"/>
                  <a:cs typeface="Times New Roman" panose="02020603050405020304" pitchFamily="18" charset="0"/>
                </a:rPr>
                <a:t>Seed trees injected: persistence, rainfall-runoff linearity, AMI interaction, base flow recession</a:t>
              </a:r>
              <a:endParaRPr lang="en-US" sz="1200" dirty="0">
                <a:latin typeface="Times New Roman" panose="02020603050405020304" pitchFamily="18" charset="0"/>
                <a:cs typeface="Times New Roman" panose="02020603050405020304" pitchFamily="18" charset="0"/>
              </a:endParaRPr>
            </a:p>
          </p:txBody>
        </p:sp>
        <p:sp>
          <p:nvSpPr>
            <p:cNvPr id="51" name="Text 14">
              <a:extLst>
                <a:ext uri="{FF2B5EF4-FFF2-40B4-BE49-F238E27FC236}">
                  <a16:creationId xmlns:a16="http://schemas.microsoft.com/office/drawing/2014/main" id="{A6B5CB9F-47FD-A1D0-A301-84F4C8D0F088}"/>
                </a:ext>
              </a:extLst>
            </p:cNvPr>
            <p:cNvSpPr/>
            <p:nvPr/>
          </p:nvSpPr>
          <p:spPr>
            <a:xfrm>
              <a:off x="292608" y="1865376"/>
              <a:ext cx="4114800" cy="146304"/>
            </a:xfrm>
            <a:prstGeom prst="rect">
              <a:avLst/>
            </a:prstGeom>
            <a:noFill/>
            <a:ln/>
          </p:spPr>
          <p:txBody>
            <a:bodyPr wrap="square" lIns="0" tIns="0" rIns="0" bIns="0" rtlCol="0" anchor="ctr"/>
            <a:lstStyle/>
            <a:p>
              <a:pPr marL="0" indent="0" algn="ctr">
                <a:buNone/>
              </a:pPr>
              <a:r>
                <a:rPr lang="en-US" sz="1200" dirty="0">
                  <a:solidFill>
                    <a:srgbClr val="1A5C3A"/>
                  </a:solidFill>
                  <a:latin typeface="Times New Roman" panose="02020603050405020304" pitchFamily="18" charset="0"/>
                  <a:ea typeface="Calibri"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
          <p:nvSpPr>
            <p:cNvPr id="52" name="Shape 15">
              <a:extLst>
                <a:ext uri="{FF2B5EF4-FFF2-40B4-BE49-F238E27FC236}">
                  <a16:creationId xmlns:a16="http://schemas.microsoft.com/office/drawing/2014/main" id="{C5FA4767-E6FE-FFF3-9C9B-AC4BCFD70668}"/>
                </a:ext>
              </a:extLst>
            </p:cNvPr>
            <p:cNvSpPr/>
            <p:nvPr/>
          </p:nvSpPr>
          <p:spPr>
            <a:xfrm>
              <a:off x="292608" y="2011680"/>
              <a:ext cx="4114800" cy="621792"/>
            </a:xfrm>
            <a:prstGeom prst="rect">
              <a:avLst/>
            </a:prstGeom>
            <a:solidFill>
              <a:schemeClr val="bg2"/>
            </a:solidFill>
            <a:ln w="12700">
              <a:solidFill>
                <a:srgbClr val="C0CCC0"/>
              </a:solidFill>
              <a:prstDash val="solid"/>
            </a:ln>
          </p:spPr>
          <p:txBody>
            <a:bodyPr/>
            <a:lstStyle/>
            <a:p>
              <a:endParaRPr lang="en-IN"/>
            </a:p>
          </p:txBody>
        </p:sp>
        <p:sp>
          <p:nvSpPr>
            <p:cNvPr id="53" name="Shape 16">
              <a:extLst>
                <a:ext uri="{FF2B5EF4-FFF2-40B4-BE49-F238E27FC236}">
                  <a16:creationId xmlns:a16="http://schemas.microsoft.com/office/drawing/2014/main" id="{88875588-3CB7-4E1F-CE81-45DA4C477E0D}"/>
                </a:ext>
              </a:extLst>
            </p:cNvPr>
            <p:cNvSpPr/>
            <p:nvPr/>
          </p:nvSpPr>
          <p:spPr>
            <a:xfrm>
              <a:off x="292608" y="2011680"/>
              <a:ext cx="365760" cy="621792"/>
            </a:xfrm>
            <a:prstGeom prst="rect">
              <a:avLst/>
            </a:prstGeom>
            <a:solidFill>
              <a:schemeClr val="bg2">
                <a:lumMod val="25000"/>
              </a:schemeClr>
            </a:solidFill>
            <a:ln w="12700">
              <a:solidFill>
                <a:srgbClr val="1A5C3A"/>
              </a:solidFill>
              <a:prstDash val="solid"/>
            </a:ln>
          </p:spPr>
          <p:txBody>
            <a:bodyPr/>
            <a:lstStyle/>
            <a:p>
              <a:endParaRPr lang="en-IN"/>
            </a:p>
          </p:txBody>
        </p:sp>
        <p:sp>
          <p:nvSpPr>
            <p:cNvPr id="54" name="Text 17">
              <a:extLst>
                <a:ext uri="{FF2B5EF4-FFF2-40B4-BE49-F238E27FC236}">
                  <a16:creationId xmlns:a16="http://schemas.microsoft.com/office/drawing/2014/main" id="{EE400599-5041-9263-2210-387E2B1EF5B5}"/>
                </a:ext>
              </a:extLst>
            </p:cNvPr>
            <p:cNvSpPr/>
            <p:nvPr/>
          </p:nvSpPr>
          <p:spPr>
            <a:xfrm>
              <a:off x="292608" y="2011680"/>
              <a:ext cx="365760" cy="62179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2</a:t>
              </a:r>
              <a:endParaRPr lang="en-US" sz="1200" dirty="0">
                <a:latin typeface="Times New Roman" panose="02020603050405020304" pitchFamily="18" charset="0"/>
                <a:cs typeface="Times New Roman" panose="02020603050405020304" pitchFamily="18" charset="0"/>
              </a:endParaRPr>
            </a:p>
          </p:txBody>
        </p:sp>
        <p:sp>
          <p:nvSpPr>
            <p:cNvPr id="55" name="Text 18">
              <a:extLst>
                <a:ext uri="{FF2B5EF4-FFF2-40B4-BE49-F238E27FC236}">
                  <a16:creationId xmlns:a16="http://schemas.microsoft.com/office/drawing/2014/main" id="{F0259331-D00E-0A65-CB4C-2EBD8259CD87}"/>
                </a:ext>
              </a:extLst>
            </p:cNvPr>
            <p:cNvSpPr/>
            <p:nvPr/>
          </p:nvSpPr>
          <p:spPr>
            <a:xfrm>
              <a:off x="713232" y="2048256"/>
              <a:ext cx="3621024" cy="201168"/>
            </a:xfrm>
            <a:prstGeom prst="rect">
              <a:avLst/>
            </a:prstGeom>
            <a:noFill/>
            <a:ln/>
          </p:spPr>
          <p:txBody>
            <a:bodyPr wrap="square" lIns="0" tIns="0" rIns="0" bIns="0" rtlCol="0" anchor="ctr"/>
            <a:lstStyle/>
            <a:p>
              <a:pPr marL="0" indent="0">
                <a:buNone/>
              </a:pPr>
              <a:r>
                <a:rPr lang="en-US" sz="1200" b="1"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EVALUATE FITNESS (each tree)</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56" name="Text 19">
              <a:extLst>
                <a:ext uri="{FF2B5EF4-FFF2-40B4-BE49-F238E27FC236}">
                  <a16:creationId xmlns:a16="http://schemas.microsoft.com/office/drawing/2014/main" id="{9181746C-9047-4457-4319-153475A2B3A0}"/>
                </a:ext>
              </a:extLst>
            </p:cNvPr>
            <p:cNvSpPr/>
            <p:nvPr/>
          </p:nvSpPr>
          <p:spPr>
            <a:xfrm>
              <a:off x="713232" y="2249424"/>
              <a:ext cx="3621024" cy="347472"/>
            </a:xfrm>
            <a:prstGeom prst="rect">
              <a:avLst/>
            </a:prstGeom>
            <a:noFill/>
            <a:ln/>
          </p:spPr>
          <p:txBody>
            <a:bodyPr wrap="square" lIns="0" tIns="0" rIns="0" bIns="0" rtlCol="0" anchor="ctr"/>
            <a:lstStyle/>
            <a:p>
              <a:pPr marL="0" indent="0">
                <a:buNone/>
              </a:pPr>
              <a:r>
                <a:rPr lang="en-US" sz="1200" dirty="0">
                  <a:solidFill>
                    <a:srgbClr val="1A2733"/>
                  </a:solidFill>
                  <a:latin typeface="Times New Roman" panose="02020603050405020304" pitchFamily="18" charset="0"/>
                  <a:ea typeface="Calibri" pitchFamily="34" charset="-122"/>
                  <a:cs typeface="Times New Roman" panose="02020603050405020304" pitchFamily="18" charset="0"/>
                </a:rPr>
                <a:t>Composite: F = (1−NSE)² + 0.01×RMSE + F_penalty + F_peak + F_parsimony</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solidFill>
                    <a:srgbClr val="1A2733"/>
                  </a:solidFill>
                  <a:latin typeface="Times New Roman" panose="02020603050405020304" pitchFamily="18" charset="0"/>
                  <a:ea typeface="Calibri" pitchFamily="34" charset="-122"/>
                  <a:cs typeface="Times New Roman" panose="02020603050405020304" pitchFamily="18" charset="0"/>
                </a:rPr>
                <a:t>Minimized each generation. Best tracked by test R².</a:t>
              </a:r>
              <a:endParaRPr lang="en-US" sz="1200" dirty="0">
                <a:latin typeface="Times New Roman" panose="02020603050405020304" pitchFamily="18" charset="0"/>
                <a:cs typeface="Times New Roman" panose="02020603050405020304" pitchFamily="18" charset="0"/>
              </a:endParaRPr>
            </a:p>
          </p:txBody>
        </p:sp>
        <p:sp>
          <p:nvSpPr>
            <p:cNvPr id="57" name="Text 20">
              <a:extLst>
                <a:ext uri="{FF2B5EF4-FFF2-40B4-BE49-F238E27FC236}">
                  <a16:creationId xmlns:a16="http://schemas.microsoft.com/office/drawing/2014/main" id="{70F3D31E-83E4-386C-CB6D-A80808A125A7}"/>
                </a:ext>
              </a:extLst>
            </p:cNvPr>
            <p:cNvSpPr/>
            <p:nvPr/>
          </p:nvSpPr>
          <p:spPr>
            <a:xfrm>
              <a:off x="292608" y="2633472"/>
              <a:ext cx="4114800" cy="146304"/>
            </a:xfrm>
            <a:prstGeom prst="rect">
              <a:avLst/>
            </a:prstGeom>
            <a:noFill/>
            <a:ln/>
          </p:spPr>
          <p:txBody>
            <a:bodyPr wrap="square" lIns="0" tIns="0" rIns="0" bIns="0" rtlCol="0" anchor="ctr"/>
            <a:lstStyle/>
            <a:p>
              <a:pPr marL="0" indent="0" algn="ctr">
                <a:buNone/>
              </a:pPr>
              <a:r>
                <a:rPr lang="en-US" sz="1200" dirty="0">
                  <a:solidFill>
                    <a:srgbClr val="1A5C3A"/>
                  </a:solidFill>
                  <a:latin typeface="Times New Roman" panose="02020603050405020304" pitchFamily="18" charset="0"/>
                  <a:ea typeface="Calibri"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
          <p:nvSpPr>
            <p:cNvPr id="58" name="Shape 21">
              <a:extLst>
                <a:ext uri="{FF2B5EF4-FFF2-40B4-BE49-F238E27FC236}">
                  <a16:creationId xmlns:a16="http://schemas.microsoft.com/office/drawing/2014/main" id="{A5073C3E-6A55-D31E-FAAA-F27F49D63367}"/>
                </a:ext>
              </a:extLst>
            </p:cNvPr>
            <p:cNvSpPr/>
            <p:nvPr/>
          </p:nvSpPr>
          <p:spPr>
            <a:xfrm>
              <a:off x="292608" y="2779776"/>
              <a:ext cx="4114800" cy="621792"/>
            </a:xfrm>
            <a:prstGeom prst="rect">
              <a:avLst/>
            </a:prstGeom>
            <a:solidFill>
              <a:schemeClr val="bg2"/>
            </a:solidFill>
            <a:ln w="12700">
              <a:solidFill>
                <a:srgbClr val="C0CCC0"/>
              </a:solidFill>
              <a:prstDash val="solid"/>
            </a:ln>
          </p:spPr>
          <p:txBody>
            <a:bodyPr/>
            <a:lstStyle/>
            <a:p>
              <a:endParaRPr lang="en-IN"/>
            </a:p>
          </p:txBody>
        </p:sp>
        <p:sp>
          <p:nvSpPr>
            <p:cNvPr id="59" name="Shape 22">
              <a:extLst>
                <a:ext uri="{FF2B5EF4-FFF2-40B4-BE49-F238E27FC236}">
                  <a16:creationId xmlns:a16="http://schemas.microsoft.com/office/drawing/2014/main" id="{325AE0E2-86DA-EFE7-3216-36C3BCD59A2F}"/>
                </a:ext>
              </a:extLst>
            </p:cNvPr>
            <p:cNvSpPr/>
            <p:nvPr/>
          </p:nvSpPr>
          <p:spPr>
            <a:xfrm>
              <a:off x="292608" y="2779776"/>
              <a:ext cx="365760" cy="621792"/>
            </a:xfrm>
            <a:prstGeom prst="rect">
              <a:avLst/>
            </a:prstGeom>
            <a:solidFill>
              <a:schemeClr val="bg2">
                <a:lumMod val="25000"/>
              </a:schemeClr>
            </a:solidFill>
            <a:ln w="12700">
              <a:solidFill>
                <a:srgbClr val="0D7C8A"/>
              </a:solidFill>
              <a:prstDash val="solid"/>
            </a:ln>
          </p:spPr>
          <p:txBody>
            <a:bodyPr/>
            <a:lstStyle/>
            <a:p>
              <a:endParaRPr lang="en-IN"/>
            </a:p>
          </p:txBody>
        </p:sp>
        <p:sp>
          <p:nvSpPr>
            <p:cNvPr id="60" name="Text 23">
              <a:extLst>
                <a:ext uri="{FF2B5EF4-FFF2-40B4-BE49-F238E27FC236}">
                  <a16:creationId xmlns:a16="http://schemas.microsoft.com/office/drawing/2014/main" id="{860C81C3-6775-45D0-C779-ED1007CF099C}"/>
                </a:ext>
              </a:extLst>
            </p:cNvPr>
            <p:cNvSpPr/>
            <p:nvPr/>
          </p:nvSpPr>
          <p:spPr>
            <a:xfrm>
              <a:off x="292608" y="2779776"/>
              <a:ext cx="365760" cy="62179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3</a:t>
              </a:r>
              <a:endParaRPr lang="en-US" sz="1200" dirty="0">
                <a:latin typeface="Times New Roman" panose="02020603050405020304" pitchFamily="18" charset="0"/>
                <a:cs typeface="Times New Roman" panose="02020603050405020304" pitchFamily="18" charset="0"/>
              </a:endParaRPr>
            </a:p>
          </p:txBody>
        </p:sp>
        <p:sp>
          <p:nvSpPr>
            <p:cNvPr id="61" name="Text 24">
              <a:extLst>
                <a:ext uri="{FF2B5EF4-FFF2-40B4-BE49-F238E27FC236}">
                  <a16:creationId xmlns:a16="http://schemas.microsoft.com/office/drawing/2014/main" id="{ADA76353-E994-2C00-240D-B87724470DB2}"/>
                </a:ext>
              </a:extLst>
            </p:cNvPr>
            <p:cNvSpPr/>
            <p:nvPr/>
          </p:nvSpPr>
          <p:spPr>
            <a:xfrm>
              <a:off x="713232" y="2816352"/>
              <a:ext cx="3621024" cy="201168"/>
            </a:xfrm>
            <a:prstGeom prst="rect">
              <a:avLst/>
            </a:prstGeom>
            <a:noFill/>
            <a:ln/>
          </p:spPr>
          <p:txBody>
            <a:bodyPr wrap="square" lIns="0" tIns="0" rIns="0" bIns="0" rtlCol="0" anchor="ctr"/>
            <a:lstStyle/>
            <a:p>
              <a:pPr marL="0" indent="0">
                <a:buNone/>
              </a:pPr>
              <a:r>
                <a:rPr lang="en-US" sz="1200" b="1"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ADAPTIVE TOURNAMENT SELECTION</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62" name="Text 25">
              <a:extLst>
                <a:ext uri="{FF2B5EF4-FFF2-40B4-BE49-F238E27FC236}">
                  <a16:creationId xmlns:a16="http://schemas.microsoft.com/office/drawing/2014/main" id="{94E6AE3C-F911-8E52-93BA-F5F4F93D2650}"/>
                </a:ext>
              </a:extLst>
            </p:cNvPr>
            <p:cNvSpPr/>
            <p:nvPr/>
          </p:nvSpPr>
          <p:spPr>
            <a:xfrm>
              <a:off x="713232" y="3017520"/>
              <a:ext cx="3621024" cy="347472"/>
            </a:xfrm>
            <a:prstGeom prst="rect">
              <a:avLst/>
            </a:prstGeom>
            <a:noFill/>
            <a:ln/>
          </p:spPr>
          <p:txBody>
            <a:bodyPr wrap="square" lIns="0" tIns="0" rIns="0" bIns="0" rtlCol="0" anchor="ctr"/>
            <a:lstStyle/>
            <a:p>
              <a:pPr marL="0" indent="0">
                <a:buNone/>
              </a:pPr>
              <a:r>
                <a:rPr lang="en-US" sz="1200" dirty="0">
                  <a:solidFill>
                    <a:srgbClr val="1A2733"/>
                  </a:solidFill>
                  <a:latin typeface="Times New Roman" panose="02020603050405020304" pitchFamily="18" charset="0"/>
                  <a:ea typeface="Calibri" pitchFamily="34" charset="-122"/>
                  <a:cs typeface="Times New Roman" panose="02020603050405020304" pitchFamily="18" charset="0"/>
                </a:rPr>
                <a:t>Tournament size increases over generations → higher selection pressure.</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solidFill>
                    <a:srgbClr val="1A2733"/>
                  </a:solidFill>
                  <a:latin typeface="Times New Roman" panose="02020603050405020304" pitchFamily="18" charset="0"/>
                  <a:ea typeface="Calibri" pitchFamily="34" charset="-122"/>
                  <a:cs typeface="Times New Roman" panose="02020603050405020304" pitchFamily="18" charset="0"/>
                </a:rPr>
                <a:t>Mutation probability decreases (explore early → exploit later).</a:t>
              </a:r>
              <a:endParaRPr lang="en-US" sz="1200" dirty="0">
                <a:latin typeface="Times New Roman" panose="02020603050405020304" pitchFamily="18" charset="0"/>
                <a:cs typeface="Times New Roman" panose="02020603050405020304" pitchFamily="18" charset="0"/>
              </a:endParaRPr>
            </a:p>
          </p:txBody>
        </p:sp>
        <p:sp>
          <p:nvSpPr>
            <p:cNvPr id="63" name="Text 26">
              <a:extLst>
                <a:ext uri="{FF2B5EF4-FFF2-40B4-BE49-F238E27FC236}">
                  <a16:creationId xmlns:a16="http://schemas.microsoft.com/office/drawing/2014/main" id="{FDB1A10A-6821-CE94-C8E4-74FFC707FC8F}"/>
                </a:ext>
              </a:extLst>
            </p:cNvPr>
            <p:cNvSpPr/>
            <p:nvPr/>
          </p:nvSpPr>
          <p:spPr>
            <a:xfrm>
              <a:off x="292608" y="3401568"/>
              <a:ext cx="4114800" cy="146304"/>
            </a:xfrm>
            <a:prstGeom prst="rect">
              <a:avLst/>
            </a:prstGeom>
            <a:noFill/>
            <a:ln/>
          </p:spPr>
          <p:txBody>
            <a:bodyPr wrap="square" lIns="0" tIns="0" rIns="0" bIns="0" rtlCol="0" anchor="ctr"/>
            <a:lstStyle/>
            <a:p>
              <a:pPr marL="0" indent="0" algn="ctr">
                <a:buNone/>
              </a:pPr>
              <a:r>
                <a:rPr lang="en-US" sz="1200" dirty="0">
                  <a:solidFill>
                    <a:srgbClr val="1A5C3A"/>
                  </a:solidFill>
                  <a:latin typeface="Times New Roman" panose="02020603050405020304" pitchFamily="18" charset="0"/>
                  <a:ea typeface="Calibri"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
          <p:nvSpPr>
            <p:cNvPr id="1024" name="Shape 27">
              <a:extLst>
                <a:ext uri="{FF2B5EF4-FFF2-40B4-BE49-F238E27FC236}">
                  <a16:creationId xmlns:a16="http://schemas.microsoft.com/office/drawing/2014/main" id="{52BC703E-BB67-C811-AAE6-0C41E43817AF}"/>
                </a:ext>
              </a:extLst>
            </p:cNvPr>
            <p:cNvSpPr/>
            <p:nvPr/>
          </p:nvSpPr>
          <p:spPr>
            <a:xfrm>
              <a:off x="292608" y="3547872"/>
              <a:ext cx="4114800" cy="621792"/>
            </a:xfrm>
            <a:prstGeom prst="rect">
              <a:avLst/>
            </a:prstGeom>
            <a:solidFill>
              <a:schemeClr val="bg2"/>
            </a:solidFill>
            <a:ln w="12700">
              <a:solidFill>
                <a:srgbClr val="C0CCC0"/>
              </a:solidFill>
              <a:prstDash val="solid"/>
            </a:ln>
          </p:spPr>
          <p:txBody>
            <a:bodyPr/>
            <a:lstStyle/>
            <a:p>
              <a:endParaRPr lang="en-IN" dirty="0"/>
            </a:p>
          </p:txBody>
        </p:sp>
        <p:sp>
          <p:nvSpPr>
            <p:cNvPr id="1037" name="Shape 28">
              <a:extLst>
                <a:ext uri="{FF2B5EF4-FFF2-40B4-BE49-F238E27FC236}">
                  <a16:creationId xmlns:a16="http://schemas.microsoft.com/office/drawing/2014/main" id="{AE7F0AB1-57BE-2470-70A7-3F36C80859C5}"/>
                </a:ext>
              </a:extLst>
            </p:cNvPr>
            <p:cNvSpPr/>
            <p:nvPr/>
          </p:nvSpPr>
          <p:spPr>
            <a:xfrm>
              <a:off x="292608" y="3547872"/>
              <a:ext cx="365760" cy="621792"/>
            </a:xfrm>
            <a:prstGeom prst="rect">
              <a:avLst/>
            </a:prstGeom>
            <a:solidFill>
              <a:schemeClr val="bg2">
                <a:lumMod val="25000"/>
              </a:schemeClr>
            </a:solidFill>
            <a:ln w="12700">
              <a:solidFill>
                <a:srgbClr val="2A9060"/>
              </a:solidFill>
              <a:prstDash val="solid"/>
            </a:ln>
          </p:spPr>
          <p:txBody>
            <a:bodyPr/>
            <a:lstStyle/>
            <a:p>
              <a:endParaRPr lang="en-IN"/>
            </a:p>
          </p:txBody>
        </p:sp>
        <p:sp>
          <p:nvSpPr>
            <p:cNvPr id="1038" name="Text 29">
              <a:extLst>
                <a:ext uri="{FF2B5EF4-FFF2-40B4-BE49-F238E27FC236}">
                  <a16:creationId xmlns:a16="http://schemas.microsoft.com/office/drawing/2014/main" id="{A3DDF79C-16A6-BA5A-D24F-7162DB157247}"/>
                </a:ext>
              </a:extLst>
            </p:cNvPr>
            <p:cNvSpPr/>
            <p:nvPr/>
          </p:nvSpPr>
          <p:spPr>
            <a:xfrm>
              <a:off x="292608" y="3547872"/>
              <a:ext cx="365760" cy="62179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4</a:t>
              </a:r>
              <a:endParaRPr lang="en-US" sz="1200" dirty="0">
                <a:latin typeface="Times New Roman" panose="02020603050405020304" pitchFamily="18" charset="0"/>
                <a:cs typeface="Times New Roman" panose="02020603050405020304" pitchFamily="18" charset="0"/>
              </a:endParaRPr>
            </a:p>
          </p:txBody>
        </p:sp>
        <p:sp>
          <p:nvSpPr>
            <p:cNvPr id="1039" name="Text 30">
              <a:extLst>
                <a:ext uri="{FF2B5EF4-FFF2-40B4-BE49-F238E27FC236}">
                  <a16:creationId xmlns:a16="http://schemas.microsoft.com/office/drawing/2014/main" id="{2671E70F-7575-3138-9F46-57A5AA5963A0}"/>
                </a:ext>
              </a:extLst>
            </p:cNvPr>
            <p:cNvSpPr/>
            <p:nvPr/>
          </p:nvSpPr>
          <p:spPr>
            <a:xfrm>
              <a:off x="713232" y="3584448"/>
              <a:ext cx="3621024" cy="201168"/>
            </a:xfrm>
            <a:prstGeom prst="rect">
              <a:avLst/>
            </a:prstGeom>
            <a:noFill/>
            <a:ln/>
          </p:spPr>
          <p:txBody>
            <a:bodyPr wrap="square" lIns="0" tIns="0" rIns="0" bIns="0" rtlCol="0" anchor="ctr"/>
            <a:lstStyle/>
            <a:p>
              <a:pPr marL="0" indent="0">
                <a:buNone/>
              </a:pPr>
              <a:r>
                <a:rPr lang="en-US" sz="1200" b="1"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GENETIC OPERATORS (per individual)</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040" name="Text 31">
              <a:extLst>
                <a:ext uri="{FF2B5EF4-FFF2-40B4-BE49-F238E27FC236}">
                  <a16:creationId xmlns:a16="http://schemas.microsoft.com/office/drawing/2014/main" id="{7478BB5B-5CB9-AE67-6DBA-C699680D6216}"/>
                </a:ext>
              </a:extLst>
            </p:cNvPr>
            <p:cNvSpPr/>
            <p:nvPr/>
          </p:nvSpPr>
          <p:spPr>
            <a:xfrm>
              <a:off x="713232" y="3785616"/>
              <a:ext cx="3621024" cy="347472"/>
            </a:xfrm>
            <a:prstGeom prst="rect">
              <a:avLst/>
            </a:prstGeom>
            <a:noFill/>
            <a:ln/>
          </p:spPr>
          <p:txBody>
            <a:bodyPr wrap="square" lIns="0" tIns="0" rIns="0" bIns="0" rtlCol="0" anchor="ctr"/>
            <a:lstStyle/>
            <a:p>
              <a:pPr marL="0" indent="0">
                <a:buNone/>
              </a:pPr>
              <a:r>
                <a:rPr lang="en-US" sz="1200" dirty="0">
                  <a:solidFill>
                    <a:srgbClr val="1A2733"/>
                  </a:solidFill>
                  <a:latin typeface="Times New Roman" panose="02020603050405020304" pitchFamily="18" charset="0"/>
                  <a:ea typeface="Calibri" pitchFamily="34" charset="-122"/>
                  <a:cs typeface="Times New Roman" panose="02020603050405020304" pitchFamily="18" charset="0"/>
                </a:rPr>
                <a:t>Crossover: swap subtrees between parents</a:t>
              </a:r>
              <a:r>
                <a:rPr lang="en-US" sz="1200" dirty="0">
                  <a:latin typeface="Times New Roman" panose="02020603050405020304" pitchFamily="18" charset="0"/>
                  <a:cs typeface="Times New Roman" panose="02020603050405020304" pitchFamily="18" charset="0"/>
                </a:rPr>
                <a:t> </a:t>
              </a:r>
              <a:r>
                <a:rPr lang="en-US" sz="1200" dirty="0">
                  <a:solidFill>
                    <a:srgbClr val="1A2733"/>
                  </a:solidFill>
                  <a:latin typeface="Times New Roman" panose="02020603050405020304" pitchFamily="18" charset="0"/>
                  <a:ea typeface="Calibri" pitchFamily="34" charset="-122"/>
                  <a:cs typeface="Times New Roman" panose="02020603050405020304" pitchFamily="18" charset="0"/>
                </a:rPr>
                <a:t>Subtree mutation: replace node with random tree   |    </a:t>
              </a:r>
            </a:p>
            <a:p>
              <a:pPr marL="0" indent="0">
                <a:buNone/>
              </a:pPr>
              <a:r>
                <a:rPr lang="en-US" sz="1200" dirty="0">
                  <a:solidFill>
                    <a:srgbClr val="1A2733"/>
                  </a:solidFill>
                  <a:latin typeface="Times New Roman" panose="02020603050405020304" pitchFamily="18" charset="0"/>
                  <a:ea typeface="Calibri" pitchFamily="34" charset="-122"/>
                  <a:cs typeface="Times New Roman" panose="02020603050405020304" pitchFamily="18" charset="0"/>
                </a:rPr>
                <a:t>Hoist: simplify</a:t>
              </a:r>
              <a:r>
                <a:rPr lang="en-US" sz="1200" dirty="0">
                  <a:latin typeface="Times New Roman" panose="02020603050405020304" pitchFamily="18" charset="0"/>
                  <a:cs typeface="Times New Roman" panose="02020603050405020304" pitchFamily="18" charset="0"/>
                </a:rPr>
                <a:t> </a:t>
              </a:r>
              <a:r>
                <a:rPr lang="en-US" sz="1200" dirty="0">
                  <a:solidFill>
                    <a:srgbClr val="1A2733"/>
                  </a:solidFill>
                  <a:latin typeface="Times New Roman" panose="02020603050405020304" pitchFamily="18" charset="0"/>
                  <a:ea typeface="Calibri" pitchFamily="34" charset="-122"/>
                  <a:cs typeface="Times New Roman" panose="02020603050405020304" pitchFamily="18" charset="0"/>
                </a:rPr>
                <a:t>Point mutation: replace node   |   Constant perturbation</a:t>
              </a:r>
              <a:endParaRPr lang="en-US" sz="1200" dirty="0">
                <a:latin typeface="Times New Roman" panose="02020603050405020304" pitchFamily="18" charset="0"/>
                <a:cs typeface="Times New Roman" panose="02020603050405020304" pitchFamily="18" charset="0"/>
              </a:endParaRPr>
            </a:p>
          </p:txBody>
        </p:sp>
        <p:sp>
          <p:nvSpPr>
            <p:cNvPr id="1041" name="Text 32">
              <a:extLst>
                <a:ext uri="{FF2B5EF4-FFF2-40B4-BE49-F238E27FC236}">
                  <a16:creationId xmlns:a16="http://schemas.microsoft.com/office/drawing/2014/main" id="{0AA2BF1A-750B-7CDF-26D9-1ECED9E2C67D}"/>
                </a:ext>
              </a:extLst>
            </p:cNvPr>
            <p:cNvSpPr/>
            <p:nvPr/>
          </p:nvSpPr>
          <p:spPr>
            <a:xfrm>
              <a:off x="292608" y="4169664"/>
              <a:ext cx="4114800" cy="146304"/>
            </a:xfrm>
            <a:prstGeom prst="rect">
              <a:avLst/>
            </a:prstGeom>
            <a:noFill/>
            <a:ln/>
          </p:spPr>
          <p:txBody>
            <a:bodyPr wrap="square" lIns="0" tIns="0" rIns="0" bIns="0" rtlCol="0" anchor="ctr"/>
            <a:lstStyle/>
            <a:p>
              <a:pPr marL="0" indent="0" algn="ctr">
                <a:buNone/>
              </a:pPr>
              <a:r>
                <a:rPr lang="en-US" sz="1200" dirty="0">
                  <a:solidFill>
                    <a:srgbClr val="1A5C3A"/>
                  </a:solidFill>
                  <a:latin typeface="Times New Roman" panose="02020603050405020304" pitchFamily="18" charset="0"/>
                  <a:ea typeface="Calibri" pitchFamily="34" charset="-122"/>
                  <a:cs typeface="Times New Roman" panose="02020603050405020304" pitchFamily="18" charset="0"/>
                </a:rPr>
                <a:t>▼</a:t>
              </a:r>
              <a:endParaRPr lang="en-US" sz="1200" dirty="0">
                <a:latin typeface="Times New Roman" panose="02020603050405020304" pitchFamily="18" charset="0"/>
                <a:cs typeface="Times New Roman" panose="02020603050405020304" pitchFamily="18" charset="0"/>
              </a:endParaRPr>
            </a:p>
          </p:txBody>
        </p:sp>
        <p:sp>
          <p:nvSpPr>
            <p:cNvPr id="1042" name="Shape 33">
              <a:extLst>
                <a:ext uri="{FF2B5EF4-FFF2-40B4-BE49-F238E27FC236}">
                  <a16:creationId xmlns:a16="http://schemas.microsoft.com/office/drawing/2014/main" id="{FF6A1AEC-0C30-A64B-5EEC-9D6E2B0C3326}"/>
                </a:ext>
              </a:extLst>
            </p:cNvPr>
            <p:cNvSpPr/>
            <p:nvPr/>
          </p:nvSpPr>
          <p:spPr>
            <a:xfrm>
              <a:off x="292608" y="4315968"/>
              <a:ext cx="4114800" cy="621792"/>
            </a:xfrm>
            <a:prstGeom prst="rect">
              <a:avLst/>
            </a:prstGeom>
            <a:solidFill>
              <a:schemeClr val="bg2"/>
            </a:solidFill>
            <a:ln w="12700">
              <a:solidFill>
                <a:srgbClr val="C0CCC0"/>
              </a:solidFill>
              <a:prstDash val="solid"/>
            </a:ln>
          </p:spPr>
          <p:txBody>
            <a:bodyPr/>
            <a:lstStyle/>
            <a:p>
              <a:endParaRPr lang="en-IN"/>
            </a:p>
          </p:txBody>
        </p:sp>
        <p:sp>
          <p:nvSpPr>
            <p:cNvPr id="1043" name="Shape 34">
              <a:extLst>
                <a:ext uri="{FF2B5EF4-FFF2-40B4-BE49-F238E27FC236}">
                  <a16:creationId xmlns:a16="http://schemas.microsoft.com/office/drawing/2014/main" id="{58279025-262E-E321-73BC-C181B1B1FC80}"/>
                </a:ext>
              </a:extLst>
            </p:cNvPr>
            <p:cNvSpPr/>
            <p:nvPr/>
          </p:nvSpPr>
          <p:spPr>
            <a:xfrm>
              <a:off x="292608" y="4315968"/>
              <a:ext cx="365760" cy="621792"/>
            </a:xfrm>
            <a:prstGeom prst="rect">
              <a:avLst/>
            </a:prstGeom>
            <a:solidFill>
              <a:schemeClr val="bg2">
                <a:lumMod val="25000"/>
              </a:schemeClr>
            </a:solidFill>
            <a:ln w="12700">
              <a:solidFill>
                <a:srgbClr val="1E4976"/>
              </a:solidFill>
              <a:prstDash val="solid"/>
            </a:ln>
          </p:spPr>
          <p:txBody>
            <a:bodyPr/>
            <a:lstStyle/>
            <a:p>
              <a:endParaRPr lang="en-IN"/>
            </a:p>
          </p:txBody>
        </p:sp>
        <p:sp>
          <p:nvSpPr>
            <p:cNvPr id="1044" name="Text 35">
              <a:extLst>
                <a:ext uri="{FF2B5EF4-FFF2-40B4-BE49-F238E27FC236}">
                  <a16:creationId xmlns:a16="http://schemas.microsoft.com/office/drawing/2014/main" id="{DFB922C0-B124-7783-8B09-F2CCBEBD1A2D}"/>
                </a:ext>
              </a:extLst>
            </p:cNvPr>
            <p:cNvSpPr/>
            <p:nvPr/>
          </p:nvSpPr>
          <p:spPr>
            <a:xfrm>
              <a:off x="292608" y="4315968"/>
              <a:ext cx="365760" cy="621792"/>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anose="02020603050405020304" pitchFamily="18" charset="0"/>
                  <a:ea typeface="Calibri" pitchFamily="34" charset="-122"/>
                  <a:cs typeface="Times New Roman" panose="02020603050405020304" pitchFamily="18" charset="0"/>
                </a:rPr>
                <a:t>5</a:t>
              </a:r>
              <a:endParaRPr lang="en-US" sz="1200" dirty="0">
                <a:latin typeface="Times New Roman" panose="02020603050405020304" pitchFamily="18" charset="0"/>
                <a:cs typeface="Times New Roman" panose="02020603050405020304" pitchFamily="18" charset="0"/>
              </a:endParaRPr>
            </a:p>
          </p:txBody>
        </p:sp>
        <p:sp>
          <p:nvSpPr>
            <p:cNvPr id="1045" name="Text 36">
              <a:extLst>
                <a:ext uri="{FF2B5EF4-FFF2-40B4-BE49-F238E27FC236}">
                  <a16:creationId xmlns:a16="http://schemas.microsoft.com/office/drawing/2014/main" id="{1795835F-6370-B889-4361-42E43ECCD76D}"/>
                </a:ext>
              </a:extLst>
            </p:cNvPr>
            <p:cNvSpPr/>
            <p:nvPr/>
          </p:nvSpPr>
          <p:spPr>
            <a:xfrm>
              <a:off x="713232" y="4352544"/>
              <a:ext cx="3621024" cy="201168"/>
            </a:xfrm>
            <a:prstGeom prst="rect">
              <a:avLst/>
            </a:prstGeom>
            <a:noFill/>
            <a:ln/>
          </p:spPr>
          <p:txBody>
            <a:bodyPr wrap="square" lIns="0" tIns="0" rIns="0" bIns="0" rtlCol="0" anchor="ctr"/>
            <a:lstStyle/>
            <a:p>
              <a:pPr marL="0" indent="0">
                <a:buNone/>
              </a:pPr>
              <a:r>
                <a:rPr lang="en-US" sz="1200" b="1"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ELITISM &amp; STAGNATION RESTART</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046" name="Text 37">
              <a:extLst>
                <a:ext uri="{FF2B5EF4-FFF2-40B4-BE49-F238E27FC236}">
                  <a16:creationId xmlns:a16="http://schemas.microsoft.com/office/drawing/2014/main" id="{43E04262-7E39-E743-1F02-DE4D199D1242}"/>
                </a:ext>
              </a:extLst>
            </p:cNvPr>
            <p:cNvSpPr/>
            <p:nvPr/>
          </p:nvSpPr>
          <p:spPr>
            <a:xfrm>
              <a:off x="713232" y="4553712"/>
              <a:ext cx="3621024" cy="347472"/>
            </a:xfrm>
            <a:prstGeom prst="rect">
              <a:avLst/>
            </a:prstGeom>
            <a:noFill/>
            <a:ln/>
          </p:spPr>
          <p:txBody>
            <a:bodyPr wrap="square" lIns="0" tIns="0" rIns="0" bIns="0" rtlCol="0" anchor="ctr"/>
            <a:lstStyle/>
            <a:p>
              <a:pPr marL="0" indent="0">
                <a:buNone/>
              </a:pPr>
              <a:r>
                <a:rPr lang="en-US" sz="1200" dirty="0">
                  <a:solidFill>
                    <a:srgbClr val="1A2733"/>
                  </a:solidFill>
                  <a:latin typeface="Times New Roman" panose="02020603050405020304" pitchFamily="18" charset="0"/>
                  <a:ea typeface="Calibri" pitchFamily="34" charset="-122"/>
                  <a:cs typeface="Times New Roman" panose="02020603050405020304" pitchFamily="18" charset="0"/>
                </a:rPr>
                <a:t>Best trees passed to next generation (elitism).</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solidFill>
                    <a:srgbClr val="1A2733"/>
                  </a:solidFill>
                  <a:latin typeface="Times New Roman" panose="02020603050405020304" pitchFamily="18" charset="0"/>
                  <a:ea typeface="Calibri" pitchFamily="34" charset="-122"/>
                  <a:cs typeface="Times New Roman" panose="02020603050405020304" pitchFamily="18" charset="0"/>
                </a:rPr>
                <a:t>If no improvement over N generations → inject random individuals (diversity).</a:t>
              </a:r>
              <a:endParaRPr lang="en-US" sz="1200" dirty="0">
                <a:latin typeface="Times New Roman" panose="02020603050405020304" pitchFamily="18" charset="0"/>
                <a:cs typeface="Times New Roman" panose="02020603050405020304" pitchFamily="18" charset="0"/>
              </a:endParaRPr>
            </a:p>
          </p:txBody>
        </p:sp>
      </p:grpSp>
      <p:sp>
        <p:nvSpPr>
          <p:cNvPr id="1048" name="TextBox 1047">
            <a:extLst>
              <a:ext uri="{FF2B5EF4-FFF2-40B4-BE49-F238E27FC236}">
                <a16:creationId xmlns:a16="http://schemas.microsoft.com/office/drawing/2014/main" id="{D78FCF5E-E5CB-9ABF-7DFA-8EBEF32749E7}"/>
              </a:ext>
            </a:extLst>
          </p:cNvPr>
          <p:cNvSpPr txBox="1"/>
          <p:nvPr/>
        </p:nvSpPr>
        <p:spPr>
          <a:xfrm>
            <a:off x="8684005" y="4780950"/>
            <a:ext cx="350994"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12</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93668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0365146E-E203-0296-0D26-BE9B077986FE}"/>
              </a:ext>
            </a:extLst>
          </p:cNvPr>
          <p:cNvGrpSpPr/>
          <p:nvPr/>
        </p:nvGrpSpPr>
        <p:grpSpPr>
          <a:xfrm>
            <a:off x="0" y="0"/>
            <a:ext cx="9144000" cy="713232"/>
            <a:chOff x="0" y="0"/>
            <a:chExt cx="9144000" cy="713232"/>
          </a:xfrm>
        </p:grpSpPr>
        <p:sp>
          <p:nvSpPr>
            <p:cNvPr id="4" name="Shape 0">
              <a:extLst>
                <a:ext uri="{FF2B5EF4-FFF2-40B4-BE49-F238E27FC236}">
                  <a16:creationId xmlns:a16="http://schemas.microsoft.com/office/drawing/2014/main" id="{BFE3A866-D57D-33A1-8BFB-4E53F29E0F9A}"/>
                </a:ext>
              </a:extLst>
            </p:cNvPr>
            <p:cNvSpPr/>
            <p:nvPr/>
          </p:nvSpPr>
          <p:spPr>
            <a:xfrm>
              <a:off x="0" y="0"/>
              <a:ext cx="9144000" cy="658368"/>
            </a:xfrm>
            <a:prstGeom prst="rect">
              <a:avLst/>
            </a:prstGeom>
            <a:solidFill>
              <a:srgbClr val="0070C0"/>
            </a:solidFill>
            <a:ln w="12700">
              <a:solidFill>
                <a:srgbClr val="1E88E5"/>
              </a:solidFill>
              <a:prstDash val="solid"/>
            </a:ln>
          </p:spPr>
          <p:txBody>
            <a:bodyPr/>
            <a:lstStyle/>
            <a:p>
              <a:endParaRPr lang="en-IN"/>
            </a:p>
          </p:txBody>
        </p:sp>
        <p:sp>
          <p:nvSpPr>
            <p:cNvPr id="5" name="Shape 1">
              <a:extLst>
                <a:ext uri="{FF2B5EF4-FFF2-40B4-BE49-F238E27FC236}">
                  <a16:creationId xmlns:a16="http://schemas.microsoft.com/office/drawing/2014/main" id="{0AD24F55-1C9C-A314-F2D1-FB8F11DC221C}"/>
                </a:ext>
              </a:extLst>
            </p:cNvPr>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6" name="Text 2">
              <a:extLst>
                <a:ext uri="{FF2B5EF4-FFF2-40B4-BE49-F238E27FC236}">
                  <a16:creationId xmlns:a16="http://schemas.microsoft.com/office/drawing/2014/main" id="{6A146100-6283-2A62-D9F0-C12B2230BEF5}"/>
                </a:ext>
              </a:extLst>
            </p:cNvPr>
            <p:cNvSpPr/>
            <p:nvPr/>
          </p:nvSpPr>
          <p:spPr>
            <a:xfrm>
              <a:off x="274320" y="0"/>
              <a:ext cx="8595360" cy="658368"/>
            </a:xfrm>
            <a:prstGeom prst="rect">
              <a:avLst/>
            </a:prstGeom>
            <a:noFill/>
            <a:ln/>
          </p:spPr>
          <p:txBody>
            <a:bodyPr wrap="square" lIns="0" tIns="0" rIns="0" bIns="0" rtlCol="0" anchor="ctr"/>
            <a:lstStyle/>
            <a:p>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06  |  </a:t>
              </a: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Methodology- Performance Evaluation</a:t>
              </a:r>
              <a:endParaRPr lang="en-US" sz="2400" dirty="0">
                <a:latin typeface="Times New Roman" panose="02020603050405020304" pitchFamily="18" charset="0"/>
                <a:cs typeface="Times New Roman" panose="02020603050405020304" pitchFamily="18" charset="0"/>
              </a:endParaRPr>
            </a:p>
          </p:txBody>
        </p:sp>
      </p:grpSp>
      <p:grpSp>
        <p:nvGrpSpPr>
          <p:cNvPr id="58" name="Group 57">
            <a:extLst>
              <a:ext uri="{FF2B5EF4-FFF2-40B4-BE49-F238E27FC236}">
                <a16:creationId xmlns:a16="http://schemas.microsoft.com/office/drawing/2014/main" id="{EFDFEA27-CD02-BD43-8100-C960B01FC639}"/>
              </a:ext>
            </a:extLst>
          </p:cNvPr>
          <p:cNvGrpSpPr/>
          <p:nvPr/>
        </p:nvGrpSpPr>
        <p:grpSpPr>
          <a:xfrm>
            <a:off x="424742" y="907542"/>
            <a:ext cx="8321040" cy="3726180"/>
            <a:chOff x="457200" y="960120"/>
            <a:chExt cx="8321040" cy="3726180"/>
          </a:xfrm>
        </p:grpSpPr>
        <p:sp>
          <p:nvSpPr>
            <p:cNvPr id="59" name="Shape 50">
              <a:extLst>
                <a:ext uri="{FF2B5EF4-FFF2-40B4-BE49-F238E27FC236}">
                  <a16:creationId xmlns:a16="http://schemas.microsoft.com/office/drawing/2014/main" id="{D212A9A4-CD4D-A2FA-EBF0-F39AFF25ECC0}"/>
                </a:ext>
              </a:extLst>
            </p:cNvPr>
            <p:cNvSpPr/>
            <p:nvPr/>
          </p:nvSpPr>
          <p:spPr>
            <a:xfrm>
              <a:off x="457200" y="4197096"/>
              <a:ext cx="8321040" cy="475488"/>
            </a:xfrm>
            <a:prstGeom prst="rect">
              <a:avLst/>
            </a:prstGeom>
            <a:solidFill>
              <a:srgbClr val="FFFFFF"/>
            </a:solidFill>
            <a:ln w="12700">
              <a:solidFill>
                <a:srgbClr val="FFFFFF"/>
              </a:solidFill>
              <a:prstDash val="solid"/>
            </a:ln>
          </p:spPr>
          <p:txBody>
            <a:bodyPr/>
            <a:lstStyle/>
            <a:p>
              <a:endParaRPr lang="en-IN"/>
            </a:p>
          </p:txBody>
        </p:sp>
        <p:sp>
          <p:nvSpPr>
            <p:cNvPr id="60" name="Text 52">
              <a:extLst>
                <a:ext uri="{FF2B5EF4-FFF2-40B4-BE49-F238E27FC236}">
                  <a16:creationId xmlns:a16="http://schemas.microsoft.com/office/drawing/2014/main" id="{A7BCE9FE-40C1-6044-BEBE-4A4D2DD32E65}"/>
                </a:ext>
              </a:extLst>
            </p:cNvPr>
            <p:cNvSpPr/>
            <p:nvPr/>
          </p:nvSpPr>
          <p:spPr>
            <a:xfrm>
              <a:off x="621792" y="4197096"/>
              <a:ext cx="658368" cy="475488"/>
            </a:xfrm>
            <a:prstGeom prst="rect">
              <a:avLst/>
            </a:prstGeom>
            <a:noFill/>
            <a:ln/>
          </p:spPr>
          <p:txBody>
            <a:bodyPr wrap="square" lIns="0" tIns="0" rIns="0" bIns="0" rtlCol="0" anchor="ctr"/>
            <a:lstStyle/>
            <a:p>
              <a:pPr marL="0" indent="0">
                <a:buNone/>
              </a:pPr>
              <a:r>
                <a:rPr lang="en-US" sz="12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Bias</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61" name="Text 53">
              <a:extLst>
                <a:ext uri="{FF2B5EF4-FFF2-40B4-BE49-F238E27FC236}">
                  <a16:creationId xmlns:a16="http://schemas.microsoft.com/office/drawing/2014/main" id="{6781EB0C-EA76-178F-DFE5-53B44E5A4EC8}"/>
                </a:ext>
              </a:extLst>
            </p:cNvPr>
            <p:cNvSpPr/>
            <p:nvPr/>
          </p:nvSpPr>
          <p:spPr>
            <a:xfrm>
              <a:off x="1508760" y="4197096"/>
              <a:ext cx="2011680" cy="475488"/>
            </a:xfrm>
            <a:prstGeom prst="rect">
              <a:avLst/>
            </a:prstGeom>
            <a:noFill/>
            <a:ln/>
          </p:spPr>
          <p:txBody>
            <a:bodyPr wrap="square" lIns="0" tIns="0" rIns="0" bIns="0" rtlCol="0" anchor="ctr"/>
            <a:lstStyle/>
            <a:p>
              <a:pPr marL="0" indent="0">
                <a:buNone/>
              </a:pPr>
              <a:r>
                <a:rPr lang="en-US" sz="12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Percent Bias</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62" name="Text 54">
              <a:extLst>
                <a:ext uri="{FF2B5EF4-FFF2-40B4-BE49-F238E27FC236}">
                  <a16:creationId xmlns:a16="http://schemas.microsoft.com/office/drawing/2014/main" id="{1FBE3764-6A43-E4BD-CDDE-379B7547DE0A}"/>
                </a:ext>
              </a:extLst>
            </p:cNvPr>
            <p:cNvSpPr/>
            <p:nvPr/>
          </p:nvSpPr>
          <p:spPr>
            <a:xfrm>
              <a:off x="3611880" y="4197096"/>
              <a:ext cx="3429000" cy="475488"/>
            </a:xfrm>
            <a:prstGeom prst="rect">
              <a:avLst/>
            </a:prstGeom>
            <a:noFill/>
            <a:ln/>
          </p:spPr>
          <p:txBody>
            <a:bodyPr wrap="square" lIns="0" tIns="0" rIns="0" bIns="0" rtlCol="0" anchor="ctr"/>
            <a:lstStyle/>
            <a:p>
              <a:pPr marL="0" indent="0">
                <a:buNone/>
              </a:pPr>
              <a:r>
                <a:rPr lang="en-US" sz="1200" dirty="0">
                  <a:solidFill>
                    <a:schemeClr val="tx1">
                      <a:lumMod val="95000"/>
                      <a:lumOff val="5000"/>
                    </a:schemeClr>
                  </a:solidFill>
                  <a:latin typeface="Times New Roman" panose="02020603050405020304" pitchFamily="18" charset="0"/>
                  <a:ea typeface="Consolas" pitchFamily="34" charset="-122"/>
                  <a:cs typeface="Times New Roman" panose="02020603050405020304" pitchFamily="18" charset="0"/>
                </a:rPr>
                <a:t>Σ(Qo − Qp) / ΣQo × 100</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grpSp>
          <p:nvGrpSpPr>
            <p:cNvPr id="63" name="Group 62">
              <a:extLst>
                <a:ext uri="{FF2B5EF4-FFF2-40B4-BE49-F238E27FC236}">
                  <a16:creationId xmlns:a16="http://schemas.microsoft.com/office/drawing/2014/main" id="{6C532360-F88C-FDAB-DBA6-E4B2AE7E5D44}"/>
                </a:ext>
              </a:extLst>
            </p:cNvPr>
            <p:cNvGrpSpPr/>
            <p:nvPr/>
          </p:nvGrpSpPr>
          <p:grpSpPr>
            <a:xfrm>
              <a:off x="457200" y="960120"/>
              <a:ext cx="8321040" cy="3611880"/>
              <a:chOff x="457200" y="960120"/>
              <a:chExt cx="8321040" cy="3611880"/>
            </a:xfrm>
          </p:grpSpPr>
          <p:sp>
            <p:nvSpPr>
              <p:cNvPr id="65" name="Shape 3">
                <a:extLst>
                  <a:ext uri="{FF2B5EF4-FFF2-40B4-BE49-F238E27FC236}">
                    <a16:creationId xmlns:a16="http://schemas.microsoft.com/office/drawing/2014/main" id="{E3B5CEAB-C0A3-DA41-BED0-82C8EFB02FBA}"/>
                  </a:ext>
                </a:extLst>
              </p:cNvPr>
              <p:cNvSpPr/>
              <p:nvPr/>
            </p:nvSpPr>
            <p:spPr>
              <a:xfrm>
                <a:off x="457200" y="1014984"/>
                <a:ext cx="8321040" cy="329184"/>
              </a:xfrm>
              <a:prstGeom prst="rect">
                <a:avLst/>
              </a:prstGeom>
              <a:solidFill>
                <a:srgbClr val="0F2044"/>
              </a:solidFill>
              <a:ln w="12700">
                <a:solidFill>
                  <a:srgbClr val="0F2044"/>
                </a:solidFill>
                <a:prstDash val="solid"/>
              </a:ln>
            </p:spPr>
            <p:txBody>
              <a:bodyPr/>
              <a:lstStyle/>
              <a:p>
                <a:endParaRPr lang="en-IN"/>
              </a:p>
            </p:txBody>
          </p:sp>
          <p:sp>
            <p:nvSpPr>
              <p:cNvPr id="66" name="Text 4">
                <a:extLst>
                  <a:ext uri="{FF2B5EF4-FFF2-40B4-BE49-F238E27FC236}">
                    <a16:creationId xmlns:a16="http://schemas.microsoft.com/office/drawing/2014/main" id="{7DEB08BE-FAA2-0E5C-CEC5-35B2A13EA9BD}"/>
                  </a:ext>
                </a:extLst>
              </p:cNvPr>
              <p:cNvSpPr/>
              <p:nvPr/>
            </p:nvSpPr>
            <p:spPr>
              <a:xfrm>
                <a:off x="548640" y="960120"/>
                <a:ext cx="822960" cy="329184"/>
              </a:xfrm>
              <a:prstGeom prst="rect">
                <a:avLst/>
              </a:prstGeom>
              <a:noFill/>
              <a:ln/>
            </p:spPr>
            <p:txBody>
              <a:bodyPr wrap="square" lIns="0" tIns="0" rIns="0" bIns="0" rtlCol="0" anchor="ctr"/>
              <a:lstStyle/>
              <a:p>
                <a:pPr marL="0" indent="0" algn="l">
                  <a:buNone/>
                </a:pPr>
                <a:r>
                  <a:rPr lang="en-US" sz="1200" b="1" dirty="0">
                    <a:solidFill>
                      <a:schemeClr val="bg1"/>
                    </a:solidFill>
                    <a:latin typeface="Times New Roman" panose="02020603050405020304" pitchFamily="18" charset="0"/>
                    <a:ea typeface="Calibri" pitchFamily="34" charset="-122"/>
                    <a:cs typeface="Times New Roman" panose="02020603050405020304" pitchFamily="18" charset="0"/>
                  </a:rPr>
                  <a:t>Metric</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67" name="Text 5">
                <a:extLst>
                  <a:ext uri="{FF2B5EF4-FFF2-40B4-BE49-F238E27FC236}">
                    <a16:creationId xmlns:a16="http://schemas.microsoft.com/office/drawing/2014/main" id="{25BC9CFE-5920-576F-9C5A-D29FF7BED179}"/>
                  </a:ext>
                </a:extLst>
              </p:cNvPr>
              <p:cNvSpPr/>
              <p:nvPr/>
            </p:nvSpPr>
            <p:spPr>
              <a:xfrm>
                <a:off x="1508760" y="960120"/>
                <a:ext cx="2011680" cy="329184"/>
              </a:xfrm>
              <a:prstGeom prst="rect">
                <a:avLst/>
              </a:prstGeom>
              <a:noFill/>
              <a:ln/>
            </p:spPr>
            <p:txBody>
              <a:bodyPr wrap="square" lIns="0" tIns="0" rIns="0" bIns="0" rtlCol="0" anchor="ctr"/>
              <a:lstStyle/>
              <a:p>
                <a:pPr marL="0" indent="0" algn="l">
                  <a:buNone/>
                </a:pPr>
                <a:r>
                  <a:rPr lang="en-US" sz="1200" b="1" dirty="0">
                    <a:solidFill>
                      <a:schemeClr val="bg1"/>
                    </a:solidFill>
                    <a:latin typeface="Times New Roman" panose="02020603050405020304" pitchFamily="18" charset="0"/>
                    <a:ea typeface="Calibri" pitchFamily="34" charset="-122"/>
                    <a:cs typeface="Times New Roman" panose="02020603050405020304" pitchFamily="18" charset="0"/>
                  </a:rPr>
                  <a:t>Full</a:t>
                </a:r>
                <a:r>
                  <a:rPr lang="en-US" sz="12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 </a:t>
                </a:r>
                <a:r>
                  <a:rPr lang="en-US" sz="1200" b="1" dirty="0">
                    <a:solidFill>
                      <a:schemeClr val="bg1"/>
                    </a:solidFill>
                    <a:latin typeface="Times New Roman" panose="02020603050405020304" pitchFamily="18" charset="0"/>
                    <a:ea typeface="Calibri" pitchFamily="34" charset="-122"/>
                    <a:cs typeface="Times New Roman" panose="02020603050405020304" pitchFamily="18" charset="0"/>
                  </a:rPr>
                  <a:t>Name</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68" name="Text 6">
                <a:extLst>
                  <a:ext uri="{FF2B5EF4-FFF2-40B4-BE49-F238E27FC236}">
                    <a16:creationId xmlns:a16="http://schemas.microsoft.com/office/drawing/2014/main" id="{CBCB8DFE-C63C-FA4A-0FA0-0919540E2269}"/>
                  </a:ext>
                </a:extLst>
              </p:cNvPr>
              <p:cNvSpPr/>
              <p:nvPr/>
            </p:nvSpPr>
            <p:spPr>
              <a:xfrm>
                <a:off x="3611880" y="960120"/>
                <a:ext cx="3520440" cy="329184"/>
              </a:xfrm>
              <a:prstGeom prst="rect">
                <a:avLst/>
              </a:prstGeom>
              <a:noFill/>
              <a:ln/>
            </p:spPr>
            <p:txBody>
              <a:bodyPr wrap="square" lIns="0" tIns="0" rIns="0" bIns="0" rtlCol="0" anchor="ctr"/>
              <a:lstStyle/>
              <a:p>
                <a:pPr marL="0" indent="0" algn="l">
                  <a:buNone/>
                </a:pPr>
                <a:r>
                  <a:rPr lang="en-US" sz="1200" b="1" dirty="0">
                    <a:solidFill>
                      <a:schemeClr val="bg1"/>
                    </a:solidFill>
                    <a:latin typeface="Times New Roman" panose="02020603050405020304" pitchFamily="18" charset="0"/>
                    <a:ea typeface="Calibri" pitchFamily="34" charset="-122"/>
                    <a:cs typeface="Times New Roman" panose="02020603050405020304" pitchFamily="18" charset="0"/>
                  </a:rPr>
                  <a:t>Formula</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69" name="Text 7">
                <a:extLst>
                  <a:ext uri="{FF2B5EF4-FFF2-40B4-BE49-F238E27FC236}">
                    <a16:creationId xmlns:a16="http://schemas.microsoft.com/office/drawing/2014/main" id="{1F18D5D9-8D98-21C0-B070-E7DE8D5DE7A1}"/>
                  </a:ext>
                </a:extLst>
              </p:cNvPr>
              <p:cNvSpPr/>
              <p:nvPr/>
            </p:nvSpPr>
            <p:spPr>
              <a:xfrm>
                <a:off x="7223760" y="960120"/>
                <a:ext cx="1371600" cy="329184"/>
              </a:xfrm>
              <a:prstGeom prst="rect">
                <a:avLst/>
              </a:prstGeom>
              <a:noFill/>
              <a:ln/>
            </p:spPr>
            <p:txBody>
              <a:bodyPr wrap="square" lIns="0" tIns="0" rIns="0" bIns="0" rtlCol="0" anchor="ctr"/>
              <a:lstStyle/>
              <a:p>
                <a:pPr marL="0" indent="0" algn="ctr">
                  <a:buNone/>
                </a:pPr>
                <a:r>
                  <a:rPr lang="en-US" sz="1200" b="1" dirty="0">
                    <a:solidFill>
                      <a:schemeClr val="bg1"/>
                    </a:solidFill>
                    <a:latin typeface="Times New Roman" panose="02020603050405020304" pitchFamily="18" charset="0"/>
                    <a:ea typeface="Calibri" pitchFamily="34" charset="-122"/>
                    <a:cs typeface="Times New Roman" panose="02020603050405020304" pitchFamily="18" charset="0"/>
                  </a:rPr>
                  <a:t>Ideal</a:t>
                </a:r>
                <a:endParaRPr lang="en-US" sz="1200" dirty="0">
                  <a:solidFill>
                    <a:schemeClr val="bg1"/>
                  </a:solidFill>
                  <a:latin typeface="Times New Roman" panose="02020603050405020304" pitchFamily="18" charset="0"/>
                  <a:cs typeface="Times New Roman" panose="02020603050405020304" pitchFamily="18" charset="0"/>
                </a:endParaRPr>
              </a:p>
            </p:txBody>
          </p:sp>
          <p:sp>
            <p:nvSpPr>
              <p:cNvPr id="70" name="Shape 8">
                <a:extLst>
                  <a:ext uri="{FF2B5EF4-FFF2-40B4-BE49-F238E27FC236}">
                    <a16:creationId xmlns:a16="http://schemas.microsoft.com/office/drawing/2014/main" id="{AC3EE97B-B839-83F1-89E0-76B4FF9E3F86}"/>
                  </a:ext>
                </a:extLst>
              </p:cNvPr>
              <p:cNvSpPr/>
              <p:nvPr/>
            </p:nvSpPr>
            <p:spPr>
              <a:xfrm>
                <a:off x="457200" y="1344168"/>
                <a:ext cx="8321040" cy="475488"/>
              </a:xfrm>
              <a:prstGeom prst="rect">
                <a:avLst/>
              </a:prstGeom>
              <a:solidFill>
                <a:srgbClr val="FFFFFF"/>
              </a:solidFill>
              <a:ln w="12700">
                <a:solidFill>
                  <a:srgbClr val="FFFFFF"/>
                </a:solidFill>
                <a:prstDash val="solid"/>
              </a:ln>
            </p:spPr>
            <p:txBody>
              <a:bodyPr/>
              <a:lstStyle/>
              <a:p>
                <a:endParaRPr lang="en-IN"/>
              </a:p>
            </p:txBody>
          </p:sp>
          <p:sp>
            <p:nvSpPr>
              <p:cNvPr id="72" name="Text 10">
                <a:extLst>
                  <a:ext uri="{FF2B5EF4-FFF2-40B4-BE49-F238E27FC236}">
                    <a16:creationId xmlns:a16="http://schemas.microsoft.com/office/drawing/2014/main" id="{A0653F3F-9A77-B429-D13B-C69484EA0AAC}"/>
                  </a:ext>
                </a:extLst>
              </p:cNvPr>
              <p:cNvSpPr/>
              <p:nvPr/>
            </p:nvSpPr>
            <p:spPr>
              <a:xfrm>
                <a:off x="621792" y="1344168"/>
                <a:ext cx="658368" cy="475488"/>
              </a:xfrm>
              <a:prstGeom prst="rect">
                <a:avLst/>
              </a:prstGeom>
              <a:noFill/>
              <a:ln/>
            </p:spPr>
            <p:txBody>
              <a:bodyPr wrap="square" lIns="0" tIns="0" rIns="0" bIns="0" rtlCol="0" anchor="ctr"/>
              <a:lstStyle/>
              <a:p>
                <a:pPr marL="0" indent="0">
                  <a:buNone/>
                </a:pPr>
                <a:r>
                  <a:rPr lang="en-US" sz="12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RMSE</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3" name="Text 11">
                <a:extLst>
                  <a:ext uri="{FF2B5EF4-FFF2-40B4-BE49-F238E27FC236}">
                    <a16:creationId xmlns:a16="http://schemas.microsoft.com/office/drawing/2014/main" id="{33CADF0C-A726-B770-CEC7-414258FF49CF}"/>
                  </a:ext>
                </a:extLst>
              </p:cNvPr>
              <p:cNvSpPr/>
              <p:nvPr/>
            </p:nvSpPr>
            <p:spPr>
              <a:xfrm>
                <a:off x="1508760" y="1344168"/>
                <a:ext cx="2011680" cy="475488"/>
              </a:xfrm>
              <a:prstGeom prst="rect">
                <a:avLst/>
              </a:prstGeom>
              <a:noFill/>
              <a:ln/>
            </p:spPr>
            <p:txBody>
              <a:bodyPr wrap="square" lIns="0" tIns="0" rIns="0" bIns="0" rtlCol="0" anchor="ctr"/>
              <a:lstStyle/>
              <a:p>
                <a:pPr marL="0" indent="0">
                  <a:buNone/>
                </a:pPr>
                <a:r>
                  <a:rPr lang="en-US" sz="12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Root Mean Square Error</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4" name="Text 12">
                <a:extLst>
                  <a:ext uri="{FF2B5EF4-FFF2-40B4-BE49-F238E27FC236}">
                    <a16:creationId xmlns:a16="http://schemas.microsoft.com/office/drawing/2014/main" id="{EF91269D-FF23-0386-17B4-BB71136CF984}"/>
                  </a:ext>
                </a:extLst>
              </p:cNvPr>
              <p:cNvSpPr/>
              <p:nvPr/>
            </p:nvSpPr>
            <p:spPr>
              <a:xfrm>
                <a:off x="3611880" y="1344168"/>
                <a:ext cx="3429000" cy="475488"/>
              </a:xfrm>
              <a:prstGeom prst="rect">
                <a:avLst/>
              </a:prstGeom>
              <a:noFill/>
              <a:ln/>
            </p:spPr>
            <p:txBody>
              <a:bodyPr wrap="square" lIns="0" tIns="0" rIns="0" bIns="0" rtlCol="0" anchor="ctr"/>
              <a:lstStyle/>
              <a:p>
                <a:pPr marL="0" indent="0">
                  <a:buNone/>
                </a:pPr>
                <a:r>
                  <a:rPr lang="en-US" sz="1200" dirty="0">
                    <a:solidFill>
                      <a:schemeClr val="tx1">
                        <a:lumMod val="95000"/>
                        <a:lumOff val="5000"/>
                      </a:schemeClr>
                    </a:solidFill>
                    <a:latin typeface="Times New Roman" panose="02020603050405020304" pitchFamily="18" charset="0"/>
                    <a:ea typeface="Consolas" pitchFamily="34" charset="-122"/>
                    <a:cs typeface="Times New Roman" panose="02020603050405020304" pitchFamily="18" charset="0"/>
                  </a:rPr>
                  <a:t>√[ Σ(Qo − Qp)² / n ]</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6" name="Text 14">
                <a:extLst>
                  <a:ext uri="{FF2B5EF4-FFF2-40B4-BE49-F238E27FC236}">
                    <a16:creationId xmlns:a16="http://schemas.microsoft.com/office/drawing/2014/main" id="{897584B7-A21D-870A-E076-37AB0D6B54AD}"/>
                  </a:ext>
                </a:extLst>
              </p:cNvPr>
              <p:cNvSpPr/>
              <p:nvPr/>
            </p:nvSpPr>
            <p:spPr>
              <a:xfrm>
                <a:off x="7269480" y="1444752"/>
                <a:ext cx="804672" cy="274320"/>
              </a:xfrm>
              <a:prstGeom prst="rect">
                <a:avLst/>
              </a:prstGeom>
              <a:noFill/>
              <a:ln/>
            </p:spPr>
            <p:txBody>
              <a:bodyPr wrap="square" lIns="0" tIns="0" rIns="0" bIns="0" rtlCol="0" anchor="ctr"/>
              <a:lstStyle/>
              <a:p>
                <a:pPr marL="0" indent="0" algn="ctr">
                  <a:buNone/>
                </a:pPr>
                <a:r>
                  <a:rPr lang="en-US" sz="12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 0</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7" name="Shape 15">
                <a:extLst>
                  <a:ext uri="{FF2B5EF4-FFF2-40B4-BE49-F238E27FC236}">
                    <a16:creationId xmlns:a16="http://schemas.microsoft.com/office/drawing/2014/main" id="{0CF737D4-2E14-D983-CF16-297E030B6565}"/>
                  </a:ext>
                </a:extLst>
              </p:cNvPr>
              <p:cNvSpPr/>
              <p:nvPr/>
            </p:nvSpPr>
            <p:spPr>
              <a:xfrm>
                <a:off x="457200" y="1819656"/>
                <a:ext cx="8321040" cy="475488"/>
              </a:xfrm>
              <a:prstGeom prst="rect">
                <a:avLst/>
              </a:prstGeom>
              <a:solidFill>
                <a:srgbClr val="F8FAFC"/>
              </a:solidFill>
              <a:ln w="12700">
                <a:solidFill>
                  <a:srgbClr val="F8FAFC"/>
                </a:solidFill>
                <a:prstDash val="solid"/>
              </a:ln>
            </p:spPr>
            <p:txBody>
              <a:bodyPr/>
              <a:lstStyle/>
              <a:p>
                <a:endParaRPr lang="en-IN"/>
              </a:p>
            </p:txBody>
          </p:sp>
          <p:sp>
            <p:nvSpPr>
              <p:cNvPr id="79" name="Text 17">
                <a:extLst>
                  <a:ext uri="{FF2B5EF4-FFF2-40B4-BE49-F238E27FC236}">
                    <a16:creationId xmlns:a16="http://schemas.microsoft.com/office/drawing/2014/main" id="{6E6299A4-0871-5D7F-0787-35D7961B7A8B}"/>
                  </a:ext>
                </a:extLst>
              </p:cNvPr>
              <p:cNvSpPr/>
              <p:nvPr/>
            </p:nvSpPr>
            <p:spPr>
              <a:xfrm>
                <a:off x="621792" y="1819656"/>
                <a:ext cx="658368" cy="475488"/>
              </a:xfrm>
              <a:prstGeom prst="rect">
                <a:avLst/>
              </a:prstGeom>
              <a:noFill/>
              <a:ln/>
            </p:spPr>
            <p:txBody>
              <a:bodyPr wrap="square" lIns="0" tIns="0" rIns="0" bIns="0" rtlCol="0" anchor="ctr"/>
              <a:lstStyle/>
              <a:p>
                <a:pPr marL="0" indent="0">
                  <a:buNone/>
                </a:pPr>
                <a:r>
                  <a:rPr lang="en-US" sz="12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MAE</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80" name="Text 18">
                <a:extLst>
                  <a:ext uri="{FF2B5EF4-FFF2-40B4-BE49-F238E27FC236}">
                    <a16:creationId xmlns:a16="http://schemas.microsoft.com/office/drawing/2014/main" id="{31853DD8-B99A-454A-351C-DD1F6EE3B962}"/>
                  </a:ext>
                </a:extLst>
              </p:cNvPr>
              <p:cNvSpPr/>
              <p:nvPr/>
            </p:nvSpPr>
            <p:spPr>
              <a:xfrm>
                <a:off x="1508760" y="1819656"/>
                <a:ext cx="2011680" cy="475488"/>
              </a:xfrm>
              <a:prstGeom prst="rect">
                <a:avLst/>
              </a:prstGeom>
              <a:noFill/>
              <a:ln/>
            </p:spPr>
            <p:txBody>
              <a:bodyPr wrap="square" lIns="0" tIns="0" rIns="0" bIns="0" rtlCol="0" anchor="ctr"/>
              <a:lstStyle/>
              <a:p>
                <a:pPr marL="0" indent="0">
                  <a:buNone/>
                </a:pPr>
                <a:r>
                  <a:rPr lang="en-US" sz="12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Mean Absolute Error</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81" name="Text 19">
                <a:extLst>
                  <a:ext uri="{FF2B5EF4-FFF2-40B4-BE49-F238E27FC236}">
                    <a16:creationId xmlns:a16="http://schemas.microsoft.com/office/drawing/2014/main" id="{27570D6A-66B7-86E9-D49D-E647291FB9C1}"/>
                  </a:ext>
                </a:extLst>
              </p:cNvPr>
              <p:cNvSpPr/>
              <p:nvPr/>
            </p:nvSpPr>
            <p:spPr>
              <a:xfrm>
                <a:off x="3611880" y="1819656"/>
                <a:ext cx="3429000" cy="475488"/>
              </a:xfrm>
              <a:prstGeom prst="rect">
                <a:avLst/>
              </a:prstGeom>
              <a:noFill/>
              <a:ln/>
            </p:spPr>
            <p:txBody>
              <a:bodyPr wrap="square" lIns="0" tIns="0" rIns="0" bIns="0" rtlCol="0" anchor="ctr"/>
              <a:lstStyle/>
              <a:p>
                <a:pPr marL="0" indent="0">
                  <a:buNone/>
                </a:pPr>
                <a:r>
                  <a:rPr lang="en-US" sz="1200" dirty="0">
                    <a:solidFill>
                      <a:schemeClr val="tx1">
                        <a:lumMod val="95000"/>
                        <a:lumOff val="5000"/>
                      </a:schemeClr>
                    </a:solidFill>
                    <a:latin typeface="Times New Roman" panose="02020603050405020304" pitchFamily="18" charset="0"/>
                    <a:ea typeface="Consolas" pitchFamily="34" charset="-122"/>
                    <a:cs typeface="Times New Roman" panose="02020603050405020304" pitchFamily="18" charset="0"/>
                  </a:rPr>
                  <a:t>Σ|Qo − Qp| / n</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83" name="Text 21">
                <a:extLst>
                  <a:ext uri="{FF2B5EF4-FFF2-40B4-BE49-F238E27FC236}">
                    <a16:creationId xmlns:a16="http://schemas.microsoft.com/office/drawing/2014/main" id="{5174E931-66C1-29CA-8474-CD0514F486AF}"/>
                  </a:ext>
                </a:extLst>
              </p:cNvPr>
              <p:cNvSpPr/>
              <p:nvPr/>
            </p:nvSpPr>
            <p:spPr>
              <a:xfrm>
                <a:off x="7269480" y="1920240"/>
                <a:ext cx="804672" cy="274320"/>
              </a:xfrm>
              <a:prstGeom prst="rect">
                <a:avLst/>
              </a:prstGeom>
              <a:noFill/>
              <a:ln/>
            </p:spPr>
            <p:txBody>
              <a:bodyPr wrap="square" lIns="0" tIns="0" rIns="0" bIns="0" rtlCol="0" anchor="ctr"/>
              <a:lstStyle/>
              <a:p>
                <a:pPr marL="0" indent="0" algn="ctr">
                  <a:buNone/>
                </a:pPr>
                <a:r>
                  <a:rPr lang="en-US" sz="12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0</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84" name="Shape 22">
                <a:extLst>
                  <a:ext uri="{FF2B5EF4-FFF2-40B4-BE49-F238E27FC236}">
                    <a16:creationId xmlns:a16="http://schemas.microsoft.com/office/drawing/2014/main" id="{8E7740E5-C3C4-B46F-1967-D1168A32DE7C}"/>
                  </a:ext>
                </a:extLst>
              </p:cNvPr>
              <p:cNvSpPr/>
              <p:nvPr/>
            </p:nvSpPr>
            <p:spPr>
              <a:xfrm>
                <a:off x="457200" y="2295144"/>
                <a:ext cx="8321040" cy="475488"/>
              </a:xfrm>
              <a:prstGeom prst="rect">
                <a:avLst/>
              </a:prstGeom>
              <a:solidFill>
                <a:srgbClr val="FFFFFF"/>
              </a:solidFill>
              <a:ln w="12700">
                <a:solidFill>
                  <a:srgbClr val="FFFFFF"/>
                </a:solidFill>
                <a:prstDash val="solid"/>
              </a:ln>
            </p:spPr>
            <p:txBody>
              <a:bodyPr/>
              <a:lstStyle/>
              <a:p>
                <a:endParaRPr lang="en-IN"/>
              </a:p>
            </p:txBody>
          </p:sp>
          <p:sp>
            <p:nvSpPr>
              <p:cNvPr id="86" name="Text 24">
                <a:extLst>
                  <a:ext uri="{FF2B5EF4-FFF2-40B4-BE49-F238E27FC236}">
                    <a16:creationId xmlns:a16="http://schemas.microsoft.com/office/drawing/2014/main" id="{3D6FF5E0-FB5E-2E00-55CB-88DB323CDEBB}"/>
                  </a:ext>
                </a:extLst>
              </p:cNvPr>
              <p:cNvSpPr/>
              <p:nvPr/>
            </p:nvSpPr>
            <p:spPr>
              <a:xfrm>
                <a:off x="621792" y="2295144"/>
                <a:ext cx="658368" cy="475488"/>
              </a:xfrm>
              <a:prstGeom prst="rect">
                <a:avLst/>
              </a:prstGeom>
              <a:noFill/>
              <a:ln/>
            </p:spPr>
            <p:txBody>
              <a:bodyPr wrap="square" lIns="0" tIns="0" rIns="0" bIns="0" rtlCol="0" anchor="ctr"/>
              <a:lstStyle/>
              <a:p>
                <a:pPr marL="0" indent="0">
                  <a:buNone/>
                </a:pPr>
                <a:r>
                  <a:rPr lang="en-US" sz="12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MAPE</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87" name="Text 25">
                <a:extLst>
                  <a:ext uri="{FF2B5EF4-FFF2-40B4-BE49-F238E27FC236}">
                    <a16:creationId xmlns:a16="http://schemas.microsoft.com/office/drawing/2014/main" id="{152F7D20-2F77-316C-53DE-9FC1F43A2EE8}"/>
                  </a:ext>
                </a:extLst>
              </p:cNvPr>
              <p:cNvSpPr/>
              <p:nvPr/>
            </p:nvSpPr>
            <p:spPr>
              <a:xfrm>
                <a:off x="1508760" y="2295144"/>
                <a:ext cx="2011680" cy="475488"/>
              </a:xfrm>
              <a:prstGeom prst="rect">
                <a:avLst/>
              </a:prstGeom>
              <a:noFill/>
              <a:ln/>
            </p:spPr>
            <p:txBody>
              <a:bodyPr wrap="square" lIns="0" tIns="0" rIns="0" bIns="0" rtlCol="0" anchor="ctr"/>
              <a:lstStyle/>
              <a:p>
                <a:pPr marL="0" indent="0">
                  <a:buNone/>
                </a:pPr>
                <a:r>
                  <a:rPr lang="en-US" sz="12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Mean Abs. Percentage Error</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88" name="Text 26">
                <a:extLst>
                  <a:ext uri="{FF2B5EF4-FFF2-40B4-BE49-F238E27FC236}">
                    <a16:creationId xmlns:a16="http://schemas.microsoft.com/office/drawing/2014/main" id="{87853FFA-B716-3692-BB62-87F2994A778F}"/>
                  </a:ext>
                </a:extLst>
              </p:cNvPr>
              <p:cNvSpPr/>
              <p:nvPr/>
            </p:nvSpPr>
            <p:spPr>
              <a:xfrm>
                <a:off x="3611880" y="2295144"/>
                <a:ext cx="3429000" cy="475488"/>
              </a:xfrm>
              <a:prstGeom prst="rect">
                <a:avLst/>
              </a:prstGeom>
              <a:noFill/>
              <a:ln/>
            </p:spPr>
            <p:txBody>
              <a:bodyPr wrap="square" lIns="0" tIns="0" rIns="0" bIns="0" rtlCol="0" anchor="ctr"/>
              <a:lstStyle/>
              <a:p>
                <a:pPr marL="0" indent="0">
                  <a:buNone/>
                </a:pPr>
                <a:r>
                  <a:rPr lang="en-US" sz="1200" i="1" dirty="0">
                    <a:solidFill>
                      <a:schemeClr val="tx1">
                        <a:lumMod val="95000"/>
                        <a:lumOff val="5000"/>
                      </a:schemeClr>
                    </a:solidFill>
                    <a:latin typeface="Times New Roman" panose="02020603050405020304" pitchFamily="18" charset="0"/>
                    <a:ea typeface="Consolas" pitchFamily="34" charset="-122"/>
                    <a:cs typeface="Times New Roman" panose="02020603050405020304" pitchFamily="18" charset="0"/>
                  </a:rPr>
                  <a:t>( </a:t>
                </a:r>
                <a:r>
                  <a:rPr lang="en-US" sz="1200" dirty="0">
                    <a:solidFill>
                      <a:schemeClr val="tx1">
                        <a:lumMod val="95000"/>
                        <a:lumOff val="5000"/>
                      </a:schemeClr>
                    </a:solidFill>
                    <a:latin typeface="Times New Roman" panose="02020603050405020304" pitchFamily="18" charset="0"/>
                    <a:ea typeface="Consolas" pitchFamily="34" charset="-122"/>
                    <a:cs typeface="Times New Roman" panose="02020603050405020304" pitchFamily="18" charset="0"/>
                  </a:rPr>
                  <a:t>Σ|Qo − Qp| / Qo ) × 100 / n</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90" name="Text 28">
                <a:extLst>
                  <a:ext uri="{FF2B5EF4-FFF2-40B4-BE49-F238E27FC236}">
                    <a16:creationId xmlns:a16="http://schemas.microsoft.com/office/drawing/2014/main" id="{936DC1A9-CBFC-5A56-0691-5940CCA88D9B}"/>
                  </a:ext>
                </a:extLst>
              </p:cNvPr>
              <p:cNvSpPr/>
              <p:nvPr/>
            </p:nvSpPr>
            <p:spPr>
              <a:xfrm>
                <a:off x="7269480" y="2395728"/>
                <a:ext cx="804672" cy="274320"/>
              </a:xfrm>
              <a:prstGeom prst="rect">
                <a:avLst/>
              </a:prstGeom>
              <a:noFill/>
              <a:ln/>
            </p:spPr>
            <p:txBody>
              <a:bodyPr wrap="square" lIns="0" tIns="0" rIns="0" bIns="0" rtlCol="0" anchor="ctr"/>
              <a:lstStyle/>
              <a:p>
                <a:pPr marL="0" indent="0" algn="ctr">
                  <a:buNone/>
                </a:pPr>
                <a:r>
                  <a:rPr lang="en-US" sz="12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 0 </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91" name="Shape 29">
                <a:extLst>
                  <a:ext uri="{FF2B5EF4-FFF2-40B4-BE49-F238E27FC236}">
                    <a16:creationId xmlns:a16="http://schemas.microsoft.com/office/drawing/2014/main" id="{BBD7296C-FC75-D5BC-2B20-78AA27D288FA}"/>
                  </a:ext>
                </a:extLst>
              </p:cNvPr>
              <p:cNvSpPr/>
              <p:nvPr/>
            </p:nvSpPr>
            <p:spPr>
              <a:xfrm>
                <a:off x="457200" y="2770632"/>
                <a:ext cx="8321040" cy="475488"/>
              </a:xfrm>
              <a:prstGeom prst="rect">
                <a:avLst/>
              </a:prstGeom>
              <a:solidFill>
                <a:srgbClr val="F8FAFC"/>
              </a:solidFill>
              <a:ln w="12700">
                <a:solidFill>
                  <a:srgbClr val="F8FAFC"/>
                </a:solidFill>
                <a:prstDash val="solid"/>
              </a:ln>
            </p:spPr>
            <p:txBody>
              <a:bodyPr/>
              <a:lstStyle/>
              <a:p>
                <a:endParaRPr lang="en-IN"/>
              </a:p>
            </p:txBody>
          </p:sp>
          <p:sp>
            <p:nvSpPr>
              <p:cNvPr id="93" name="Text 31">
                <a:extLst>
                  <a:ext uri="{FF2B5EF4-FFF2-40B4-BE49-F238E27FC236}">
                    <a16:creationId xmlns:a16="http://schemas.microsoft.com/office/drawing/2014/main" id="{D3C1B554-FC80-A04B-E40B-C316CBEDC825}"/>
                  </a:ext>
                </a:extLst>
              </p:cNvPr>
              <p:cNvSpPr/>
              <p:nvPr/>
            </p:nvSpPr>
            <p:spPr>
              <a:xfrm>
                <a:off x="621792" y="2770632"/>
                <a:ext cx="658368" cy="475488"/>
              </a:xfrm>
              <a:prstGeom prst="rect">
                <a:avLst/>
              </a:prstGeom>
              <a:noFill/>
              <a:ln/>
            </p:spPr>
            <p:txBody>
              <a:bodyPr wrap="square" lIns="0" tIns="0" rIns="0" bIns="0" rtlCol="0" anchor="ctr"/>
              <a:lstStyle/>
              <a:p>
                <a:pPr marL="0" indent="0">
                  <a:buNone/>
                </a:pPr>
                <a:r>
                  <a:rPr lang="en-US" sz="12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NSE</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94" name="Text 32">
                <a:extLst>
                  <a:ext uri="{FF2B5EF4-FFF2-40B4-BE49-F238E27FC236}">
                    <a16:creationId xmlns:a16="http://schemas.microsoft.com/office/drawing/2014/main" id="{76D570D0-7CFE-43F8-FAAA-3599FBBCED97}"/>
                  </a:ext>
                </a:extLst>
              </p:cNvPr>
              <p:cNvSpPr/>
              <p:nvPr/>
            </p:nvSpPr>
            <p:spPr>
              <a:xfrm>
                <a:off x="1508760" y="2770632"/>
                <a:ext cx="2011680" cy="475488"/>
              </a:xfrm>
              <a:prstGeom prst="rect">
                <a:avLst/>
              </a:prstGeom>
              <a:noFill/>
              <a:ln/>
            </p:spPr>
            <p:txBody>
              <a:bodyPr wrap="square" lIns="0" tIns="0" rIns="0" bIns="0" rtlCol="0" anchor="ctr"/>
              <a:lstStyle/>
              <a:p>
                <a:pPr marL="0" indent="0">
                  <a:buNone/>
                </a:pPr>
                <a:r>
                  <a:rPr lang="en-US" sz="12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Nash–Sutcliffe Efficiency</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95" name="Text 33">
                <a:extLst>
                  <a:ext uri="{FF2B5EF4-FFF2-40B4-BE49-F238E27FC236}">
                    <a16:creationId xmlns:a16="http://schemas.microsoft.com/office/drawing/2014/main" id="{25668115-805D-AC31-AC42-59122224DABD}"/>
                  </a:ext>
                </a:extLst>
              </p:cNvPr>
              <p:cNvSpPr/>
              <p:nvPr/>
            </p:nvSpPr>
            <p:spPr>
              <a:xfrm>
                <a:off x="3611880" y="2770632"/>
                <a:ext cx="3429000" cy="475488"/>
              </a:xfrm>
              <a:prstGeom prst="rect">
                <a:avLst/>
              </a:prstGeom>
              <a:noFill/>
              <a:ln/>
            </p:spPr>
            <p:txBody>
              <a:bodyPr wrap="square" lIns="0" tIns="0" rIns="0" bIns="0" rtlCol="0" anchor="ctr"/>
              <a:lstStyle/>
              <a:p>
                <a:pPr marL="0" indent="0">
                  <a:buNone/>
                </a:pPr>
                <a:r>
                  <a:rPr lang="en-US" sz="1200" dirty="0">
                    <a:solidFill>
                      <a:schemeClr val="tx1">
                        <a:lumMod val="95000"/>
                        <a:lumOff val="5000"/>
                      </a:schemeClr>
                    </a:solidFill>
                    <a:latin typeface="Times New Roman" panose="02020603050405020304" pitchFamily="18" charset="0"/>
                    <a:ea typeface="Consolas" pitchFamily="34" charset="-122"/>
                    <a:cs typeface="Times New Roman" panose="02020603050405020304" pitchFamily="18" charset="0"/>
                  </a:rPr>
                  <a:t>1 − Σ(Qo−Qp)² / Σ(Qo−Q̄o)²</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97" name="Text 35">
                <a:extLst>
                  <a:ext uri="{FF2B5EF4-FFF2-40B4-BE49-F238E27FC236}">
                    <a16:creationId xmlns:a16="http://schemas.microsoft.com/office/drawing/2014/main" id="{26C0D7AA-C473-812A-6599-044757DCF638}"/>
                  </a:ext>
                </a:extLst>
              </p:cNvPr>
              <p:cNvSpPr/>
              <p:nvPr/>
            </p:nvSpPr>
            <p:spPr>
              <a:xfrm>
                <a:off x="7269480" y="2871216"/>
                <a:ext cx="804672" cy="274320"/>
              </a:xfrm>
              <a:prstGeom prst="rect">
                <a:avLst/>
              </a:prstGeom>
              <a:noFill/>
              <a:ln/>
            </p:spPr>
            <p:txBody>
              <a:bodyPr wrap="square" lIns="0" tIns="0" rIns="0" bIns="0" rtlCol="0" anchor="ctr"/>
              <a:lstStyle/>
              <a:p>
                <a:pPr marL="0" indent="0" algn="ctr">
                  <a:buNone/>
                </a:pPr>
                <a:r>
                  <a:rPr lang="en-US" sz="12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1.0</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98" name="Shape 36">
                <a:extLst>
                  <a:ext uri="{FF2B5EF4-FFF2-40B4-BE49-F238E27FC236}">
                    <a16:creationId xmlns:a16="http://schemas.microsoft.com/office/drawing/2014/main" id="{436BD6EE-0EF4-32C0-C49D-35B8D97A5A40}"/>
                  </a:ext>
                </a:extLst>
              </p:cNvPr>
              <p:cNvSpPr/>
              <p:nvPr/>
            </p:nvSpPr>
            <p:spPr>
              <a:xfrm>
                <a:off x="457200" y="3246120"/>
                <a:ext cx="8321040" cy="475488"/>
              </a:xfrm>
              <a:prstGeom prst="rect">
                <a:avLst/>
              </a:prstGeom>
              <a:solidFill>
                <a:srgbClr val="FFFFFF"/>
              </a:solidFill>
              <a:ln w="12700">
                <a:solidFill>
                  <a:srgbClr val="FFFFFF"/>
                </a:solidFill>
                <a:prstDash val="solid"/>
              </a:ln>
            </p:spPr>
            <p:txBody>
              <a:bodyPr/>
              <a:lstStyle/>
              <a:p>
                <a:endParaRPr lang="en-IN"/>
              </a:p>
            </p:txBody>
          </p:sp>
          <p:sp>
            <p:nvSpPr>
              <p:cNvPr id="100" name="Text 38">
                <a:extLst>
                  <a:ext uri="{FF2B5EF4-FFF2-40B4-BE49-F238E27FC236}">
                    <a16:creationId xmlns:a16="http://schemas.microsoft.com/office/drawing/2014/main" id="{ADFC7461-7EA8-1547-0589-9CA7869801CE}"/>
                  </a:ext>
                </a:extLst>
              </p:cNvPr>
              <p:cNvSpPr/>
              <p:nvPr/>
            </p:nvSpPr>
            <p:spPr>
              <a:xfrm>
                <a:off x="621792" y="3246120"/>
                <a:ext cx="658368" cy="475488"/>
              </a:xfrm>
              <a:prstGeom prst="rect">
                <a:avLst/>
              </a:prstGeom>
              <a:noFill/>
              <a:ln/>
            </p:spPr>
            <p:txBody>
              <a:bodyPr wrap="square" lIns="0" tIns="0" rIns="0" bIns="0" rtlCol="0" anchor="ctr"/>
              <a:lstStyle/>
              <a:p>
                <a:pPr marL="0" indent="0">
                  <a:buNone/>
                </a:pPr>
                <a:r>
                  <a:rPr lang="en-US" sz="12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R²</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01" name="Text 39">
                <a:extLst>
                  <a:ext uri="{FF2B5EF4-FFF2-40B4-BE49-F238E27FC236}">
                    <a16:creationId xmlns:a16="http://schemas.microsoft.com/office/drawing/2014/main" id="{EA8B76C0-DE8C-4B43-8BDE-283E8EB539AC}"/>
                  </a:ext>
                </a:extLst>
              </p:cNvPr>
              <p:cNvSpPr/>
              <p:nvPr/>
            </p:nvSpPr>
            <p:spPr>
              <a:xfrm>
                <a:off x="1508760" y="3246120"/>
                <a:ext cx="2011680" cy="475488"/>
              </a:xfrm>
              <a:prstGeom prst="rect">
                <a:avLst/>
              </a:prstGeom>
              <a:noFill/>
              <a:ln/>
            </p:spPr>
            <p:txBody>
              <a:bodyPr wrap="square" lIns="0" tIns="0" rIns="0" bIns="0" rtlCol="0" anchor="ctr"/>
              <a:lstStyle/>
              <a:p>
                <a:pPr marL="0" indent="0">
                  <a:buNone/>
                </a:pPr>
                <a:r>
                  <a:rPr lang="en-US" sz="12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Coefficient of Determination</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02" name="Text 40">
                <a:extLst>
                  <a:ext uri="{FF2B5EF4-FFF2-40B4-BE49-F238E27FC236}">
                    <a16:creationId xmlns:a16="http://schemas.microsoft.com/office/drawing/2014/main" id="{EA98C1B3-FED0-F023-54B4-A3CB1D04209C}"/>
                  </a:ext>
                </a:extLst>
              </p:cNvPr>
              <p:cNvSpPr/>
              <p:nvPr/>
            </p:nvSpPr>
            <p:spPr>
              <a:xfrm>
                <a:off x="3611880" y="3246120"/>
                <a:ext cx="3429000" cy="475488"/>
              </a:xfrm>
              <a:prstGeom prst="rect">
                <a:avLst/>
              </a:prstGeom>
              <a:noFill/>
              <a:ln/>
            </p:spPr>
            <p:txBody>
              <a:bodyPr wrap="square" lIns="0" tIns="0" rIns="0" bIns="0" rtlCol="0" anchor="ctr"/>
              <a:lstStyle/>
              <a:p>
                <a:pPr marL="0" indent="0">
                  <a:buNone/>
                </a:pPr>
                <a:r>
                  <a:rPr lang="en-US" sz="1200" dirty="0">
                    <a:solidFill>
                      <a:schemeClr val="tx1">
                        <a:lumMod val="95000"/>
                        <a:lumOff val="5000"/>
                      </a:schemeClr>
                    </a:solidFill>
                    <a:latin typeface="Times New Roman" panose="02020603050405020304" pitchFamily="18" charset="0"/>
                    <a:ea typeface="Consolas" pitchFamily="34" charset="-122"/>
                    <a:cs typeface="Times New Roman" panose="02020603050405020304" pitchFamily="18" charset="0"/>
                  </a:rPr>
                  <a:t>1 − Σ(Qo−Qp)² / Σ(Qo−Q̄o)²</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04" name="Text 42">
                <a:extLst>
                  <a:ext uri="{FF2B5EF4-FFF2-40B4-BE49-F238E27FC236}">
                    <a16:creationId xmlns:a16="http://schemas.microsoft.com/office/drawing/2014/main" id="{2365E4D9-6C2A-2966-8BDE-019725AF917B}"/>
                  </a:ext>
                </a:extLst>
              </p:cNvPr>
              <p:cNvSpPr/>
              <p:nvPr/>
            </p:nvSpPr>
            <p:spPr>
              <a:xfrm>
                <a:off x="7269480" y="3346704"/>
                <a:ext cx="804672" cy="274320"/>
              </a:xfrm>
              <a:prstGeom prst="rect">
                <a:avLst/>
              </a:prstGeom>
              <a:noFill/>
              <a:ln/>
            </p:spPr>
            <p:txBody>
              <a:bodyPr wrap="square" lIns="0" tIns="0" rIns="0" bIns="0" rtlCol="0" anchor="ctr"/>
              <a:lstStyle/>
              <a:p>
                <a:pPr marL="0" indent="0" algn="ctr">
                  <a:buNone/>
                </a:pPr>
                <a:r>
                  <a:rPr lang="en-US" sz="12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 1.0</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05" name="Shape 43">
                <a:extLst>
                  <a:ext uri="{FF2B5EF4-FFF2-40B4-BE49-F238E27FC236}">
                    <a16:creationId xmlns:a16="http://schemas.microsoft.com/office/drawing/2014/main" id="{F18BC69E-84C6-B786-CC04-7B463743A363}"/>
                  </a:ext>
                </a:extLst>
              </p:cNvPr>
              <p:cNvSpPr/>
              <p:nvPr/>
            </p:nvSpPr>
            <p:spPr>
              <a:xfrm>
                <a:off x="457200" y="3721608"/>
                <a:ext cx="8321040" cy="475488"/>
              </a:xfrm>
              <a:prstGeom prst="rect">
                <a:avLst/>
              </a:prstGeom>
              <a:solidFill>
                <a:srgbClr val="F8FAFC"/>
              </a:solidFill>
              <a:ln w="12700">
                <a:solidFill>
                  <a:srgbClr val="F8FAFC"/>
                </a:solidFill>
                <a:prstDash val="solid"/>
              </a:ln>
            </p:spPr>
            <p:txBody>
              <a:bodyPr/>
              <a:lstStyle/>
              <a:p>
                <a:endParaRPr lang="en-IN"/>
              </a:p>
            </p:txBody>
          </p:sp>
          <p:sp>
            <p:nvSpPr>
              <p:cNvPr id="107" name="Text 45">
                <a:extLst>
                  <a:ext uri="{FF2B5EF4-FFF2-40B4-BE49-F238E27FC236}">
                    <a16:creationId xmlns:a16="http://schemas.microsoft.com/office/drawing/2014/main" id="{96D9CE56-D287-C39D-E73A-5700A2882DE8}"/>
                  </a:ext>
                </a:extLst>
              </p:cNvPr>
              <p:cNvSpPr/>
              <p:nvPr/>
            </p:nvSpPr>
            <p:spPr>
              <a:xfrm>
                <a:off x="621792" y="3721608"/>
                <a:ext cx="658368" cy="475488"/>
              </a:xfrm>
              <a:prstGeom prst="rect">
                <a:avLst/>
              </a:prstGeom>
              <a:noFill/>
              <a:ln/>
            </p:spPr>
            <p:txBody>
              <a:bodyPr wrap="square" lIns="0" tIns="0" rIns="0" bIns="0" rtlCol="0" anchor="ctr"/>
              <a:lstStyle/>
              <a:p>
                <a:pPr marL="0" indent="0">
                  <a:buNone/>
                </a:pPr>
                <a:r>
                  <a:rPr lang="en-US" sz="12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Corr</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08" name="Text 46">
                <a:extLst>
                  <a:ext uri="{FF2B5EF4-FFF2-40B4-BE49-F238E27FC236}">
                    <a16:creationId xmlns:a16="http://schemas.microsoft.com/office/drawing/2014/main" id="{4D74DB69-0406-3D4F-19DA-F0CC6A5D4A5D}"/>
                  </a:ext>
                </a:extLst>
              </p:cNvPr>
              <p:cNvSpPr/>
              <p:nvPr/>
            </p:nvSpPr>
            <p:spPr>
              <a:xfrm>
                <a:off x="1508760" y="3721608"/>
                <a:ext cx="2011680" cy="475488"/>
              </a:xfrm>
              <a:prstGeom prst="rect">
                <a:avLst/>
              </a:prstGeom>
              <a:noFill/>
              <a:ln/>
            </p:spPr>
            <p:txBody>
              <a:bodyPr wrap="square" lIns="0" tIns="0" rIns="0" bIns="0" rtlCol="0" anchor="ctr"/>
              <a:lstStyle/>
              <a:p>
                <a:pPr marL="0" indent="0">
                  <a:buNone/>
                </a:pPr>
                <a:r>
                  <a:rPr lang="en-US" sz="120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Pearson Correlation</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09" name="Text 47">
                <a:extLst>
                  <a:ext uri="{FF2B5EF4-FFF2-40B4-BE49-F238E27FC236}">
                    <a16:creationId xmlns:a16="http://schemas.microsoft.com/office/drawing/2014/main" id="{71E61344-A4A8-5EDF-2EC3-4710E685AF80}"/>
                  </a:ext>
                </a:extLst>
              </p:cNvPr>
              <p:cNvSpPr/>
              <p:nvPr/>
            </p:nvSpPr>
            <p:spPr>
              <a:xfrm>
                <a:off x="3611880" y="3721608"/>
                <a:ext cx="3429000" cy="475488"/>
              </a:xfrm>
              <a:prstGeom prst="rect">
                <a:avLst/>
              </a:prstGeom>
              <a:noFill/>
              <a:ln/>
            </p:spPr>
            <p:txBody>
              <a:bodyPr wrap="square" lIns="0" tIns="0" rIns="0" bIns="0" rtlCol="0" anchor="ctr"/>
              <a:lstStyle/>
              <a:p>
                <a:pPr marL="0" indent="0">
                  <a:buNone/>
                </a:pPr>
                <a:r>
                  <a:rPr lang="en-US" sz="1200" dirty="0">
                    <a:solidFill>
                      <a:schemeClr val="tx1">
                        <a:lumMod val="95000"/>
                        <a:lumOff val="5000"/>
                      </a:schemeClr>
                    </a:solidFill>
                    <a:latin typeface="Times New Roman" panose="02020603050405020304" pitchFamily="18" charset="0"/>
                    <a:ea typeface="Consolas" pitchFamily="34" charset="-122"/>
                    <a:cs typeface="Times New Roman" panose="02020603050405020304" pitchFamily="18" charset="0"/>
                  </a:rPr>
                  <a:t>Σ(Qo−Q̄o)(Qp−Q̄p) / ( σo · σp · n )</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11" name="Text 49">
                <a:extLst>
                  <a:ext uri="{FF2B5EF4-FFF2-40B4-BE49-F238E27FC236}">
                    <a16:creationId xmlns:a16="http://schemas.microsoft.com/office/drawing/2014/main" id="{0EBEBDBE-5C48-A2C4-40FD-3A321D7BDCA2}"/>
                  </a:ext>
                </a:extLst>
              </p:cNvPr>
              <p:cNvSpPr/>
              <p:nvPr/>
            </p:nvSpPr>
            <p:spPr>
              <a:xfrm>
                <a:off x="7269480" y="3822192"/>
                <a:ext cx="804672" cy="274320"/>
              </a:xfrm>
              <a:prstGeom prst="rect">
                <a:avLst/>
              </a:prstGeom>
              <a:noFill/>
              <a:ln/>
            </p:spPr>
            <p:txBody>
              <a:bodyPr wrap="square" lIns="0" tIns="0" rIns="0" bIns="0" rtlCol="0" anchor="ctr"/>
              <a:lstStyle/>
              <a:p>
                <a:pPr marL="0" indent="0" algn="ctr">
                  <a:buNone/>
                </a:pPr>
                <a:r>
                  <a:rPr lang="en-US" sz="12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1.0</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14" name="Text 56">
                <a:extLst>
                  <a:ext uri="{FF2B5EF4-FFF2-40B4-BE49-F238E27FC236}">
                    <a16:creationId xmlns:a16="http://schemas.microsoft.com/office/drawing/2014/main" id="{0CA91FE4-F366-E1D1-F49B-1C24A2B8C745}"/>
                  </a:ext>
                </a:extLst>
              </p:cNvPr>
              <p:cNvSpPr/>
              <p:nvPr/>
            </p:nvSpPr>
            <p:spPr>
              <a:xfrm>
                <a:off x="7269480" y="4297680"/>
                <a:ext cx="804672" cy="274320"/>
              </a:xfrm>
              <a:prstGeom prst="rect">
                <a:avLst/>
              </a:prstGeom>
              <a:noFill/>
              <a:ln/>
            </p:spPr>
            <p:txBody>
              <a:bodyPr wrap="square" lIns="0" tIns="0" rIns="0" bIns="0" rtlCol="0" anchor="ctr"/>
              <a:lstStyle/>
              <a:p>
                <a:pPr marL="0" indent="0" algn="ctr">
                  <a:buNone/>
                </a:pPr>
                <a:r>
                  <a:rPr lang="en-US" sz="1200"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 0 %</a:t>
                </a:r>
                <a:endParaRPr lang="en-US" sz="12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grpSp>
        <p:sp>
          <p:nvSpPr>
            <p:cNvPr id="64" name="Shape 57">
              <a:extLst>
                <a:ext uri="{FF2B5EF4-FFF2-40B4-BE49-F238E27FC236}">
                  <a16:creationId xmlns:a16="http://schemas.microsoft.com/office/drawing/2014/main" id="{3A2403D0-6DE9-C3C6-B778-0E5DE5874A9E}"/>
                </a:ext>
              </a:extLst>
            </p:cNvPr>
            <p:cNvSpPr/>
            <p:nvPr/>
          </p:nvSpPr>
          <p:spPr>
            <a:xfrm>
              <a:off x="457200" y="4672584"/>
              <a:ext cx="8321040" cy="13716"/>
            </a:xfrm>
            <a:prstGeom prst="rect">
              <a:avLst/>
            </a:prstGeom>
            <a:solidFill>
              <a:srgbClr val="E2E8F0"/>
            </a:solidFill>
            <a:ln w="12700">
              <a:solidFill>
                <a:srgbClr val="E2E8F0"/>
              </a:solidFill>
              <a:prstDash val="solid"/>
            </a:ln>
          </p:spPr>
          <p:txBody>
            <a:bodyPr/>
            <a:lstStyle/>
            <a:p>
              <a:endParaRPr lang="en-IN"/>
            </a:p>
          </p:txBody>
        </p:sp>
      </p:grpSp>
      <p:sp>
        <p:nvSpPr>
          <p:cNvPr id="116" name="TextBox 115">
            <a:extLst>
              <a:ext uri="{FF2B5EF4-FFF2-40B4-BE49-F238E27FC236}">
                <a16:creationId xmlns:a16="http://schemas.microsoft.com/office/drawing/2014/main" id="{0A60E7B4-C02E-0000-0F86-27F8023E8F51}"/>
              </a:ext>
            </a:extLst>
          </p:cNvPr>
          <p:cNvSpPr txBox="1"/>
          <p:nvPr/>
        </p:nvSpPr>
        <p:spPr>
          <a:xfrm>
            <a:off x="8684005" y="4780950"/>
            <a:ext cx="350994"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13</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1451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424A2DD-23AE-E612-04D4-5346A4F6B66F}"/>
              </a:ext>
            </a:extLst>
          </p:cNvPr>
          <p:cNvGrpSpPr/>
          <p:nvPr/>
        </p:nvGrpSpPr>
        <p:grpSpPr>
          <a:xfrm>
            <a:off x="0" y="0"/>
            <a:ext cx="9144000" cy="713232"/>
            <a:chOff x="0" y="0"/>
            <a:chExt cx="9144000" cy="713232"/>
          </a:xfrm>
        </p:grpSpPr>
        <p:sp>
          <p:nvSpPr>
            <p:cNvPr id="3" name="Shape 0">
              <a:extLst>
                <a:ext uri="{FF2B5EF4-FFF2-40B4-BE49-F238E27FC236}">
                  <a16:creationId xmlns:a16="http://schemas.microsoft.com/office/drawing/2014/main" id="{D312F148-E90C-2DEA-4D83-AEBC41634BA9}"/>
                </a:ext>
              </a:extLst>
            </p:cNvPr>
            <p:cNvSpPr/>
            <p:nvPr/>
          </p:nvSpPr>
          <p:spPr>
            <a:xfrm>
              <a:off x="0" y="0"/>
              <a:ext cx="9144000" cy="658368"/>
            </a:xfrm>
            <a:prstGeom prst="rect">
              <a:avLst/>
            </a:prstGeom>
            <a:solidFill>
              <a:srgbClr val="0070C0"/>
            </a:solidFill>
            <a:ln w="12700">
              <a:solidFill>
                <a:srgbClr val="1E88E5"/>
              </a:solidFill>
              <a:prstDash val="solid"/>
            </a:ln>
          </p:spPr>
          <p:txBody>
            <a:bodyPr/>
            <a:lstStyle/>
            <a:p>
              <a:endParaRPr lang="en-IN"/>
            </a:p>
          </p:txBody>
        </p:sp>
        <p:sp>
          <p:nvSpPr>
            <p:cNvPr id="4" name="Shape 1">
              <a:extLst>
                <a:ext uri="{FF2B5EF4-FFF2-40B4-BE49-F238E27FC236}">
                  <a16:creationId xmlns:a16="http://schemas.microsoft.com/office/drawing/2014/main" id="{243578BC-5E5F-7225-56C4-BEA822133B86}"/>
                </a:ext>
              </a:extLst>
            </p:cNvPr>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5" name="Text 2">
              <a:extLst>
                <a:ext uri="{FF2B5EF4-FFF2-40B4-BE49-F238E27FC236}">
                  <a16:creationId xmlns:a16="http://schemas.microsoft.com/office/drawing/2014/main" id="{D1C4C9AA-F2E7-A903-1B96-5A21DAB00CDD}"/>
                </a:ext>
              </a:extLst>
            </p:cNvPr>
            <p:cNvSpPr/>
            <p:nvPr/>
          </p:nvSpPr>
          <p:spPr>
            <a:xfrm>
              <a:off x="274320" y="0"/>
              <a:ext cx="8595360" cy="658368"/>
            </a:xfrm>
            <a:prstGeom prst="rect">
              <a:avLst/>
            </a:prstGeom>
            <a:noFill/>
            <a:ln/>
          </p:spPr>
          <p:txBody>
            <a:bodyPr wrap="square" lIns="0" tIns="0" rIns="0" bIns="0" rtlCol="0" anchor="ctr"/>
            <a:lstStyle/>
            <a:p>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06  |  </a:t>
              </a:r>
              <a:r>
                <a:rPr lang="en-US" sz="2400" b="1" dirty="0">
                  <a:solidFill>
                    <a:srgbClr val="FFFFFF"/>
                  </a:solidFill>
                  <a:latin typeface="Times New Roman" panose="02020603050405020304" pitchFamily="18" charset="0"/>
                  <a:ea typeface="Calibri" pitchFamily="34" charset="-122"/>
                  <a:cs typeface="Times New Roman" panose="02020603050405020304" pitchFamily="18" charset="0"/>
                </a:rPr>
                <a:t>Methodology- Sensitivity Analysis </a:t>
              </a:r>
              <a:endParaRPr lang="en-US" sz="2400" dirty="0">
                <a:latin typeface="Times New Roman" panose="02020603050405020304" pitchFamily="18" charset="0"/>
                <a:cs typeface="Times New Roman" panose="02020603050405020304" pitchFamily="18" charset="0"/>
              </a:endParaRPr>
            </a:p>
          </p:txBody>
        </p:sp>
      </p:grpSp>
      <p:sp>
        <p:nvSpPr>
          <p:cNvPr id="6" name="TextBox 5">
            <a:extLst>
              <a:ext uri="{FF2B5EF4-FFF2-40B4-BE49-F238E27FC236}">
                <a16:creationId xmlns:a16="http://schemas.microsoft.com/office/drawing/2014/main" id="{463597FE-9679-C2CF-D2BA-D9250ABCDF2B}"/>
              </a:ext>
            </a:extLst>
          </p:cNvPr>
          <p:cNvSpPr txBox="1"/>
          <p:nvPr/>
        </p:nvSpPr>
        <p:spPr>
          <a:xfrm>
            <a:off x="8684005" y="4780950"/>
            <a:ext cx="350994"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14</a:t>
            </a:r>
            <a:endParaRPr lang="en-IN" sz="1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A625433-DC42-DD89-B7E8-ECC1A5F1C032}"/>
              </a:ext>
            </a:extLst>
          </p:cNvPr>
          <p:cNvSpPr txBox="1"/>
          <p:nvPr/>
        </p:nvSpPr>
        <p:spPr>
          <a:xfrm>
            <a:off x="417839" y="1205070"/>
            <a:ext cx="5335009" cy="369332"/>
          </a:xfrm>
          <a:prstGeom prst="rect">
            <a:avLst/>
          </a:prstGeom>
          <a:noFill/>
        </p:spPr>
        <p:txBody>
          <a:bodyPr wrap="square" rtlCol="0">
            <a:spAutoFit/>
          </a:bodyPr>
          <a:lstStyle/>
          <a:p>
            <a:r>
              <a:rPr lang="en-US" b="1" dirty="0">
                <a:solidFill>
                  <a:schemeClr val="bg2">
                    <a:lumMod val="25000"/>
                  </a:schemeClr>
                </a:solidFill>
                <a:latin typeface="Times New Roman" panose="02020603050405020304" pitchFamily="18" charset="0"/>
                <a:cs typeface="Times New Roman" panose="02020603050405020304" pitchFamily="18" charset="0"/>
              </a:rPr>
              <a:t>One At Time</a:t>
            </a:r>
            <a:endParaRPr lang="en-IN" b="1" dirty="0">
              <a:solidFill>
                <a:schemeClr val="bg2">
                  <a:lumMod val="25000"/>
                </a:schemeClr>
              </a:solidFill>
              <a:latin typeface="Times New Roman" panose="02020603050405020304" pitchFamily="18" charset="0"/>
              <a:cs typeface="Times New Roman" panose="02020603050405020304" pitchFamily="18" charset="0"/>
            </a:endParaRPr>
          </a:p>
        </p:txBody>
      </p:sp>
      <p:grpSp>
        <p:nvGrpSpPr>
          <p:cNvPr id="8" name="Group 7">
            <a:extLst>
              <a:ext uri="{FF2B5EF4-FFF2-40B4-BE49-F238E27FC236}">
                <a16:creationId xmlns:a16="http://schemas.microsoft.com/office/drawing/2014/main" id="{8BD1B9C2-97C7-12E9-F3EF-7E0B8AB6AA0C}"/>
              </a:ext>
            </a:extLst>
          </p:cNvPr>
          <p:cNvGrpSpPr/>
          <p:nvPr/>
        </p:nvGrpSpPr>
        <p:grpSpPr>
          <a:xfrm>
            <a:off x="492080" y="1837944"/>
            <a:ext cx="3072384" cy="2185416"/>
            <a:chOff x="237744" y="2157984"/>
            <a:chExt cx="3072384" cy="2185416"/>
          </a:xfrm>
        </p:grpSpPr>
        <p:sp>
          <p:nvSpPr>
            <p:cNvPr id="9" name="Text 8">
              <a:extLst>
                <a:ext uri="{FF2B5EF4-FFF2-40B4-BE49-F238E27FC236}">
                  <a16:creationId xmlns:a16="http://schemas.microsoft.com/office/drawing/2014/main" id="{0AA5FD5F-12F0-A1CA-9A2E-72A61DE3C300}"/>
                </a:ext>
              </a:extLst>
            </p:cNvPr>
            <p:cNvSpPr/>
            <p:nvPr/>
          </p:nvSpPr>
          <p:spPr>
            <a:xfrm>
              <a:off x="658368" y="2167128"/>
              <a:ext cx="2651760" cy="310896"/>
            </a:xfrm>
            <a:prstGeom prst="rect">
              <a:avLst/>
            </a:prstGeom>
            <a:noFill/>
            <a:ln/>
          </p:spPr>
          <p:txBody>
            <a:bodyPr wrap="square" rtlCol="0" anchor="ctr"/>
            <a:lstStyle/>
            <a:p>
              <a:pPr marL="0" indent="0">
                <a:buNone/>
              </a:pPr>
              <a:r>
                <a:rPr lang="en-US" sz="12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Fix all features at original values</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0" name="Text 11">
              <a:extLst>
                <a:ext uri="{FF2B5EF4-FFF2-40B4-BE49-F238E27FC236}">
                  <a16:creationId xmlns:a16="http://schemas.microsoft.com/office/drawing/2014/main" id="{BEF41881-4F0F-6F0F-D100-E29F4216DE77}"/>
                </a:ext>
              </a:extLst>
            </p:cNvPr>
            <p:cNvSpPr/>
            <p:nvPr/>
          </p:nvSpPr>
          <p:spPr>
            <a:xfrm>
              <a:off x="658368" y="2788920"/>
              <a:ext cx="2651760" cy="310896"/>
            </a:xfrm>
            <a:prstGeom prst="rect">
              <a:avLst/>
            </a:prstGeom>
            <a:noFill/>
            <a:ln/>
          </p:spPr>
          <p:txBody>
            <a:bodyPr wrap="square" rtlCol="0" anchor="ctr"/>
            <a:lstStyle/>
            <a:p>
              <a:pPr marL="0" indent="0">
                <a:buNone/>
              </a:pPr>
              <a:r>
                <a:rPr lang="en-US" sz="12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Perturb one feature by ±10%</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1" name="Text 14">
              <a:extLst>
                <a:ext uri="{FF2B5EF4-FFF2-40B4-BE49-F238E27FC236}">
                  <a16:creationId xmlns:a16="http://schemas.microsoft.com/office/drawing/2014/main" id="{37809EE8-129C-5066-E9CC-C8F90445EECF}"/>
                </a:ext>
              </a:extLst>
            </p:cNvPr>
            <p:cNvSpPr/>
            <p:nvPr/>
          </p:nvSpPr>
          <p:spPr>
            <a:xfrm>
              <a:off x="658368" y="3410712"/>
              <a:ext cx="2651760" cy="310896"/>
            </a:xfrm>
            <a:prstGeom prst="rect">
              <a:avLst/>
            </a:prstGeom>
            <a:noFill/>
            <a:ln/>
          </p:spPr>
          <p:txBody>
            <a:bodyPr wrap="square" rtlCol="0" anchor="ctr"/>
            <a:lstStyle/>
            <a:p>
              <a:pPr marL="0" indent="0">
                <a:buNone/>
              </a:pPr>
              <a:r>
                <a:rPr lang="en-US" sz="12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Record change in model output</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p:txBody>
        </p:sp>
        <p:grpSp>
          <p:nvGrpSpPr>
            <p:cNvPr id="12" name="Group 11">
              <a:extLst>
                <a:ext uri="{FF2B5EF4-FFF2-40B4-BE49-F238E27FC236}">
                  <a16:creationId xmlns:a16="http://schemas.microsoft.com/office/drawing/2014/main" id="{93AE1AA5-1B68-68CA-BA22-65C3606A03A5}"/>
                </a:ext>
              </a:extLst>
            </p:cNvPr>
            <p:cNvGrpSpPr/>
            <p:nvPr/>
          </p:nvGrpSpPr>
          <p:grpSpPr>
            <a:xfrm>
              <a:off x="237744" y="2157984"/>
              <a:ext cx="320040" cy="2185416"/>
              <a:chOff x="237744" y="2157984"/>
              <a:chExt cx="320040" cy="2185416"/>
            </a:xfrm>
          </p:grpSpPr>
          <p:sp>
            <p:nvSpPr>
              <p:cNvPr id="14" name="Shape 6">
                <a:extLst>
                  <a:ext uri="{FF2B5EF4-FFF2-40B4-BE49-F238E27FC236}">
                    <a16:creationId xmlns:a16="http://schemas.microsoft.com/office/drawing/2014/main" id="{0108B6A8-4436-322F-095C-AC8F8FC5854C}"/>
                  </a:ext>
                </a:extLst>
              </p:cNvPr>
              <p:cNvSpPr/>
              <p:nvPr/>
            </p:nvSpPr>
            <p:spPr>
              <a:xfrm>
                <a:off x="237744" y="2157984"/>
                <a:ext cx="320040" cy="320040"/>
              </a:xfrm>
              <a:prstGeom prst="ellipse">
                <a:avLst/>
              </a:prstGeom>
              <a:solidFill>
                <a:srgbClr val="0A7EA4"/>
              </a:solidFill>
              <a:ln w="12700">
                <a:solidFill>
                  <a:srgbClr val="0A7EA4"/>
                </a:solidFill>
                <a:prstDash val="solid"/>
              </a:ln>
            </p:spPr>
            <p:txBody>
              <a:bodyPr/>
              <a:lstStyle/>
              <a:p>
                <a:endParaRPr lang="en-IN"/>
              </a:p>
            </p:txBody>
          </p:sp>
          <p:sp>
            <p:nvSpPr>
              <p:cNvPr id="15" name="Text 7">
                <a:extLst>
                  <a:ext uri="{FF2B5EF4-FFF2-40B4-BE49-F238E27FC236}">
                    <a16:creationId xmlns:a16="http://schemas.microsoft.com/office/drawing/2014/main" id="{183AF9FB-14C1-8748-FC3F-BAF976D07C18}"/>
                  </a:ext>
                </a:extLst>
              </p:cNvPr>
              <p:cNvSpPr/>
              <p:nvPr/>
            </p:nvSpPr>
            <p:spPr>
              <a:xfrm>
                <a:off x="237744" y="2157984"/>
                <a:ext cx="320040" cy="320040"/>
              </a:xfrm>
              <a:prstGeom prst="rect">
                <a:avLst/>
              </a:prstGeom>
              <a:noFill/>
              <a:ln/>
            </p:spPr>
            <p:txBody>
              <a:bodyPr wrap="square" rtlCol="0" anchor="ctr"/>
              <a:lstStyle/>
              <a:p>
                <a:pPr marL="0" indent="0" algn="ctr">
                  <a:buNone/>
                </a:pPr>
                <a:r>
                  <a:rPr lang="en-US" sz="1200" b="1"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1</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6" name="Shape 9">
                <a:extLst>
                  <a:ext uri="{FF2B5EF4-FFF2-40B4-BE49-F238E27FC236}">
                    <a16:creationId xmlns:a16="http://schemas.microsoft.com/office/drawing/2014/main" id="{9C1A26E4-54C5-8525-05C0-66606CAB4770}"/>
                  </a:ext>
                </a:extLst>
              </p:cNvPr>
              <p:cNvSpPr/>
              <p:nvPr/>
            </p:nvSpPr>
            <p:spPr>
              <a:xfrm>
                <a:off x="237744" y="2779776"/>
                <a:ext cx="320040" cy="320040"/>
              </a:xfrm>
              <a:prstGeom prst="ellipse">
                <a:avLst/>
              </a:prstGeom>
              <a:solidFill>
                <a:srgbClr val="0A7EA4"/>
              </a:solidFill>
              <a:ln w="12700">
                <a:solidFill>
                  <a:srgbClr val="0A7EA4"/>
                </a:solidFill>
                <a:prstDash val="solid"/>
              </a:ln>
            </p:spPr>
            <p:txBody>
              <a:bodyPr/>
              <a:lstStyle/>
              <a:p>
                <a:endParaRPr lang="en-IN"/>
              </a:p>
            </p:txBody>
          </p:sp>
          <p:sp>
            <p:nvSpPr>
              <p:cNvPr id="17" name="Text 10">
                <a:extLst>
                  <a:ext uri="{FF2B5EF4-FFF2-40B4-BE49-F238E27FC236}">
                    <a16:creationId xmlns:a16="http://schemas.microsoft.com/office/drawing/2014/main" id="{C4E9F7E9-5EBF-C303-D05F-A49351E4B091}"/>
                  </a:ext>
                </a:extLst>
              </p:cNvPr>
              <p:cNvSpPr/>
              <p:nvPr/>
            </p:nvSpPr>
            <p:spPr>
              <a:xfrm>
                <a:off x="237744" y="2779776"/>
                <a:ext cx="320040" cy="320040"/>
              </a:xfrm>
              <a:prstGeom prst="rect">
                <a:avLst/>
              </a:prstGeom>
              <a:noFill/>
              <a:ln/>
            </p:spPr>
            <p:txBody>
              <a:bodyPr wrap="square" rtlCol="0" anchor="ctr"/>
              <a:lstStyle/>
              <a:p>
                <a:pPr marL="0" indent="0" algn="ctr">
                  <a:buNone/>
                </a:pPr>
                <a:r>
                  <a:rPr lang="en-US" sz="1200" b="1"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2</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8" name="Shape 12">
                <a:extLst>
                  <a:ext uri="{FF2B5EF4-FFF2-40B4-BE49-F238E27FC236}">
                    <a16:creationId xmlns:a16="http://schemas.microsoft.com/office/drawing/2014/main" id="{652777BC-BE67-D664-1191-C2C53FD84B84}"/>
                  </a:ext>
                </a:extLst>
              </p:cNvPr>
              <p:cNvSpPr/>
              <p:nvPr/>
            </p:nvSpPr>
            <p:spPr>
              <a:xfrm>
                <a:off x="237744" y="3401568"/>
                <a:ext cx="320040" cy="320040"/>
              </a:xfrm>
              <a:prstGeom prst="ellipse">
                <a:avLst/>
              </a:prstGeom>
              <a:solidFill>
                <a:srgbClr val="0A7EA4"/>
              </a:solidFill>
              <a:ln w="12700">
                <a:solidFill>
                  <a:srgbClr val="0A7EA4"/>
                </a:solidFill>
                <a:prstDash val="solid"/>
              </a:ln>
            </p:spPr>
            <p:txBody>
              <a:bodyPr/>
              <a:lstStyle/>
              <a:p>
                <a:endParaRPr lang="en-IN"/>
              </a:p>
            </p:txBody>
          </p:sp>
          <p:sp>
            <p:nvSpPr>
              <p:cNvPr id="19" name="Text 13">
                <a:extLst>
                  <a:ext uri="{FF2B5EF4-FFF2-40B4-BE49-F238E27FC236}">
                    <a16:creationId xmlns:a16="http://schemas.microsoft.com/office/drawing/2014/main" id="{C121611B-4946-CDF1-0C0A-628F632C845B}"/>
                  </a:ext>
                </a:extLst>
              </p:cNvPr>
              <p:cNvSpPr/>
              <p:nvPr/>
            </p:nvSpPr>
            <p:spPr>
              <a:xfrm>
                <a:off x="237744" y="3401568"/>
                <a:ext cx="320040" cy="320040"/>
              </a:xfrm>
              <a:prstGeom prst="rect">
                <a:avLst/>
              </a:prstGeom>
              <a:noFill/>
              <a:ln/>
            </p:spPr>
            <p:txBody>
              <a:bodyPr wrap="square" rtlCol="0" anchor="ctr"/>
              <a:lstStyle/>
              <a:p>
                <a:pPr marL="0" indent="0" algn="ctr">
                  <a:buNone/>
                </a:pPr>
                <a:r>
                  <a:rPr lang="en-US" sz="1200" b="1"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3</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20" name="Shape 15">
                <a:extLst>
                  <a:ext uri="{FF2B5EF4-FFF2-40B4-BE49-F238E27FC236}">
                    <a16:creationId xmlns:a16="http://schemas.microsoft.com/office/drawing/2014/main" id="{8A74B5E4-A3E5-B25E-9D8D-D9B9371387D9}"/>
                  </a:ext>
                </a:extLst>
              </p:cNvPr>
              <p:cNvSpPr/>
              <p:nvPr/>
            </p:nvSpPr>
            <p:spPr>
              <a:xfrm>
                <a:off x="237744" y="4023360"/>
                <a:ext cx="320040" cy="320040"/>
              </a:xfrm>
              <a:prstGeom prst="ellipse">
                <a:avLst/>
              </a:prstGeom>
              <a:solidFill>
                <a:srgbClr val="0A7EA4"/>
              </a:solidFill>
              <a:ln w="12700">
                <a:solidFill>
                  <a:srgbClr val="0A7EA4"/>
                </a:solidFill>
                <a:prstDash val="solid"/>
              </a:ln>
            </p:spPr>
            <p:txBody>
              <a:bodyPr/>
              <a:lstStyle/>
              <a:p>
                <a:endParaRPr lang="en-IN"/>
              </a:p>
            </p:txBody>
          </p:sp>
          <p:sp>
            <p:nvSpPr>
              <p:cNvPr id="21" name="Text 16">
                <a:extLst>
                  <a:ext uri="{FF2B5EF4-FFF2-40B4-BE49-F238E27FC236}">
                    <a16:creationId xmlns:a16="http://schemas.microsoft.com/office/drawing/2014/main" id="{8AD085AD-77BE-8413-722A-87F3DAEF7178}"/>
                  </a:ext>
                </a:extLst>
              </p:cNvPr>
              <p:cNvSpPr/>
              <p:nvPr/>
            </p:nvSpPr>
            <p:spPr>
              <a:xfrm>
                <a:off x="237744" y="4023360"/>
                <a:ext cx="320040" cy="320040"/>
              </a:xfrm>
              <a:prstGeom prst="rect">
                <a:avLst/>
              </a:prstGeom>
              <a:noFill/>
              <a:ln/>
            </p:spPr>
            <p:txBody>
              <a:bodyPr wrap="square" rtlCol="0" anchor="ctr"/>
              <a:lstStyle/>
              <a:p>
                <a:pPr marL="0" indent="0" algn="ctr">
                  <a:buNone/>
                </a:pPr>
                <a:r>
                  <a:rPr lang="en-US" sz="1200" b="1"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4</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p:txBody>
          </p:sp>
        </p:grpSp>
        <p:sp>
          <p:nvSpPr>
            <p:cNvPr id="13" name="Text 17">
              <a:extLst>
                <a:ext uri="{FF2B5EF4-FFF2-40B4-BE49-F238E27FC236}">
                  <a16:creationId xmlns:a16="http://schemas.microsoft.com/office/drawing/2014/main" id="{D4143EDF-F5F7-4884-201A-6414588EA843}"/>
                </a:ext>
              </a:extLst>
            </p:cNvPr>
            <p:cNvSpPr/>
            <p:nvPr/>
          </p:nvSpPr>
          <p:spPr>
            <a:xfrm>
              <a:off x="658368" y="4032504"/>
              <a:ext cx="2651760" cy="310896"/>
            </a:xfrm>
            <a:prstGeom prst="rect">
              <a:avLst/>
            </a:prstGeom>
            <a:noFill/>
            <a:ln/>
          </p:spPr>
          <p:txBody>
            <a:bodyPr wrap="square" rtlCol="0" anchor="ctr"/>
            <a:lstStyle/>
            <a:p>
              <a:pPr marL="0" indent="0">
                <a:buNone/>
              </a:pPr>
              <a:r>
                <a:rPr lang="en-US" sz="1200"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Repeat for each feature</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p:txBody>
        </p:sp>
      </p:grpSp>
      <p:grpSp>
        <p:nvGrpSpPr>
          <p:cNvPr id="22" name="Group 21">
            <a:extLst>
              <a:ext uri="{FF2B5EF4-FFF2-40B4-BE49-F238E27FC236}">
                <a16:creationId xmlns:a16="http://schemas.microsoft.com/office/drawing/2014/main" id="{29BC8B30-E4E6-4E7E-FD6C-065A7B2697CC}"/>
              </a:ext>
            </a:extLst>
          </p:cNvPr>
          <p:cNvGrpSpPr/>
          <p:nvPr/>
        </p:nvGrpSpPr>
        <p:grpSpPr>
          <a:xfrm>
            <a:off x="3680611" y="2152655"/>
            <a:ext cx="5239512" cy="1664208"/>
            <a:chOff x="3703320" y="237744"/>
            <a:chExt cx="5239512" cy="1664208"/>
          </a:xfrm>
        </p:grpSpPr>
        <p:sp>
          <p:nvSpPr>
            <p:cNvPr id="23" name="Shape 18">
              <a:extLst>
                <a:ext uri="{FF2B5EF4-FFF2-40B4-BE49-F238E27FC236}">
                  <a16:creationId xmlns:a16="http://schemas.microsoft.com/office/drawing/2014/main" id="{3A4B1E69-1E10-9C2C-D0AC-0F24BC230923}"/>
                </a:ext>
              </a:extLst>
            </p:cNvPr>
            <p:cNvSpPr/>
            <p:nvPr/>
          </p:nvSpPr>
          <p:spPr>
            <a:xfrm>
              <a:off x="3703320" y="237744"/>
              <a:ext cx="5239512" cy="1664208"/>
            </a:xfrm>
            <a:prstGeom prst="rect">
              <a:avLst/>
            </a:prstGeom>
            <a:solidFill>
              <a:srgbClr val="D4EAF5"/>
            </a:solidFill>
            <a:ln w="15240">
              <a:solidFill>
                <a:srgbClr val="0A7EA4"/>
              </a:solidFill>
              <a:prstDash val="solid"/>
            </a:ln>
          </p:spPr>
          <p:txBody>
            <a:bodyPr/>
            <a:lstStyle/>
            <a:p>
              <a:endParaRPr lang="en-IN"/>
            </a:p>
          </p:txBody>
        </p:sp>
        <p:sp>
          <p:nvSpPr>
            <p:cNvPr id="24" name="Text 19">
              <a:extLst>
                <a:ext uri="{FF2B5EF4-FFF2-40B4-BE49-F238E27FC236}">
                  <a16:creationId xmlns:a16="http://schemas.microsoft.com/office/drawing/2014/main" id="{9546E8E8-8E32-6EA0-FF2A-98C57FA50331}"/>
                </a:ext>
              </a:extLst>
            </p:cNvPr>
            <p:cNvSpPr/>
            <p:nvPr/>
          </p:nvSpPr>
          <p:spPr>
            <a:xfrm>
              <a:off x="3822192" y="274320"/>
              <a:ext cx="3200400" cy="292608"/>
            </a:xfrm>
            <a:prstGeom prst="rect">
              <a:avLst/>
            </a:prstGeom>
            <a:noFill/>
            <a:ln/>
          </p:spPr>
          <p:txBody>
            <a:bodyPr wrap="square" rtlCol="0" anchor="ctr"/>
            <a:lstStyle/>
            <a:p>
              <a:pPr marL="0" indent="0">
                <a:buNone/>
              </a:pPr>
              <a:r>
                <a:rPr lang="en-US" sz="1200" b="1" dirty="0">
                  <a:solidFill>
                    <a:srgbClr val="0A7EA4"/>
                  </a:solidFill>
                  <a:latin typeface="Times New Roman" panose="02020603050405020304" pitchFamily="18" charset="0"/>
                  <a:ea typeface="Calibri" pitchFamily="34" charset="-122"/>
                  <a:cs typeface="Times New Roman" panose="02020603050405020304" pitchFamily="18" charset="0"/>
                </a:rPr>
                <a:t>Sensitivity Formula</a:t>
              </a:r>
              <a:endParaRPr lang="en-US" sz="1200" dirty="0">
                <a:latin typeface="Times New Roman" panose="02020603050405020304" pitchFamily="18" charset="0"/>
                <a:cs typeface="Times New Roman" panose="02020603050405020304" pitchFamily="18" charset="0"/>
              </a:endParaRPr>
            </a:p>
          </p:txBody>
        </p:sp>
        <p:sp>
          <p:nvSpPr>
            <p:cNvPr id="25" name="Text 20">
              <a:extLst>
                <a:ext uri="{FF2B5EF4-FFF2-40B4-BE49-F238E27FC236}">
                  <a16:creationId xmlns:a16="http://schemas.microsoft.com/office/drawing/2014/main" id="{60532A91-71CD-CE40-BCC5-30D069ACF983}"/>
                </a:ext>
              </a:extLst>
            </p:cNvPr>
            <p:cNvSpPr/>
            <p:nvPr/>
          </p:nvSpPr>
          <p:spPr>
            <a:xfrm>
              <a:off x="3822192" y="594360"/>
              <a:ext cx="4937760" cy="502920"/>
            </a:xfrm>
            <a:prstGeom prst="rect">
              <a:avLst/>
            </a:prstGeom>
            <a:noFill/>
            <a:ln/>
          </p:spPr>
          <p:txBody>
            <a:bodyPr wrap="square" rtlCol="0" anchor="ctr"/>
            <a:lstStyle/>
            <a:p>
              <a:pPr marL="0" indent="0">
                <a:buNone/>
              </a:pPr>
              <a:r>
                <a:rPr lang="en-US" sz="1200" b="1" dirty="0">
                  <a:solidFill>
                    <a:srgbClr val="1A3A52"/>
                  </a:solidFill>
                  <a:latin typeface="Times New Roman" panose="02020603050405020304" pitchFamily="18" charset="0"/>
                  <a:ea typeface="Calibri" pitchFamily="34" charset="-122"/>
                  <a:cs typeface="Times New Roman" panose="02020603050405020304" pitchFamily="18" charset="0"/>
                </a:rPr>
                <a:t>S</a:t>
              </a:r>
              <a:r>
                <a:rPr lang="en-US" sz="1200" baseline="-500" dirty="0">
                  <a:solidFill>
                    <a:srgbClr val="1A3A52"/>
                  </a:solidFill>
                  <a:latin typeface="Times New Roman" panose="02020603050405020304" pitchFamily="18" charset="0"/>
                  <a:ea typeface="Calibri" pitchFamily="34" charset="-122"/>
                  <a:cs typeface="Times New Roman" panose="02020603050405020304" pitchFamily="18" charset="0"/>
                </a:rPr>
                <a:t>i</a:t>
              </a:r>
              <a:r>
                <a:rPr lang="en-US" sz="1200" dirty="0">
                  <a:solidFill>
                    <a:srgbClr val="1A3A52"/>
                  </a:solidFill>
                  <a:latin typeface="Times New Roman" panose="02020603050405020304" pitchFamily="18" charset="0"/>
                  <a:ea typeface="Calibri" pitchFamily="34" charset="-122"/>
                  <a:cs typeface="Times New Roman" panose="02020603050405020304" pitchFamily="18" charset="0"/>
                </a:rPr>
                <a:t>  =  1</a:t>
              </a:r>
              <a:r>
                <a:rPr lang="en-US" sz="1200" b="1" dirty="0">
                  <a:solidFill>
                    <a:srgbClr val="0A7EA4"/>
                  </a:solidFill>
                  <a:latin typeface="Times New Roman" panose="02020603050405020304" pitchFamily="18" charset="0"/>
                  <a:ea typeface="Calibri" pitchFamily="34" charset="-122"/>
                  <a:cs typeface="Times New Roman" panose="02020603050405020304" pitchFamily="18" charset="0"/>
                </a:rPr>
                <a:t>⁄</a:t>
              </a:r>
              <a:r>
                <a:rPr lang="en-US" sz="1200" dirty="0">
                  <a:solidFill>
                    <a:srgbClr val="1A3A52"/>
                  </a:solidFill>
                  <a:latin typeface="Times New Roman" panose="02020603050405020304" pitchFamily="18" charset="0"/>
                  <a:ea typeface="Calibri" pitchFamily="34" charset="-122"/>
                  <a:cs typeface="Times New Roman" panose="02020603050405020304" pitchFamily="18" charset="0"/>
                </a:rPr>
                <a:t>2  ×  [ |ŷ⁺ − ŷ</a:t>
              </a:r>
              <a:r>
                <a:rPr lang="en-US" sz="1200" baseline="-400" dirty="0">
                  <a:solidFill>
                    <a:srgbClr val="1A3A52"/>
                  </a:solidFill>
                  <a:latin typeface="Times New Roman" panose="02020603050405020304" pitchFamily="18" charset="0"/>
                  <a:ea typeface="Calibri" pitchFamily="34" charset="-122"/>
                  <a:cs typeface="Times New Roman" panose="02020603050405020304" pitchFamily="18" charset="0"/>
                </a:rPr>
                <a:t>base</a:t>
              </a:r>
              <a:r>
                <a:rPr lang="en-US" sz="1200" dirty="0">
                  <a:solidFill>
                    <a:srgbClr val="1A3A52"/>
                  </a:solidFill>
                  <a:latin typeface="Times New Roman" panose="02020603050405020304" pitchFamily="18" charset="0"/>
                  <a:ea typeface="Calibri" pitchFamily="34" charset="-122"/>
                  <a:cs typeface="Times New Roman" panose="02020603050405020304" pitchFamily="18" charset="0"/>
                </a:rPr>
                <a:t>| + |ŷ⁻ − ŷ</a:t>
              </a:r>
              <a:r>
                <a:rPr lang="en-US" sz="1200" baseline="-400" dirty="0">
                  <a:solidFill>
                    <a:srgbClr val="1A3A52"/>
                  </a:solidFill>
                  <a:latin typeface="Times New Roman" panose="02020603050405020304" pitchFamily="18" charset="0"/>
                  <a:ea typeface="Calibri" pitchFamily="34" charset="-122"/>
                  <a:cs typeface="Times New Roman" panose="02020603050405020304" pitchFamily="18" charset="0"/>
                </a:rPr>
                <a:t>base</a:t>
              </a:r>
              <a:r>
                <a:rPr lang="en-US" sz="1200" dirty="0">
                  <a:solidFill>
                    <a:srgbClr val="1A3A52"/>
                  </a:solidFill>
                  <a:latin typeface="Times New Roman" panose="02020603050405020304" pitchFamily="18" charset="0"/>
                  <a:ea typeface="Calibri" pitchFamily="34" charset="-122"/>
                  <a:cs typeface="Times New Roman" panose="02020603050405020304" pitchFamily="18" charset="0"/>
                </a:rPr>
                <a:t>| ]</a:t>
              </a:r>
              <a:endParaRPr lang="en-US" sz="1200" dirty="0">
                <a:latin typeface="Times New Roman" panose="02020603050405020304" pitchFamily="18" charset="0"/>
                <a:cs typeface="Times New Roman" panose="02020603050405020304" pitchFamily="18" charset="0"/>
              </a:endParaRPr>
            </a:p>
          </p:txBody>
        </p:sp>
        <p:sp>
          <p:nvSpPr>
            <p:cNvPr id="26" name="Text 21">
              <a:extLst>
                <a:ext uri="{FF2B5EF4-FFF2-40B4-BE49-F238E27FC236}">
                  <a16:creationId xmlns:a16="http://schemas.microsoft.com/office/drawing/2014/main" id="{2C2EADFA-BECD-DEFC-2BCF-366F0C7CB35D}"/>
                </a:ext>
              </a:extLst>
            </p:cNvPr>
            <p:cNvSpPr/>
            <p:nvPr/>
          </p:nvSpPr>
          <p:spPr>
            <a:xfrm>
              <a:off x="3822192" y="1097280"/>
              <a:ext cx="1234440" cy="256032"/>
            </a:xfrm>
            <a:prstGeom prst="rect">
              <a:avLst/>
            </a:prstGeom>
            <a:noFill/>
            <a:ln/>
          </p:spPr>
          <p:txBody>
            <a:bodyPr wrap="square" rtlCol="0" anchor="ctr"/>
            <a:lstStyle/>
            <a:p>
              <a:pPr marL="0" indent="0">
                <a:buNone/>
              </a:pPr>
              <a:r>
                <a:rPr lang="en-US" sz="1200" b="1" dirty="0">
                  <a:solidFill>
                    <a:srgbClr val="0A7EA4"/>
                  </a:solidFill>
                  <a:latin typeface="Times New Roman" panose="02020603050405020304" pitchFamily="18" charset="0"/>
                  <a:ea typeface="Calibri" pitchFamily="34" charset="-122"/>
                  <a:cs typeface="Times New Roman" panose="02020603050405020304" pitchFamily="18" charset="0"/>
                </a:rPr>
                <a:t>ŷbase</a:t>
              </a:r>
              <a:endParaRPr lang="en-US" sz="1200" dirty="0">
                <a:latin typeface="Times New Roman" panose="02020603050405020304" pitchFamily="18" charset="0"/>
                <a:cs typeface="Times New Roman" panose="02020603050405020304" pitchFamily="18" charset="0"/>
              </a:endParaRPr>
            </a:p>
          </p:txBody>
        </p:sp>
        <p:sp>
          <p:nvSpPr>
            <p:cNvPr id="27" name="Text 22">
              <a:extLst>
                <a:ext uri="{FF2B5EF4-FFF2-40B4-BE49-F238E27FC236}">
                  <a16:creationId xmlns:a16="http://schemas.microsoft.com/office/drawing/2014/main" id="{93AE9B0E-3924-75D5-BD30-414EC1FB59C9}"/>
                </a:ext>
              </a:extLst>
            </p:cNvPr>
            <p:cNvSpPr/>
            <p:nvPr/>
          </p:nvSpPr>
          <p:spPr>
            <a:xfrm>
              <a:off x="5065776" y="1097280"/>
              <a:ext cx="3703320" cy="256032"/>
            </a:xfrm>
            <a:prstGeom prst="rect">
              <a:avLst/>
            </a:prstGeom>
            <a:noFill/>
            <a:ln/>
          </p:spPr>
          <p:txBody>
            <a:bodyPr wrap="square" rtlCol="0" anchor="ctr"/>
            <a:lstStyle/>
            <a:p>
              <a:pPr marL="0" indent="0">
                <a:buNone/>
              </a:pPr>
              <a:r>
                <a:rPr lang="en-US" sz="1200" dirty="0">
                  <a:solidFill>
                    <a:srgbClr val="1A3A52"/>
                  </a:solidFill>
                  <a:latin typeface="Times New Roman" panose="02020603050405020304" pitchFamily="18" charset="0"/>
                  <a:ea typeface="Calibri" pitchFamily="34" charset="-122"/>
                  <a:cs typeface="Times New Roman" panose="02020603050405020304" pitchFamily="18" charset="0"/>
                </a:rPr>
                <a:t>— model output at original feature values</a:t>
              </a:r>
              <a:endParaRPr lang="en-US" sz="1200" dirty="0">
                <a:latin typeface="Times New Roman" panose="02020603050405020304" pitchFamily="18" charset="0"/>
                <a:cs typeface="Times New Roman" panose="02020603050405020304" pitchFamily="18" charset="0"/>
              </a:endParaRPr>
            </a:p>
          </p:txBody>
        </p:sp>
        <p:sp>
          <p:nvSpPr>
            <p:cNvPr id="28" name="Text 23">
              <a:extLst>
                <a:ext uri="{FF2B5EF4-FFF2-40B4-BE49-F238E27FC236}">
                  <a16:creationId xmlns:a16="http://schemas.microsoft.com/office/drawing/2014/main" id="{FD291B6D-F0B2-E1EB-5DDC-27A60778BA34}"/>
                </a:ext>
              </a:extLst>
            </p:cNvPr>
            <p:cNvSpPr/>
            <p:nvPr/>
          </p:nvSpPr>
          <p:spPr>
            <a:xfrm>
              <a:off x="3822192" y="1371600"/>
              <a:ext cx="1234440" cy="256032"/>
            </a:xfrm>
            <a:prstGeom prst="rect">
              <a:avLst/>
            </a:prstGeom>
            <a:noFill/>
            <a:ln/>
          </p:spPr>
          <p:txBody>
            <a:bodyPr wrap="square" rtlCol="0" anchor="ctr"/>
            <a:lstStyle/>
            <a:p>
              <a:pPr marL="0" indent="0">
                <a:buNone/>
              </a:pPr>
              <a:r>
                <a:rPr lang="en-US" sz="1200" b="1" dirty="0">
                  <a:solidFill>
                    <a:srgbClr val="0A7EA4"/>
                  </a:solidFill>
                  <a:latin typeface="Times New Roman" panose="02020603050405020304" pitchFamily="18" charset="0"/>
                  <a:ea typeface="Calibri" pitchFamily="34" charset="-122"/>
                  <a:cs typeface="Times New Roman" panose="02020603050405020304" pitchFamily="18" charset="0"/>
                </a:rPr>
                <a:t>ŷ⁺  /  ŷ⁻</a:t>
              </a:r>
              <a:endParaRPr lang="en-US" sz="1200" dirty="0">
                <a:latin typeface="Times New Roman" panose="02020603050405020304" pitchFamily="18" charset="0"/>
                <a:cs typeface="Times New Roman" panose="02020603050405020304" pitchFamily="18" charset="0"/>
              </a:endParaRPr>
            </a:p>
          </p:txBody>
        </p:sp>
        <p:sp>
          <p:nvSpPr>
            <p:cNvPr id="29" name="Text 24">
              <a:extLst>
                <a:ext uri="{FF2B5EF4-FFF2-40B4-BE49-F238E27FC236}">
                  <a16:creationId xmlns:a16="http://schemas.microsoft.com/office/drawing/2014/main" id="{EB0DAE1D-F6DC-3A54-AD05-F4021E5AA89A}"/>
                </a:ext>
              </a:extLst>
            </p:cNvPr>
            <p:cNvSpPr/>
            <p:nvPr/>
          </p:nvSpPr>
          <p:spPr>
            <a:xfrm>
              <a:off x="5065776" y="1371600"/>
              <a:ext cx="3703320" cy="256032"/>
            </a:xfrm>
            <a:prstGeom prst="rect">
              <a:avLst/>
            </a:prstGeom>
            <a:noFill/>
            <a:ln/>
          </p:spPr>
          <p:txBody>
            <a:bodyPr wrap="square" rtlCol="0" anchor="ctr"/>
            <a:lstStyle/>
            <a:p>
              <a:pPr marL="0" indent="0">
                <a:buNone/>
              </a:pPr>
              <a:r>
                <a:rPr lang="en-US" sz="1200" dirty="0">
                  <a:solidFill>
                    <a:srgbClr val="1A3A52"/>
                  </a:solidFill>
                  <a:latin typeface="Times New Roman" panose="02020603050405020304" pitchFamily="18" charset="0"/>
                  <a:ea typeface="Calibri" pitchFamily="34" charset="-122"/>
                  <a:cs typeface="Times New Roman" panose="02020603050405020304" pitchFamily="18" charset="0"/>
                </a:rPr>
                <a:t>— output when feature </a:t>
              </a:r>
              <a:r>
                <a:rPr lang="en-US" sz="1200" dirty="0" err="1">
                  <a:solidFill>
                    <a:srgbClr val="1A3A52"/>
                  </a:solidFill>
                  <a:latin typeface="Times New Roman" panose="02020603050405020304" pitchFamily="18" charset="0"/>
                  <a:ea typeface="Calibri" pitchFamily="34" charset="-122"/>
                  <a:cs typeface="Times New Roman" panose="02020603050405020304" pitchFamily="18" charset="0"/>
                </a:rPr>
                <a:t>f_i</a:t>
              </a:r>
              <a:r>
                <a:rPr lang="en-US" sz="1200" dirty="0">
                  <a:solidFill>
                    <a:srgbClr val="1A3A52"/>
                  </a:solidFill>
                  <a:latin typeface="Times New Roman" panose="02020603050405020304" pitchFamily="18" charset="0"/>
                  <a:ea typeface="Calibri" pitchFamily="34" charset="-122"/>
                  <a:cs typeface="Times New Roman" panose="02020603050405020304" pitchFamily="18" charset="0"/>
                </a:rPr>
                <a:t> is varied by +10% / −10%</a:t>
              </a:r>
              <a:endParaRPr lang="en-US" sz="1200" dirty="0">
                <a:latin typeface="Times New Roman" panose="02020603050405020304" pitchFamily="18" charset="0"/>
                <a:cs typeface="Times New Roman" panose="02020603050405020304" pitchFamily="18" charset="0"/>
              </a:endParaRPr>
            </a:p>
          </p:txBody>
        </p:sp>
        <p:sp>
          <p:nvSpPr>
            <p:cNvPr id="30" name="Text 25">
              <a:extLst>
                <a:ext uri="{FF2B5EF4-FFF2-40B4-BE49-F238E27FC236}">
                  <a16:creationId xmlns:a16="http://schemas.microsoft.com/office/drawing/2014/main" id="{EC1EE69A-E2B5-7841-887F-F04EF37C4FE2}"/>
                </a:ext>
              </a:extLst>
            </p:cNvPr>
            <p:cNvSpPr/>
            <p:nvPr/>
          </p:nvSpPr>
          <p:spPr>
            <a:xfrm>
              <a:off x="3822192" y="1645920"/>
              <a:ext cx="1234440" cy="256032"/>
            </a:xfrm>
            <a:prstGeom prst="rect">
              <a:avLst/>
            </a:prstGeom>
            <a:noFill/>
            <a:ln/>
          </p:spPr>
          <p:txBody>
            <a:bodyPr wrap="square" rtlCol="0" anchor="ctr"/>
            <a:lstStyle/>
            <a:p>
              <a:pPr marL="0" indent="0">
                <a:buNone/>
              </a:pPr>
              <a:r>
                <a:rPr lang="en-US" sz="1200" b="1" dirty="0">
                  <a:solidFill>
                    <a:srgbClr val="0A7EA4"/>
                  </a:solidFill>
                  <a:latin typeface="Times New Roman" panose="02020603050405020304" pitchFamily="18" charset="0"/>
                  <a:ea typeface="Calibri" pitchFamily="34" charset="-122"/>
                  <a:cs typeface="Times New Roman" panose="02020603050405020304" pitchFamily="18" charset="0"/>
                </a:rPr>
                <a:t>‾ (bar)</a:t>
              </a:r>
              <a:endParaRPr lang="en-US" sz="1200" dirty="0">
                <a:latin typeface="Times New Roman" panose="02020603050405020304" pitchFamily="18" charset="0"/>
                <a:cs typeface="Times New Roman" panose="02020603050405020304" pitchFamily="18" charset="0"/>
              </a:endParaRPr>
            </a:p>
          </p:txBody>
        </p:sp>
        <p:sp>
          <p:nvSpPr>
            <p:cNvPr id="31" name="Text 26">
              <a:extLst>
                <a:ext uri="{FF2B5EF4-FFF2-40B4-BE49-F238E27FC236}">
                  <a16:creationId xmlns:a16="http://schemas.microsoft.com/office/drawing/2014/main" id="{10DFE38F-ACC1-FACC-E561-6EA787691FF5}"/>
                </a:ext>
              </a:extLst>
            </p:cNvPr>
            <p:cNvSpPr/>
            <p:nvPr/>
          </p:nvSpPr>
          <p:spPr>
            <a:xfrm>
              <a:off x="5065776" y="1645920"/>
              <a:ext cx="3703320" cy="256032"/>
            </a:xfrm>
            <a:prstGeom prst="rect">
              <a:avLst/>
            </a:prstGeom>
            <a:noFill/>
            <a:ln/>
          </p:spPr>
          <p:txBody>
            <a:bodyPr wrap="square" rtlCol="0" anchor="ctr"/>
            <a:lstStyle/>
            <a:p>
              <a:pPr marL="0" indent="0">
                <a:buNone/>
              </a:pPr>
              <a:r>
                <a:rPr lang="en-US" sz="1200" dirty="0">
                  <a:solidFill>
                    <a:srgbClr val="1A3A52"/>
                  </a:solidFill>
                  <a:latin typeface="Times New Roman" panose="02020603050405020304" pitchFamily="18" charset="0"/>
                  <a:ea typeface="Calibri" pitchFamily="34" charset="-122"/>
                  <a:cs typeface="Times New Roman" panose="02020603050405020304" pitchFamily="18" charset="0"/>
                </a:rPr>
                <a:t>— average over all test samples</a:t>
              </a:r>
              <a:endParaRPr lang="en-US" sz="12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217172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88E5"/>
          </a:solidFill>
          <a:ln w="12700">
            <a:solidFill>
              <a:srgbClr val="1E88E5"/>
            </a:solidFill>
            <a:prstDash val="solid"/>
          </a:ln>
        </p:spPr>
        <p:txBody>
          <a:bodyPr/>
          <a:lstStyle/>
          <a:p>
            <a:endParaRPr lang="en-IN"/>
          </a:p>
        </p:txBody>
      </p:sp>
      <p:sp>
        <p:nvSpPr>
          <p:cNvPr id="3" name="Shape 1"/>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4" name="Text 2"/>
          <p:cNvSpPr/>
          <p:nvPr/>
        </p:nvSpPr>
        <p:spPr>
          <a:xfrm>
            <a:off x="274320" y="0"/>
            <a:ext cx="8595360" cy="658368"/>
          </a:xfrm>
          <a:prstGeom prst="rect">
            <a:avLst/>
          </a:prstGeom>
          <a:noFill/>
          <a:ln/>
        </p:spPr>
        <p:txBody>
          <a:bodyPr wrap="square" lIns="0" tIns="0" rIns="0" bIns="0"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07  |  Results &amp; Discussion — Rainfall Trend Analysis</a:t>
            </a:r>
            <a:endParaRPr lang="en-US" sz="2200" dirty="0">
              <a:latin typeface="Times New Roman" panose="02020603050405020304" pitchFamily="18" charset="0"/>
              <a:cs typeface="Times New Roman" panose="02020603050405020304" pitchFamily="18" charset="0"/>
            </a:endParaRPr>
          </a:p>
        </p:txBody>
      </p:sp>
      <p:sp>
        <p:nvSpPr>
          <p:cNvPr id="5" name="Shape 3"/>
          <p:cNvSpPr/>
          <p:nvPr/>
        </p:nvSpPr>
        <p:spPr>
          <a:xfrm>
            <a:off x="320040" y="841248"/>
            <a:ext cx="5440680" cy="2926080"/>
          </a:xfrm>
          <a:prstGeom prst="rect">
            <a:avLst/>
          </a:prstGeom>
          <a:solidFill>
            <a:srgbClr val="FFFFFF"/>
          </a:solidFill>
          <a:ln w="12700">
            <a:solidFill>
              <a:srgbClr val="1E88E5"/>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33" name="Text 31"/>
          <p:cNvSpPr/>
          <p:nvPr/>
        </p:nvSpPr>
        <p:spPr>
          <a:xfrm>
            <a:off x="5989320" y="713232"/>
            <a:ext cx="2834640" cy="274320"/>
          </a:xfrm>
          <a:prstGeom prst="rect">
            <a:avLst/>
          </a:prstGeom>
          <a:noFill/>
          <a:ln/>
        </p:spPr>
        <p:txBody>
          <a:bodyPr wrap="square" rtlCol="0" anchor="ctr"/>
          <a:lstStyle/>
          <a:p>
            <a:pPr marL="0" indent="0">
              <a:buNone/>
            </a:pPr>
            <a:r>
              <a:rPr lang="en-US" sz="1300" b="1" dirty="0">
                <a:solidFill>
                  <a:srgbClr val="1E88E5"/>
                </a:solidFill>
                <a:latin typeface="Times New Roman" panose="02020603050405020304" pitchFamily="18" charset="0"/>
                <a:cs typeface="Times New Roman" panose="02020603050405020304" pitchFamily="18" charset="0"/>
              </a:rPr>
              <a:t>Key Findings</a:t>
            </a:r>
            <a:endParaRPr lang="en-US" sz="1300" dirty="0">
              <a:latin typeface="Times New Roman" panose="02020603050405020304" pitchFamily="18" charset="0"/>
              <a:cs typeface="Times New Roman" panose="02020603050405020304" pitchFamily="18" charset="0"/>
            </a:endParaRPr>
          </a:p>
        </p:txBody>
      </p:sp>
      <p:sp>
        <p:nvSpPr>
          <p:cNvPr id="34" name="Shape 32"/>
          <p:cNvSpPr/>
          <p:nvPr/>
        </p:nvSpPr>
        <p:spPr>
          <a:xfrm>
            <a:off x="5943600" y="960120"/>
            <a:ext cx="2880360" cy="822960"/>
          </a:xfrm>
          <a:prstGeom prst="rect">
            <a:avLst/>
          </a:prstGeom>
          <a:solidFill>
            <a:srgbClr val="FFFFFF"/>
          </a:solidFill>
          <a:ln w="12700">
            <a:solidFill>
              <a:srgbClr val="1E88E5"/>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35" name="Shape 33"/>
          <p:cNvSpPr/>
          <p:nvPr/>
        </p:nvSpPr>
        <p:spPr>
          <a:xfrm>
            <a:off x="5943600" y="960120"/>
            <a:ext cx="73152" cy="822960"/>
          </a:xfrm>
          <a:prstGeom prst="rect">
            <a:avLst/>
          </a:prstGeom>
          <a:solidFill>
            <a:srgbClr val="1E88E5"/>
          </a:solidFill>
          <a:ln w="12700">
            <a:solidFill>
              <a:srgbClr val="1E88E5"/>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36" name="Text 34"/>
          <p:cNvSpPr/>
          <p:nvPr/>
        </p:nvSpPr>
        <p:spPr>
          <a:xfrm>
            <a:off x="6108192" y="1005840"/>
            <a:ext cx="2651760" cy="228600"/>
          </a:xfrm>
          <a:prstGeom prst="rect">
            <a:avLst/>
          </a:prstGeom>
          <a:noFill/>
          <a:ln/>
        </p:spPr>
        <p:txBody>
          <a:bodyPr wrap="square" lIns="0" tIns="0" rIns="0" bIns="0" rtlCol="0" anchor="ctr"/>
          <a:lstStyle/>
          <a:p>
            <a:pPr marL="0" indent="0">
              <a:buNone/>
            </a:pPr>
            <a:r>
              <a:rPr lang="en-US" sz="1100" b="1" dirty="0">
                <a:solidFill>
                  <a:srgbClr val="1E88E5"/>
                </a:solidFill>
                <a:latin typeface="Times New Roman" panose="02020603050405020304" pitchFamily="18" charset="0"/>
                <a:cs typeface="Times New Roman" panose="02020603050405020304" pitchFamily="18" charset="0"/>
              </a:rPr>
              <a:t>Annual Rainfall</a:t>
            </a:r>
            <a:endParaRPr lang="en-US" sz="1100" dirty="0">
              <a:latin typeface="Times New Roman" panose="02020603050405020304" pitchFamily="18" charset="0"/>
              <a:cs typeface="Times New Roman" panose="02020603050405020304" pitchFamily="18" charset="0"/>
            </a:endParaRPr>
          </a:p>
        </p:txBody>
      </p:sp>
      <p:sp>
        <p:nvSpPr>
          <p:cNvPr id="37" name="Text 35"/>
          <p:cNvSpPr/>
          <p:nvPr/>
        </p:nvSpPr>
        <p:spPr>
          <a:xfrm>
            <a:off x="6108192" y="1216152"/>
            <a:ext cx="2651760" cy="274320"/>
          </a:xfrm>
          <a:prstGeom prst="rect">
            <a:avLst/>
          </a:prstGeom>
          <a:noFill/>
          <a:ln/>
        </p:spPr>
        <p:txBody>
          <a:bodyPr wrap="square" lIns="0" tIns="0" rIns="0" bIns="0" rtlCol="0" anchor="ctr"/>
          <a:lstStyle/>
          <a:p>
            <a:pPr marL="0" indent="0">
              <a:buNone/>
            </a:pPr>
            <a:r>
              <a:rPr lang="en-US" sz="1600" b="1" dirty="0">
                <a:solidFill>
                  <a:srgbClr val="1A2B3C"/>
                </a:solidFill>
                <a:latin typeface="Times New Roman" panose="02020603050405020304" pitchFamily="18" charset="0"/>
                <a:cs typeface="Times New Roman" panose="02020603050405020304" pitchFamily="18" charset="0"/>
              </a:rPr>
              <a:t>+2.58 mm/yr</a:t>
            </a:r>
            <a:endParaRPr lang="en-US" sz="1600" dirty="0">
              <a:latin typeface="Times New Roman" panose="02020603050405020304" pitchFamily="18" charset="0"/>
              <a:cs typeface="Times New Roman" panose="02020603050405020304" pitchFamily="18" charset="0"/>
            </a:endParaRPr>
          </a:p>
        </p:txBody>
      </p:sp>
      <p:sp>
        <p:nvSpPr>
          <p:cNvPr id="38" name="Text 36"/>
          <p:cNvSpPr/>
          <p:nvPr/>
        </p:nvSpPr>
        <p:spPr>
          <a:xfrm>
            <a:off x="6108192" y="1490472"/>
            <a:ext cx="2651760" cy="228600"/>
          </a:xfrm>
          <a:prstGeom prst="rect">
            <a:avLst/>
          </a:prstGeom>
          <a:noFill/>
          <a:ln/>
        </p:spPr>
        <p:txBody>
          <a:bodyPr wrap="square" lIns="0" tIns="0" rIns="0" bIns="0" rtlCol="0" anchor="ctr"/>
          <a:lstStyle/>
          <a:p>
            <a:pPr marL="0" indent="0">
              <a:buNone/>
            </a:pPr>
            <a:r>
              <a:rPr lang="en-US" sz="950" dirty="0">
                <a:solidFill>
                  <a:srgbClr val="546E7A"/>
                </a:solidFill>
                <a:latin typeface="Times New Roman" panose="02020603050405020304" pitchFamily="18" charset="0"/>
                <a:cs typeface="Times New Roman" panose="02020603050405020304" pitchFamily="18" charset="0"/>
              </a:rPr>
              <a:t>Significant increasing trend (p&lt;0.05)</a:t>
            </a:r>
            <a:endParaRPr lang="en-US" sz="950" dirty="0">
              <a:latin typeface="Times New Roman" panose="02020603050405020304" pitchFamily="18" charset="0"/>
              <a:cs typeface="Times New Roman" panose="02020603050405020304" pitchFamily="18" charset="0"/>
            </a:endParaRPr>
          </a:p>
        </p:txBody>
      </p:sp>
      <p:sp>
        <p:nvSpPr>
          <p:cNvPr id="39" name="Shape 37"/>
          <p:cNvSpPr/>
          <p:nvPr/>
        </p:nvSpPr>
        <p:spPr>
          <a:xfrm>
            <a:off x="5943600" y="1920240"/>
            <a:ext cx="2880360" cy="822960"/>
          </a:xfrm>
          <a:prstGeom prst="rect">
            <a:avLst/>
          </a:prstGeom>
          <a:solidFill>
            <a:srgbClr val="FFFFFF"/>
          </a:solidFill>
          <a:ln w="12700">
            <a:solidFill>
              <a:srgbClr val="00BCD4"/>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40" name="Shape 38"/>
          <p:cNvSpPr/>
          <p:nvPr/>
        </p:nvSpPr>
        <p:spPr>
          <a:xfrm>
            <a:off x="5943600" y="1920240"/>
            <a:ext cx="73152" cy="822960"/>
          </a:xfrm>
          <a:prstGeom prst="rect">
            <a:avLst/>
          </a:prstGeom>
          <a:solidFill>
            <a:srgbClr val="00BCD4"/>
          </a:solidFill>
          <a:ln w="12700">
            <a:solidFill>
              <a:srgbClr val="00BCD4"/>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41" name="Text 39"/>
          <p:cNvSpPr/>
          <p:nvPr/>
        </p:nvSpPr>
        <p:spPr>
          <a:xfrm>
            <a:off x="6108192" y="1965960"/>
            <a:ext cx="2651760" cy="228600"/>
          </a:xfrm>
          <a:prstGeom prst="rect">
            <a:avLst/>
          </a:prstGeom>
          <a:noFill/>
          <a:ln/>
        </p:spPr>
        <p:txBody>
          <a:bodyPr wrap="square" lIns="0" tIns="0" rIns="0" bIns="0" rtlCol="0" anchor="ctr"/>
          <a:lstStyle/>
          <a:p>
            <a:pPr marL="0" indent="0">
              <a:buNone/>
            </a:pPr>
            <a:r>
              <a:rPr lang="en-US" sz="1100" b="1" dirty="0">
                <a:solidFill>
                  <a:srgbClr val="00BCD4"/>
                </a:solidFill>
                <a:latin typeface="Times New Roman" panose="02020603050405020304" pitchFamily="18" charset="0"/>
                <a:cs typeface="Times New Roman" panose="02020603050405020304" pitchFamily="18" charset="0"/>
              </a:rPr>
              <a:t>Monsoon Rainfall</a:t>
            </a:r>
            <a:endParaRPr lang="en-US" sz="1100" dirty="0">
              <a:latin typeface="Times New Roman" panose="02020603050405020304" pitchFamily="18" charset="0"/>
              <a:cs typeface="Times New Roman" panose="02020603050405020304" pitchFamily="18" charset="0"/>
            </a:endParaRPr>
          </a:p>
        </p:txBody>
      </p:sp>
      <p:sp>
        <p:nvSpPr>
          <p:cNvPr id="42" name="Text 40"/>
          <p:cNvSpPr/>
          <p:nvPr/>
        </p:nvSpPr>
        <p:spPr>
          <a:xfrm>
            <a:off x="6108192" y="2176272"/>
            <a:ext cx="2651760" cy="274320"/>
          </a:xfrm>
          <a:prstGeom prst="rect">
            <a:avLst/>
          </a:prstGeom>
          <a:noFill/>
          <a:ln/>
        </p:spPr>
        <p:txBody>
          <a:bodyPr wrap="square" lIns="0" tIns="0" rIns="0" bIns="0" rtlCol="0" anchor="ctr"/>
          <a:lstStyle/>
          <a:p>
            <a:pPr marL="0" indent="0">
              <a:buNone/>
            </a:pPr>
            <a:r>
              <a:rPr lang="en-US" sz="1600" b="1" dirty="0">
                <a:solidFill>
                  <a:srgbClr val="1A2B3C"/>
                </a:solidFill>
                <a:latin typeface="Times New Roman" panose="02020603050405020304" pitchFamily="18" charset="0"/>
                <a:cs typeface="Times New Roman" panose="02020603050405020304" pitchFamily="18" charset="0"/>
              </a:rPr>
              <a:t>&gt;80% annual</a:t>
            </a:r>
            <a:endParaRPr lang="en-US" sz="1600" dirty="0">
              <a:latin typeface="Times New Roman" panose="02020603050405020304" pitchFamily="18" charset="0"/>
              <a:cs typeface="Times New Roman" panose="02020603050405020304" pitchFamily="18" charset="0"/>
            </a:endParaRPr>
          </a:p>
        </p:txBody>
      </p:sp>
      <p:sp>
        <p:nvSpPr>
          <p:cNvPr id="43" name="Text 41"/>
          <p:cNvSpPr/>
          <p:nvPr/>
        </p:nvSpPr>
        <p:spPr>
          <a:xfrm>
            <a:off x="6108192" y="2450592"/>
            <a:ext cx="2651760" cy="228600"/>
          </a:xfrm>
          <a:prstGeom prst="rect">
            <a:avLst/>
          </a:prstGeom>
          <a:noFill/>
          <a:ln/>
        </p:spPr>
        <p:txBody>
          <a:bodyPr wrap="square" lIns="0" tIns="0" rIns="0" bIns="0" rtlCol="0" anchor="ctr"/>
          <a:lstStyle/>
          <a:p>
            <a:pPr marL="0" indent="0">
              <a:buNone/>
            </a:pPr>
            <a:r>
              <a:rPr lang="en-US" sz="950" dirty="0">
                <a:solidFill>
                  <a:srgbClr val="546E7A"/>
                </a:solidFill>
                <a:latin typeface="Times New Roman" panose="02020603050405020304" pitchFamily="18" charset="0"/>
                <a:cs typeface="Times New Roman" panose="02020603050405020304" pitchFamily="18" charset="0"/>
              </a:rPr>
              <a:t>Clear positive trend; dominant runoff driver</a:t>
            </a:r>
            <a:endParaRPr lang="en-US" sz="950" dirty="0">
              <a:latin typeface="Times New Roman" panose="02020603050405020304" pitchFamily="18" charset="0"/>
              <a:cs typeface="Times New Roman" panose="02020603050405020304" pitchFamily="18" charset="0"/>
            </a:endParaRPr>
          </a:p>
        </p:txBody>
      </p:sp>
      <p:sp>
        <p:nvSpPr>
          <p:cNvPr id="44" name="Shape 42"/>
          <p:cNvSpPr/>
          <p:nvPr/>
        </p:nvSpPr>
        <p:spPr>
          <a:xfrm>
            <a:off x="5943600" y="2880360"/>
            <a:ext cx="2880360" cy="822960"/>
          </a:xfrm>
          <a:prstGeom prst="rect">
            <a:avLst/>
          </a:prstGeom>
          <a:solidFill>
            <a:srgbClr val="FFFFFF"/>
          </a:solidFill>
          <a:ln w="12700">
            <a:solidFill>
              <a:srgbClr val="E53935"/>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45" name="Shape 43"/>
          <p:cNvSpPr/>
          <p:nvPr/>
        </p:nvSpPr>
        <p:spPr>
          <a:xfrm>
            <a:off x="5943600" y="2880360"/>
            <a:ext cx="73152" cy="822960"/>
          </a:xfrm>
          <a:prstGeom prst="rect">
            <a:avLst/>
          </a:prstGeom>
          <a:solidFill>
            <a:srgbClr val="E53935"/>
          </a:solidFill>
          <a:ln w="12700">
            <a:solidFill>
              <a:srgbClr val="E53935"/>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46" name="Text 44"/>
          <p:cNvSpPr/>
          <p:nvPr/>
        </p:nvSpPr>
        <p:spPr>
          <a:xfrm>
            <a:off x="6108192" y="2926080"/>
            <a:ext cx="2651760" cy="228600"/>
          </a:xfrm>
          <a:prstGeom prst="rect">
            <a:avLst/>
          </a:prstGeom>
          <a:noFill/>
          <a:ln/>
        </p:spPr>
        <p:txBody>
          <a:bodyPr wrap="square" lIns="0" tIns="0" rIns="0" bIns="0" rtlCol="0" anchor="ctr"/>
          <a:lstStyle/>
          <a:p>
            <a:pPr marL="0" indent="0">
              <a:buNone/>
            </a:pPr>
            <a:r>
              <a:rPr lang="en-US" sz="1100" b="1" dirty="0">
                <a:solidFill>
                  <a:srgbClr val="E53935"/>
                </a:solidFill>
                <a:latin typeface="Times New Roman" panose="02020603050405020304" pitchFamily="18" charset="0"/>
                <a:cs typeface="Times New Roman" panose="02020603050405020304" pitchFamily="18" charset="0"/>
              </a:rPr>
              <a:t>Extreme Events</a:t>
            </a:r>
            <a:endParaRPr lang="en-US" sz="1100" dirty="0">
              <a:latin typeface="Times New Roman" panose="02020603050405020304" pitchFamily="18" charset="0"/>
              <a:cs typeface="Times New Roman" panose="02020603050405020304" pitchFamily="18" charset="0"/>
            </a:endParaRPr>
          </a:p>
        </p:txBody>
      </p:sp>
      <p:sp>
        <p:nvSpPr>
          <p:cNvPr id="47" name="Text 45"/>
          <p:cNvSpPr/>
          <p:nvPr/>
        </p:nvSpPr>
        <p:spPr>
          <a:xfrm>
            <a:off x="6108192" y="3136392"/>
            <a:ext cx="2651760" cy="274320"/>
          </a:xfrm>
          <a:prstGeom prst="rect">
            <a:avLst/>
          </a:prstGeom>
          <a:noFill/>
          <a:ln/>
        </p:spPr>
        <p:txBody>
          <a:bodyPr wrap="square" lIns="0" tIns="0" rIns="0" bIns="0" rtlCol="0" anchor="ctr"/>
          <a:lstStyle/>
          <a:p>
            <a:pPr marL="0" indent="0">
              <a:buNone/>
            </a:pPr>
            <a:r>
              <a:rPr lang="en-US" sz="1600" b="1" dirty="0">
                <a:solidFill>
                  <a:srgbClr val="1A2B3C"/>
                </a:solidFill>
                <a:latin typeface="Times New Roman" panose="02020603050405020304" pitchFamily="18" charset="0"/>
                <a:cs typeface="Times New Roman" panose="02020603050405020304" pitchFamily="18" charset="0"/>
              </a:rPr>
              <a:t>Increasing</a:t>
            </a:r>
            <a:endParaRPr lang="en-US" sz="1600" dirty="0">
              <a:latin typeface="Times New Roman" panose="02020603050405020304" pitchFamily="18" charset="0"/>
              <a:cs typeface="Times New Roman" panose="02020603050405020304" pitchFamily="18" charset="0"/>
            </a:endParaRPr>
          </a:p>
        </p:txBody>
      </p:sp>
      <p:sp>
        <p:nvSpPr>
          <p:cNvPr id="48" name="Text 46"/>
          <p:cNvSpPr/>
          <p:nvPr/>
        </p:nvSpPr>
        <p:spPr>
          <a:xfrm>
            <a:off x="6108192" y="3410712"/>
            <a:ext cx="2651760" cy="228600"/>
          </a:xfrm>
          <a:prstGeom prst="rect">
            <a:avLst/>
          </a:prstGeom>
          <a:noFill/>
          <a:ln/>
        </p:spPr>
        <p:txBody>
          <a:bodyPr wrap="square" lIns="0" tIns="0" rIns="0" bIns="0" rtlCol="0" anchor="ctr"/>
          <a:lstStyle/>
          <a:p>
            <a:pPr marL="0" indent="0">
              <a:buNone/>
            </a:pPr>
            <a:r>
              <a:rPr lang="en-US" sz="950" dirty="0">
                <a:solidFill>
                  <a:srgbClr val="546E7A"/>
                </a:solidFill>
                <a:latin typeface="Times New Roman" panose="02020603050405020304" pitchFamily="18" charset="0"/>
                <a:cs typeface="Times New Roman" panose="02020603050405020304" pitchFamily="18" charset="0"/>
              </a:rPr>
              <a:t>Higher intensity storms &amp; erratic patterns</a:t>
            </a:r>
            <a:endParaRPr lang="en-US" sz="950" dirty="0">
              <a:latin typeface="Times New Roman" panose="02020603050405020304" pitchFamily="18" charset="0"/>
              <a:cs typeface="Times New Roman" panose="02020603050405020304" pitchFamily="18" charset="0"/>
            </a:endParaRPr>
          </a:p>
        </p:txBody>
      </p:sp>
      <p:sp>
        <p:nvSpPr>
          <p:cNvPr id="49" name="Text 47"/>
          <p:cNvSpPr/>
          <p:nvPr/>
        </p:nvSpPr>
        <p:spPr>
          <a:xfrm>
            <a:off x="320040" y="3840480"/>
            <a:ext cx="8503920" cy="621792"/>
          </a:xfrm>
          <a:prstGeom prst="rect">
            <a:avLst/>
          </a:prstGeom>
          <a:solidFill>
            <a:srgbClr val="FFFFFF"/>
          </a:solidFill>
          <a:ln>
            <a:solidFill>
              <a:srgbClr val="00BCD4"/>
            </a:solidFill>
          </a:ln>
        </p:spPr>
        <p:txBody>
          <a:bodyPr wrap="square" rtlCol="0" anchor="ctr"/>
          <a:lstStyle/>
          <a:p>
            <a:pPr marL="0" indent="0" algn="just">
              <a:buNone/>
            </a:pPr>
            <a:r>
              <a:rPr lang="en-US" sz="1100" dirty="0">
                <a:solidFill>
                  <a:srgbClr val="1A2B3C"/>
                </a:solidFill>
                <a:latin typeface="Times New Roman" panose="02020603050405020304" pitchFamily="18" charset="0"/>
                <a:ea typeface="Calibri" pitchFamily="34" charset="-122"/>
                <a:cs typeface="Times New Roman" panose="02020603050405020304" pitchFamily="18" charset="0"/>
              </a:rPr>
              <a:t>Since &gt;80% of annual rainfall occurs in the monsoon, even small increases in monsoon rainfall significantly amplify runoff entering the SAC Barrage. This directly translates to higher flood risk and greater operational demands on barrage gates.</a:t>
            </a:r>
            <a:endParaRPr lang="en-US" sz="1100" dirty="0">
              <a:latin typeface="Times New Roman" panose="02020603050405020304" pitchFamily="18" charset="0"/>
              <a:cs typeface="Times New Roman" panose="02020603050405020304" pitchFamily="18" charset="0"/>
            </a:endParaRPr>
          </a:p>
        </p:txBody>
      </p:sp>
      <p:graphicFrame>
        <p:nvGraphicFramePr>
          <p:cNvPr id="50" name="Chart 49">
            <a:extLst>
              <a:ext uri="{FF2B5EF4-FFF2-40B4-BE49-F238E27FC236}">
                <a16:creationId xmlns:a16="http://schemas.microsoft.com/office/drawing/2014/main" id="{9FD2AFD1-DEBA-64D5-E530-43F05716358A}"/>
              </a:ext>
            </a:extLst>
          </p:cNvPr>
          <p:cNvGraphicFramePr/>
          <p:nvPr>
            <p:extLst>
              <p:ext uri="{D42A27DB-BD31-4B8C-83A1-F6EECF244321}">
                <p14:modId xmlns:p14="http://schemas.microsoft.com/office/powerpoint/2010/main" val="1819908498"/>
              </p:ext>
            </p:extLst>
          </p:nvPr>
        </p:nvGraphicFramePr>
        <p:xfrm>
          <a:off x="368647" y="1005840"/>
          <a:ext cx="5000075" cy="26974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C464D476-7857-9D72-ADE4-302B653198B0}"/>
              </a:ext>
            </a:extLst>
          </p:cNvPr>
          <p:cNvSpPr txBox="1"/>
          <p:nvPr/>
        </p:nvSpPr>
        <p:spPr>
          <a:xfrm>
            <a:off x="8684005" y="4780950"/>
            <a:ext cx="350994"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15</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alpha val="82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68B774A-96BE-467D-285F-FD02D16218F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7136" y="1234177"/>
            <a:ext cx="2542032" cy="1718515"/>
          </a:xfrm>
          <a:prstGeom prst="rect">
            <a:avLst/>
          </a:prstGeom>
        </p:spPr>
      </p:pic>
      <p:sp>
        <p:nvSpPr>
          <p:cNvPr id="8" name="Shape 0">
            <a:extLst>
              <a:ext uri="{FF2B5EF4-FFF2-40B4-BE49-F238E27FC236}">
                <a16:creationId xmlns:a16="http://schemas.microsoft.com/office/drawing/2014/main" id="{6FCAF119-F3E6-8CF0-E12F-2A0A81748C7F}"/>
              </a:ext>
            </a:extLst>
          </p:cNvPr>
          <p:cNvSpPr/>
          <p:nvPr/>
        </p:nvSpPr>
        <p:spPr>
          <a:xfrm>
            <a:off x="0" y="0"/>
            <a:ext cx="9144000" cy="658368"/>
          </a:xfrm>
          <a:prstGeom prst="rect">
            <a:avLst/>
          </a:prstGeom>
          <a:solidFill>
            <a:srgbClr val="1E88E5"/>
          </a:solidFill>
          <a:ln w="12700">
            <a:solidFill>
              <a:srgbClr val="1E88E5"/>
            </a:solidFill>
            <a:prstDash val="solid"/>
          </a:ln>
        </p:spPr>
        <p:txBody>
          <a:bodyPr/>
          <a:lstStyle/>
          <a:p>
            <a:endParaRPr lang="en-IN"/>
          </a:p>
        </p:txBody>
      </p:sp>
      <p:sp>
        <p:nvSpPr>
          <p:cNvPr id="9" name="Shape 1">
            <a:extLst>
              <a:ext uri="{FF2B5EF4-FFF2-40B4-BE49-F238E27FC236}">
                <a16:creationId xmlns:a16="http://schemas.microsoft.com/office/drawing/2014/main" id="{E6A36C00-9A22-91B7-D205-8DD7BC933271}"/>
              </a:ext>
            </a:extLst>
          </p:cNvPr>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10" name="Text 2">
            <a:extLst>
              <a:ext uri="{FF2B5EF4-FFF2-40B4-BE49-F238E27FC236}">
                <a16:creationId xmlns:a16="http://schemas.microsoft.com/office/drawing/2014/main" id="{1A86620F-9F05-95F4-41CF-758225B84756}"/>
              </a:ext>
            </a:extLst>
          </p:cNvPr>
          <p:cNvSpPr/>
          <p:nvPr/>
        </p:nvSpPr>
        <p:spPr>
          <a:xfrm>
            <a:off x="274320" y="0"/>
            <a:ext cx="8595360" cy="658368"/>
          </a:xfrm>
          <a:prstGeom prst="rect">
            <a:avLst/>
          </a:prstGeom>
          <a:noFill/>
          <a:ln/>
        </p:spPr>
        <p:txBody>
          <a:bodyPr wrap="square" lIns="0" tIns="0" rIns="0" bIns="0"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07  |  Results &amp; Discussion — LULC Change &amp; Soil Type </a:t>
            </a:r>
            <a:endParaRPr lang="en-US" sz="22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6B395E4F-DB25-2E66-F039-34767FD782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6584" y="2952692"/>
            <a:ext cx="2540120" cy="1710747"/>
          </a:xfrm>
          <a:prstGeom prst="rect">
            <a:avLst/>
          </a:prstGeom>
        </p:spPr>
      </p:pic>
      <p:pic>
        <p:nvPicPr>
          <p:cNvPr id="12" name="Picture 11">
            <a:extLst>
              <a:ext uri="{FF2B5EF4-FFF2-40B4-BE49-F238E27FC236}">
                <a16:creationId xmlns:a16="http://schemas.microsoft.com/office/drawing/2014/main" id="{417F16D6-07FA-CD26-F2A1-DCEF1423D7D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21723" y="2632647"/>
            <a:ext cx="779145" cy="963295"/>
          </a:xfrm>
          <a:prstGeom prst="rect">
            <a:avLst/>
          </a:prstGeom>
        </p:spPr>
      </p:pic>
      <p:sp>
        <p:nvSpPr>
          <p:cNvPr id="13" name="TextBox 12">
            <a:extLst>
              <a:ext uri="{FF2B5EF4-FFF2-40B4-BE49-F238E27FC236}">
                <a16:creationId xmlns:a16="http://schemas.microsoft.com/office/drawing/2014/main" id="{BC27628B-66F6-A930-5CEB-A5A08BE8C996}"/>
              </a:ext>
            </a:extLst>
          </p:cNvPr>
          <p:cNvSpPr txBox="1"/>
          <p:nvPr/>
        </p:nvSpPr>
        <p:spPr>
          <a:xfrm>
            <a:off x="615696" y="864845"/>
            <a:ext cx="3596640" cy="738664"/>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LULC change maps for Godavari Basin - 2017 (top) and 2024 (Bottom).</a:t>
            </a:r>
          </a:p>
          <a:p>
            <a:endParaRPr lang="en-IN" dirty="0"/>
          </a:p>
        </p:txBody>
      </p:sp>
      <p:pic>
        <p:nvPicPr>
          <p:cNvPr id="14" name="Picture 13">
            <a:extLst>
              <a:ext uri="{FF2B5EF4-FFF2-40B4-BE49-F238E27FC236}">
                <a16:creationId xmlns:a16="http://schemas.microsoft.com/office/drawing/2014/main" id="{F50390C4-5787-D823-C20A-A22467C71EF0}"/>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781980" y="1877568"/>
            <a:ext cx="3830094" cy="1929067"/>
          </a:xfrm>
          <a:prstGeom prst="rect">
            <a:avLst/>
          </a:prstGeom>
          <a:noFill/>
          <a:ln>
            <a:noFill/>
          </a:ln>
        </p:spPr>
      </p:pic>
      <p:sp>
        <p:nvSpPr>
          <p:cNvPr id="15" name="TextBox 14">
            <a:extLst>
              <a:ext uri="{FF2B5EF4-FFF2-40B4-BE49-F238E27FC236}">
                <a16:creationId xmlns:a16="http://schemas.microsoft.com/office/drawing/2014/main" id="{EE17669D-A32E-8A57-FF8B-1F943DE16A6E}"/>
              </a:ext>
            </a:extLst>
          </p:cNvPr>
          <p:cNvSpPr txBox="1"/>
          <p:nvPr/>
        </p:nvSpPr>
        <p:spPr>
          <a:xfrm>
            <a:off x="4888992" y="870941"/>
            <a:ext cx="3540202" cy="738664"/>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Soil Classification and Hydrologic Soil Group Map of Godavari Basin </a:t>
            </a:r>
          </a:p>
          <a:p>
            <a:endParaRPr lang="en-IN" dirty="0"/>
          </a:p>
        </p:txBody>
      </p:sp>
      <p:sp>
        <p:nvSpPr>
          <p:cNvPr id="16" name="TextBox 15">
            <a:extLst>
              <a:ext uri="{FF2B5EF4-FFF2-40B4-BE49-F238E27FC236}">
                <a16:creationId xmlns:a16="http://schemas.microsoft.com/office/drawing/2014/main" id="{B03E54B4-6FAA-0B4E-3DA1-E8388F605B92}"/>
              </a:ext>
            </a:extLst>
          </p:cNvPr>
          <p:cNvSpPr txBox="1"/>
          <p:nvPr/>
        </p:nvSpPr>
        <p:spPr>
          <a:xfrm>
            <a:off x="8684005" y="4780950"/>
            <a:ext cx="350994"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16</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29032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88E5"/>
          </a:solidFill>
          <a:ln w="12700">
            <a:solidFill>
              <a:srgbClr val="1E88E5"/>
            </a:solidFill>
            <a:prstDash val="solid"/>
          </a:ln>
        </p:spPr>
        <p:txBody>
          <a:bodyPr/>
          <a:lstStyle/>
          <a:p>
            <a:endParaRPr lang="en-IN"/>
          </a:p>
        </p:txBody>
      </p:sp>
      <p:sp>
        <p:nvSpPr>
          <p:cNvPr id="3" name="Shape 1"/>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4" name="Text 2"/>
          <p:cNvSpPr/>
          <p:nvPr/>
        </p:nvSpPr>
        <p:spPr>
          <a:xfrm>
            <a:off x="274320" y="0"/>
            <a:ext cx="8595360" cy="658368"/>
          </a:xfrm>
          <a:prstGeom prst="rect">
            <a:avLst/>
          </a:prstGeom>
          <a:noFill/>
          <a:ln/>
        </p:spPr>
        <p:txBody>
          <a:bodyPr wrap="square" lIns="0" tIns="0" rIns="0" bIns="0"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07  |  Results &amp; Discussion — LULC Change &amp; Soil Type </a:t>
            </a:r>
            <a:endParaRPr lang="en-US" sz="2200" dirty="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1BEEB937-44E9-E296-D414-0D3D197F1F66}"/>
              </a:ext>
            </a:extLst>
          </p:cNvPr>
          <p:cNvSpPr txBox="1"/>
          <p:nvPr/>
        </p:nvSpPr>
        <p:spPr>
          <a:xfrm>
            <a:off x="8684005" y="4780950"/>
            <a:ext cx="350994"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17</a:t>
            </a:r>
            <a:endParaRPr lang="en-IN" sz="1200" dirty="0">
              <a:latin typeface="Times New Roman" panose="02020603050405020304" pitchFamily="18" charset="0"/>
              <a:cs typeface="Times New Roman" panose="02020603050405020304" pitchFamily="18" charset="0"/>
            </a:endParaRPr>
          </a:p>
        </p:txBody>
      </p:sp>
      <p:graphicFrame>
        <p:nvGraphicFramePr>
          <p:cNvPr id="47" name="Content Placeholder 3">
            <a:extLst>
              <a:ext uri="{FF2B5EF4-FFF2-40B4-BE49-F238E27FC236}">
                <a16:creationId xmlns:a16="http://schemas.microsoft.com/office/drawing/2014/main" id="{A3B58A40-6783-C7BA-CF9E-15FCF8F9BEEA}"/>
              </a:ext>
            </a:extLst>
          </p:cNvPr>
          <p:cNvGraphicFramePr>
            <a:graphicFrameLocks/>
          </p:cNvGraphicFramePr>
          <p:nvPr>
            <p:extLst>
              <p:ext uri="{D42A27DB-BD31-4B8C-83A1-F6EECF244321}">
                <p14:modId xmlns:p14="http://schemas.microsoft.com/office/powerpoint/2010/main" val="2645070129"/>
              </p:ext>
            </p:extLst>
          </p:nvPr>
        </p:nvGraphicFramePr>
        <p:xfrm>
          <a:off x="365760" y="1097280"/>
          <a:ext cx="8156448" cy="3437982"/>
        </p:xfrm>
        <a:graphic>
          <a:graphicData uri="http://schemas.openxmlformats.org/drawingml/2006/table">
            <a:tbl>
              <a:tblPr>
                <a:tableStyleId>{BC89EF96-8CEA-46FF-86C4-4CE0E7609802}</a:tableStyleId>
              </a:tblPr>
              <a:tblGrid>
                <a:gridCol w="1118910">
                  <a:extLst>
                    <a:ext uri="{9D8B030D-6E8A-4147-A177-3AD203B41FA5}">
                      <a16:colId xmlns:a16="http://schemas.microsoft.com/office/drawing/2014/main" val="600600392"/>
                    </a:ext>
                  </a:extLst>
                </a:gridCol>
                <a:gridCol w="410035">
                  <a:extLst>
                    <a:ext uri="{9D8B030D-6E8A-4147-A177-3AD203B41FA5}">
                      <a16:colId xmlns:a16="http://schemas.microsoft.com/office/drawing/2014/main" val="4059232978"/>
                    </a:ext>
                  </a:extLst>
                </a:gridCol>
                <a:gridCol w="1104585">
                  <a:extLst>
                    <a:ext uri="{9D8B030D-6E8A-4147-A177-3AD203B41FA5}">
                      <a16:colId xmlns:a16="http://schemas.microsoft.com/office/drawing/2014/main" val="3967821728"/>
                    </a:ext>
                  </a:extLst>
                </a:gridCol>
                <a:gridCol w="1054659">
                  <a:extLst>
                    <a:ext uri="{9D8B030D-6E8A-4147-A177-3AD203B41FA5}">
                      <a16:colId xmlns:a16="http://schemas.microsoft.com/office/drawing/2014/main" val="941634721"/>
                    </a:ext>
                  </a:extLst>
                </a:gridCol>
                <a:gridCol w="1210673">
                  <a:extLst>
                    <a:ext uri="{9D8B030D-6E8A-4147-A177-3AD203B41FA5}">
                      <a16:colId xmlns:a16="http://schemas.microsoft.com/office/drawing/2014/main" val="2990732828"/>
                    </a:ext>
                  </a:extLst>
                </a:gridCol>
                <a:gridCol w="836239">
                  <a:extLst>
                    <a:ext uri="{9D8B030D-6E8A-4147-A177-3AD203B41FA5}">
                      <a16:colId xmlns:a16="http://schemas.microsoft.com/office/drawing/2014/main" val="3517963336"/>
                    </a:ext>
                  </a:extLst>
                </a:gridCol>
                <a:gridCol w="967282">
                  <a:extLst>
                    <a:ext uri="{9D8B030D-6E8A-4147-A177-3AD203B41FA5}">
                      <a16:colId xmlns:a16="http://schemas.microsoft.com/office/drawing/2014/main" val="395719080"/>
                    </a:ext>
                  </a:extLst>
                </a:gridCol>
                <a:gridCol w="709012">
                  <a:extLst>
                    <a:ext uri="{9D8B030D-6E8A-4147-A177-3AD203B41FA5}">
                      <a16:colId xmlns:a16="http://schemas.microsoft.com/office/drawing/2014/main" val="809549862"/>
                    </a:ext>
                  </a:extLst>
                </a:gridCol>
                <a:gridCol w="745053">
                  <a:extLst>
                    <a:ext uri="{9D8B030D-6E8A-4147-A177-3AD203B41FA5}">
                      <a16:colId xmlns:a16="http://schemas.microsoft.com/office/drawing/2014/main" val="3276828789"/>
                    </a:ext>
                  </a:extLst>
                </a:gridCol>
              </a:tblGrid>
              <a:tr h="366701">
                <a:tc>
                  <a:txBody>
                    <a:bodyPr/>
                    <a:lstStyle/>
                    <a:p>
                      <a:pPr algn="ctr" fontAlgn="b">
                        <a:buNone/>
                      </a:pPr>
                      <a:r>
                        <a:rPr lang="en-IN" sz="1100" b="1" u="none" strike="noStrike" dirty="0">
                          <a:effectLst/>
                          <a:latin typeface="Times New Roman" panose="02020603050405020304" pitchFamily="18" charset="0"/>
                          <a:cs typeface="Times New Roman" panose="02020603050405020304" pitchFamily="18" charset="0"/>
                        </a:rPr>
                        <a:t>LULC</a:t>
                      </a:r>
                      <a:endParaRPr lang="en-IN"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b="1" u="none" strike="noStrike" dirty="0">
                          <a:effectLst/>
                          <a:latin typeface="Times New Roman" panose="02020603050405020304" pitchFamily="18" charset="0"/>
                          <a:cs typeface="Times New Roman" panose="02020603050405020304" pitchFamily="18" charset="0"/>
                        </a:rPr>
                        <a:t>HSG</a:t>
                      </a:r>
                      <a:endParaRPr lang="en-IN"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b="1" u="none" strike="noStrike" dirty="0">
                          <a:effectLst/>
                          <a:latin typeface="Times New Roman" panose="02020603050405020304" pitchFamily="18" charset="0"/>
                          <a:cs typeface="Times New Roman" panose="02020603050405020304" pitchFamily="18" charset="0"/>
                        </a:rPr>
                        <a:t>AREA_2017_km²</a:t>
                      </a:r>
                      <a:endParaRPr lang="en-IN"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b="1" u="none" strike="noStrike" dirty="0">
                          <a:effectLst/>
                          <a:latin typeface="Times New Roman" panose="02020603050405020304" pitchFamily="18" charset="0"/>
                          <a:cs typeface="Times New Roman" panose="02020603050405020304" pitchFamily="18" charset="0"/>
                        </a:rPr>
                        <a:t>AREA_2024_km²</a:t>
                      </a:r>
                      <a:endParaRPr lang="en-IN"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b="1" u="none" strike="noStrike" dirty="0">
                          <a:effectLst/>
                          <a:latin typeface="Times New Roman" panose="02020603050405020304" pitchFamily="18" charset="0"/>
                          <a:cs typeface="Times New Roman" panose="02020603050405020304" pitchFamily="18" charset="0"/>
                        </a:rPr>
                        <a:t> Change in area_km²</a:t>
                      </a:r>
                      <a:endParaRPr lang="en-IN"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b="1" u="none" strike="noStrike" dirty="0">
                          <a:effectLst/>
                          <a:latin typeface="Times New Roman" panose="02020603050405020304" pitchFamily="18" charset="0"/>
                          <a:cs typeface="Times New Roman" panose="02020603050405020304" pitchFamily="18" charset="0"/>
                        </a:rPr>
                        <a:t>overall change_km²</a:t>
                      </a:r>
                      <a:endParaRPr lang="en-IN"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b="1" u="none" strike="noStrike">
                          <a:effectLst/>
                          <a:latin typeface="Times New Roman" panose="02020603050405020304" pitchFamily="18" charset="0"/>
                          <a:cs typeface="Times New Roman" panose="02020603050405020304" pitchFamily="18" charset="0"/>
                        </a:rPr>
                        <a:t>Curve number</a:t>
                      </a:r>
                      <a:endParaRPr lang="en-IN" sz="1100" b="1"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b="1" u="none" strike="noStrike" dirty="0">
                          <a:effectLst/>
                          <a:latin typeface="Times New Roman" panose="02020603050405020304" pitchFamily="18" charset="0"/>
                          <a:cs typeface="Times New Roman" panose="02020603050405020304" pitchFamily="18" charset="0"/>
                        </a:rPr>
                        <a:t>CN_2017</a:t>
                      </a:r>
                      <a:endParaRPr lang="en-IN"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b="1" u="none" strike="noStrike" dirty="0">
                          <a:effectLst/>
                          <a:latin typeface="Times New Roman" panose="02020603050405020304" pitchFamily="18" charset="0"/>
                          <a:cs typeface="Times New Roman" panose="02020603050405020304" pitchFamily="18" charset="0"/>
                        </a:rPr>
                        <a:t>CN_2024</a:t>
                      </a:r>
                      <a:endParaRPr lang="en-IN" sz="11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extLst>
                  <a:ext uri="{0D108BD9-81ED-4DB2-BD59-A6C34878D82A}">
                    <a16:rowId xmlns:a16="http://schemas.microsoft.com/office/drawing/2014/main" val="762046560"/>
                  </a:ext>
                </a:extLst>
              </a:tr>
              <a:tr h="171299">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water bodies</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C</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1963.35</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2276.79</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313.44</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rowSpan="2">
                  <a:txBody>
                    <a:bodyPr/>
                    <a:lstStyle/>
                    <a:p>
                      <a:pPr algn="ctr" fontAlgn="b">
                        <a:buNone/>
                      </a:pPr>
                      <a:r>
                        <a:rPr lang="en-IN" sz="1100" u="none" strike="noStrike" dirty="0">
                          <a:solidFill>
                            <a:srgbClr val="00B050"/>
                          </a:solidFill>
                          <a:effectLst/>
                          <a:latin typeface="Times New Roman" panose="02020603050405020304" pitchFamily="18" charset="0"/>
                          <a:cs typeface="Times New Roman" panose="02020603050405020304" pitchFamily="18" charset="0"/>
                        </a:rPr>
                        <a:t>460.98</a:t>
                      </a:r>
                      <a:endParaRPr lang="en-IN" sz="1100" b="0" i="0" u="none" strike="noStrike" dirty="0">
                        <a:solidFill>
                          <a:srgbClr val="00B050"/>
                        </a:solidFill>
                        <a:effectLst/>
                        <a:latin typeface="Times New Roman" panose="02020603050405020304" pitchFamily="18" charset="0"/>
                        <a:cs typeface="Times New Roman" panose="02020603050405020304" pitchFamily="18" charset="0"/>
                      </a:endParaRPr>
                    </a:p>
                  </a:txBody>
                  <a:tcPr marL="81903" marR="81903" marT="40951" marB="40951"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100</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0.62</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0.72</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extLst>
                  <a:ext uri="{0D108BD9-81ED-4DB2-BD59-A6C34878D82A}">
                    <a16:rowId xmlns:a16="http://schemas.microsoft.com/office/drawing/2014/main" val="4260566149"/>
                  </a:ext>
                </a:extLst>
              </a:tr>
              <a:tr h="218541">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water bodies</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D</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4239.29</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4386.84</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147.54</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vMerge="1">
                  <a:txBody>
                    <a:bodyPr/>
                    <a:lstStyle/>
                    <a:p>
                      <a:endParaRPr lang="en-IN"/>
                    </a:p>
                  </a:txBody>
                  <a:tcPr/>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100</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1.34</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1.39</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extLst>
                  <a:ext uri="{0D108BD9-81ED-4DB2-BD59-A6C34878D82A}">
                    <a16:rowId xmlns:a16="http://schemas.microsoft.com/office/drawing/2014/main" val="2834086204"/>
                  </a:ext>
                </a:extLst>
              </a:tr>
              <a:tr h="171299">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forest</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C</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36160.50</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33036.98</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-3123.52</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rowSpan="2">
                  <a:txBody>
                    <a:bodyPr/>
                    <a:lstStyle/>
                    <a:p>
                      <a:pPr algn="ctr" fontAlgn="b">
                        <a:buNone/>
                      </a:pPr>
                      <a:r>
                        <a:rPr lang="en-IN" sz="1100" u="none" strike="noStrike" dirty="0">
                          <a:solidFill>
                            <a:schemeClr val="accent3">
                              <a:lumMod val="75000"/>
                            </a:schemeClr>
                          </a:solidFill>
                          <a:effectLst/>
                          <a:latin typeface="Times New Roman" panose="02020603050405020304" pitchFamily="18" charset="0"/>
                          <a:cs typeface="Times New Roman" panose="02020603050405020304" pitchFamily="18" charset="0"/>
                        </a:rPr>
                        <a:t>-12550.92</a:t>
                      </a:r>
                      <a:endParaRPr lang="en-IN" sz="1100" b="0" i="0" u="none" strike="noStrike" dirty="0">
                        <a:solidFill>
                          <a:schemeClr val="accent3">
                            <a:lumMod val="75000"/>
                          </a:schemeClr>
                        </a:solidFill>
                        <a:effectLst/>
                        <a:latin typeface="Times New Roman" panose="02020603050405020304" pitchFamily="18" charset="0"/>
                        <a:cs typeface="Times New Roman" panose="02020603050405020304" pitchFamily="18" charset="0"/>
                      </a:endParaRPr>
                    </a:p>
                  </a:txBody>
                  <a:tcPr marL="81903" marR="81903" marT="40951" marB="40951"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70</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8.03</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7.34</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extLst>
                  <a:ext uri="{0D108BD9-81ED-4DB2-BD59-A6C34878D82A}">
                    <a16:rowId xmlns:a16="http://schemas.microsoft.com/office/drawing/2014/main" val="3138130608"/>
                  </a:ext>
                </a:extLst>
              </a:tr>
              <a:tr h="262134">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forest</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D</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34183.48</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24756.08</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-9427.40</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vMerge="1">
                  <a:txBody>
                    <a:bodyPr/>
                    <a:lstStyle/>
                    <a:p>
                      <a:endParaRPr lang="en-IN"/>
                    </a:p>
                  </a:txBody>
                  <a:tcPr/>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77</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8.35</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6.05</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extLst>
                  <a:ext uri="{0D108BD9-81ED-4DB2-BD59-A6C34878D82A}">
                    <a16:rowId xmlns:a16="http://schemas.microsoft.com/office/drawing/2014/main" val="3515286008"/>
                  </a:ext>
                </a:extLst>
              </a:tr>
              <a:tr h="212055">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flooded vegetation</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C</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60.67</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37.58</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-23.09</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rowSpan="2">
                  <a:txBody>
                    <a:bodyPr/>
                    <a:lstStyle/>
                    <a:p>
                      <a:pPr algn="ctr" fontAlgn="b">
                        <a:buNone/>
                      </a:pPr>
                      <a:r>
                        <a:rPr lang="en-IN" sz="1100" u="none" strike="noStrike" dirty="0">
                          <a:solidFill>
                            <a:schemeClr val="accent3">
                              <a:lumMod val="75000"/>
                            </a:schemeClr>
                          </a:solidFill>
                          <a:effectLst/>
                          <a:latin typeface="Times New Roman" panose="02020603050405020304" pitchFamily="18" charset="0"/>
                          <a:cs typeface="Times New Roman" panose="02020603050405020304" pitchFamily="18" charset="0"/>
                        </a:rPr>
                        <a:t>-51.00</a:t>
                      </a:r>
                      <a:endParaRPr lang="en-IN" sz="1100" b="0" i="0" u="none" strike="noStrike" dirty="0">
                        <a:solidFill>
                          <a:schemeClr val="accent3">
                            <a:lumMod val="75000"/>
                          </a:schemeClr>
                        </a:solidFill>
                        <a:effectLst/>
                        <a:latin typeface="Times New Roman" panose="02020603050405020304" pitchFamily="18" charset="0"/>
                        <a:cs typeface="Times New Roman" panose="02020603050405020304" pitchFamily="18" charset="0"/>
                      </a:endParaRPr>
                    </a:p>
                  </a:txBody>
                  <a:tcPr marL="81903" marR="81903" marT="40951" marB="40951"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100</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0.02</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0.01</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extLst>
                  <a:ext uri="{0D108BD9-81ED-4DB2-BD59-A6C34878D82A}">
                    <a16:rowId xmlns:a16="http://schemas.microsoft.com/office/drawing/2014/main" val="1126858110"/>
                  </a:ext>
                </a:extLst>
              </a:tr>
              <a:tr h="237004">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flooded vegetation</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D</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111.07</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83.15</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-27.91</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vMerge="1">
                  <a:txBody>
                    <a:bodyPr/>
                    <a:lstStyle/>
                    <a:p>
                      <a:endParaRPr lang="en-IN"/>
                    </a:p>
                  </a:txBody>
                  <a:tcPr/>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100</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0.04</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0.03</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extLst>
                  <a:ext uri="{0D108BD9-81ED-4DB2-BD59-A6C34878D82A}">
                    <a16:rowId xmlns:a16="http://schemas.microsoft.com/office/drawing/2014/main" val="2393764955"/>
                  </a:ext>
                </a:extLst>
              </a:tr>
              <a:tr h="171299">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Agricultral</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C</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16433.00</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18275.97</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1842.97</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rowSpan="2">
                  <a:txBody>
                    <a:bodyPr/>
                    <a:lstStyle/>
                    <a:p>
                      <a:pPr algn="ctr" fontAlgn="b">
                        <a:buNone/>
                      </a:pPr>
                      <a:r>
                        <a:rPr lang="en-IN" sz="1100" u="none" strike="noStrike" dirty="0">
                          <a:solidFill>
                            <a:srgbClr val="00B050"/>
                          </a:solidFill>
                          <a:effectLst/>
                          <a:latin typeface="Times New Roman" panose="02020603050405020304" pitchFamily="18" charset="0"/>
                          <a:cs typeface="Times New Roman" panose="02020603050405020304" pitchFamily="18" charset="0"/>
                        </a:rPr>
                        <a:t>5453.88</a:t>
                      </a:r>
                      <a:endParaRPr lang="en-IN" sz="1100" b="0" i="0" u="none" strike="noStrike" dirty="0">
                        <a:solidFill>
                          <a:srgbClr val="00B050"/>
                        </a:solidFill>
                        <a:effectLst/>
                        <a:latin typeface="Times New Roman" panose="02020603050405020304" pitchFamily="18" charset="0"/>
                        <a:cs typeface="Times New Roman" panose="02020603050405020304" pitchFamily="18" charset="0"/>
                      </a:endParaRPr>
                    </a:p>
                  </a:txBody>
                  <a:tcPr marL="81903" marR="81903" marT="40951" marB="40951"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82</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4.27</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4.75</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extLst>
                  <a:ext uri="{0D108BD9-81ED-4DB2-BD59-A6C34878D82A}">
                    <a16:rowId xmlns:a16="http://schemas.microsoft.com/office/drawing/2014/main" val="4049372860"/>
                  </a:ext>
                </a:extLst>
              </a:tr>
              <a:tr h="218541">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Agricultral</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D</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150295.09</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153906.00</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3610.91</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vMerge="1">
                  <a:txBody>
                    <a:bodyPr/>
                    <a:lstStyle/>
                    <a:p>
                      <a:endParaRPr lang="en-IN"/>
                    </a:p>
                  </a:txBody>
                  <a:tcPr/>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86</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41.00</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41.99</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extLst>
                  <a:ext uri="{0D108BD9-81ED-4DB2-BD59-A6C34878D82A}">
                    <a16:rowId xmlns:a16="http://schemas.microsoft.com/office/drawing/2014/main" val="1108594644"/>
                  </a:ext>
                </a:extLst>
              </a:tr>
              <a:tr h="171299">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bulit up</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C</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2598.67</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3616.92</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1018.25</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rowSpan="2">
                  <a:txBody>
                    <a:bodyPr/>
                    <a:lstStyle/>
                    <a:p>
                      <a:pPr algn="ctr" fontAlgn="b">
                        <a:buNone/>
                      </a:pPr>
                      <a:r>
                        <a:rPr lang="en-IN" sz="1100" u="none" strike="noStrike" dirty="0">
                          <a:solidFill>
                            <a:srgbClr val="00B050"/>
                          </a:solidFill>
                          <a:effectLst/>
                          <a:latin typeface="Times New Roman" panose="02020603050405020304" pitchFamily="18" charset="0"/>
                          <a:cs typeface="Times New Roman" panose="02020603050405020304" pitchFamily="18" charset="0"/>
                        </a:rPr>
                        <a:t>3740.73</a:t>
                      </a:r>
                      <a:endParaRPr lang="en-IN" sz="1100" b="0" i="0" u="none" strike="noStrike" dirty="0">
                        <a:solidFill>
                          <a:srgbClr val="00B050"/>
                        </a:solidFill>
                        <a:effectLst/>
                        <a:latin typeface="Times New Roman" panose="02020603050405020304" pitchFamily="18" charset="0"/>
                        <a:cs typeface="Times New Roman" panose="02020603050405020304" pitchFamily="18" charset="0"/>
                      </a:endParaRPr>
                    </a:p>
                  </a:txBody>
                  <a:tcPr marL="81903" marR="81903" marT="40951" marB="40951"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94</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0.77</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1.08</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extLst>
                  <a:ext uri="{0D108BD9-81ED-4DB2-BD59-A6C34878D82A}">
                    <a16:rowId xmlns:a16="http://schemas.microsoft.com/office/drawing/2014/main" val="2753361056"/>
                  </a:ext>
                </a:extLst>
              </a:tr>
              <a:tr h="218541">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bulit up</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D</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5679.57</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8402.05</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2722.48</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vMerge="1">
                  <a:txBody>
                    <a:bodyPr/>
                    <a:lstStyle/>
                    <a:p>
                      <a:endParaRPr lang="en-IN"/>
                    </a:p>
                  </a:txBody>
                  <a:tcPr/>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95</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1.71</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2.53</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extLst>
                  <a:ext uri="{0D108BD9-81ED-4DB2-BD59-A6C34878D82A}">
                    <a16:rowId xmlns:a16="http://schemas.microsoft.com/office/drawing/2014/main" val="799283336"/>
                  </a:ext>
                </a:extLst>
              </a:tr>
              <a:tr h="171299">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bare ground</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C</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114.37</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61.21</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-53.16</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rowSpan="2">
                  <a:txBody>
                    <a:bodyPr/>
                    <a:lstStyle/>
                    <a:p>
                      <a:pPr algn="ctr" fontAlgn="b">
                        <a:buNone/>
                      </a:pPr>
                      <a:r>
                        <a:rPr lang="en-IN" sz="1100" u="none" strike="noStrike" dirty="0">
                          <a:solidFill>
                            <a:schemeClr val="accent3">
                              <a:lumMod val="75000"/>
                            </a:schemeClr>
                          </a:solidFill>
                          <a:effectLst/>
                          <a:latin typeface="Times New Roman" panose="02020603050405020304" pitchFamily="18" charset="0"/>
                          <a:cs typeface="Times New Roman" panose="02020603050405020304" pitchFamily="18" charset="0"/>
                        </a:rPr>
                        <a:t>-204.39</a:t>
                      </a:r>
                      <a:endParaRPr lang="en-IN" sz="1100" b="0" i="0" u="none" strike="noStrike" dirty="0">
                        <a:solidFill>
                          <a:schemeClr val="accent3">
                            <a:lumMod val="75000"/>
                          </a:schemeClr>
                        </a:solidFill>
                        <a:effectLst/>
                        <a:latin typeface="Times New Roman" panose="02020603050405020304" pitchFamily="18" charset="0"/>
                        <a:cs typeface="Times New Roman" panose="02020603050405020304" pitchFamily="18" charset="0"/>
                      </a:endParaRPr>
                    </a:p>
                  </a:txBody>
                  <a:tcPr marL="81903" marR="81903" marT="40951" marB="40951"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79</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0.03</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0.02</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extLst>
                  <a:ext uri="{0D108BD9-81ED-4DB2-BD59-A6C34878D82A}">
                    <a16:rowId xmlns:a16="http://schemas.microsoft.com/office/drawing/2014/main" val="3664236047"/>
                  </a:ext>
                </a:extLst>
              </a:tr>
              <a:tr h="215323">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bare ground</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D</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409.85</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258.63</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-151.22</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vMerge="1">
                  <a:txBody>
                    <a:bodyPr/>
                    <a:lstStyle/>
                    <a:p>
                      <a:endParaRPr lang="en-IN"/>
                    </a:p>
                  </a:txBody>
                  <a:tcPr/>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84</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0.11</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0.07</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extLst>
                  <a:ext uri="{0D108BD9-81ED-4DB2-BD59-A6C34878D82A}">
                    <a16:rowId xmlns:a16="http://schemas.microsoft.com/office/drawing/2014/main" val="57187735"/>
                  </a:ext>
                </a:extLst>
              </a:tr>
              <a:tr h="171299">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rangeground</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C</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27740.43</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29054.27</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1313.84</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rowSpan="2">
                  <a:txBody>
                    <a:bodyPr/>
                    <a:lstStyle/>
                    <a:p>
                      <a:pPr algn="ctr" fontAlgn="b">
                        <a:buNone/>
                      </a:pPr>
                      <a:r>
                        <a:rPr lang="en-IN" sz="1100" u="none" strike="noStrike" dirty="0">
                          <a:solidFill>
                            <a:srgbClr val="00B050"/>
                          </a:solidFill>
                          <a:effectLst/>
                          <a:latin typeface="Times New Roman" panose="02020603050405020304" pitchFamily="18" charset="0"/>
                          <a:cs typeface="Times New Roman" panose="02020603050405020304" pitchFamily="18" charset="0"/>
                        </a:rPr>
                        <a:t>3148.09</a:t>
                      </a:r>
                      <a:endParaRPr lang="en-IN" sz="1100" b="0" i="0" u="none" strike="noStrike" dirty="0">
                        <a:solidFill>
                          <a:srgbClr val="00B050"/>
                        </a:solidFill>
                        <a:effectLst/>
                        <a:latin typeface="Times New Roman" panose="02020603050405020304" pitchFamily="18" charset="0"/>
                        <a:cs typeface="Times New Roman" panose="02020603050405020304" pitchFamily="18" charset="0"/>
                      </a:endParaRPr>
                    </a:p>
                  </a:txBody>
                  <a:tcPr marL="81903" marR="81903" marT="40951" marB="40951"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74</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6.51</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6.82</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extLst>
                  <a:ext uri="{0D108BD9-81ED-4DB2-BD59-A6C34878D82A}">
                    <a16:rowId xmlns:a16="http://schemas.microsoft.com/office/drawing/2014/main" val="3132685768"/>
                  </a:ext>
                </a:extLst>
              </a:tr>
              <a:tr h="218541">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rangeground</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D</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35252.95</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37087.20</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1834.25</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vMerge="1">
                  <a:txBody>
                    <a:bodyPr/>
                    <a:lstStyle/>
                    <a:p>
                      <a:endParaRPr lang="en-IN"/>
                    </a:p>
                  </a:txBody>
                  <a:tcPr/>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80</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8.95</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9.41</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extLst>
                  <a:ext uri="{0D108BD9-81ED-4DB2-BD59-A6C34878D82A}">
                    <a16:rowId xmlns:a16="http://schemas.microsoft.com/office/drawing/2014/main" val="1170686378"/>
                  </a:ext>
                </a:extLst>
              </a:tr>
              <a:tr h="212488">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 </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 </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315242.29</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dirty="0">
                          <a:effectLst/>
                          <a:latin typeface="Times New Roman" panose="02020603050405020304" pitchFamily="18" charset="0"/>
                          <a:cs typeface="Times New Roman" panose="02020603050405020304" pitchFamily="18" charset="0"/>
                        </a:rPr>
                        <a:t>315239.67</a:t>
                      </a:r>
                      <a:endParaRPr lang="en-IN" sz="11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 </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 </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100" u="none" strike="noStrike">
                          <a:effectLst/>
                          <a:latin typeface="Times New Roman" panose="02020603050405020304" pitchFamily="18" charset="0"/>
                          <a:cs typeface="Times New Roman" panose="02020603050405020304" pitchFamily="18" charset="0"/>
                        </a:rPr>
                        <a:t> </a:t>
                      </a:r>
                      <a:endParaRPr lang="en-IN" sz="1100" b="0" i="0" u="none" strike="noStrike">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400" b="1" u="none" strike="noStrike" dirty="0">
                          <a:effectLst/>
                          <a:latin typeface="Times New Roman" panose="02020603050405020304" pitchFamily="18" charset="0"/>
                          <a:cs typeface="Times New Roman" panose="02020603050405020304" pitchFamily="18" charset="0"/>
                        </a:rPr>
                        <a:t>81.76</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tc>
                  <a:txBody>
                    <a:bodyPr/>
                    <a:lstStyle/>
                    <a:p>
                      <a:pPr algn="ctr" fontAlgn="b">
                        <a:buNone/>
                      </a:pPr>
                      <a:r>
                        <a:rPr lang="en-IN" sz="1400" b="1" u="none" strike="noStrike" dirty="0">
                          <a:effectLst/>
                          <a:latin typeface="Times New Roman" panose="02020603050405020304" pitchFamily="18" charset="0"/>
                          <a:cs typeface="Times New Roman" panose="02020603050405020304" pitchFamily="18" charset="0"/>
                        </a:rPr>
                        <a:t>82.20</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7343" marR="7343" marT="7343" marB="0" anchor="b"/>
                </a:tc>
                <a:extLst>
                  <a:ext uri="{0D108BD9-81ED-4DB2-BD59-A6C34878D82A}">
                    <a16:rowId xmlns:a16="http://schemas.microsoft.com/office/drawing/2014/main" val="2414475379"/>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88E5"/>
          </a:solidFill>
          <a:ln w="12700">
            <a:solidFill>
              <a:srgbClr val="1E88E5"/>
            </a:solidFill>
            <a:prstDash val="solid"/>
          </a:ln>
        </p:spPr>
        <p:txBody>
          <a:bodyPr/>
          <a:lstStyle/>
          <a:p>
            <a:endParaRPr lang="en-IN"/>
          </a:p>
        </p:txBody>
      </p:sp>
      <p:sp>
        <p:nvSpPr>
          <p:cNvPr id="3" name="Shape 1"/>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4" name="Text 2"/>
          <p:cNvSpPr/>
          <p:nvPr/>
        </p:nvSpPr>
        <p:spPr>
          <a:xfrm>
            <a:off x="274320" y="0"/>
            <a:ext cx="8595360" cy="658368"/>
          </a:xfrm>
          <a:prstGeom prst="rect">
            <a:avLst/>
          </a:prstGeom>
          <a:noFill/>
          <a:ln/>
        </p:spPr>
        <p:txBody>
          <a:bodyPr wrap="square" lIns="0" tIns="0" rIns="0" bIns="0"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07  |  Results &amp; Discussion – Curve Number and Runoff Trends</a:t>
            </a:r>
            <a:endParaRPr lang="en-US" sz="2200" dirty="0">
              <a:latin typeface="Times New Roman" panose="02020603050405020304" pitchFamily="18" charset="0"/>
              <a:cs typeface="Times New Roman" panose="02020603050405020304" pitchFamily="18" charset="0"/>
            </a:endParaRPr>
          </a:p>
        </p:txBody>
      </p:sp>
      <p:sp>
        <p:nvSpPr>
          <p:cNvPr id="5" name="Text 3"/>
          <p:cNvSpPr/>
          <p:nvPr/>
        </p:nvSpPr>
        <p:spPr>
          <a:xfrm>
            <a:off x="365760" y="777240"/>
            <a:ext cx="4389120" cy="292608"/>
          </a:xfrm>
          <a:prstGeom prst="rect">
            <a:avLst/>
          </a:prstGeom>
          <a:noFill/>
          <a:ln/>
        </p:spPr>
        <p:txBody>
          <a:bodyPr wrap="square" rtlCol="0" anchor="ctr"/>
          <a:lstStyle/>
          <a:p>
            <a:pPr marL="0" indent="0">
              <a:buNone/>
            </a:pPr>
            <a:r>
              <a:rPr lang="en-US" sz="1400" b="1" dirty="0">
                <a:solidFill>
                  <a:srgbClr val="1E88E5"/>
                </a:solidFill>
                <a:latin typeface="Times New Roman" panose="02020603050405020304" pitchFamily="18" charset="0"/>
                <a:cs typeface="Times New Roman" panose="02020603050405020304" pitchFamily="18" charset="0"/>
              </a:rPr>
              <a:t>SCS-CN Runoff Estimation</a:t>
            </a:r>
            <a:endParaRPr lang="en-US" sz="1400" dirty="0">
              <a:latin typeface="Times New Roman" panose="02020603050405020304" pitchFamily="18" charset="0"/>
              <a:cs typeface="Times New Roman" panose="02020603050405020304" pitchFamily="18" charset="0"/>
            </a:endParaRPr>
          </a:p>
        </p:txBody>
      </p:sp>
      <p:sp>
        <p:nvSpPr>
          <p:cNvPr id="6" name="Shape 4"/>
          <p:cNvSpPr/>
          <p:nvPr/>
        </p:nvSpPr>
        <p:spPr>
          <a:xfrm>
            <a:off x="320040" y="1253576"/>
            <a:ext cx="4892040" cy="2560926"/>
          </a:xfrm>
          <a:prstGeom prst="rect">
            <a:avLst/>
          </a:prstGeom>
          <a:solidFill>
            <a:srgbClr val="FFFFFF"/>
          </a:solidFill>
          <a:ln w="12700">
            <a:solidFill>
              <a:srgbClr val="1E88E5"/>
            </a:solidFill>
            <a:prstDash val="solid"/>
          </a:ln>
        </p:spPr>
        <p:txBody>
          <a:bodyPr/>
          <a:lstStyle/>
          <a:p>
            <a:endParaRPr lang="en-IN"/>
          </a:p>
        </p:txBody>
      </p:sp>
      <p:sp>
        <p:nvSpPr>
          <p:cNvPr id="35" name="Text 32"/>
          <p:cNvSpPr/>
          <p:nvPr/>
        </p:nvSpPr>
        <p:spPr>
          <a:xfrm>
            <a:off x="5212080" y="2240280"/>
            <a:ext cx="384048" cy="530352"/>
          </a:xfrm>
          <a:prstGeom prst="rect">
            <a:avLst/>
          </a:prstGeom>
          <a:noFill/>
          <a:ln/>
        </p:spPr>
        <p:txBody>
          <a:bodyPr wrap="square" lIns="0" tIns="0" rIns="0" bIns="0" rtlCol="0" anchor="ctr"/>
          <a:lstStyle/>
          <a:p>
            <a:pPr marL="0" indent="0" algn="ctr">
              <a:buNone/>
            </a:pPr>
            <a:r>
              <a:rPr lang="en-US" sz="1400" dirty="0">
                <a:solidFill>
                  <a:srgbClr val="FFFFFF"/>
                </a:solidFill>
              </a:rPr>
              <a:t> </a:t>
            </a:r>
            <a:endParaRPr lang="en-US" sz="1400" dirty="0"/>
          </a:p>
        </p:txBody>
      </p:sp>
      <p:sp>
        <p:nvSpPr>
          <p:cNvPr id="45" name="Shape 42"/>
          <p:cNvSpPr/>
          <p:nvPr/>
        </p:nvSpPr>
        <p:spPr>
          <a:xfrm>
            <a:off x="256032" y="4291503"/>
            <a:ext cx="8503920" cy="713232"/>
          </a:xfrm>
          <a:prstGeom prst="rect">
            <a:avLst/>
          </a:prstGeom>
          <a:solidFill>
            <a:srgbClr val="EDF4FB"/>
          </a:solidFill>
          <a:ln w="12700">
            <a:solidFill>
              <a:srgbClr val="1E88E5"/>
            </a:solidFill>
            <a:prstDash val="solid"/>
          </a:ln>
        </p:spPr>
        <p:txBody>
          <a:bodyPr/>
          <a:lstStyle/>
          <a:p>
            <a:endParaRPr lang="en-IN"/>
          </a:p>
        </p:txBody>
      </p:sp>
      <p:sp>
        <p:nvSpPr>
          <p:cNvPr id="46" name="Text 43"/>
          <p:cNvSpPr/>
          <p:nvPr/>
        </p:nvSpPr>
        <p:spPr>
          <a:xfrm>
            <a:off x="427250" y="4294470"/>
            <a:ext cx="8275320" cy="640080"/>
          </a:xfrm>
          <a:prstGeom prst="rect">
            <a:avLst/>
          </a:prstGeom>
          <a:noFill/>
          <a:ln/>
        </p:spPr>
        <p:txBody>
          <a:bodyPr wrap="square" rtlCol="0" anchor="ctr"/>
          <a:lstStyle/>
          <a:p>
            <a:pPr marL="0" indent="0" algn="just">
              <a:buNone/>
            </a:pPr>
            <a:r>
              <a:rPr lang="en-US" sz="1100" b="1" dirty="0">
                <a:solidFill>
                  <a:srgbClr val="1A2B3C"/>
                </a:solidFill>
                <a:latin typeface="Times New Roman" panose="02020603050405020304" pitchFamily="18" charset="0"/>
                <a:cs typeface="Times New Roman" panose="02020603050405020304" pitchFamily="18" charset="0"/>
              </a:rPr>
              <a:t>Sustainability Implication: </a:t>
            </a:r>
            <a:r>
              <a:rPr lang="en-US" sz="1100" dirty="0">
                <a:solidFill>
                  <a:srgbClr val="1A2B3C"/>
                </a:solidFill>
                <a:latin typeface="Times New Roman" panose="02020603050405020304" pitchFamily="18" charset="0"/>
                <a:cs typeface="Times New Roman" panose="02020603050405020304" pitchFamily="18" charset="0"/>
              </a:rPr>
              <a:t>Increasing runoff, higher CN values, and rising rainfall collectively elevate pond levels at SACB faster during monsoon - posing greater risks to gate operations, downstream scour, sediment deposition, and structural safety. Continuous AI/ML-based forecasting is essential.</a:t>
            </a:r>
            <a:endParaRPr lang="en-US" sz="1100" dirty="0">
              <a:latin typeface="Times New Roman" panose="02020603050405020304" pitchFamily="18" charset="0"/>
              <a:cs typeface="Times New Roman" panose="02020603050405020304" pitchFamily="18" charset="0"/>
            </a:endParaRPr>
          </a:p>
        </p:txBody>
      </p:sp>
      <p:graphicFrame>
        <p:nvGraphicFramePr>
          <p:cNvPr id="47" name="Chart 46">
            <a:extLst>
              <a:ext uri="{FF2B5EF4-FFF2-40B4-BE49-F238E27FC236}">
                <a16:creationId xmlns:a16="http://schemas.microsoft.com/office/drawing/2014/main" id="{EBEF55B9-5AB7-E957-68BA-4D6D87D1F597}"/>
              </a:ext>
            </a:extLst>
          </p:cNvPr>
          <p:cNvGraphicFramePr/>
          <p:nvPr>
            <p:extLst>
              <p:ext uri="{D42A27DB-BD31-4B8C-83A1-F6EECF244321}">
                <p14:modId xmlns:p14="http://schemas.microsoft.com/office/powerpoint/2010/main" val="3802761768"/>
              </p:ext>
            </p:extLst>
          </p:nvPr>
        </p:nvGraphicFramePr>
        <p:xfrm>
          <a:off x="556192" y="1307854"/>
          <a:ext cx="4306478" cy="2588863"/>
        </p:xfrm>
        <a:graphic>
          <a:graphicData uri="http://schemas.openxmlformats.org/drawingml/2006/chart">
            <c:chart xmlns:c="http://schemas.openxmlformats.org/drawingml/2006/chart" xmlns:r="http://schemas.openxmlformats.org/officeDocument/2006/relationships" r:id="rId3"/>
          </a:graphicData>
        </a:graphic>
      </p:graphicFrame>
      <p:grpSp>
        <p:nvGrpSpPr>
          <p:cNvPr id="7" name="Group 6">
            <a:extLst>
              <a:ext uri="{FF2B5EF4-FFF2-40B4-BE49-F238E27FC236}">
                <a16:creationId xmlns:a16="http://schemas.microsoft.com/office/drawing/2014/main" id="{DE69F2C6-3D38-0322-6DCF-8CD20AD52D58}"/>
              </a:ext>
            </a:extLst>
          </p:cNvPr>
          <p:cNvGrpSpPr/>
          <p:nvPr/>
        </p:nvGrpSpPr>
        <p:grpSpPr>
          <a:xfrm>
            <a:off x="5858107" y="814664"/>
            <a:ext cx="2834640" cy="3401265"/>
            <a:chOff x="6097690" y="768096"/>
            <a:chExt cx="2834640" cy="3401265"/>
          </a:xfrm>
        </p:grpSpPr>
        <p:sp>
          <p:nvSpPr>
            <p:cNvPr id="8" name="Shape 4">
              <a:extLst>
                <a:ext uri="{FF2B5EF4-FFF2-40B4-BE49-F238E27FC236}">
                  <a16:creationId xmlns:a16="http://schemas.microsoft.com/office/drawing/2014/main" id="{94EF6E69-36F9-B516-96A8-96CAB672B41C}"/>
                </a:ext>
              </a:extLst>
            </p:cNvPr>
            <p:cNvSpPr/>
            <p:nvPr/>
          </p:nvSpPr>
          <p:spPr>
            <a:xfrm>
              <a:off x="6097690" y="786384"/>
              <a:ext cx="2824817" cy="3382977"/>
            </a:xfrm>
            <a:prstGeom prst="rect">
              <a:avLst/>
            </a:prstGeom>
            <a:solidFill>
              <a:srgbClr val="FFFFFF"/>
            </a:solidFill>
            <a:ln w="12700">
              <a:solidFill>
                <a:srgbClr val="1E88E5"/>
              </a:solidFill>
              <a:prstDash val="solid"/>
            </a:ln>
          </p:spPr>
          <p:txBody>
            <a:bodyPr/>
            <a:lstStyle/>
            <a:p>
              <a:endParaRPr lang="en-IN" sz="1100" dirty="0">
                <a:latin typeface="Times New Roman" panose="02020603050405020304" pitchFamily="18" charset="0"/>
                <a:cs typeface="Times New Roman" panose="02020603050405020304" pitchFamily="18" charset="0"/>
              </a:endParaRPr>
            </a:p>
          </p:txBody>
        </p:sp>
        <p:sp>
          <p:nvSpPr>
            <p:cNvPr id="9" name="Shape 5">
              <a:extLst>
                <a:ext uri="{FF2B5EF4-FFF2-40B4-BE49-F238E27FC236}">
                  <a16:creationId xmlns:a16="http://schemas.microsoft.com/office/drawing/2014/main" id="{8582FC8D-DF25-304D-7E1B-DC97B4AA155A}"/>
                </a:ext>
              </a:extLst>
            </p:cNvPr>
            <p:cNvSpPr/>
            <p:nvPr/>
          </p:nvSpPr>
          <p:spPr>
            <a:xfrm>
              <a:off x="6097690" y="768096"/>
              <a:ext cx="2834640" cy="347472"/>
            </a:xfrm>
            <a:prstGeom prst="rect">
              <a:avLst/>
            </a:prstGeom>
            <a:solidFill>
              <a:srgbClr val="1E88E5"/>
            </a:solidFill>
            <a:ln w="12700">
              <a:solidFill>
                <a:srgbClr val="1E88E5"/>
              </a:solidFill>
              <a:prstDash val="solid"/>
            </a:ln>
          </p:spPr>
          <p:txBody>
            <a:bodyPr/>
            <a:lstStyle/>
            <a:p>
              <a:endParaRPr lang="en-IN" sz="1100">
                <a:latin typeface="Times New Roman" panose="02020603050405020304" pitchFamily="18" charset="0"/>
                <a:cs typeface="Times New Roman" panose="02020603050405020304" pitchFamily="18" charset="0"/>
              </a:endParaRPr>
            </a:p>
          </p:txBody>
        </p:sp>
        <p:sp>
          <p:nvSpPr>
            <p:cNvPr id="10" name="Text 6">
              <a:extLst>
                <a:ext uri="{FF2B5EF4-FFF2-40B4-BE49-F238E27FC236}">
                  <a16:creationId xmlns:a16="http://schemas.microsoft.com/office/drawing/2014/main" id="{123998CB-0C75-07A3-5DCC-A47DEE6FC77B}"/>
                </a:ext>
              </a:extLst>
            </p:cNvPr>
            <p:cNvSpPr/>
            <p:nvPr/>
          </p:nvSpPr>
          <p:spPr>
            <a:xfrm>
              <a:off x="6189130" y="786384"/>
              <a:ext cx="2743200" cy="329184"/>
            </a:xfrm>
            <a:prstGeom prst="rect">
              <a:avLst/>
            </a:prstGeom>
            <a:noFill/>
            <a:ln/>
          </p:spPr>
          <p:txBody>
            <a:bodyPr wrap="square" lIns="0" tIns="0" rIns="0" bIns="0" rtlCol="0" anchor="ctr"/>
            <a:lstStyle/>
            <a:p>
              <a:pPr marL="0" indent="0">
                <a:buNone/>
              </a:pPr>
              <a:r>
                <a:rPr lang="en-US" sz="1100" b="1" dirty="0">
                  <a:solidFill>
                    <a:srgbClr val="FFFFFF"/>
                  </a:solidFill>
                  <a:latin typeface="Times New Roman" panose="02020603050405020304" pitchFamily="18" charset="0"/>
                  <a:cs typeface="Times New Roman" panose="02020603050405020304" pitchFamily="18" charset="0"/>
                </a:rPr>
                <a:t>Composite CN &amp; Impact</a:t>
              </a:r>
              <a:endParaRPr lang="en-US" sz="1100" dirty="0">
                <a:latin typeface="Times New Roman" panose="02020603050405020304" pitchFamily="18" charset="0"/>
                <a:cs typeface="Times New Roman" panose="02020603050405020304" pitchFamily="18" charset="0"/>
              </a:endParaRPr>
            </a:p>
          </p:txBody>
        </p:sp>
        <p:sp>
          <p:nvSpPr>
            <p:cNvPr id="11" name="Text 7">
              <a:extLst>
                <a:ext uri="{FF2B5EF4-FFF2-40B4-BE49-F238E27FC236}">
                  <a16:creationId xmlns:a16="http://schemas.microsoft.com/office/drawing/2014/main" id="{CCA460F5-9C20-2F0F-3904-716071981D96}"/>
                </a:ext>
              </a:extLst>
            </p:cNvPr>
            <p:cNvSpPr/>
            <p:nvPr/>
          </p:nvSpPr>
          <p:spPr>
            <a:xfrm>
              <a:off x="6126480" y="1207008"/>
              <a:ext cx="2606040" cy="256032"/>
            </a:xfrm>
            <a:prstGeom prst="rect">
              <a:avLst/>
            </a:prstGeom>
            <a:noFill/>
            <a:ln/>
          </p:spPr>
          <p:txBody>
            <a:bodyPr wrap="square" rtlCol="0" anchor="ctr"/>
            <a:lstStyle/>
            <a:p>
              <a:pPr marL="0" indent="0">
                <a:buNone/>
              </a:pPr>
              <a:r>
                <a:rPr lang="en-US" sz="1100" b="1" dirty="0">
                  <a:solidFill>
                    <a:srgbClr val="546E7A"/>
                  </a:solidFill>
                  <a:latin typeface="Times New Roman" panose="02020603050405020304" pitchFamily="18" charset="0"/>
                  <a:cs typeface="Times New Roman" panose="02020603050405020304" pitchFamily="18" charset="0"/>
                </a:rPr>
                <a:t>Weighted Composite CN:</a:t>
              </a:r>
              <a:endParaRPr lang="en-US" sz="1100" dirty="0">
                <a:latin typeface="Times New Roman" panose="02020603050405020304" pitchFamily="18" charset="0"/>
                <a:cs typeface="Times New Roman" panose="02020603050405020304" pitchFamily="18" charset="0"/>
              </a:endParaRPr>
            </a:p>
          </p:txBody>
        </p:sp>
        <p:sp>
          <p:nvSpPr>
            <p:cNvPr id="12" name="Shape 8">
              <a:extLst>
                <a:ext uri="{FF2B5EF4-FFF2-40B4-BE49-F238E27FC236}">
                  <a16:creationId xmlns:a16="http://schemas.microsoft.com/office/drawing/2014/main" id="{65B3003E-6F3B-2614-5957-E14CC0F07AC9}"/>
                </a:ext>
              </a:extLst>
            </p:cNvPr>
            <p:cNvSpPr/>
            <p:nvPr/>
          </p:nvSpPr>
          <p:spPr>
            <a:xfrm>
              <a:off x="6189130" y="1481328"/>
              <a:ext cx="1188720" cy="640080"/>
            </a:xfrm>
            <a:prstGeom prst="rect">
              <a:avLst/>
            </a:prstGeom>
            <a:solidFill>
              <a:srgbClr val="EDF4FB"/>
            </a:solidFill>
            <a:ln w="12700">
              <a:solidFill>
                <a:srgbClr val="1E88E5"/>
              </a:solidFill>
              <a:prstDash val="solid"/>
            </a:ln>
          </p:spPr>
          <p:txBody>
            <a:bodyPr/>
            <a:lstStyle/>
            <a:p>
              <a:endParaRPr lang="en-IN" sz="1100">
                <a:latin typeface="Times New Roman" panose="02020603050405020304" pitchFamily="18" charset="0"/>
                <a:cs typeface="Times New Roman" panose="02020603050405020304" pitchFamily="18" charset="0"/>
              </a:endParaRPr>
            </a:p>
          </p:txBody>
        </p:sp>
        <p:sp>
          <p:nvSpPr>
            <p:cNvPr id="13" name="Shape 9">
              <a:extLst>
                <a:ext uri="{FF2B5EF4-FFF2-40B4-BE49-F238E27FC236}">
                  <a16:creationId xmlns:a16="http://schemas.microsoft.com/office/drawing/2014/main" id="{667E3AD3-D170-7D21-AA6A-F1CD04E34030}"/>
                </a:ext>
              </a:extLst>
            </p:cNvPr>
            <p:cNvSpPr/>
            <p:nvPr/>
          </p:nvSpPr>
          <p:spPr>
            <a:xfrm>
              <a:off x="7498080" y="1490472"/>
              <a:ext cx="1234440" cy="640080"/>
            </a:xfrm>
            <a:prstGeom prst="rect">
              <a:avLst/>
            </a:prstGeom>
            <a:solidFill>
              <a:srgbClr val="EDF4FB"/>
            </a:solidFill>
            <a:ln w="12700">
              <a:solidFill>
                <a:srgbClr val="00BCD4"/>
              </a:solidFill>
              <a:prstDash val="solid"/>
            </a:ln>
          </p:spPr>
          <p:txBody>
            <a:bodyPr/>
            <a:lstStyle/>
            <a:p>
              <a:endParaRPr lang="en-IN" sz="1100">
                <a:latin typeface="Times New Roman" panose="02020603050405020304" pitchFamily="18" charset="0"/>
                <a:cs typeface="Times New Roman" panose="02020603050405020304" pitchFamily="18" charset="0"/>
              </a:endParaRPr>
            </a:p>
          </p:txBody>
        </p:sp>
        <p:sp>
          <p:nvSpPr>
            <p:cNvPr id="14" name="Text 10">
              <a:extLst>
                <a:ext uri="{FF2B5EF4-FFF2-40B4-BE49-F238E27FC236}">
                  <a16:creationId xmlns:a16="http://schemas.microsoft.com/office/drawing/2014/main" id="{D3236D8A-69A9-823A-083C-5E73B7347F3A}"/>
                </a:ext>
              </a:extLst>
            </p:cNvPr>
            <p:cNvSpPr/>
            <p:nvPr/>
          </p:nvSpPr>
          <p:spPr>
            <a:xfrm>
              <a:off x="6126480" y="1517904"/>
              <a:ext cx="1188720" cy="292608"/>
            </a:xfrm>
            <a:prstGeom prst="rect">
              <a:avLst/>
            </a:prstGeom>
            <a:noFill/>
            <a:ln/>
          </p:spPr>
          <p:txBody>
            <a:bodyPr wrap="square" lIns="0" tIns="0" rIns="0" bIns="0" rtlCol="0" anchor="ctr"/>
            <a:lstStyle/>
            <a:p>
              <a:pPr marL="0" indent="0" algn="ctr">
                <a:buNone/>
              </a:pPr>
              <a:r>
                <a:rPr lang="en-US" b="1" dirty="0">
                  <a:solidFill>
                    <a:srgbClr val="1E88E5"/>
                  </a:solidFill>
                  <a:latin typeface="Times New Roman" panose="02020603050405020304" pitchFamily="18" charset="0"/>
                  <a:cs typeface="Times New Roman" panose="02020603050405020304" pitchFamily="18" charset="0"/>
                </a:rPr>
                <a:t>81.76</a:t>
              </a:r>
              <a:endParaRPr lang="en-US" dirty="0">
                <a:latin typeface="Times New Roman" panose="02020603050405020304" pitchFamily="18" charset="0"/>
                <a:cs typeface="Times New Roman" panose="02020603050405020304" pitchFamily="18" charset="0"/>
              </a:endParaRPr>
            </a:p>
          </p:txBody>
        </p:sp>
        <p:sp>
          <p:nvSpPr>
            <p:cNvPr id="15" name="Text 11">
              <a:extLst>
                <a:ext uri="{FF2B5EF4-FFF2-40B4-BE49-F238E27FC236}">
                  <a16:creationId xmlns:a16="http://schemas.microsoft.com/office/drawing/2014/main" id="{E84230D2-026F-4BD4-0F9D-278D807CD1E7}"/>
                </a:ext>
              </a:extLst>
            </p:cNvPr>
            <p:cNvSpPr/>
            <p:nvPr/>
          </p:nvSpPr>
          <p:spPr>
            <a:xfrm>
              <a:off x="6126480" y="1810512"/>
              <a:ext cx="1188720" cy="256032"/>
            </a:xfrm>
            <a:prstGeom prst="rect">
              <a:avLst/>
            </a:prstGeom>
            <a:noFill/>
            <a:ln/>
          </p:spPr>
          <p:txBody>
            <a:bodyPr wrap="square" lIns="0" tIns="0" rIns="0" bIns="0" rtlCol="0" anchor="ctr"/>
            <a:lstStyle/>
            <a:p>
              <a:pPr marL="0" indent="0" algn="ctr">
                <a:buNone/>
              </a:pPr>
              <a:r>
                <a:rPr lang="en-US" sz="1100" dirty="0">
                  <a:solidFill>
                    <a:srgbClr val="546E7A"/>
                  </a:solidFill>
                  <a:latin typeface="Times New Roman" panose="02020603050405020304" pitchFamily="18" charset="0"/>
                  <a:cs typeface="Times New Roman" panose="02020603050405020304" pitchFamily="18" charset="0"/>
                </a:rPr>
                <a:t>2017</a:t>
              </a:r>
              <a:endParaRPr lang="en-US" sz="1100" dirty="0">
                <a:latin typeface="Times New Roman" panose="02020603050405020304" pitchFamily="18" charset="0"/>
                <a:cs typeface="Times New Roman" panose="02020603050405020304" pitchFamily="18" charset="0"/>
              </a:endParaRPr>
            </a:p>
          </p:txBody>
        </p:sp>
        <p:sp>
          <p:nvSpPr>
            <p:cNvPr id="16" name="Text 12">
              <a:extLst>
                <a:ext uri="{FF2B5EF4-FFF2-40B4-BE49-F238E27FC236}">
                  <a16:creationId xmlns:a16="http://schemas.microsoft.com/office/drawing/2014/main" id="{1D44C0E0-E0A7-64F8-22BA-F238A5F7D1DC}"/>
                </a:ext>
              </a:extLst>
            </p:cNvPr>
            <p:cNvSpPr/>
            <p:nvPr/>
          </p:nvSpPr>
          <p:spPr>
            <a:xfrm>
              <a:off x="7424928" y="1517904"/>
              <a:ext cx="1234440" cy="292608"/>
            </a:xfrm>
            <a:prstGeom prst="rect">
              <a:avLst/>
            </a:prstGeom>
            <a:noFill/>
            <a:ln/>
          </p:spPr>
          <p:txBody>
            <a:bodyPr wrap="square" lIns="0" tIns="0" rIns="0" bIns="0" rtlCol="0" anchor="ctr"/>
            <a:lstStyle/>
            <a:p>
              <a:pPr marL="0" indent="0" algn="ctr">
                <a:buNone/>
              </a:pPr>
              <a:r>
                <a:rPr lang="en-US" b="1" dirty="0">
                  <a:solidFill>
                    <a:srgbClr val="00BCD4"/>
                  </a:solidFill>
                  <a:latin typeface="Times New Roman" panose="02020603050405020304" pitchFamily="18" charset="0"/>
                  <a:cs typeface="Times New Roman" panose="02020603050405020304" pitchFamily="18" charset="0"/>
                </a:rPr>
                <a:t>82.20</a:t>
              </a:r>
              <a:endParaRPr lang="en-US" dirty="0">
                <a:latin typeface="Times New Roman" panose="02020603050405020304" pitchFamily="18" charset="0"/>
                <a:cs typeface="Times New Roman" panose="02020603050405020304" pitchFamily="18" charset="0"/>
              </a:endParaRPr>
            </a:p>
          </p:txBody>
        </p:sp>
        <p:sp>
          <p:nvSpPr>
            <p:cNvPr id="17" name="Text 13">
              <a:extLst>
                <a:ext uri="{FF2B5EF4-FFF2-40B4-BE49-F238E27FC236}">
                  <a16:creationId xmlns:a16="http://schemas.microsoft.com/office/drawing/2014/main" id="{4D401AC1-524A-DB08-C11F-45894973F238}"/>
                </a:ext>
              </a:extLst>
            </p:cNvPr>
            <p:cNvSpPr/>
            <p:nvPr/>
          </p:nvSpPr>
          <p:spPr>
            <a:xfrm>
              <a:off x="7424928" y="1810512"/>
              <a:ext cx="1234440" cy="256032"/>
            </a:xfrm>
            <a:prstGeom prst="rect">
              <a:avLst/>
            </a:prstGeom>
            <a:noFill/>
            <a:ln/>
          </p:spPr>
          <p:txBody>
            <a:bodyPr wrap="square" lIns="0" tIns="0" rIns="0" bIns="0" rtlCol="0" anchor="ctr"/>
            <a:lstStyle/>
            <a:p>
              <a:pPr marL="0" indent="0" algn="ctr">
                <a:buNone/>
              </a:pPr>
              <a:r>
                <a:rPr lang="en-US" sz="1100" dirty="0">
                  <a:solidFill>
                    <a:srgbClr val="546E7A"/>
                  </a:solidFill>
                  <a:latin typeface="Times New Roman" panose="02020603050405020304" pitchFamily="18" charset="0"/>
                  <a:cs typeface="Times New Roman" panose="02020603050405020304" pitchFamily="18" charset="0"/>
                </a:rPr>
                <a:t>2024</a:t>
              </a:r>
              <a:endParaRPr lang="en-US" sz="1100" dirty="0">
                <a:latin typeface="Times New Roman" panose="02020603050405020304" pitchFamily="18" charset="0"/>
                <a:cs typeface="Times New Roman" panose="02020603050405020304" pitchFamily="18" charset="0"/>
              </a:endParaRPr>
            </a:p>
          </p:txBody>
        </p:sp>
        <p:sp>
          <p:nvSpPr>
            <p:cNvPr id="48" name="Shape 26">
              <a:extLst>
                <a:ext uri="{FF2B5EF4-FFF2-40B4-BE49-F238E27FC236}">
                  <a16:creationId xmlns:a16="http://schemas.microsoft.com/office/drawing/2014/main" id="{713CBDB0-0105-BBF2-9082-A4B02BF2C03B}"/>
                </a:ext>
              </a:extLst>
            </p:cNvPr>
            <p:cNvSpPr/>
            <p:nvPr/>
          </p:nvSpPr>
          <p:spPr>
            <a:xfrm>
              <a:off x="6256698" y="2293581"/>
              <a:ext cx="2527002" cy="347472"/>
            </a:xfrm>
            <a:prstGeom prst="rect">
              <a:avLst/>
            </a:prstGeom>
            <a:solidFill>
              <a:srgbClr val="F5F9FF"/>
            </a:solidFill>
            <a:ln w="12700">
              <a:solidFill>
                <a:srgbClr val="1E88E5"/>
              </a:solidFill>
              <a:prstDash val="solid"/>
            </a:ln>
          </p:spPr>
          <p:txBody>
            <a:bodyPr/>
            <a:lstStyle/>
            <a:p>
              <a:endParaRPr lang="en-IN" sz="1100">
                <a:latin typeface="Times New Roman" panose="02020603050405020304" pitchFamily="18" charset="0"/>
                <a:cs typeface="Times New Roman" panose="02020603050405020304" pitchFamily="18" charset="0"/>
              </a:endParaRPr>
            </a:p>
          </p:txBody>
        </p:sp>
        <p:sp>
          <p:nvSpPr>
            <p:cNvPr id="49" name="Shape 27">
              <a:extLst>
                <a:ext uri="{FF2B5EF4-FFF2-40B4-BE49-F238E27FC236}">
                  <a16:creationId xmlns:a16="http://schemas.microsoft.com/office/drawing/2014/main" id="{6EB127D9-81C9-72D0-9BF3-404EE5A8437D}"/>
                </a:ext>
              </a:extLst>
            </p:cNvPr>
            <p:cNvSpPr/>
            <p:nvPr/>
          </p:nvSpPr>
          <p:spPr>
            <a:xfrm>
              <a:off x="6215341" y="2293581"/>
              <a:ext cx="107052" cy="347472"/>
            </a:xfrm>
            <a:prstGeom prst="rect">
              <a:avLst/>
            </a:prstGeom>
            <a:solidFill>
              <a:srgbClr val="1E88E5"/>
            </a:solidFill>
            <a:ln w="12700">
              <a:solidFill>
                <a:srgbClr val="1E88E5"/>
              </a:solidFill>
              <a:prstDash val="solid"/>
            </a:ln>
          </p:spPr>
          <p:txBody>
            <a:bodyPr/>
            <a:lstStyle/>
            <a:p>
              <a:endParaRPr lang="en-IN" sz="1100">
                <a:latin typeface="Times New Roman" panose="02020603050405020304" pitchFamily="18" charset="0"/>
                <a:cs typeface="Times New Roman" panose="02020603050405020304" pitchFamily="18" charset="0"/>
              </a:endParaRPr>
            </a:p>
          </p:txBody>
        </p:sp>
        <p:sp>
          <p:nvSpPr>
            <p:cNvPr id="50" name="Text 28">
              <a:extLst>
                <a:ext uri="{FF2B5EF4-FFF2-40B4-BE49-F238E27FC236}">
                  <a16:creationId xmlns:a16="http://schemas.microsoft.com/office/drawing/2014/main" id="{2B3E4F1A-E38D-98E9-7547-7BFEC071523B}"/>
                </a:ext>
              </a:extLst>
            </p:cNvPr>
            <p:cNvSpPr/>
            <p:nvPr/>
          </p:nvSpPr>
          <p:spPr>
            <a:xfrm>
              <a:off x="6475467" y="2343529"/>
              <a:ext cx="1371600" cy="228600"/>
            </a:xfrm>
            <a:prstGeom prst="rect">
              <a:avLst/>
            </a:prstGeom>
            <a:noFill/>
            <a:ln/>
          </p:spPr>
          <p:txBody>
            <a:bodyPr wrap="square" lIns="0" tIns="0" rIns="0" bIns="0" rtlCol="0" anchor="ctr"/>
            <a:lstStyle/>
            <a:p>
              <a:pPr marL="0" indent="0">
                <a:buNone/>
              </a:pPr>
              <a:r>
                <a:rPr lang="en-US" sz="1100" dirty="0">
                  <a:solidFill>
                    <a:srgbClr val="546E7A"/>
                  </a:solidFill>
                  <a:latin typeface="Times New Roman" panose="02020603050405020304" pitchFamily="18" charset="0"/>
                  <a:cs typeface="Times New Roman" panose="02020603050405020304" pitchFamily="18" charset="0"/>
                </a:rPr>
                <a:t>CN Increase</a:t>
              </a:r>
              <a:endParaRPr lang="en-US" sz="1100" dirty="0">
                <a:latin typeface="Times New Roman" panose="02020603050405020304" pitchFamily="18" charset="0"/>
                <a:cs typeface="Times New Roman" panose="02020603050405020304" pitchFamily="18" charset="0"/>
              </a:endParaRPr>
            </a:p>
          </p:txBody>
        </p:sp>
        <p:sp>
          <p:nvSpPr>
            <p:cNvPr id="51" name="Text 29">
              <a:extLst>
                <a:ext uri="{FF2B5EF4-FFF2-40B4-BE49-F238E27FC236}">
                  <a16:creationId xmlns:a16="http://schemas.microsoft.com/office/drawing/2014/main" id="{67E25780-9D38-BC8B-2BBE-307D94297EB0}"/>
                </a:ext>
              </a:extLst>
            </p:cNvPr>
            <p:cNvSpPr/>
            <p:nvPr/>
          </p:nvSpPr>
          <p:spPr>
            <a:xfrm>
              <a:off x="7206199" y="2337594"/>
              <a:ext cx="1207008" cy="228600"/>
            </a:xfrm>
            <a:prstGeom prst="rect">
              <a:avLst/>
            </a:prstGeom>
            <a:noFill/>
            <a:ln/>
          </p:spPr>
          <p:txBody>
            <a:bodyPr wrap="square" lIns="0" tIns="0" rIns="0" bIns="0" rtlCol="0" anchor="ctr"/>
            <a:lstStyle/>
            <a:p>
              <a:pPr marL="0" indent="0" algn="r">
                <a:buNone/>
              </a:pPr>
              <a:r>
                <a:rPr lang="en-US" sz="1100" b="1" dirty="0">
                  <a:solidFill>
                    <a:srgbClr val="1E88E5"/>
                  </a:solidFill>
                  <a:latin typeface="Times New Roman" panose="02020603050405020304" pitchFamily="18" charset="0"/>
                  <a:cs typeface="Times New Roman" panose="02020603050405020304" pitchFamily="18" charset="0"/>
                </a:rPr>
                <a:t>+0.44 ↑</a:t>
              </a:r>
              <a:endParaRPr lang="en-US" sz="1100" dirty="0">
                <a:latin typeface="Times New Roman" panose="02020603050405020304" pitchFamily="18" charset="0"/>
                <a:cs typeface="Times New Roman" panose="02020603050405020304" pitchFamily="18" charset="0"/>
              </a:endParaRPr>
            </a:p>
          </p:txBody>
        </p:sp>
        <p:sp>
          <p:nvSpPr>
            <p:cNvPr id="52" name="Text 30">
              <a:extLst>
                <a:ext uri="{FF2B5EF4-FFF2-40B4-BE49-F238E27FC236}">
                  <a16:creationId xmlns:a16="http://schemas.microsoft.com/office/drawing/2014/main" id="{1FFFB37C-C3C3-C48B-86F3-B15794C40F79}"/>
                </a:ext>
              </a:extLst>
            </p:cNvPr>
            <p:cNvSpPr/>
            <p:nvPr/>
          </p:nvSpPr>
          <p:spPr>
            <a:xfrm>
              <a:off x="6215342" y="2730754"/>
              <a:ext cx="2560320" cy="454678"/>
            </a:xfrm>
            <a:prstGeom prst="rect">
              <a:avLst/>
            </a:prstGeom>
            <a:solidFill>
              <a:srgbClr val="EDF4FB"/>
            </a:solidFill>
            <a:ln>
              <a:solidFill>
                <a:schemeClr val="bg2">
                  <a:lumMod val="50000"/>
                </a:schemeClr>
              </a:solidFill>
            </a:ln>
          </p:spPr>
          <p:txBody>
            <a:bodyPr wrap="square" rtlCol="0" anchor="ctr"/>
            <a:lstStyle/>
            <a:p>
              <a:pPr marL="0" indent="0" algn="ctr">
                <a:buNone/>
              </a:pPr>
              <a:r>
                <a:rPr lang="en-US" sz="1000" dirty="0">
                  <a:solidFill>
                    <a:srgbClr val="1A2B3C"/>
                  </a:solidFill>
                  <a:latin typeface="Times New Roman" panose="02020603050405020304" pitchFamily="18" charset="0"/>
                  <a:cs typeface="Times New Roman" panose="02020603050405020304" pitchFamily="18" charset="0"/>
                </a:rPr>
                <a:t>Higher CN → Basin more runoff-prone due to forest loss, urban growth &amp; agriculture intensification</a:t>
              </a:r>
              <a:endParaRPr lang="en-US" sz="1000" dirty="0">
                <a:latin typeface="Times New Roman" panose="02020603050405020304" pitchFamily="18" charset="0"/>
                <a:cs typeface="Times New Roman" panose="02020603050405020304" pitchFamily="18" charset="0"/>
              </a:endParaRPr>
            </a:p>
          </p:txBody>
        </p:sp>
      </p:grpSp>
      <p:grpSp>
        <p:nvGrpSpPr>
          <p:cNvPr id="54" name="Group 53">
            <a:extLst>
              <a:ext uri="{FF2B5EF4-FFF2-40B4-BE49-F238E27FC236}">
                <a16:creationId xmlns:a16="http://schemas.microsoft.com/office/drawing/2014/main" id="{5DEB84CE-4244-04E8-E9C3-47FDF6781766}"/>
              </a:ext>
            </a:extLst>
          </p:cNvPr>
          <p:cNvGrpSpPr/>
          <p:nvPr/>
        </p:nvGrpSpPr>
        <p:grpSpPr>
          <a:xfrm>
            <a:off x="5920882" y="3364023"/>
            <a:ext cx="2623235" cy="687192"/>
            <a:chOff x="5078566" y="3557016"/>
            <a:chExt cx="3745394" cy="530352"/>
          </a:xfrm>
        </p:grpSpPr>
        <p:sp>
          <p:nvSpPr>
            <p:cNvPr id="55" name="Shape 38">
              <a:extLst>
                <a:ext uri="{FF2B5EF4-FFF2-40B4-BE49-F238E27FC236}">
                  <a16:creationId xmlns:a16="http://schemas.microsoft.com/office/drawing/2014/main" id="{A48585FE-6D63-4CAB-F9A3-DDEBA2AE6129}"/>
                </a:ext>
              </a:extLst>
            </p:cNvPr>
            <p:cNvSpPr/>
            <p:nvPr/>
          </p:nvSpPr>
          <p:spPr>
            <a:xfrm>
              <a:off x="5212080" y="3557016"/>
              <a:ext cx="3611880" cy="530352"/>
            </a:xfrm>
            <a:prstGeom prst="rect">
              <a:avLst/>
            </a:prstGeom>
            <a:solidFill>
              <a:srgbClr val="FFFFFF"/>
            </a:solidFill>
            <a:ln w="12700">
              <a:solidFill>
                <a:srgbClr val="E53935"/>
              </a:solidFill>
              <a:prstDash val="solid"/>
            </a:ln>
          </p:spPr>
          <p:txBody>
            <a:bodyPr/>
            <a:lstStyle/>
            <a:p>
              <a:endParaRPr lang="en-IN">
                <a:latin typeface="Times New Roman" panose="02020603050405020304" pitchFamily="18" charset="0"/>
                <a:cs typeface="Times New Roman" panose="02020603050405020304" pitchFamily="18" charset="0"/>
              </a:endParaRPr>
            </a:p>
          </p:txBody>
        </p:sp>
        <p:sp>
          <p:nvSpPr>
            <p:cNvPr id="56" name="Shape 39">
              <a:extLst>
                <a:ext uri="{FF2B5EF4-FFF2-40B4-BE49-F238E27FC236}">
                  <a16:creationId xmlns:a16="http://schemas.microsoft.com/office/drawing/2014/main" id="{42FCB381-0B46-9DE4-92CD-64E80427BD1D}"/>
                </a:ext>
              </a:extLst>
            </p:cNvPr>
            <p:cNvSpPr/>
            <p:nvPr/>
          </p:nvSpPr>
          <p:spPr>
            <a:xfrm>
              <a:off x="5212080" y="3557016"/>
              <a:ext cx="384048" cy="530352"/>
            </a:xfrm>
            <a:prstGeom prst="rect">
              <a:avLst/>
            </a:prstGeom>
            <a:solidFill>
              <a:srgbClr val="E53935"/>
            </a:solidFill>
            <a:ln w="12700">
              <a:solidFill>
                <a:srgbClr val="E53935"/>
              </a:solidFill>
              <a:prstDash val="solid"/>
            </a:ln>
          </p:spPr>
          <p:txBody>
            <a:bodyPr/>
            <a:lstStyle/>
            <a:p>
              <a:endParaRPr lang="en-IN" dirty="0">
                <a:latin typeface="Times New Roman" panose="02020603050405020304" pitchFamily="18" charset="0"/>
                <a:cs typeface="Times New Roman" panose="02020603050405020304" pitchFamily="18" charset="0"/>
              </a:endParaRPr>
            </a:p>
          </p:txBody>
        </p:sp>
        <p:sp>
          <p:nvSpPr>
            <p:cNvPr id="57" name="Text 40">
              <a:extLst>
                <a:ext uri="{FF2B5EF4-FFF2-40B4-BE49-F238E27FC236}">
                  <a16:creationId xmlns:a16="http://schemas.microsoft.com/office/drawing/2014/main" id="{F663630D-D462-3464-3A48-0A1483CEEDC5}"/>
                </a:ext>
              </a:extLst>
            </p:cNvPr>
            <p:cNvSpPr/>
            <p:nvPr/>
          </p:nvSpPr>
          <p:spPr>
            <a:xfrm>
              <a:off x="5078566" y="3557016"/>
              <a:ext cx="517562" cy="530352"/>
            </a:xfrm>
            <a:prstGeom prst="rect">
              <a:avLst/>
            </a:prstGeom>
            <a:noFill/>
            <a:ln/>
          </p:spPr>
          <p:txBody>
            <a:bodyPr wrap="square" lIns="0" tIns="0" rIns="0" bIns="0" rtlCol="0" anchor="ctr"/>
            <a:lstStyle/>
            <a:p>
              <a:pPr marL="0" indent="0" algn="ctr">
                <a:buNone/>
              </a:pPr>
              <a:r>
                <a:rPr lang="en-US" sz="1400" dirty="0">
                  <a:solidFill>
                    <a:srgbClr val="FFFFFF"/>
                  </a:solidFill>
                  <a:latin typeface="Times New Roman" panose="02020603050405020304" pitchFamily="18" charset="0"/>
                  <a:cs typeface="Times New Roman" panose="02020603050405020304" pitchFamily="18" charset="0"/>
                </a:rPr>
                <a:t>  ↑</a:t>
              </a:r>
              <a:endParaRPr lang="en-US" sz="1400" dirty="0">
                <a:latin typeface="Times New Roman" panose="02020603050405020304" pitchFamily="18" charset="0"/>
                <a:cs typeface="Times New Roman" panose="02020603050405020304" pitchFamily="18" charset="0"/>
              </a:endParaRPr>
            </a:p>
          </p:txBody>
        </p:sp>
        <p:sp>
          <p:nvSpPr>
            <p:cNvPr id="58" name="Text 41">
              <a:extLst>
                <a:ext uri="{FF2B5EF4-FFF2-40B4-BE49-F238E27FC236}">
                  <a16:creationId xmlns:a16="http://schemas.microsoft.com/office/drawing/2014/main" id="{B914CC54-4458-9F09-703D-BF0FE6DFE2A8}"/>
                </a:ext>
              </a:extLst>
            </p:cNvPr>
            <p:cNvSpPr/>
            <p:nvPr/>
          </p:nvSpPr>
          <p:spPr>
            <a:xfrm>
              <a:off x="5650992" y="3611880"/>
              <a:ext cx="3108960" cy="420624"/>
            </a:xfrm>
            <a:prstGeom prst="rect">
              <a:avLst/>
            </a:prstGeom>
            <a:noFill/>
            <a:ln/>
          </p:spPr>
          <p:txBody>
            <a:bodyPr wrap="square" lIns="0" tIns="0" rIns="0" bIns="0" rtlCol="0" anchor="ctr"/>
            <a:lstStyle/>
            <a:p>
              <a:pPr marL="0" indent="0">
                <a:buNone/>
              </a:pPr>
              <a:r>
                <a:rPr lang="en-US" sz="1000" dirty="0">
                  <a:solidFill>
                    <a:srgbClr val="1A2B3C"/>
                  </a:solidFill>
                  <a:latin typeface="Times New Roman" panose="02020603050405020304" pitchFamily="18" charset="0"/>
                  <a:cs typeface="Times New Roman" panose="02020603050405020304" pitchFamily="18" charset="0"/>
                </a:rPr>
                <a:t>Higher rainfall × higher CN = significantly amplified peak inflows at SACB during monsoon</a:t>
              </a:r>
              <a:endParaRPr lang="en-US" sz="1000" dirty="0">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0DE719C-4A7F-BA6F-F330-238B154960C4}"/>
              </a:ext>
            </a:extLst>
          </p:cNvPr>
          <p:cNvSpPr/>
          <p:nvPr/>
        </p:nvSpPr>
        <p:spPr>
          <a:xfrm>
            <a:off x="0" y="0"/>
            <a:ext cx="9144000" cy="658368"/>
          </a:xfrm>
          <a:prstGeom prst="rect">
            <a:avLst/>
          </a:prstGeom>
          <a:solidFill>
            <a:srgbClr val="1E88E5"/>
          </a:solidFill>
          <a:ln w="12700">
            <a:solidFill>
              <a:srgbClr val="1E88E5"/>
            </a:solidFill>
            <a:prstDash val="solid"/>
          </a:ln>
        </p:spPr>
        <p:txBody>
          <a:bodyPr/>
          <a:lstStyle/>
          <a:p>
            <a:endParaRPr lang="en-IN"/>
          </a:p>
        </p:txBody>
      </p:sp>
      <p:sp>
        <p:nvSpPr>
          <p:cNvPr id="3" name="Shape 1">
            <a:extLst>
              <a:ext uri="{FF2B5EF4-FFF2-40B4-BE49-F238E27FC236}">
                <a16:creationId xmlns:a16="http://schemas.microsoft.com/office/drawing/2014/main" id="{DCD7F111-17A6-F832-4FAB-B9DCB7A3FD00}"/>
              </a:ext>
            </a:extLst>
          </p:cNvPr>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4" name="Text 2">
            <a:extLst>
              <a:ext uri="{FF2B5EF4-FFF2-40B4-BE49-F238E27FC236}">
                <a16:creationId xmlns:a16="http://schemas.microsoft.com/office/drawing/2014/main" id="{26A66578-87E3-47B1-C9C0-A7C25696AA50}"/>
              </a:ext>
            </a:extLst>
          </p:cNvPr>
          <p:cNvSpPr/>
          <p:nvPr/>
        </p:nvSpPr>
        <p:spPr>
          <a:xfrm>
            <a:off x="274320" y="0"/>
            <a:ext cx="8595360" cy="658368"/>
          </a:xfrm>
          <a:prstGeom prst="rect">
            <a:avLst/>
          </a:prstGeom>
          <a:noFill/>
          <a:ln/>
        </p:spPr>
        <p:txBody>
          <a:bodyPr wrap="square" lIns="0" tIns="0" rIns="0" bIns="0"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07  |  Results &amp; Discussion - LSTM</a:t>
            </a:r>
            <a:endParaRPr lang="en-US" sz="22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3793290-CDF0-79E0-E64C-40845E231372}"/>
              </a:ext>
            </a:extLst>
          </p:cNvPr>
          <p:cNvSpPr txBox="1"/>
          <p:nvPr/>
        </p:nvSpPr>
        <p:spPr>
          <a:xfrm>
            <a:off x="1223237" y="1005234"/>
            <a:ext cx="3088371"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Performance Evaluation </a:t>
            </a:r>
          </a:p>
        </p:txBody>
      </p:sp>
      <p:graphicFrame>
        <p:nvGraphicFramePr>
          <p:cNvPr id="6" name="Table 5">
            <a:extLst>
              <a:ext uri="{FF2B5EF4-FFF2-40B4-BE49-F238E27FC236}">
                <a16:creationId xmlns:a16="http://schemas.microsoft.com/office/drawing/2014/main" id="{2406B0CC-D1B3-6922-E519-EF35E6F42E30}"/>
              </a:ext>
            </a:extLst>
          </p:cNvPr>
          <p:cNvGraphicFramePr>
            <a:graphicFrameLocks noGrp="1"/>
          </p:cNvGraphicFramePr>
          <p:nvPr>
            <p:extLst>
              <p:ext uri="{D42A27DB-BD31-4B8C-83A1-F6EECF244321}">
                <p14:modId xmlns:p14="http://schemas.microsoft.com/office/powerpoint/2010/main" val="3034070080"/>
              </p:ext>
            </p:extLst>
          </p:nvPr>
        </p:nvGraphicFramePr>
        <p:xfrm>
          <a:off x="1289850" y="1556295"/>
          <a:ext cx="4234019" cy="2194560"/>
        </p:xfrm>
        <a:graphic>
          <a:graphicData uri="http://schemas.openxmlformats.org/drawingml/2006/table">
            <a:tbl>
              <a:tblPr>
                <a:tableStyleId>{22838BEF-8BB2-4498-84A7-C5851F593DF1}</a:tableStyleId>
              </a:tblPr>
              <a:tblGrid>
                <a:gridCol w="1103259">
                  <a:extLst>
                    <a:ext uri="{9D8B030D-6E8A-4147-A177-3AD203B41FA5}">
                      <a16:colId xmlns:a16="http://schemas.microsoft.com/office/drawing/2014/main" val="1211335626"/>
                    </a:ext>
                  </a:extLst>
                </a:gridCol>
                <a:gridCol w="1301960">
                  <a:extLst>
                    <a:ext uri="{9D8B030D-6E8A-4147-A177-3AD203B41FA5}">
                      <a16:colId xmlns:a16="http://schemas.microsoft.com/office/drawing/2014/main" val="747757876"/>
                    </a:ext>
                  </a:extLst>
                </a:gridCol>
                <a:gridCol w="1828800">
                  <a:extLst>
                    <a:ext uri="{9D8B030D-6E8A-4147-A177-3AD203B41FA5}">
                      <a16:colId xmlns:a16="http://schemas.microsoft.com/office/drawing/2014/main" val="1198260777"/>
                    </a:ext>
                  </a:extLst>
                </a:gridCol>
              </a:tblGrid>
              <a:tr h="0">
                <a:tc>
                  <a:txBody>
                    <a:bodyPr/>
                    <a:lstStyle/>
                    <a:p>
                      <a:pPr>
                        <a:buNone/>
                      </a:pPr>
                      <a:r>
                        <a:rPr lang="en-IN" sz="1200" b="1" dirty="0">
                          <a:latin typeface="Times New Roman" panose="02020603050405020304" pitchFamily="18" charset="0"/>
                          <a:cs typeface="Times New Roman" panose="02020603050405020304" pitchFamily="18" charset="0"/>
                        </a:rPr>
                        <a:t>Metric</a:t>
                      </a:r>
                    </a:p>
                  </a:txBody>
                  <a:tcPr anchor="ctr"/>
                </a:tc>
                <a:tc>
                  <a:txBody>
                    <a:bodyPr/>
                    <a:lstStyle/>
                    <a:p>
                      <a:pPr>
                        <a:buNone/>
                      </a:pPr>
                      <a:r>
                        <a:rPr lang="en-IN" sz="1200" b="1" dirty="0">
                          <a:latin typeface="Times New Roman" panose="02020603050405020304" pitchFamily="18" charset="0"/>
                          <a:cs typeface="Times New Roman" panose="02020603050405020304" pitchFamily="18" charset="0"/>
                        </a:rPr>
                        <a:t>Value</a:t>
                      </a:r>
                    </a:p>
                  </a:txBody>
                  <a:tcPr anchor="ctr"/>
                </a:tc>
                <a:tc>
                  <a:txBody>
                    <a:bodyPr/>
                    <a:lstStyle/>
                    <a:p>
                      <a:pPr>
                        <a:buNone/>
                      </a:pPr>
                      <a:r>
                        <a:rPr lang="en-IN" sz="1200" b="1" dirty="0">
                          <a:latin typeface="Times New Roman" panose="02020603050405020304" pitchFamily="18" charset="0"/>
                          <a:cs typeface="Times New Roman" panose="02020603050405020304" pitchFamily="18" charset="0"/>
                        </a:rPr>
                        <a:t>Interpretation</a:t>
                      </a:r>
                    </a:p>
                  </a:txBody>
                  <a:tcPr anchor="ctr"/>
                </a:tc>
                <a:extLst>
                  <a:ext uri="{0D108BD9-81ED-4DB2-BD59-A6C34878D82A}">
                    <a16:rowId xmlns:a16="http://schemas.microsoft.com/office/drawing/2014/main" val="3434881561"/>
                  </a:ext>
                </a:extLst>
              </a:tr>
              <a:tr h="0">
                <a:tc>
                  <a:txBody>
                    <a:bodyPr/>
                    <a:lstStyle/>
                    <a:p>
                      <a:pPr>
                        <a:buNone/>
                      </a:pPr>
                      <a:r>
                        <a:rPr lang="en-IN" sz="1200">
                          <a:latin typeface="Times New Roman" panose="02020603050405020304" pitchFamily="18" charset="0"/>
                          <a:cs typeface="Times New Roman" panose="02020603050405020304" pitchFamily="18" charset="0"/>
                        </a:rPr>
                        <a:t>R² — Training</a:t>
                      </a:r>
                    </a:p>
                  </a:txBody>
                  <a:tcPr anchor="ctr"/>
                </a:tc>
                <a:tc>
                  <a:txBody>
                    <a:bodyPr/>
                    <a:lstStyle/>
                    <a:p>
                      <a:pPr>
                        <a:buNone/>
                      </a:pPr>
                      <a:r>
                        <a:rPr lang="en-IN" sz="1200" dirty="0">
                          <a:latin typeface="Times New Roman" panose="02020603050405020304" pitchFamily="18" charset="0"/>
                          <a:cs typeface="Times New Roman" panose="02020603050405020304" pitchFamily="18" charset="0"/>
                        </a:rPr>
                        <a:t>0.935</a:t>
                      </a:r>
                    </a:p>
                  </a:txBody>
                  <a:tcPr anchor="ctr"/>
                </a:tc>
                <a:tc>
                  <a:txBody>
                    <a:bodyPr/>
                    <a:lstStyle/>
                    <a:p>
                      <a:pPr>
                        <a:buNone/>
                      </a:pPr>
                      <a:r>
                        <a:rPr lang="en-IN" sz="1200">
                          <a:latin typeface="Times New Roman" panose="02020603050405020304" pitchFamily="18" charset="0"/>
                          <a:cs typeface="Times New Roman" panose="02020603050405020304" pitchFamily="18" charset="0"/>
                        </a:rPr>
                        <a:t>Very good training fit</a:t>
                      </a:r>
                    </a:p>
                  </a:txBody>
                  <a:tcPr anchor="ctr"/>
                </a:tc>
                <a:extLst>
                  <a:ext uri="{0D108BD9-81ED-4DB2-BD59-A6C34878D82A}">
                    <a16:rowId xmlns:a16="http://schemas.microsoft.com/office/drawing/2014/main" val="2032016901"/>
                  </a:ext>
                </a:extLst>
              </a:tr>
              <a:tr h="0">
                <a:tc>
                  <a:txBody>
                    <a:bodyPr/>
                    <a:lstStyle/>
                    <a:p>
                      <a:pPr>
                        <a:buNone/>
                      </a:pPr>
                      <a:r>
                        <a:rPr lang="en-IN" sz="1200">
                          <a:latin typeface="Times New Roman" panose="02020603050405020304" pitchFamily="18" charset="0"/>
                          <a:cs typeface="Times New Roman" panose="02020603050405020304" pitchFamily="18" charset="0"/>
                        </a:rPr>
                        <a:t>R² — Testing</a:t>
                      </a:r>
                    </a:p>
                  </a:txBody>
                  <a:tcPr anchor="ctr"/>
                </a:tc>
                <a:tc>
                  <a:txBody>
                    <a:bodyPr/>
                    <a:lstStyle/>
                    <a:p>
                      <a:pPr>
                        <a:buNone/>
                      </a:pPr>
                      <a:r>
                        <a:rPr lang="en-IN" sz="1200">
                          <a:latin typeface="Times New Roman" panose="02020603050405020304" pitchFamily="18" charset="0"/>
                          <a:cs typeface="Times New Roman" panose="02020603050405020304" pitchFamily="18" charset="0"/>
                        </a:rPr>
                        <a:t>0.621</a:t>
                      </a:r>
                    </a:p>
                  </a:txBody>
                  <a:tcPr anchor="ctr"/>
                </a:tc>
                <a:tc>
                  <a:txBody>
                    <a:bodyPr/>
                    <a:lstStyle/>
                    <a:p>
                      <a:pPr>
                        <a:buNone/>
                      </a:pPr>
                      <a:r>
                        <a:rPr lang="en-IN" sz="1200">
                          <a:latin typeface="Times New Roman" panose="02020603050405020304" pitchFamily="18" charset="0"/>
                          <a:cs typeface="Times New Roman" panose="02020603050405020304" pitchFamily="18" charset="0"/>
                        </a:rPr>
                        <a:t>Moderate performance</a:t>
                      </a:r>
                    </a:p>
                  </a:txBody>
                  <a:tcPr anchor="ctr"/>
                </a:tc>
                <a:extLst>
                  <a:ext uri="{0D108BD9-81ED-4DB2-BD59-A6C34878D82A}">
                    <a16:rowId xmlns:a16="http://schemas.microsoft.com/office/drawing/2014/main" val="794555565"/>
                  </a:ext>
                </a:extLst>
              </a:tr>
              <a:tr h="0">
                <a:tc>
                  <a:txBody>
                    <a:bodyPr/>
                    <a:lstStyle/>
                    <a:p>
                      <a:pPr>
                        <a:buNone/>
                      </a:pPr>
                      <a:r>
                        <a:rPr lang="el-GR" sz="1200">
                          <a:latin typeface="Times New Roman" panose="02020603050405020304" pitchFamily="18" charset="0"/>
                          <a:cs typeface="Times New Roman" panose="02020603050405020304" pitchFamily="18" charset="0"/>
                        </a:rPr>
                        <a:t>Δ</a:t>
                      </a:r>
                      <a:r>
                        <a:rPr lang="en-IN" sz="1200">
                          <a:latin typeface="Times New Roman" panose="02020603050405020304" pitchFamily="18" charset="0"/>
                          <a:cs typeface="Times New Roman" panose="02020603050405020304" pitchFamily="18" charset="0"/>
                        </a:rPr>
                        <a:t>R² (Gap)</a:t>
                      </a:r>
                    </a:p>
                  </a:txBody>
                  <a:tcPr anchor="ctr"/>
                </a:tc>
                <a:tc>
                  <a:txBody>
                    <a:bodyPr/>
                    <a:lstStyle/>
                    <a:p>
                      <a:pPr>
                        <a:buNone/>
                      </a:pPr>
                      <a:r>
                        <a:rPr lang="en-IN" sz="1200">
                          <a:latin typeface="Times New Roman" panose="02020603050405020304" pitchFamily="18" charset="0"/>
                          <a:cs typeface="Times New Roman" panose="02020603050405020304" pitchFamily="18" charset="0"/>
                        </a:rPr>
                        <a:t>0.314</a:t>
                      </a:r>
                    </a:p>
                  </a:txBody>
                  <a:tcPr anchor="ctr"/>
                </a:tc>
                <a:tc>
                  <a:txBody>
                    <a:bodyPr/>
                    <a:lstStyle/>
                    <a:p>
                      <a:pPr>
                        <a:buNone/>
                      </a:pPr>
                      <a:r>
                        <a:rPr lang="en-IN" sz="1200">
                          <a:latin typeface="Times New Roman" panose="02020603050405020304" pitchFamily="18" charset="0"/>
                          <a:cs typeface="Times New Roman" panose="02020603050405020304" pitchFamily="18" charset="0"/>
                        </a:rPr>
                        <a:t>Significant overfitting</a:t>
                      </a:r>
                    </a:p>
                  </a:txBody>
                  <a:tcPr anchor="ctr"/>
                </a:tc>
                <a:extLst>
                  <a:ext uri="{0D108BD9-81ED-4DB2-BD59-A6C34878D82A}">
                    <a16:rowId xmlns:a16="http://schemas.microsoft.com/office/drawing/2014/main" val="505540963"/>
                  </a:ext>
                </a:extLst>
              </a:tr>
              <a:tr h="0">
                <a:tc>
                  <a:txBody>
                    <a:bodyPr/>
                    <a:lstStyle/>
                    <a:p>
                      <a:pPr>
                        <a:buNone/>
                      </a:pPr>
                      <a:r>
                        <a:rPr lang="en-IN" sz="1200">
                          <a:latin typeface="Times New Roman" panose="02020603050405020304" pitchFamily="18" charset="0"/>
                          <a:cs typeface="Times New Roman" panose="02020603050405020304" pitchFamily="18" charset="0"/>
                        </a:rPr>
                        <a:t>RMSE</a:t>
                      </a:r>
                    </a:p>
                  </a:txBody>
                  <a:tcPr anchor="ctr"/>
                </a:tc>
                <a:tc>
                  <a:txBody>
                    <a:bodyPr/>
                    <a:lstStyle/>
                    <a:p>
                      <a:pPr>
                        <a:buNone/>
                      </a:pPr>
                      <a:r>
                        <a:rPr lang="en-IN" sz="1200">
                          <a:latin typeface="Times New Roman" panose="02020603050405020304" pitchFamily="18" charset="0"/>
                          <a:cs typeface="Times New Roman" panose="02020603050405020304" pitchFamily="18" charset="0"/>
                        </a:rPr>
                        <a:t>253,829 cusecs</a:t>
                      </a:r>
                    </a:p>
                  </a:txBody>
                  <a:tcPr anchor="ctr"/>
                </a:tc>
                <a:tc>
                  <a:txBody>
                    <a:bodyPr/>
                    <a:lstStyle/>
                    <a:p>
                      <a:pPr>
                        <a:buNone/>
                      </a:pPr>
                      <a:r>
                        <a:rPr lang="en-IN" sz="1200">
                          <a:latin typeface="Times New Roman" panose="02020603050405020304" pitchFamily="18" charset="0"/>
                          <a:cs typeface="Times New Roman" panose="02020603050405020304" pitchFamily="18" charset="0"/>
                        </a:rPr>
                        <a:t>High prediction error</a:t>
                      </a:r>
                    </a:p>
                  </a:txBody>
                  <a:tcPr anchor="ctr"/>
                </a:tc>
                <a:extLst>
                  <a:ext uri="{0D108BD9-81ED-4DB2-BD59-A6C34878D82A}">
                    <a16:rowId xmlns:a16="http://schemas.microsoft.com/office/drawing/2014/main" val="1413860802"/>
                  </a:ext>
                </a:extLst>
              </a:tr>
              <a:tr h="0">
                <a:tc>
                  <a:txBody>
                    <a:bodyPr/>
                    <a:lstStyle/>
                    <a:p>
                      <a:pPr>
                        <a:buNone/>
                      </a:pPr>
                      <a:r>
                        <a:rPr lang="en-IN" sz="1200">
                          <a:latin typeface="Times New Roman" panose="02020603050405020304" pitchFamily="18" charset="0"/>
                          <a:cs typeface="Times New Roman" panose="02020603050405020304" pitchFamily="18" charset="0"/>
                        </a:rPr>
                        <a:t>MAE</a:t>
                      </a:r>
                    </a:p>
                  </a:txBody>
                  <a:tcPr anchor="ctr"/>
                </a:tc>
                <a:tc>
                  <a:txBody>
                    <a:bodyPr/>
                    <a:lstStyle/>
                    <a:p>
                      <a:pPr>
                        <a:buNone/>
                      </a:pPr>
                      <a:r>
                        <a:rPr lang="en-IN" sz="1200">
                          <a:latin typeface="Times New Roman" panose="02020603050405020304" pitchFamily="18" charset="0"/>
                          <a:cs typeface="Times New Roman" panose="02020603050405020304" pitchFamily="18" charset="0"/>
                        </a:rPr>
                        <a:t>161,083 cusecs</a:t>
                      </a:r>
                    </a:p>
                  </a:txBody>
                  <a:tcPr anchor="ctr"/>
                </a:tc>
                <a:tc>
                  <a:txBody>
                    <a:bodyPr/>
                    <a:lstStyle/>
                    <a:p>
                      <a:pPr>
                        <a:buNone/>
                      </a:pPr>
                      <a:r>
                        <a:rPr lang="en-IN" sz="1200">
                          <a:latin typeface="Times New Roman" panose="02020603050405020304" pitchFamily="18" charset="0"/>
                          <a:cs typeface="Times New Roman" panose="02020603050405020304" pitchFamily="18" charset="0"/>
                        </a:rPr>
                        <a:t>Large deviation</a:t>
                      </a:r>
                    </a:p>
                  </a:txBody>
                  <a:tcPr anchor="ctr"/>
                </a:tc>
                <a:extLst>
                  <a:ext uri="{0D108BD9-81ED-4DB2-BD59-A6C34878D82A}">
                    <a16:rowId xmlns:a16="http://schemas.microsoft.com/office/drawing/2014/main" val="3318265549"/>
                  </a:ext>
                </a:extLst>
              </a:tr>
              <a:tr h="0">
                <a:tc>
                  <a:txBody>
                    <a:bodyPr/>
                    <a:lstStyle/>
                    <a:p>
                      <a:pPr>
                        <a:buNone/>
                      </a:pPr>
                      <a:r>
                        <a:rPr lang="en-IN" sz="1200">
                          <a:latin typeface="Times New Roman" panose="02020603050405020304" pitchFamily="18" charset="0"/>
                          <a:cs typeface="Times New Roman" panose="02020603050405020304" pitchFamily="18" charset="0"/>
                        </a:rPr>
                        <a:t>Bias</a:t>
                      </a:r>
                    </a:p>
                  </a:txBody>
                  <a:tcPr anchor="ctr"/>
                </a:tc>
                <a:tc>
                  <a:txBody>
                    <a:bodyPr/>
                    <a:lstStyle/>
                    <a:p>
                      <a:pPr>
                        <a:buNone/>
                      </a:pPr>
                      <a:r>
                        <a:rPr lang="en-IN" sz="1200">
                          <a:latin typeface="Times New Roman" panose="02020603050405020304" pitchFamily="18" charset="0"/>
                          <a:cs typeface="Times New Roman" panose="02020603050405020304" pitchFamily="18" charset="0"/>
                        </a:rPr>
                        <a:t>+20,905 cusecs</a:t>
                      </a:r>
                    </a:p>
                  </a:txBody>
                  <a:tcPr anchor="ctr"/>
                </a:tc>
                <a:tc>
                  <a:txBody>
                    <a:bodyPr/>
                    <a:lstStyle/>
                    <a:p>
                      <a:pPr>
                        <a:buNone/>
                      </a:pPr>
                      <a:r>
                        <a:rPr lang="en-IN" sz="1200">
                          <a:latin typeface="Times New Roman" panose="02020603050405020304" pitchFamily="18" charset="0"/>
                          <a:cs typeface="Times New Roman" panose="02020603050405020304" pitchFamily="18" charset="0"/>
                        </a:rPr>
                        <a:t>Slight over-prediction</a:t>
                      </a:r>
                    </a:p>
                  </a:txBody>
                  <a:tcPr anchor="ctr"/>
                </a:tc>
                <a:extLst>
                  <a:ext uri="{0D108BD9-81ED-4DB2-BD59-A6C34878D82A}">
                    <a16:rowId xmlns:a16="http://schemas.microsoft.com/office/drawing/2014/main" val="3256001521"/>
                  </a:ext>
                </a:extLst>
              </a:tr>
              <a:tr h="0">
                <a:tc>
                  <a:txBody>
                    <a:bodyPr/>
                    <a:lstStyle/>
                    <a:p>
                      <a:pPr>
                        <a:buNone/>
                      </a:pPr>
                      <a:r>
                        <a:rPr lang="en-IN" sz="1200">
                          <a:latin typeface="Times New Roman" panose="02020603050405020304" pitchFamily="18" charset="0"/>
                          <a:cs typeface="Times New Roman" panose="02020603050405020304" pitchFamily="18" charset="0"/>
                        </a:rPr>
                        <a:t>NSE</a:t>
                      </a:r>
                    </a:p>
                  </a:txBody>
                  <a:tcPr anchor="ctr"/>
                </a:tc>
                <a:tc>
                  <a:txBody>
                    <a:bodyPr/>
                    <a:lstStyle/>
                    <a:p>
                      <a:pPr>
                        <a:buNone/>
                      </a:pPr>
                      <a:r>
                        <a:rPr lang="en-IN" sz="1200">
                          <a:latin typeface="Times New Roman" panose="02020603050405020304" pitchFamily="18" charset="0"/>
                          <a:cs typeface="Times New Roman" panose="02020603050405020304" pitchFamily="18" charset="0"/>
                        </a:rPr>
                        <a:t>0.621</a:t>
                      </a:r>
                    </a:p>
                  </a:txBody>
                  <a:tcPr anchor="ctr"/>
                </a:tc>
                <a:tc>
                  <a:txBody>
                    <a:bodyPr/>
                    <a:lstStyle/>
                    <a:p>
                      <a:pPr>
                        <a:buNone/>
                      </a:pPr>
                      <a:r>
                        <a:rPr lang="en-IN" sz="1200" dirty="0">
                          <a:latin typeface="Times New Roman" panose="02020603050405020304" pitchFamily="18" charset="0"/>
                          <a:cs typeface="Times New Roman" panose="02020603050405020304" pitchFamily="18" charset="0"/>
                        </a:rPr>
                        <a:t>Marginally acceptable</a:t>
                      </a:r>
                    </a:p>
                  </a:txBody>
                  <a:tcPr anchor="ctr"/>
                </a:tc>
                <a:extLst>
                  <a:ext uri="{0D108BD9-81ED-4DB2-BD59-A6C34878D82A}">
                    <a16:rowId xmlns:a16="http://schemas.microsoft.com/office/drawing/2014/main" val="265385538"/>
                  </a:ext>
                </a:extLst>
              </a:tr>
            </a:tbl>
          </a:graphicData>
        </a:graphic>
      </p:graphicFrame>
      <p:sp>
        <p:nvSpPr>
          <p:cNvPr id="8" name="TextBox 7">
            <a:extLst>
              <a:ext uri="{FF2B5EF4-FFF2-40B4-BE49-F238E27FC236}">
                <a16:creationId xmlns:a16="http://schemas.microsoft.com/office/drawing/2014/main" id="{03CF8393-01C4-1BF0-3C67-AC9E30E324D6}"/>
              </a:ext>
            </a:extLst>
          </p:cNvPr>
          <p:cNvSpPr txBox="1"/>
          <p:nvPr/>
        </p:nvSpPr>
        <p:spPr>
          <a:xfrm>
            <a:off x="617673" y="3996058"/>
            <a:ext cx="6951863" cy="830997"/>
          </a:xfrm>
          <a:prstGeom prst="rect">
            <a:avLst/>
          </a:prstGeom>
          <a:noFill/>
        </p:spPr>
        <p:txBody>
          <a:bodyPr wrap="square">
            <a:spAutoFit/>
          </a:bodyPr>
          <a:lstStyle/>
          <a:p>
            <a:pPr>
              <a:buNone/>
            </a:pPr>
            <a:r>
              <a:rPr lang="en-US" sz="1600" b="1" dirty="0">
                <a:latin typeface="Times New Roman" panose="02020603050405020304" pitchFamily="18" charset="0"/>
                <a:cs typeface="Times New Roman" panose="02020603050405020304" pitchFamily="18" charset="0"/>
              </a:rPr>
              <a:t>Key Observation</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Testing performance remained below acceptable threshold (</a:t>
            </a:r>
            <a:r>
              <a:rPr lang="en-US" sz="1600" b="1" dirty="0">
                <a:latin typeface="Times New Roman" panose="02020603050405020304" pitchFamily="18" charset="0"/>
                <a:cs typeface="Times New Roman" panose="02020603050405020304" pitchFamily="18" charset="0"/>
              </a:rPr>
              <a:t>R² &lt; 0.65</a:t>
            </a:r>
            <a:r>
              <a:rPr lang="en-US" sz="16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Indicates limited generalization capability</a:t>
            </a:r>
          </a:p>
        </p:txBody>
      </p:sp>
    </p:spTree>
    <p:extLst>
      <p:ext uri="{BB962C8B-B14F-4D97-AF65-F5344CB8AC3E}">
        <p14:creationId xmlns:p14="http://schemas.microsoft.com/office/powerpoint/2010/main" val="2985830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F5007FD-30BD-32A4-5739-2818EC8999FB}"/>
              </a:ext>
            </a:extLst>
          </p:cNvPr>
          <p:cNvSpPr/>
          <p:nvPr/>
        </p:nvSpPr>
        <p:spPr>
          <a:xfrm>
            <a:off x="0" y="0"/>
            <a:ext cx="9144000" cy="658368"/>
          </a:xfrm>
          <a:prstGeom prst="rect">
            <a:avLst/>
          </a:prstGeom>
          <a:solidFill>
            <a:srgbClr val="1E88E5"/>
          </a:solidFill>
          <a:ln w="12700">
            <a:solidFill>
              <a:srgbClr val="1E88E5"/>
            </a:solidFill>
            <a:prstDash val="solid"/>
          </a:ln>
        </p:spPr>
        <p:txBody>
          <a:bodyPr/>
          <a:lstStyle/>
          <a:p>
            <a:endParaRPr lang="en-IN"/>
          </a:p>
        </p:txBody>
      </p:sp>
      <p:sp>
        <p:nvSpPr>
          <p:cNvPr id="3" name="Shape 1">
            <a:extLst>
              <a:ext uri="{FF2B5EF4-FFF2-40B4-BE49-F238E27FC236}">
                <a16:creationId xmlns:a16="http://schemas.microsoft.com/office/drawing/2014/main" id="{4A4D12A4-8E17-812E-4DD7-BC5C76683EA0}"/>
              </a:ext>
            </a:extLst>
          </p:cNvPr>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4" name="Text 2">
            <a:extLst>
              <a:ext uri="{FF2B5EF4-FFF2-40B4-BE49-F238E27FC236}">
                <a16:creationId xmlns:a16="http://schemas.microsoft.com/office/drawing/2014/main" id="{D3E6C6AE-D2A5-1365-8D0E-EFD8EC33FD26}"/>
              </a:ext>
            </a:extLst>
          </p:cNvPr>
          <p:cNvSpPr/>
          <p:nvPr/>
        </p:nvSpPr>
        <p:spPr>
          <a:xfrm>
            <a:off x="274320" y="0"/>
            <a:ext cx="8595360" cy="658368"/>
          </a:xfrm>
          <a:prstGeom prst="rect">
            <a:avLst/>
          </a:prstGeom>
          <a:noFill/>
          <a:ln/>
        </p:spPr>
        <p:txBody>
          <a:bodyPr wrap="square" lIns="0" tIns="0" rIns="0" bIns="0"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06  |  Results &amp; Discussion - LSTM</a:t>
            </a:r>
            <a:endParaRPr lang="en-US" sz="22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C5FBE75A-EEE9-1483-DA21-46E21AFF9620}"/>
              </a:ext>
            </a:extLst>
          </p:cNvPr>
          <p:cNvPicPr>
            <a:picLocks noChangeAspect="1"/>
          </p:cNvPicPr>
          <p:nvPr/>
        </p:nvPicPr>
        <p:blipFill>
          <a:blip r:embed="rId2"/>
          <a:stretch>
            <a:fillRect/>
          </a:stretch>
        </p:blipFill>
        <p:spPr>
          <a:xfrm>
            <a:off x="853844" y="2013778"/>
            <a:ext cx="6909473" cy="2545822"/>
          </a:xfrm>
          <a:prstGeom prst="rect">
            <a:avLst/>
          </a:prstGeom>
        </p:spPr>
      </p:pic>
      <p:sp>
        <p:nvSpPr>
          <p:cNvPr id="12" name="TextBox 11">
            <a:extLst>
              <a:ext uri="{FF2B5EF4-FFF2-40B4-BE49-F238E27FC236}">
                <a16:creationId xmlns:a16="http://schemas.microsoft.com/office/drawing/2014/main" id="{319E7796-2C51-3D97-FD18-02D3688413E2}"/>
              </a:ext>
            </a:extLst>
          </p:cNvPr>
          <p:cNvSpPr txBox="1"/>
          <p:nvPr/>
        </p:nvSpPr>
        <p:spPr>
          <a:xfrm>
            <a:off x="2137636" y="4559600"/>
            <a:ext cx="4911115" cy="276999"/>
          </a:xfrm>
          <a:prstGeom prst="rect">
            <a:avLst/>
          </a:prstGeom>
          <a:noFill/>
        </p:spPr>
        <p:txBody>
          <a:bodyPr wrap="square">
            <a:spAutoFit/>
          </a:bodyPr>
          <a:lstStyle/>
          <a:p>
            <a:r>
              <a:rPr lang="en-US" sz="1200" i="1" dirty="0">
                <a:solidFill>
                  <a:schemeClr val="bg2">
                    <a:lumMod val="25000"/>
                  </a:schemeClr>
                </a:solidFill>
                <a:latin typeface="Times New Roman" panose="02020603050405020304" pitchFamily="18" charset="0"/>
                <a:cs typeface="Times New Roman" panose="02020603050405020304" pitchFamily="18" charset="0"/>
              </a:rPr>
              <a:t>Observed (blue) vs Predicted Inflow(orange)  -Training Phase (1988-2017)</a:t>
            </a:r>
            <a:endParaRPr lang="en-IN" sz="1200" i="1" dirty="0">
              <a:solidFill>
                <a:schemeClr val="bg2">
                  <a:lumMod val="25000"/>
                </a:schemeClr>
              </a:solidFill>
              <a:latin typeface="Times New Roman" panose="02020603050405020304" pitchFamily="18" charset="0"/>
              <a:cs typeface="Times New Roman" panose="02020603050405020304" pitchFamily="18" charset="0"/>
            </a:endParaRPr>
          </a:p>
        </p:txBody>
      </p:sp>
      <p:grpSp>
        <p:nvGrpSpPr>
          <p:cNvPr id="14" name="Group 13">
            <a:extLst>
              <a:ext uri="{FF2B5EF4-FFF2-40B4-BE49-F238E27FC236}">
                <a16:creationId xmlns:a16="http://schemas.microsoft.com/office/drawing/2014/main" id="{0797CC66-84E6-B636-5D6A-27D42A764069}"/>
              </a:ext>
            </a:extLst>
          </p:cNvPr>
          <p:cNvGrpSpPr/>
          <p:nvPr/>
        </p:nvGrpSpPr>
        <p:grpSpPr>
          <a:xfrm>
            <a:off x="993122" y="878565"/>
            <a:ext cx="3221596" cy="1031823"/>
            <a:chOff x="2555474" y="862405"/>
            <a:chExt cx="3221596" cy="1031823"/>
          </a:xfrm>
        </p:grpSpPr>
        <p:sp>
          <p:nvSpPr>
            <p:cNvPr id="8" name="TextBox 7">
              <a:extLst>
                <a:ext uri="{FF2B5EF4-FFF2-40B4-BE49-F238E27FC236}">
                  <a16:creationId xmlns:a16="http://schemas.microsoft.com/office/drawing/2014/main" id="{4B9BB1F9-C35B-9F43-C75D-7993C6371580}"/>
                </a:ext>
              </a:extLst>
            </p:cNvPr>
            <p:cNvSpPr txBox="1"/>
            <p:nvPr/>
          </p:nvSpPr>
          <p:spPr>
            <a:xfrm>
              <a:off x="2555474" y="878565"/>
              <a:ext cx="3221596" cy="1015663"/>
            </a:xfrm>
            <a:prstGeom prst="rect">
              <a:avLst/>
            </a:prstGeom>
            <a:solidFill>
              <a:schemeClr val="accent1">
                <a:lumMod val="20000"/>
                <a:lumOff val="80000"/>
              </a:schemeClr>
            </a:solidFill>
          </p:spPr>
          <p:txBody>
            <a:bodyPr wrap="square">
              <a:spAutoFit/>
            </a:bodyPr>
            <a:lstStyle/>
            <a:p>
              <a:pPr>
                <a:buNone/>
              </a:pPr>
              <a:endParaRPr lang="en-US" sz="1200" b="1" dirty="0">
                <a:solidFill>
                  <a:schemeClr val="bg2">
                    <a:lumMod val="25000"/>
                  </a:schemeClr>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Training R² = </a:t>
              </a:r>
              <a:r>
                <a:rPr lang="en-US" sz="1200" b="1" dirty="0">
                  <a:solidFill>
                    <a:schemeClr val="bg2">
                      <a:lumMod val="25000"/>
                    </a:schemeClr>
                  </a:solidFill>
                  <a:latin typeface="Times New Roman" panose="02020603050405020304" pitchFamily="18" charset="0"/>
                  <a:cs typeface="Times New Roman" panose="02020603050405020304" pitchFamily="18" charset="0"/>
                </a:rPr>
                <a:t>0.935</a:t>
              </a:r>
              <a:r>
                <a:rPr lang="en-US" sz="1200" dirty="0">
                  <a:solidFill>
                    <a:schemeClr val="bg2">
                      <a:lumMod val="25000"/>
                    </a:schemeClr>
                  </a:solidFill>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Excellent fitting during training phase</a:t>
              </a:r>
            </a:p>
            <a:p>
              <a:pPr>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Model captured approximately: </a:t>
              </a:r>
            </a:p>
            <a:p>
              <a:pPr marL="742950" lvl="1" indent="-285750">
                <a:buFont typeface="Arial" panose="020B0604020202020204" pitchFamily="34" charset="0"/>
                <a:buChar char="•"/>
              </a:pPr>
              <a:r>
                <a:rPr lang="en-US" sz="1200" b="1" dirty="0">
                  <a:solidFill>
                    <a:schemeClr val="bg2">
                      <a:lumMod val="25000"/>
                    </a:schemeClr>
                  </a:solidFill>
                  <a:latin typeface="Times New Roman" panose="02020603050405020304" pitchFamily="18" charset="0"/>
                  <a:cs typeface="Times New Roman" panose="02020603050405020304" pitchFamily="18" charset="0"/>
                </a:rPr>
                <a:t>93.5% variance</a:t>
              </a:r>
              <a:r>
                <a:rPr lang="en-US" sz="1200" dirty="0">
                  <a:solidFill>
                    <a:schemeClr val="bg2">
                      <a:lumMod val="25000"/>
                    </a:schemeClr>
                  </a:solidFill>
                  <a:latin typeface="Times New Roman" panose="02020603050405020304" pitchFamily="18" charset="0"/>
                  <a:cs typeface="Times New Roman" panose="02020603050405020304" pitchFamily="18" charset="0"/>
                </a:rPr>
                <a:t> in observed inflow </a:t>
              </a:r>
            </a:p>
          </p:txBody>
        </p:sp>
        <p:sp>
          <p:nvSpPr>
            <p:cNvPr id="13" name="TextBox 12">
              <a:extLst>
                <a:ext uri="{FF2B5EF4-FFF2-40B4-BE49-F238E27FC236}">
                  <a16:creationId xmlns:a16="http://schemas.microsoft.com/office/drawing/2014/main" id="{CC84847C-C9F5-9851-2EEC-93E166ECE8AC}"/>
                </a:ext>
              </a:extLst>
            </p:cNvPr>
            <p:cNvSpPr txBox="1"/>
            <p:nvPr/>
          </p:nvSpPr>
          <p:spPr>
            <a:xfrm>
              <a:off x="2555474" y="862405"/>
              <a:ext cx="3221596" cy="307777"/>
            </a:xfrm>
            <a:prstGeom prst="rect">
              <a:avLst/>
            </a:prstGeom>
            <a:noFill/>
          </p:spPr>
          <p:txBody>
            <a:bodyPr wrap="square">
              <a:spAutoFit/>
            </a:bodyPr>
            <a:lstStyle/>
            <a:p>
              <a:r>
                <a:rPr lang="en-IN" sz="1400" b="1" dirty="0">
                  <a:solidFill>
                    <a:schemeClr val="bg2">
                      <a:lumMod val="25000"/>
                    </a:schemeClr>
                  </a:solidFill>
                  <a:latin typeface="Times New Roman" panose="02020603050405020304" pitchFamily="18" charset="0"/>
                  <a:cs typeface="Times New Roman" panose="02020603050405020304" pitchFamily="18" charset="0"/>
                </a:rPr>
                <a:t>Training Phase Results</a:t>
              </a:r>
            </a:p>
          </p:txBody>
        </p:sp>
      </p:grpSp>
    </p:spTree>
    <p:extLst>
      <p:ext uri="{BB962C8B-B14F-4D97-AF65-F5344CB8AC3E}">
        <p14:creationId xmlns:p14="http://schemas.microsoft.com/office/powerpoint/2010/main" val="7641891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8D02B42-3A53-E629-9566-F875211DFC95}"/>
              </a:ext>
            </a:extLst>
          </p:cNvPr>
          <p:cNvSpPr/>
          <p:nvPr/>
        </p:nvSpPr>
        <p:spPr>
          <a:xfrm>
            <a:off x="0" y="0"/>
            <a:ext cx="9144000" cy="658368"/>
          </a:xfrm>
          <a:prstGeom prst="rect">
            <a:avLst/>
          </a:prstGeom>
          <a:solidFill>
            <a:srgbClr val="1E88E5"/>
          </a:solidFill>
          <a:ln w="12700">
            <a:solidFill>
              <a:srgbClr val="1E88E5"/>
            </a:solidFill>
            <a:prstDash val="solid"/>
          </a:ln>
        </p:spPr>
        <p:txBody>
          <a:bodyPr/>
          <a:lstStyle/>
          <a:p>
            <a:endParaRPr lang="en-IN"/>
          </a:p>
        </p:txBody>
      </p:sp>
      <p:sp>
        <p:nvSpPr>
          <p:cNvPr id="3" name="Shape 1">
            <a:extLst>
              <a:ext uri="{FF2B5EF4-FFF2-40B4-BE49-F238E27FC236}">
                <a16:creationId xmlns:a16="http://schemas.microsoft.com/office/drawing/2014/main" id="{8F6ED5D1-73D9-BE34-EB63-A6A3C43AE5A1}"/>
              </a:ext>
            </a:extLst>
          </p:cNvPr>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4" name="Text 2">
            <a:extLst>
              <a:ext uri="{FF2B5EF4-FFF2-40B4-BE49-F238E27FC236}">
                <a16:creationId xmlns:a16="http://schemas.microsoft.com/office/drawing/2014/main" id="{278CDC11-7CE5-7F46-FB27-D545B944F769}"/>
              </a:ext>
            </a:extLst>
          </p:cNvPr>
          <p:cNvSpPr/>
          <p:nvPr/>
        </p:nvSpPr>
        <p:spPr>
          <a:xfrm>
            <a:off x="274320" y="0"/>
            <a:ext cx="8595360" cy="658368"/>
          </a:xfrm>
          <a:prstGeom prst="rect">
            <a:avLst/>
          </a:prstGeom>
          <a:noFill/>
          <a:ln/>
        </p:spPr>
        <p:txBody>
          <a:bodyPr wrap="square" lIns="0" tIns="0" rIns="0" bIns="0"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07  |  Results &amp; Discussion - LSTM</a:t>
            </a:r>
            <a:endParaRPr lang="en-US" sz="22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52B1AA0-DB29-8530-E887-6D808667D6AB}"/>
              </a:ext>
            </a:extLst>
          </p:cNvPr>
          <p:cNvSpPr txBox="1"/>
          <p:nvPr/>
        </p:nvSpPr>
        <p:spPr>
          <a:xfrm>
            <a:off x="974955" y="981012"/>
            <a:ext cx="2349585" cy="830997"/>
          </a:xfrm>
          <a:prstGeom prst="rect">
            <a:avLst/>
          </a:prstGeom>
          <a:solidFill>
            <a:schemeClr val="accent1">
              <a:lumMod val="20000"/>
              <a:lumOff val="80000"/>
            </a:schemeClr>
          </a:solidFill>
        </p:spPr>
        <p:txBody>
          <a:bodyPr wrap="square" rtlCol="0">
            <a:spAutoFit/>
          </a:bodyPr>
          <a:lstStyle/>
          <a:p>
            <a:r>
              <a:rPr lang="en-US" sz="1200" b="1" dirty="0">
                <a:solidFill>
                  <a:schemeClr val="bg2">
                    <a:lumMod val="25000"/>
                  </a:schemeClr>
                </a:solidFill>
                <a:latin typeface="Times New Roman" panose="02020603050405020304" pitchFamily="18" charset="0"/>
                <a:cs typeface="Times New Roman" panose="02020603050405020304" pitchFamily="18" charset="0"/>
              </a:rPr>
              <a:t>Testing Phase Performance</a:t>
            </a:r>
          </a:p>
          <a:p>
            <a:r>
              <a:rPr lang="en-US" sz="1200" dirty="0">
                <a:solidFill>
                  <a:schemeClr val="bg2">
                    <a:lumMod val="25000"/>
                  </a:schemeClr>
                </a:solidFill>
                <a:latin typeface="Times New Roman" panose="02020603050405020304" pitchFamily="18" charset="0"/>
                <a:cs typeface="Times New Roman" panose="02020603050405020304" pitchFamily="18" charset="0"/>
              </a:rPr>
              <a:t>Testing R² = </a:t>
            </a:r>
            <a:r>
              <a:rPr lang="en-US" sz="1200" b="1" dirty="0">
                <a:solidFill>
                  <a:schemeClr val="bg2">
                    <a:lumMod val="25000"/>
                  </a:schemeClr>
                </a:solidFill>
                <a:latin typeface="Times New Roman" panose="02020603050405020304" pitchFamily="18" charset="0"/>
                <a:cs typeface="Times New Roman" panose="02020603050405020304" pitchFamily="18" charset="0"/>
              </a:rPr>
              <a:t>0.621</a:t>
            </a:r>
            <a:r>
              <a:rPr lang="en-US" sz="1200" dirty="0">
                <a:solidFill>
                  <a:schemeClr val="bg2">
                    <a:lumMod val="25000"/>
                  </a:schemeClr>
                </a:solidFill>
                <a:latin typeface="Times New Roman" panose="02020603050405020304" pitchFamily="18" charset="0"/>
                <a:cs typeface="Times New Roman" panose="02020603050405020304" pitchFamily="18" charset="0"/>
              </a:rPr>
              <a:t> </a:t>
            </a:r>
          </a:p>
          <a:p>
            <a:r>
              <a:rPr lang="en-US" sz="1200" dirty="0">
                <a:solidFill>
                  <a:schemeClr val="bg2">
                    <a:lumMod val="25000"/>
                  </a:schemeClr>
                </a:solidFill>
                <a:latin typeface="Times New Roman" panose="02020603050405020304" pitchFamily="18" charset="0"/>
                <a:cs typeface="Times New Roman" panose="02020603050405020304" pitchFamily="18" charset="0"/>
              </a:rPr>
              <a:t>R² &lt;0.65 is not recommended </a:t>
            </a:r>
          </a:p>
          <a:p>
            <a:endParaRPr lang="en-IN" sz="1200" dirty="0">
              <a:solidFill>
                <a:schemeClr val="bg2">
                  <a:lumMod val="25000"/>
                </a:schemeClr>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303206B6-9915-BEA5-AA35-E33576540D9E}"/>
              </a:ext>
            </a:extLst>
          </p:cNvPr>
          <p:cNvPicPr>
            <a:picLocks noChangeAspect="1"/>
          </p:cNvPicPr>
          <p:nvPr/>
        </p:nvPicPr>
        <p:blipFill>
          <a:blip r:embed="rId2"/>
          <a:stretch>
            <a:fillRect/>
          </a:stretch>
        </p:blipFill>
        <p:spPr>
          <a:xfrm>
            <a:off x="890177" y="2069841"/>
            <a:ext cx="7218310" cy="2536163"/>
          </a:xfrm>
          <a:prstGeom prst="rect">
            <a:avLst/>
          </a:prstGeom>
        </p:spPr>
      </p:pic>
      <p:sp>
        <p:nvSpPr>
          <p:cNvPr id="9" name="TextBox 8">
            <a:extLst>
              <a:ext uri="{FF2B5EF4-FFF2-40B4-BE49-F238E27FC236}">
                <a16:creationId xmlns:a16="http://schemas.microsoft.com/office/drawing/2014/main" id="{7316C4F3-B24C-5CFB-2449-BC7E05C3FB25}"/>
              </a:ext>
            </a:extLst>
          </p:cNvPr>
          <p:cNvSpPr txBox="1"/>
          <p:nvPr/>
        </p:nvSpPr>
        <p:spPr>
          <a:xfrm>
            <a:off x="1992301" y="4609228"/>
            <a:ext cx="5207841" cy="276999"/>
          </a:xfrm>
          <a:prstGeom prst="rect">
            <a:avLst/>
          </a:prstGeom>
          <a:noFill/>
        </p:spPr>
        <p:txBody>
          <a:bodyPr wrap="square">
            <a:spAutoFit/>
          </a:bodyPr>
          <a:lstStyle/>
          <a:p>
            <a:r>
              <a:rPr lang="en-US" sz="1200" i="1" dirty="0">
                <a:solidFill>
                  <a:schemeClr val="bg2">
                    <a:lumMod val="25000"/>
                  </a:schemeClr>
                </a:solidFill>
                <a:latin typeface="Times New Roman" panose="02020603050405020304" pitchFamily="18" charset="0"/>
                <a:cs typeface="Times New Roman" panose="02020603050405020304" pitchFamily="18" charset="0"/>
              </a:rPr>
              <a:t>Observed (blue) vs Predicted Inflow(orange)  -Testing Phase (2017-2024)</a:t>
            </a:r>
            <a:endParaRPr lang="en-IN" sz="1200" i="1"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C02C09F9-E617-7746-15E1-7CFCA538362D}"/>
              </a:ext>
            </a:extLst>
          </p:cNvPr>
          <p:cNvSpPr txBox="1"/>
          <p:nvPr/>
        </p:nvSpPr>
        <p:spPr>
          <a:xfrm>
            <a:off x="3524377" y="920455"/>
            <a:ext cx="2525197" cy="1015663"/>
          </a:xfrm>
          <a:prstGeom prst="rect">
            <a:avLst/>
          </a:prstGeom>
          <a:solidFill>
            <a:schemeClr val="accent1">
              <a:lumMod val="20000"/>
              <a:lumOff val="80000"/>
            </a:schemeClr>
          </a:solidFill>
        </p:spPr>
        <p:txBody>
          <a:bodyPr wrap="square">
            <a:spAutoFit/>
          </a:bodyPr>
          <a:lstStyle/>
          <a:p>
            <a:pPr>
              <a:buNone/>
            </a:pPr>
            <a:r>
              <a:rPr lang="en-US" sz="1200" b="1" dirty="0">
                <a:solidFill>
                  <a:schemeClr val="bg2">
                    <a:lumMod val="25000"/>
                  </a:schemeClr>
                </a:solidFill>
                <a:latin typeface="Times New Roman" panose="02020603050405020304" pitchFamily="18" charset="0"/>
                <a:cs typeface="Times New Roman" panose="02020603050405020304" pitchFamily="18" charset="0"/>
              </a:rPr>
              <a:t>Evidence of Overfitting</a:t>
            </a:r>
          </a:p>
          <a:p>
            <a:pPr>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Training–Testing Gap: </a:t>
            </a:r>
          </a:p>
          <a:p>
            <a:pPr marL="742950" lvl="1" indent="-285750">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ΔR² = </a:t>
            </a:r>
            <a:r>
              <a:rPr lang="en-US" sz="1200" b="1" dirty="0">
                <a:solidFill>
                  <a:schemeClr val="bg2">
                    <a:lumMod val="25000"/>
                  </a:schemeClr>
                </a:solidFill>
                <a:latin typeface="Times New Roman" panose="02020603050405020304" pitchFamily="18" charset="0"/>
                <a:cs typeface="Times New Roman" panose="02020603050405020304" pitchFamily="18" charset="0"/>
              </a:rPr>
              <a:t>0.314</a:t>
            </a:r>
            <a:r>
              <a:rPr lang="en-US" sz="1200" dirty="0">
                <a:solidFill>
                  <a:schemeClr val="bg2">
                    <a:lumMod val="25000"/>
                  </a:schemeClr>
                </a:solidFill>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Strong memorization of training data </a:t>
            </a:r>
          </a:p>
          <a:p>
            <a:pPr>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Weak generalization to unseen data</a:t>
            </a:r>
          </a:p>
        </p:txBody>
      </p:sp>
      <p:sp>
        <p:nvSpPr>
          <p:cNvPr id="13" name="TextBox 12">
            <a:extLst>
              <a:ext uri="{FF2B5EF4-FFF2-40B4-BE49-F238E27FC236}">
                <a16:creationId xmlns:a16="http://schemas.microsoft.com/office/drawing/2014/main" id="{0F176AF5-B02B-F54C-6F02-CADF1FAD367F}"/>
              </a:ext>
            </a:extLst>
          </p:cNvPr>
          <p:cNvSpPr txBox="1"/>
          <p:nvPr/>
        </p:nvSpPr>
        <p:spPr>
          <a:xfrm>
            <a:off x="6316022" y="920455"/>
            <a:ext cx="2289028" cy="1015663"/>
          </a:xfrm>
          <a:prstGeom prst="rect">
            <a:avLst/>
          </a:prstGeom>
          <a:solidFill>
            <a:schemeClr val="accent1">
              <a:lumMod val="20000"/>
              <a:lumOff val="80000"/>
            </a:schemeClr>
          </a:solidFill>
        </p:spPr>
        <p:txBody>
          <a:bodyPr wrap="square">
            <a:spAutoFit/>
          </a:bodyPr>
          <a:lstStyle/>
          <a:p>
            <a:pPr>
              <a:buNone/>
            </a:pPr>
            <a:r>
              <a:rPr lang="en-US" sz="1200" dirty="0">
                <a:solidFill>
                  <a:schemeClr val="bg2">
                    <a:lumMod val="25000"/>
                  </a:schemeClr>
                </a:solidFill>
                <a:latin typeface="Times New Roman" panose="02020603050405020304" pitchFamily="18" charset="0"/>
                <a:cs typeface="Times New Roman" panose="02020603050405020304" pitchFamily="18" charset="0"/>
              </a:rPr>
              <a:t>Extreme monsoon events are:</a:t>
            </a:r>
          </a:p>
          <a:p>
            <a:pPr>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Highly nonlinear </a:t>
            </a:r>
          </a:p>
          <a:p>
            <a:pPr>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Non-stationary </a:t>
            </a:r>
          </a:p>
          <a:p>
            <a:pPr>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Difficult to model using standard LSTM architecture</a:t>
            </a:r>
          </a:p>
        </p:txBody>
      </p:sp>
    </p:spTree>
    <p:extLst>
      <p:ext uri="{BB962C8B-B14F-4D97-AF65-F5344CB8AC3E}">
        <p14:creationId xmlns:p14="http://schemas.microsoft.com/office/powerpoint/2010/main" val="3681964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9CC51FF5-B730-16EB-74BF-41FDCD7F3E41}"/>
              </a:ext>
            </a:extLst>
          </p:cNvPr>
          <p:cNvSpPr/>
          <p:nvPr/>
        </p:nvSpPr>
        <p:spPr>
          <a:xfrm>
            <a:off x="0" y="0"/>
            <a:ext cx="9144000" cy="658368"/>
          </a:xfrm>
          <a:prstGeom prst="rect">
            <a:avLst/>
          </a:prstGeom>
          <a:solidFill>
            <a:srgbClr val="1E88E5"/>
          </a:solidFill>
          <a:ln w="12700">
            <a:solidFill>
              <a:srgbClr val="1E88E5"/>
            </a:solidFill>
            <a:prstDash val="solid"/>
          </a:ln>
        </p:spPr>
        <p:txBody>
          <a:bodyPr/>
          <a:lstStyle/>
          <a:p>
            <a:endParaRPr lang="en-IN"/>
          </a:p>
        </p:txBody>
      </p:sp>
      <p:sp>
        <p:nvSpPr>
          <p:cNvPr id="3" name="Shape 1">
            <a:extLst>
              <a:ext uri="{FF2B5EF4-FFF2-40B4-BE49-F238E27FC236}">
                <a16:creationId xmlns:a16="http://schemas.microsoft.com/office/drawing/2014/main" id="{AE664AB6-810D-9A6E-DDBE-798DB9BBB736}"/>
              </a:ext>
            </a:extLst>
          </p:cNvPr>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4" name="Text 2">
            <a:extLst>
              <a:ext uri="{FF2B5EF4-FFF2-40B4-BE49-F238E27FC236}">
                <a16:creationId xmlns:a16="http://schemas.microsoft.com/office/drawing/2014/main" id="{A5D480B1-DB42-DD49-246B-5AC8EB292E79}"/>
              </a:ext>
            </a:extLst>
          </p:cNvPr>
          <p:cNvSpPr/>
          <p:nvPr/>
        </p:nvSpPr>
        <p:spPr>
          <a:xfrm>
            <a:off x="274320" y="0"/>
            <a:ext cx="8595360" cy="658368"/>
          </a:xfrm>
          <a:prstGeom prst="rect">
            <a:avLst/>
          </a:prstGeom>
          <a:noFill/>
          <a:ln/>
        </p:spPr>
        <p:txBody>
          <a:bodyPr wrap="square" lIns="0" tIns="0" rIns="0" bIns="0"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07  |  Results &amp; Discussion - LSTM</a:t>
            </a:r>
            <a:endParaRPr lang="en-US" sz="2200" dirty="0">
              <a:latin typeface="Times New Roman" panose="02020603050405020304" pitchFamily="18" charset="0"/>
              <a:cs typeface="Times New Roman" panose="02020603050405020304" pitchFamily="18" charset="0"/>
            </a:endParaRPr>
          </a:p>
        </p:txBody>
      </p:sp>
      <p:grpSp>
        <p:nvGrpSpPr>
          <p:cNvPr id="11" name="Group 10">
            <a:extLst>
              <a:ext uri="{FF2B5EF4-FFF2-40B4-BE49-F238E27FC236}">
                <a16:creationId xmlns:a16="http://schemas.microsoft.com/office/drawing/2014/main" id="{56B791C0-F71E-56F9-A64D-4948C0157E28}"/>
              </a:ext>
            </a:extLst>
          </p:cNvPr>
          <p:cNvGrpSpPr/>
          <p:nvPr/>
        </p:nvGrpSpPr>
        <p:grpSpPr>
          <a:xfrm>
            <a:off x="274320" y="835677"/>
            <a:ext cx="4140234" cy="4218547"/>
            <a:chOff x="274320" y="835677"/>
            <a:chExt cx="4140234" cy="4218547"/>
          </a:xfrm>
        </p:grpSpPr>
        <p:pic>
          <p:nvPicPr>
            <p:cNvPr id="6" name="Picture 5">
              <a:extLst>
                <a:ext uri="{FF2B5EF4-FFF2-40B4-BE49-F238E27FC236}">
                  <a16:creationId xmlns:a16="http://schemas.microsoft.com/office/drawing/2014/main" id="{895C6DCF-23AB-2C57-F8DF-B029B99547A2}"/>
                </a:ext>
              </a:extLst>
            </p:cNvPr>
            <p:cNvPicPr>
              <a:picLocks noChangeAspect="1"/>
            </p:cNvPicPr>
            <p:nvPr/>
          </p:nvPicPr>
          <p:blipFill>
            <a:blip r:embed="rId2"/>
            <a:stretch>
              <a:fillRect/>
            </a:stretch>
          </p:blipFill>
          <p:spPr>
            <a:xfrm>
              <a:off x="558190" y="835677"/>
              <a:ext cx="2324289" cy="2224076"/>
            </a:xfrm>
            <a:prstGeom prst="rect">
              <a:avLst/>
            </a:prstGeom>
          </p:spPr>
        </p:pic>
        <p:sp>
          <p:nvSpPr>
            <p:cNvPr id="8" name="TextBox 7">
              <a:extLst>
                <a:ext uri="{FF2B5EF4-FFF2-40B4-BE49-F238E27FC236}">
                  <a16:creationId xmlns:a16="http://schemas.microsoft.com/office/drawing/2014/main" id="{D46687D4-5087-B3E9-EF4F-41DCE54CFC1A}"/>
                </a:ext>
              </a:extLst>
            </p:cNvPr>
            <p:cNvSpPr txBox="1"/>
            <p:nvPr/>
          </p:nvSpPr>
          <p:spPr>
            <a:xfrm>
              <a:off x="389379" y="3022899"/>
              <a:ext cx="3044165" cy="276999"/>
            </a:xfrm>
            <a:prstGeom prst="rect">
              <a:avLst/>
            </a:prstGeom>
            <a:noFill/>
          </p:spPr>
          <p:txBody>
            <a:bodyPr wrap="square">
              <a:spAutoFit/>
            </a:bodyPr>
            <a:lstStyle/>
            <a:p>
              <a:r>
                <a:rPr lang="en-US" sz="1200" i="1" dirty="0">
                  <a:solidFill>
                    <a:schemeClr val="bg2">
                      <a:lumMod val="25000"/>
                    </a:schemeClr>
                  </a:solidFill>
                  <a:latin typeface="Times New Roman" panose="02020603050405020304" pitchFamily="18" charset="0"/>
                  <a:cs typeface="Times New Roman" panose="02020603050405020304" pitchFamily="18" charset="0"/>
                </a:rPr>
                <a:t>Scatter Plot — Observed vs Predicted Inflow</a:t>
              </a:r>
              <a:endParaRPr lang="en-IN" sz="1200" i="1"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DFC0C9DA-DD5C-AC8B-4C42-AB0E37C11379}"/>
                </a:ext>
              </a:extLst>
            </p:cNvPr>
            <p:cNvSpPr txBox="1"/>
            <p:nvPr/>
          </p:nvSpPr>
          <p:spPr>
            <a:xfrm>
              <a:off x="274320" y="3299898"/>
              <a:ext cx="4140234" cy="1754326"/>
            </a:xfrm>
            <a:prstGeom prst="rect">
              <a:avLst/>
            </a:prstGeom>
            <a:noFill/>
          </p:spPr>
          <p:txBody>
            <a:bodyPr wrap="square">
              <a:spAutoFit/>
            </a:bodyPr>
            <a:lstStyle/>
            <a:p>
              <a:pPr>
                <a:buNone/>
              </a:pPr>
              <a:r>
                <a:rPr lang="en-US" sz="1200" b="1" dirty="0">
                  <a:solidFill>
                    <a:schemeClr val="bg2">
                      <a:lumMod val="25000"/>
                    </a:schemeClr>
                  </a:solidFill>
                  <a:latin typeface="Times New Roman" panose="02020603050405020304" pitchFamily="18" charset="0"/>
                  <a:cs typeface="Times New Roman" panose="02020603050405020304" pitchFamily="18" charset="0"/>
                </a:rPr>
                <a:t>Key Findings</a:t>
              </a:r>
            </a:p>
            <a:p>
              <a:pPr>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Low and moderate flows has closely aligned with 1:1 line and better prediction accuracy </a:t>
              </a:r>
            </a:p>
            <a:p>
              <a:pPr>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High discharge region large scatter observed and significant prediction errors </a:t>
              </a:r>
            </a:p>
            <a:p>
              <a:pPr>
                <a:buNone/>
              </a:pPr>
              <a:r>
                <a:rPr lang="en-US" sz="1200" b="1" dirty="0">
                  <a:solidFill>
                    <a:schemeClr val="bg2">
                      <a:lumMod val="25000"/>
                    </a:schemeClr>
                  </a:solidFill>
                  <a:latin typeface="Times New Roman" panose="02020603050405020304" pitchFamily="18" charset="0"/>
                  <a:cs typeface="Times New Roman" panose="02020603050405020304" pitchFamily="18" charset="0"/>
                </a:rPr>
                <a:t>Interpretation</a:t>
              </a:r>
            </a:p>
            <a:p>
              <a:pPr>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LSTM performs well under normal hydrological conditions </a:t>
              </a:r>
            </a:p>
            <a:p>
              <a:pPr>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Performance degrades during Flood events and Extreme monsoon inflows </a:t>
              </a:r>
            </a:p>
          </p:txBody>
        </p:sp>
      </p:grpSp>
      <p:grpSp>
        <p:nvGrpSpPr>
          <p:cNvPr id="20" name="Group 19">
            <a:extLst>
              <a:ext uri="{FF2B5EF4-FFF2-40B4-BE49-F238E27FC236}">
                <a16:creationId xmlns:a16="http://schemas.microsoft.com/office/drawing/2014/main" id="{8298B765-FFC3-D4CA-A1C5-3DBADCA14398}"/>
              </a:ext>
            </a:extLst>
          </p:cNvPr>
          <p:cNvGrpSpPr/>
          <p:nvPr/>
        </p:nvGrpSpPr>
        <p:grpSpPr>
          <a:xfrm>
            <a:off x="4892949" y="835677"/>
            <a:ext cx="3712100" cy="3920086"/>
            <a:chOff x="4892949" y="835677"/>
            <a:chExt cx="3712100" cy="3920086"/>
          </a:xfrm>
        </p:grpSpPr>
        <p:pic>
          <p:nvPicPr>
            <p:cNvPr id="15" name="Picture 14">
              <a:extLst>
                <a:ext uri="{FF2B5EF4-FFF2-40B4-BE49-F238E27FC236}">
                  <a16:creationId xmlns:a16="http://schemas.microsoft.com/office/drawing/2014/main" id="{DE586379-D482-7F28-3FC2-8AAFF3590F22}"/>
                </a:ext>
              </a:extLst>
            </p:cNvPr>
            <p:cNvPicPr>
              <a:picLocks noChangeAspect="1"/>
            </p:cNvPicPr>
            <p:nvPr/>
          </p:nvPicPr>
          <p:blipFill>
            <a:blip r:embed="rId3"/>
            <a:stretch>
              <a:fillRect/>
            </a:stretch>
          </p:blipFill>
          <p:spPr>
            <a:xfrm>
              <a:off x="4957656" y="835677"/>
              <a:ext cx="3552341" cy="1988494"/>
            </a:xfrm>
            <a:prstGeom prst="rect">
              <a:avLst/>
            </a:prstGeom>
          </p:spPr>
        </p:pic>
        <p:sp>
          <p:nvSpPr>
            <p:cNvPr id="17" name="TextBox 16">
              <a:extLst>
                <a:ext uri="{FF2B5EF4-FFF2-40B4-BE49-F238E27FC236}">
                  <a16:creationId xmlns:a16="http://schemas.microsoft.com/office/drawing/2014/main" id="{C0EE1256-EEA7-3C70-F141-0E85BFC6FC80}"/>
                </a:ext>
              </a:extLst>
            </p:cNvPr>
            <p:cNvSpPr txBox="1"/>
            <p:nvPr/>
          </p:nvSpPr>
          <p:spPr>
            <a:xfrm>
              <a:off x="5413731" y="2886319"/>
              <a:ext cx="2609976" cy="276999"/>
            </a:xfrm>
            <a:prstGeom prst="rect">
              <a:avLst/>
            </a:prstGeom>
            <a:noFill/>
          </p:spPr>
          <p:txBody>
            <a:bodyPr wrap="square">
              <a:spAutoFit/>
            </a:bodyPr>
            <a:lstStyle/>
            <a:p>
              <a:r>
                <a:rPr lang="en-US" sz="1200" i="1" dirty="0">
                  <a:solidFill>
                    <a:schemeClr val="bg2">
                      <a:lumMod val="25000"/>
                    </a:schemeClr>
                  </a:solidFill>
                  <a:latin typeface="Times New Roman" panose="02020603050405020304" pitchFamily="18" charset="0"/>
                  <a:cs typeface="Times New Roman" panose="02020603050405020304" pitchFamily="18" charset="0"/>
                </a:rPr>
                <a:t>Error Distribution - LSTM Test Phase</a:t>
              </a:r>
              <a:endParaRPr lang="en-IN" sz="1200" i="1"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64A49150-C0DB-040E-081E-C7435D9455C6}"/>
                </a:ext>
              </a:extLst>
            </p:cNvPr>
            <p:cNvSpPr txBox="1"/>
            <p:nvPr/>
          </p:nvSpPr>
          <p:spPr>
            <a:xfrm>
              <a:off x="4892949" y="3370768"/>
              <a:ext cx="3712100" cy="1384995"/>
            </a:xfrm>
            <a:prstGeom prst="rect">
              <a:avLst/>
            </a:prstGeom>
            <a:noFill/>
          </p:spPr>
          <p:txBody>
            <a:bodyPr wrap="square">
              <a:spAutoFit/>
            </a:bodyPr>
            <a:lstStyle/>
            <a:p>
              <a:pPr>
                <a:buNone/>
              </a:pPr>
              <a:r>
                <a:rPr lang="en-US" sz="1200" b="1" dirty="0">
                  <a:solidFill>
                    <a:schemeClr val="bg2">
                      <a:lumMod val="25000"/>
                    </a:schemeClr>
                  </a:solidFill>
                  <a:latin typeface="Times New Roman" panose="02020603050405020304" pitchFamily="18" charset="0"/>
                  <a:cs typeface="Times New Roman" panose="02020603050405020304" pitchFamily="18" charset="0"/>
                </a:rPr>
                <a:t>Distribution Characteristics</a:t>
              </a:r>
            </a:p>
            <a:p>
              <a:pPr>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Approximately bell-shaped distribution and centered near zero </a:t>
              </a:r>
            </a:p>
            <a:p>
              <a:pPr>
                <a:buNone/>
              </a:pPr>
              <a:r>
                <a:rPr lang="en-US" sz="1200" b="1" dirty="0">
                  <a:solidFill>
                    <a:schemeClr val="bg2">
                      <a:lumMod val="25000"/>
                    </a:schemeClr>
                  </a:solidFill>
                  <a:latin typeface="Times New Roman" panose="02020603050405020304" pitchFamily="18" charset="0"/>
                  <a:cs typeface="Times New Roman" panose="02020603050405020304" pitchFamily="18" charset="0"/>
                </a:rPr>
                <a:t>Limitation</a:t>
              </a:r>
            </a:p>
            <a:p>
              <a:pPr>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Long tails extending to ±1 × 10⁶ cusecs </a:t>
              </a:r>
            </a:p>
            <a:p>
              <a:pPr>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Indicates presence of large outlier errors and poor prediction during extreme flood events</a:t>
              </a:r>
            </a:p>
          </p:txBody>
        </p:sp>
      </p:grpSp>
    </p:spTree>
    <p:extLst>
      <p:ext uri="{BB962C8B-B14F-4D97-AF65-F5344CB8AC3E}">
        <p14:creationId xmlns:p14="http://schemas.microsoft.com/office/powerpoint/2010/main" val="802176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298AC25-2A3F-026F-DBD1-D45D6369F016}"/>
              </a:ext>
            </a:extLst>
          </p:cNvPr>
          <p:cNvSpPr/>
          <p:nvPr/>
        </p:nvSpPr>
        <p:spPr>
          <a:xfrm>
            <a:off x="0" y="0"/>
            <a:ext cx="9144000" cy="658368"/>
          </a:xfrm>
          <a:prstGeom prst="rect">
            <a:avLst/>
          </a:prstGeom>
          <a:solidFill>
            <a:srgbClr val="1E88E5"/>
          </a:solidFill>
          <a:ln w="12700">
            <a:solidFill>
              <a:srgbClr val="1E88E5"/>
            </a:solidFill>
            <a:prstDash val="solid"/>
          </a:ln>
        </p:spPr>
        <p:txBody>
          <a:bodyPr/>
          <a:lstStyle/>
          <a:p>
            <a:endParaRPr lang="en-IN"/>
          </a:p>
        </p:txBody>
      </p:sp>
      <p:sp>
        <p:nvSpPr>
          <p:cNvPr id="3" name="Shape 1">
            <a:extLst>
              <a:ext uri="{FF2B5EF4-FFF2-40B4-BE49-F238E27FC236}">
                <a16:creationId xmlns:a16="http://schemas.microsoft.com/office/drawing/2014/main" id="{A048BE19-3616-E1DD-9858-84F8B81E8875}"/>
              </a:ext>
            </a:extLst>
          </p:cNvPr>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4" name="Text 2">
            <a:extLst>
              <a:ext uri="{FF2B5EF4-FFF2-40B4-BE49-F238E27FC236}">
                <a16:creationId xmlns:a16="http://schemas.microsoft.com/office/drawing/2014/main" id="{F009B1D8-C7B9-F4C6-EE15-0C070EC1D584}"/>
              </a:ext>
            </a:extLst>
          </p:cNvPr>
          <p:cNvSpPr/>
          <p:nvPr/>
        </p:nvSpPr>
        <p:spPr>
          <a:xfrm>
            <a:off x="274320" y="0"/>
            <a:ext cx="8595360" cy="658368"/>
          </a:xfrm>
          <a:prstGeom prst="rect">
            <a:avLst/>
          </a:prstGeom>
          <a:noFill/>
          <a:ln/>
        </p:spPr>
        <p:txBody>
          <a:bodyPr wrap="square" lIns="0" tIns="0" rIns="0" bIns="0"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07  |  Results &amp; Discussion – Genetic Programming </a:t>
            </a:r>
            <a:endParaRPr lang="en-US" sz="22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44FC0F7B-A618-C339-C496-A87B2B092628}"/>
              </a:ext>
            </a:extLst>
          </p:cNvPr>
          <p:cNvSpPr txBox="1"/>
          <p:nvPr/>
        </p:nvSpPr>
        <p:spPr>
          <a:xfrm>
            <a:off x="420866" y="977419"/>
            <a:ext cx="3724212" cy="1569660"/>
          </a:xfrm>
          <a:prstGeom prst="rect">
            <a:avLst/>
          </a:prstGeom>
          <a:noFill/>
        </p:spPr>
        <p:txBody>
          <a:bodyPr wrap="square">
            <a:spAutoFit/>
          </a:bodyPr>
          <a:lstStyle/>
          <a:p>
            <a:pPr>
              <a:buNone/>
            </a:pPr>
            <a:r>
              <a:rPr lang="en-US" sz="1200" b="1" dirty="0">
                <a:solidFill>
                  <a:schemeClr val="bg2">
                    <a:lumMod val="25000"/>
                  </a:schemeClr>
                </a:solidFill>
                <a:latin typeface="Times New Roman" panose="02020603050405020304" pitchFamily="18" charset="0"/>
                <a:cs typeface="Times New Roman" panose="02020603050405020304" pitchFamily="18" charset="0"/>
              </a:rPr>
              <a:t>Model Development</a:t>
            </a:r>
          </a:p>
          <a:p>
            <a:pPr>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GP model evolved using: </a:t>
            </a:r>
          </a:p>
          <a:p>
            <a:pPr marL="742950" lvl="1" indent="-285750">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Population-based symbolic regression -2000 </a:t>
            </a:r>
          </a:p>
          <a:p>
            <a:pPr marL="742950" lvl="1" indent="-285750">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Evolutionary optimization </a:t>
            </a:r>
          </a:p>
          <a:p>
            <a:pPr>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Total optimization iterations: </a:t>
            </a:r>
          </a:p>
          <a:p>
            <a:pPr marL="742950" lvl="1" indent="-285750">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800 generations </a:t>
            </a:r>
          </a:p>
          <a:p>
            <a:pPr>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Further refined using: </a:t>
            </a:r>
          </a:p>
          <a:p>
            <a:pPr marL="742950" lvl="1" indent="-285750">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Nelder–Mead constant optimization</a:t>
            </a:r>
          </a:p>
        </p:txBody>
      </p:sp>
      <p:sp>
        <p:nvSpPr>
          <p:cNvPr id="8" name="TextBox 7">
            <a:extLst>
              <a:ext uri="{FF2B5EF4-FFF2-40B4-BE49-F238E27FC236}">
                <a16:creationId xmlns:a16="http://schemas.microsoft.com/office/drawing/2014/main" id="{8E9CFF90-D8C4-9E0A-7AF5-7DB087BA1143}"/>
              </a:ext>
            </a:extLst>
          </p:cNvPr>
          <p:cNvSpPr txBox="1"/>
          <p:nvPr/>
        </p:nvSpPr>
        <p:spPr>
          <a:xfrm>
            <a:off x="4895976" y="973826"/>
            <a:ext cx="2400833" cy="276999"/>
          </a:xfrm>
          <a:prstGeom prst="rect">
            <a:avLst/>
          </a:prstGeom>
          <a:noFill/>
        </p:spPr>
        <p:txBody>
          <a:bodyPr wrap="square">
            <a:spAutoFit/>
          </a:bodyPr>
          <a:lstStyle/>
          <a:p>
            <a:r>
              <a:rPr lang="en-IN" sz="1200" b="1" dirty="0">
                <a:solidFill>
                  <a:schemeClr val="bg2">
                    <a:lumMod val="25000"/>
                  </a:schemeClr>
                </a:solidFill>
                <a:latin typeface="Times New Roman" panose="02020603050405020304" pitchFamily="18" charset="0"/>
                <a:cs typeface="Times New Roman" panose="02020603050405020304" pitchFamily="18" charset="0"/>
              </a:rPr>
              <a:t>Best-Fit GP Symbolic Equation</a:t>
            </a:r>
          </a:p>
        </p:txBody>
      </p:sp>
      <p:sp>
        <p:nvSpPr>
          <p:cNvPr id="10" name="TextBox 9">
            <a:extLst>
              <a:ext uri="{FF2B5EF4-FFF2-40B4-BE49-F238E27FC236}">
                <a16:creationId xmlns:a16="http://schemas.microsoft.com/office/drawing/2014/main" id="{929C5D3C-6344-F45E-4480-4194DA42E2A2}"/>
              </a:ext>
            </a:extLst>
          </p:cNvPr>
          <p:cNvSpPr txBox="1"/>
          <p:nvPr/>
        </p:nvSpPr>
        <p:spPr>
          <a:xfrm>
            <a:off x="4895976" y="1254418"/>
            <a:ext cx="4132967" cy="830997"/>
          </a:xfrm>
          <a:prstGeom prst="rect">
            <a:avLst/>
          </a:prstGeom>
          <a:noFill/>
        </p:spPr>
        <p:txBody>
          <a:bodyPr wrap="square">
            <a:spAutoFit/>
          </a:bodyPr>
          <a:lstStyle/>
          <a:p>
            <a:r>
              <a:rPr lang="en-IN" sz="1200" dirty="0">
                <a:solidFill>
                  <a:schemeClr val="bg2">
                    <a:lumMod val="25000"/>
                  </a:schemeClr>
                </a:solidFill>
                <a:effectLst/>
                <a:latin typeface="Times New Roman" panose="02020603050405020304" pitchFamily="18" charset="0"/>
                <a:ea typeface="Times New Roman" panose="02020603050405020304" pitchFamily="18" charset="0"/>
              </a:rPr>
              <a:t>f(X) = (0.0547 × ((√|√|−0.0827|| × (X₆₁ + |−1.3866|)) + X₆₀)) + √|(((( √|−0.0899| × (X₅₀ + X₅₀)) + √|√|−0.0278||) × ((X₅₃ + √|((√|−1.3662| × |X₁₅₄|) + (√|X₁₇₇| × |X₅₀|))|)) × √|−0.0821|)) × −0.0341)| </a:t>
            </a:r>
            <a:endParaRPr lang="en-IN" sz="1200" dirty="0">
              <a:solidFill>
                <a:schemeClr val="bg2">
                  <a:lumMod val="25000"/>
                </a:schemeClr>
              </a:solidFill>
            </a:endParaRPr>
          </a:p>
        </p:txBody>
      </p:sp>
      <p:graphicFrame>
        <p:nvGraphicFramePr>
          <p:cNvPr id="11" name="Table 10">
            <a:extLst>
              <a:ext uri="{FF2B5EF4-FFF2-40B4-BE49-F238E27FC236}">
                <a16:creationId xmlns:a16="http://schemas.microsoft.com/office/drawing/2014/main" id="{79F0BBE2-1576-413A-5363-0B1BA79D1AD4}"/>
              </a:ext>
            </a:extLst>
          </p:cNvPr>
          <p:cNvGraphicFramePr>
            <a:graphicFrameLocks noGrp="1"/>
          </p:cNvGraphicFramePr>
          <p:nvPr>
            <p:extLst>
              <p:ext uri="{D42A27DB-BD31-4B8C-83A1-F6EECF244321}">
                <p14:modId xmlns:p14="http://schemas.microsoft.com/office/powerpoint/2010/main" val="1559742670"/>
              </p:ext>
            </p:extLst>
          </p:nvPr>
        </p:nvGraphicFramePr>
        <p:xfrm>
          <a:off x="5206707" y="2175182"/>
          <a:ext cx="3355954" cy="1920240"/>
        </p:xfrm>
        <a:graphic>
          <a:graphicData uri="http://schemas.openxmlformats.org/drawingml/2006/table">
            <a:tbl>
              <a:tblPr/>
              <a:tblGrid>
                <a:gridCol w="941014">
                  <a:extLst>
                    <a:ext uri="{9D8B030D-6E8A-4147-A177-3AD203B41FA5}">
                      <a16:colId xmlns:a16="http://schemas.microsoft.com/office/drawing/2014/main" val="4086478781"/>
                    </a:ext>
                  </a:extLst>
                </a:gridCol>
                <a:gridCol w="2414940">
                  <a:extLst>
                    <a:ext uri="{9D8B030D-6E8A-4147-A177-3AD203B41FA5}">
                      <a16:colId xmlns:a16="http://schemas.microsoft.com/office/drawing/2014/main" val="3324281758"/>
                    </a:ext>
                  </a:extLst>
                </a:gridCol>
              </a:tblGrid>
              <a:tr h="0">
                <a:tc>
                  <a:txBody>
                    <a:bodyPr/>
                    <a:lstStyle/>
                    <a:p>
                      <a:pPr>
                        <a:buNone/>
                      </a:pPr>
                      <a:r>
                        <a:rPr lang="en-IN" sz="1200" b="1">
                          <a:solidFill>
                            <a:schemeClr val="bg2">
                              <a:lumMod val="25000"/>
                            </a:schemeClr>
                          </a:solidFill>
                          <a:latin typeface="Times New Roman" panose="02020603050405020304" pitchFamily="18" charset="0"/>
                          <a:cs typeface="Times New Roman" panose="02020603050405020304" pitchFamily="18" charset="0"/>
                        </a:rPr>
                        <a:t>Variable</a:t>
                      </a:r>
                    </a:p>
                  </a:txBody>
                  <a:tcPr anchor="ctr">
                    <a:lnL>
                      <a:noFill/>
                    </a:lnL>
                    <a:lnR>
                      <a:noFill/>
                    </a:lnR>
                    <a:lnT>
                      <a:noFill/>
                    </a:lnT>
                    <a:lnB>
                      <a:noFill/>
                    </a:lnB>
                    <a:noFill/>
                  </a:tcPr>
                </a:tc>
                <a:tc>
                  <a:txBody>
                    <a:bodyPr/>
                    <a:lstStyle/>
                    <a:p>
                      <a:pPr>
                        <a:buNone/>
                      </a:pPr>
                      <a:r>
                        <a:rPr lang="en-IN" sz="1200" b="1" dirty="0">
                          <a:solidFill>
                            <a:schemeClr val="bg2">
                              <a:lumMod val="25000"/>
                            </a:schemeClr>
                          </a:solidFill>
                          <a:latin typeface="Times New Roman" panose="02020603050405020304" pitchFamily="18" charset="0"/>
                          <a:cs typeface="Times New Roman" panose="02020603050405020304" pitchFamily="18" charset="0"/>
                        </a:rPr>
                        <a:t>Hydrological Meaning</a:t>
                      </a:r>
                    </a:p>
                  </a:txBody>
                  <a:tcPr anchor="ctr">
                    <a:lnL>
                      <a:noFill/>
                    </a:lnL>
                    <a:lnR>
                      <a:noFill/>
                    </a:lnR>
                    <a:lnT>
                      <a:noFill/>
                    </a:lnT>
                    <a:lnB>
                      <a:noFill/>
                    </a:lnB>
                    <a:noFill/>
                  </a:tcPr>
                </a:tc>
                <a:extLst>
                  <a:ext uri="{0D108BD9-81ED-4DB2-BD59-A6C34878D82A}">
                    <a16:rowId xmlns:a16="http://schemas.microsoft.com/office/drawing/2014/main" val="185345905"/>
                  </a:ext>
                </a:extLst>
              </a:tr>
              <a:tr h="0">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X60</a:t>
                      </a:r>
                    </a:p>
                  </a:txBody>
                  <a:tcPr anchor="ctr">
                    <a:lnL>
                      <a:noFill/>
                    </a:lnL>
                    <a:lnR>
                      <a:noFill/>
                    </a:lnR>
                    <a:lnT>
                      <a:noFill/>
                    </a:lnT>
                    <a:lnB>
                      <a:noFill/>
                    </a:lnB>
                    <a:noFill/>
                  </a:tcPr>
                </a:tc>
                <a:tc>
                  <a:txBody>
                    <a:bodyPr/>
                    <a:lstStyle/>
                    <a:p>
                      <a:pPr>
                        <a:buNone/>
                      </a:pPr>
                      <a:r>
                        <a:rPr lang="en-IN" sz="1200" dirty="0">
                          <a:solidFill>
                            <a:schemeClr val="bg2">
                              <a:lumMod val="25000"/>
                            </a:schemeClr>
                          </a:solidFill>
                          <a:latin typeface="Times New Roman" panose="02020603050405020304" pitchFamily="18" charset="0"/>
                          <a:cs typeface="Times New Roman" panose="02020603050405020304" pitchFamily="18" charset="0"/>
                        </a:rPr>
                        <a:t>Previous inflow (lag 1)</a:t>
                      </a:r>
                    </a:p>
                  </a:txBody>
                  <a:tcPr anchor="ctr">
                    <a:lnL>
                      <a:noFill/>
                    </a:lnL>
                    <a:lnR>
                      <a:noFill/>
                    </a:lnR>
                    <a:lnT>
                      <a:noFill/>
                    </a:lnT>
                    <a:lnB>
                      <a:noFill/>
                    </a:lnB>
                    <a:noFill/>
                  </a:tcPr>
                </a:tc>
                <a:extLst>
                  <a:ext uri="{0D108BD9-81ED-4DB2-BD59-A6C34878D82A}">
                    <a16:rowId xmlns:a16="http://schemas.microsoft.com/office/drawing/2014/main" val="3491959636"/>
                  </a:ext>
                </a:extLst>
              </a:tr>
              <a:tr h="0">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X61</a:t>
                      </a:r>
                    </a:p>
                  </a:txBody>
                  <a:tcPr anchor="ctr">
                    <a:lnL>
                      <a:noFill/>
                    </a:lnL>
                    <a:lnR>
                      <a:noFill/>
                    </a:lnR>
                    <a:lnT>
                      <a:noFill/>
                    </a:lnT>
                    <a:lnB>
                      <a:noFill/>
                    </a:lnB>
                    <a:noFill/>
                  </a:tcPr>
                </a:tc>
                <a:tc>
                  <a:txBody>
                    <a:bodyPr/>
                    <a:lstStyle/>
                    <a:p>
                      <a:pPr>
                        <a:buNone/>
                      </a:pPr>
                      <a:r>
                        <a:rPr lang="en-IN" sz="1200" dirty="0">
                          <a:solidFill>
                            <a:schemeClr val="bg2">
                              <a:lumMod val="25000"/>
                            </a:schemeClr>
                          </a:solidFill>
                          <a:latin typeface="Times New Roman" panose="02020603050405020304" pitchFamily="18" charset="0"/>
                          <a:cs typeface="Times New Roman" panose="02020603050405020304" pitchFamily="18" charset="0"/>
                        </a:rPr>
                        <a:t>Inflow trend (lag 1)</a:t>
                      </a:r>
                    </a:p>
                  </a:txBody>
                  <a:tcPr anchor="ctr">
                    <a:lnL>
                      <a:noFill/>
                    </a:lnL>
                    <a:lnR>
                      <a:noFill/>
                    </a:lnR>
                    <a:lnT>
                      <a:noFill/>
                    </a:lnT>
                    <a:lnB>
                      <a:noFill/>
                    </a:lnB>
                    <a:noFill/>
                  </a:tcPr>
                </a:tc>
                <a:extLst>
                  <a:ext uri="{0D108BD9-81ED-4DB2-BD59-A6C34878D82A}">
                    <a16:rowId xmlns:a16="http://schemas.microsoft.com/office/drawing/2014/main" val="3413535804"/>
                  </a:ext>
                </a:extLst>
              </a:tr>
              <a:tr h="0">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X50</a:t>
                      </a:r>
                    </a:p>
                  </a:txBody>
                  <a:tcPr anchor="ctr">
                    <a:lnL>
                      <a:noFill/>
                    </a:lnL>
                    <a:lnR>
                      <a:noFill/>
                    </a:lnR>
                    <a:lnT>
                      <a:noFill/>
                    </a:lnT>
                    <a:lnB>
                      <a:noFill/>
                    </a:lnB>
                    <a:noFill/>
                  </a:tcPr>
                </a:tc>
                <a:tc>
                  <a:txBody>
                    <a:bodyPr/>
                    <a:lstStyle/>
                    <a:p>
                      <a:pPr>
                        <a:buNone/>
                      </a:pPr>
                      <a:r>
                        <a:rPr lang="en-IN" sz="1200" dirty="0">
                          <a:solidFill>
                            <a:schemeClr val="bg2">
                              <a:lumMod val="25000"/>
                            </a:schemeClr>
                          </a:solidFill>
                          <a:latin typeface="Times New Roman" panose="02020603050405020304" pitchFamily="18" charset="0"/>
                          <a:cs typeface="Times New Roman" panose="02020603050405020304" pitchFamily="18" charset="0"/>
                        </a:rPr>
                        <a:t>Basin rainfall (lag 1)</a:t>
                      </a:r>
                    </a:p>
                  </a:txBody>
                  <a:tcPr anchor="ctr">
                    <a:lnL>
                      <a:noFill/>
                    </a:lnL>
                    <a:lnR>
                      <a:noFill/>
                    </a:lnR>
                    <a:lnT>
                      <a:noFill/>
                    </a:lnT>
                    <a:lnB>
                      <a:noFill/>
                    </a:lnB>
                    <a:noFill/>
                  </a:tcPr>
                </a:tc>
                <a:extLst>
                  <a:ext uri="{0D108BD9-81ED-4DB2-BD59-A6C34878D82A}">
                    <a16:rowId xmlns:a16="http://schemas.microsoft.com/office/drawing/2014/main" val="623644890"/>
                  </a:ext>
                </a:extLst>
              </a:tr>
              <a:tr h="0">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X53</a:t>
                      </a:r>
                    </a:p>
                  </a:txBody>
                  <a:tcPr anchor="ctr">
                    <a:lnL>
                      <a:noFill/>
                    </a:lnL>
                    <a:lnR>
                      <a:noFill/>
                    </a:lnR>
                    <a:lnT>
                      <a:noFill/>
                    </a:lnT>
                    <a:lnB>
                      <a:noFill/>
                    </a:lnB>
                    <a:noFill/>
                  </a:tcPr>
                </a:tc>
                <a:tc>
                  <a:txBody>
                    <a:bodyPr/>
                    <a:lstStyle/>
                    <a:p>
                      <a:pPr>
                        <a:buNone/>
                      </a:pPr>
                      <a:r>
                        <a:rPr lang="en-IN" sz="1200" dirty="0">
                          <a:solidFill>
                            <a:schemeClr val="bg2">
                              <a:lumMod val="25000"/>
                            </a:schemeClr>
                          </a:solidFill>
                          <a:latin typeface="Times New Roman" panose="02020603050405020304" pitchFamily="18" charset="0"/>
                          <a:cs typeface="Times New Roman" panose="02020603050405020304" pitchFamily="18" charset="0"/>
                        </a:rPr>
                        <a:t>5-day accumulated rainfall (lag 1)</a:t>
                      </a:r>
                    </a:p>
                  </a:txBody>
                  <a:tcPr anchor="ctr">
                    <a:lnL>
                      <a:noFill/>
                    </a:lnL>
                    <a:lnR>
                      <a:noFill/>
                    </a:lnR>
                    <a:lnT>
                      <a:noFill/>
                    </a:lnT>
                    <a:lnB>
                      <a:noFill/>
                    </a:lnB>
                    <a:noFill/>
                  </a:tcPr>
                </a:tc>
                <a:extLst>
                  <a:ext uri="{0D108BD9-81ED-4DB2-BD59-A6C34878D82A}">
                    <a16:rowId xmlns:a16="http://schemas.microsoft.com/office/drawing/2014/main" val="203294000"/>
                  </a:ext>
                </a:extLst>
              </a:tr>
              <a:tr h="0">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X154</a:t>
                      </a:r>
                    </a:p>
                  </a:txBody>
                  <a:tcPr anchor="ctr">
                    <a:lnL>
                      <a:noFill/>
                    </a:lnL>
                    <a:lnR>
                      <a:noFill/>
                    </a:lnR>
                    <a:lnT>
                      <a:noFill/>
                    </a:lnT>
                    <a:lnB>
                      <a:noFill/>
                    </a:lnB>
                    <a:noFill/>
                  </a:tcPr>
                </a:tc>
                <a:tc>
                  <a:txBody>
                    <a:bodyPr/>
                    <a:lstStyle/>
                    <a:p>
                      <a:pPr>
                        <a:buNone/>
                      </a:pPr>
                      <a:r>
                        <a:rPr lang="en-IN" sz="1200" dirty="0">
                          <a:solidFill>
                            <a:schemeClr val="bg2">
                              <a:lumMod val="25000"/>
                            </a:schemeClr>
                          </a:solidFill>
                          <a:latin typeface="Times New Roman" panose="02020603050405020304" pitchFamily="18" charset="0"/>
                          <a:cs typeface="Times New Roman" panose="02020603050405020304" pitchFamily="18" charset="0"/>
                        </a:rPr>
                        <a:t>Baseflow ( lag3)</a:t>
                      </a:r>
                    </a:p>
                  </a:txBody>
                  <a:tcPr anchor="ctr">
                    <a:lnL>
                      <a:noFill/>
                    </a:lnL>
                    <a:lnR>
                      <a:noFill/>
                    </a:lnR>
                    <a:lnT>
                      <a:noFill/>
                    </a:lnT>
                    <a:lnB>
                      <a:noFill/>
                    </a:lnB>
                    <a:noFill/>
                  </a:tcPr>
                </a:tc>
                <a:extLst>
                  <a:ext uri="{0D108BD9-81ED-4DB2-BD59-A6C34878D82A}">
                    <a16:rowId xmlns:a16="http://schemas.microsoft.com/office/drawing/2014/main" val="4175297583"/>
                  </a:ext>
                </a:extLst>
              </a:tr>
              <a:tr h="0">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X177</a:t>
                      </a:r>
                    </a:p>
                  </a:txBody>
                  <a:tcPr anchor="ctr">
                    <a:lnL>
                      <a:noFill/>
                    </a:lnL>
                    <a:lnR>
                      <a:noFill/>
                    </a:lnR>
                    <a:lnT>
                      <a:noFill/>
                    </a:lnT>
                    <a:lnB>
                      <a:noFill/>
                    </a:lnB>
                    <a:noFill/>
                  </a:tcPr>
                </a:tc>
                <a:tc>
                  <a:txBody>
                    <a:bodyPr/>
                    <a:lstStyle/>
                    <a:p>
                      <a:pPr>
                        <a:buNone/>
                      </a:pPr>
                      <a:r>
                        <a:rPr lang="en-IN" sz="1200" dirty="0">
                          <a:solidFill>
                            <a:schemeClr val="bg2">
                              <a:lumMod val="25000"/>
                            </a:schemeClr>
                          </a:solidFill>
                          <a:latin typeface="Times New Roman" panose="02020603050405020304" pitchFamily="18" charset="0"/>
                          <a:cs typeface="Times New Roman" panose="02020603050405020304" pitchFamily="18" charset="0"/>
                        </a:rPr>
                        <a:t>5 day accumulated rainfall (lag 3)</a:t>
                      </a:r>
                    </a:p>
                  </a:txBody>
                  <a:tcPr anchor="ctr">
                    <a:lnL>
                      <a:noFill/>
                    </a:lnL>
                    <a:lnR>
                      <a:noFill/>
                    </a:lnR>
                    <a:lnT>
                      <a:noFill/>
                    </a:lnT>
                    <a:lnB>
                      <a:noFill/>
                    </a:lnB>
                    <a:noFill/>
                  </a:tcPr>
                </a:tc>
                <a:extLst>
                  <a:ext uri="{0D108BD9-81ED-4DB2-BD59-A6C34878D82A}">
                    <a16:rowId xmlns:a16="http://schemas.microsoft.com/office/drawing/2014/main" val="3238560405"/>
                  </a:ext>
                </a:extLst>
              </a:tr>
            </a:tbl>
          </a:graphicData>
        </a:graphic>
      </p:graphicFrame>
      <p:sp>
        <p:nvSpPr>
          <p:cNvPr id="13" name="TextBox 12">
            <a:extLst>
              <a:ext uri="{FF2B5EF4-FFF2-40B4-BE49-F238E27FC236}">
                <a16:creationId xmlns:a16="http://schemas.microsoft.com/office/drawing/2014/main" id="{53C897A9-39FF-C80B-94E7-5D53735A6EA3}"/>
              </a:ext>
            </a:extLst>
          </p:cNvPr>
          <p:cNvSpPr txBox="1"/>
          <p:nvPr/>
        </p:nvSpPr>
        <p:spPr>
          <a:xfrm>
            <a:off x="420866" y="2848955"/>
            <a:ext cx="3527404" cy="1200329"/>
          </a:xfrm>
          <a:prstGeom prst="rect">
            <a:avLst/>
          </a:prstGeom>
          <a:noFill/>
        </p:spPr>
        <p:txBody>
          <a:bodyPr wrap="square">
            <a:spAutoFit/>
          </a:bodyPr>
          <a:lstStyle/>
          <a:p>
            <a:pPr>
              <a:buNone/>
            </a:pPr>
            <a:r>
              <a:rPr lang="en-US" sz="1200" b="1" dirty="0">
                <a:solidFill>
                  <a:schemeClr val="bg2">
                    <a:lumMod val="25000"/>
                  </a:schemeClr>
                </a:solidFill>
                <a:latin typeface="Times New Roman" panose="02020603050405020304" pitchFamily="18" charset="0"/>
                <a:cs typeface="Times New Roman" panose="02020603050405020304" pitchFamily="18" charset="0"/>
              </a:rPr>
              <a:t>Final Model Characteristics</a:t>
            </a:r>
          </a:p>
          <a:p>
            <a:pPr>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Best symbolic equation: </a:t>
            </a:r>
          </a:p>
          <a:p>
            <a:pPr marL="742950" lvl="1" indent="-285750">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44-node mathematical expression </a:t>
            </a:r>
          </a:p>
          <a:p>
            <a:pPr>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Selected based on: </a:t>
            </a:r>
          </a:p>
          <a:p>
            <a:pPr marL="742950" lvl="1" indent="-285750">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Maximum testing R² </a:t>
            </a:r>
          </a:p>
          <a:p>
            <a:pPr marL="742950" lvl="1" indent="-285750">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Minimum complexity penalty</a:t>
            </a:r>
          </a:p>
        </p:txBody>
      </p:sp>
    </p:spTree>
    <p:extLst>
      <p:ext uri="{BB962C8B-B14F-4D97-AF65-F5344CB8AC3E}">
        <p14:creationId xmlns:p14="http://schemas.microsoft.com/office/powerpoint/2010/main" val="23265664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710D3012-19DB-B6CC-5ED3-1323C93D9E01}"/>
              </a:ext>
            </a:extLst>
          </p:cNvPr>
          <p:cNvSpPr/>
          <p:nvPr/>
        </p:nvSpPr>
        <p:spPr>
          <a:xfrm>
            <a:off x="0" y="0"/>
            <a:ext cx="9144000" cy="658368"/>
          </a:xfrm>
          <a:prstGeom prst="rect">
            <a:avLst/>
          </a:prstGeom>
          <a:solidFill>
            <a:srgbClr val="1E88E5"/>
          </a:solidFill>
          <a:ln w="12700">
            <a:solidFill>
              <a:srgbClr val="1E88E5"/>
            </a:solidFill>
            <a:prstDash val="solid"/>
          </a:ln>
        </p:spPr>
        <p:txBody>
          <a:bodyPr/>
          <a:lstStyle/>
          <a:p>
            <a:endParaRPr lang="en-IN"/>
          </a:p>
        </p:txBody>
      </p:sp>
      <p:sp>
        <p:nvSpPr>
          <p:cNvPr id="3" name="Shape 1">
            <a:extLst>
              <a:ext uri="{FF2B5EF4-FFF2-40B4-BE49-F238E27FC236}">
                <a16:creationId xmlns:a16="http://schemas.microsoft.com/office/drawing/2014/main" id="{A52BC980-DE43-4B84-C534-2DC312D2ACA4}"/>
              </a:ext>
            </a:extLst>
          </p:cNvPr>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4" name="Text 2">
            <a:extLst>
              <a:ext uri="{FF2B5EF4-FFF2-40B4-BE49-F238E27FC236}">
                <a16:creationId xmlns:a16="http://schemas.microsoft.com/office/drawing/2014/main" id="{64C7B3F7-5F21-6CF2-B945-EB87AB481EE9}"/>
              </a:ext>
            </a:extLst>
          </p:cNvPr>
          <p:cNvSpPr/>
          <p:nvPr/>
        </p:nvSpPr>
        <p:spPr>
          <a:xfrm>
            <a:off x="274320" y="0"/>
            <a:ext cx="8595360" cy="658368"/>
          </a:xfrm>
          <a:prstGeom prst="rect">
            <a:avLst/>
          </a:prstGeom>
          <a:noFill/>
          <a:ln/>
        </p:spPr>
        <p:txBody>
          <a:bodyPr wrap="square" lIns="0" tIns="0" rIns="0" bIns="0" rtlCol="0" anchor="ctr"/>
          <a:lstStyle/>
          <a:p>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07  |  Results &amp; Discussion - Genetic Programming </a:t>
            </a:r>
            <a:endParaRPr lang="en-US" sz="22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C2D1575A-B2F4-EC83-E9D0-EF83716E17A7}"/>
              </a:ext>
            </a:extLst>
          </p:cNvPr>
          <p:cNvGraphicFramePr>
            <a:graphicFrameLocks noGrp="1"/>
          </p:cNvGraphicFramePr>
          <p:nvPr>
            <p:extLst>
              <p:ext uri="{D42A27DB-BD31-4B8C-83A1-F6EECF244321}">
                <p14:modId xmlns:p14="http://schemas.microsoft.com/office/powerpoint/2010/main" val="4287738945"/>
              </p:ext>
            </p:extLst>
          </p:nvPr>
        </p:nvGraphicFramePr>
        <p:xfrm>
          <a:off x="628651" y="1811843"/>
          <a:ext cx="4373301" cy="1920240"/>
        </p:xfrm>
        <a:graphic>
          <a:graphicData uri="http://schemas.openxmlformats.org/drawingml/2006/table">
            <a:tbl>
              <a:tblPr>
                <a:tableStyleId>{BDBED569-4797-4DF1-A0F4-6AAB3CD982D8}</a:tableStyleId>
              </a:tblPr>
              <a:tblGrid>
                <a:gridCol w="1457767">
                  <a:extLst>
                    <a:ext uri="{9D8B030D-6E8A-4147-A177-3AD203B41FA5}">
                      <a16:colId xmlns:a16="http://schemas.microsoft.com/office/drawing/2014/main" val="2756981074"/>
                    </a:ext>
                  </a:extLst>
                </a:gridCol>
                <a:gridCol w="1457767">
                  <a:extLst>
                    <a:ext uri="{9D8B030D-6E8A-4147-A177-3AD203B41FA5}">
                      <a16:colId xmlns:a16="http://schemas.microsoft.com/office/drawing/2014/main" val="4024019144"/>
                    </a:ext>
                  </a:extLst>
                </a:gridCol>
                <a:gridCol w="1457767">
                  <a:extLst>
                    <a:ext uri="{9D8B030D-6E8A-4147-A177-3AD203B41FA5}">
                      <a16:colId xmlns:a16="http://schemas.microsoft.com/office/drawing/2014/main" val="1991190930"/>
                    </a:ext>
                  </a:extLst>
                </a:gridCol>
              </a:tblGrid>
              <a:tr h="0">
                <a:tc>
                  <a:txBody>
                    <a:bodyPr/>
                    <a:lstStyle/>
                    <a:p>
                      <a:pPr>
                        <a:buNone/>
                      </a:pPr>
                      <a:r>
                        <a:rPr lang="en-IN" sz="1200" b="1" dirty="0">
                          <a:solidFill>
                            <a:schemeClr val="bg2">
                              <a:lumMod val="25000"/>
                            </a:schemeClr>
                          </a:solidFill>
                          <a:latin typeface="Times New Roman" panose="02020603050405020304" pitchFamily="18" charset="0"/>
                          <a:cs typeface="Times New Roman" panose="02020603050405020304" pitchFamily="18" charset="0"/>
                        </a:rPr>
                        <a:t>Metric</a:t>
                      </a:r>
                    </a:p>
                  </a:txBody>
                  <a:tcPr anchor="ctr"/>
                </a:tc>
                <a:tc>
                  <a:txBody>
                    <a:bodyPr/>
                    <a:lstStyle/>
                    <a:p>
                      <a:pPr>
                        <a:buNone/>
                      </a:pPr>
                      <a:r>
                        <a:rPr lang="en-IN" sz="1200" b="1">
                          <a:solidFill>
                            <a:schemeClr val="bg2">
                              <a:lumMod val="25000"/>
                            </a:schemeClr>
                          </a:solidFill>
                          <a:latin typeface="Times New Roman" panose="02020603050405020304" pitchFamily="18" charset="0"/>
                          <a:cs typeface="Times New Roman" panose="02020603050405020304" pitchFamily="18" charset="0"/>
                        </a:rPr>
                        <a:t>Training</a:t>
                      </a:r>
                    </a:p>
                  </a:txBody>
                  <a:tcPr anchor="ctr"/>
                </a:tc>
                <a:tc>
                  <a:txBody>
                    <a:bodyPr/>
                    <a:lstStyle/>
                    <a:p>
                      <a:pPr>
                        <a:buNone/>
                      </a:pPr>
                      <a:r>
                        <a:rPr lang="en-IN" sz="1200" b="1" dirty="0">
                          <a:solidFill>
                            <a:schemeClr val="bg2">
                              <a:lumMod val="25000"/>
                            </a:schemeClr>
                          </a:solidFill>
                          <a:latin typeface="Times New Roman" panose="02020603050405020304" pitchFamily="18" charset="0"/>
                          <a:cs typeface="Times New Roman" panose="02020603050405020304" pitchFamily="18" charset="0"/>
                        </a:rPr>
                        <a:t>Testing</a:t>
                      </a:r>
                    </a:p>
                  </a:txBody>
                  <a:tcPr anchor="ctr"/>
                </a:tc>
                <a:extLst>
                  <a:ext uri="{0D108BD9-81ED-4DB2-BD59-A6C34878D82A}">
                    <a16:rowId xmlns:a16="http://schemas.microsoft.com/office/drawing/2014/main" val="2817204205"/>
                  </a:ext>
                </a:extLst>
              </a:tr>
              <a:tr h="0">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RMSE</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1,04,176.75</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1,52,361.95</a:t>
                      </a:r>
                    </a:p>
                  </a:txBody>
                  <a:tcPr anchor="ctr"/>
                </a:tc>
                <a:extLst>
                  <a:ext uri="{0D108BD9-81ED-4DB2-BD59-A6C34878D82A}">
                    <a16:rowId xmlns:a16="http://schemas.microsoft.com/office/drawing/2014/main" val="247501945"/>
                  </a:ext>
                </a:extLst>
              </a:tr>
              <a:tr h="0">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MAE</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60,345.95</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80,227.66</a:t>
                      </a:r>
                    </a:p>
                  </a:txBody>
                  <a:tcPr anchor="ctr"/>
                </a:tc>
                <a:extLst>
                  <a:ext uri="{0D108BD9-81ED-4DB2-BD59-A6C34878D82A}">
                    <a16:rowId xmlns:a16="http://schemas.microsoft.com/office/drawing/2014/main" val="1093602143"/>
                  </a:ext>
                </a:extLst>
              </a:tr>
              <a:tr h="0">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R²</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0.915</a:t>
                      </a:r>
                    </a:p>
                  </a:txBody>
                  <a:tcPr anchor="ctr"/>
                </a:tc>
                <a:tc>
                  <a:txBody>
                    <a:bodyPr/>
                    <a:lstStyle/>
                    <a:p>
                      <a:pPr>
                        <a:buNone/>
                      </a:pPr>
                      <a:r>
                        <a:rPr lang="en-IN" sz="1200" dirty="0">
                          <a:solidFill>
                            <a:schemeClr val="bg2">
                              <a:lumMod val="25000"/>
                            </a:schemeClr>
                          </a:solidFill>
                          <a:latin typeface="Times New Roman" panose="02020603050405020304" pitchFamily="18" charset="0"/>
                          <a:cs typeface="Times New Roman" panose="02020603050405020304" pitchFamily="18" charset="0"/>
                        </a:rPr>
                        <a:t>0.867</a:t>
                      </a:r>
                    </a:p>
                  </a:txBody>
                  <a:tcPr anchor="ctr"/>
                </a:tc>
                <a:extLst>
                  <a:ext uri="{0D108BD9-81ED-4DB2-BD59-A6C34878D82A}">
                    <a16:rowId xmlns:a16="http://schemas.microsoft.com/office/drawing/2014/main" val="3810618570"/>
                  </a:ext>
                </a:extLst>
              </a:tr>
              <a:tr h="0">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NSE</a:t>
                      </a:r>
                    </a:p>
                  </a:txBody>
                  <a:tcPr anchor="ctr"/>
                </a:tc>
                <a:tc>
                  <a:txBody>
                    <a:bodyPr/>
                    <a:lstStyle/>
                    <a:p>
                      <a:pPr>
                        <a:buNone/>
                      </a:pPr>
                      <a:r>
                        <a:rPr lang="en-IN" sz="1200" dirty="0">
                          <a:solidFill>
                            <a:schemeClr val="bg2">
                              <a:lumMod val="25000"/>
                            </a:schemeClr>
                          </a:solidFill>
                          <a:latin typeface="Times New Roman" panose="02020603050405020304" pitchFamily="18" charset="0"/>
                          <a:cs typeface="Times New Roman" panose="02020603050405020304" pitchFamily="18" charset="0"/>
                        </a:rPr>
                        <a:t>0.915</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0.867</a:t>
                      </a:r>
                    </a:p>
                  </a:txBody>
                  <a:tcPr anchor="ctr"/>
                </a:tc>
                <a:extLst>
                  <a:ext uri="{0D108BD9-81ED-4DB2-BD59-A6C34878D82A}">
                    <a16:rowId xmlns:a16="http://schemas.microsoft.com/office/drawing/2014/main" val="2835013221"/>
                  </a:ext>
                </a:extLst>
              </a:tr>
              <a:tr h="0">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Bias</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1,616</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8,110</a:t>
                      </a:r>
                    </a:p>
                  </a:txBody>
                  <a:tcPr anchor="ctr"/>
                </a:tc>
                <a:extLst>
                  <a:ext uri="{0D108BD9-81ED-4DB2-BD59-A6C34878D82A}">
                    <a16:rowId xmlns:a16="http://schemas.microsoft.com/office/drawing/2014/main" val="1245021043"/>
                  </a:ext>
                </a:extLst>
              </a:tr>
              <a:tr h="0">
                <a:tc>
                  <a:txBody>
                    <a:bodyPr/>
                    <a:lstStyle/>
                    <a:p>
                      <a:pPr>
                        <a:buNone/>
                      </a:pPr>
                      <a:r>
                        <a:rPr lang="en-IN" sz="1200" dirty="0">
                          <a:solidFill>
                            <a:schemeClr val="bg2">
                              <a:lumMod val="25000"/>
                            </a:schemeClr>
                          </a:solidFill>
                          <a:latin typeface="Times New Roman" panose="02020603050405020304" pitchFamily="18" charset="0"/>
                          <a:cs typeface="Times New Roman" panose="02020603050405020304" pitchFamily="18" charset="0"/>
                        </a:rPr>
                        <a:t>Correlation</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0.9566</a:t>
                      </a:r>
                    </a:p>
                  </a:txBody>
                  <a:tcPr anchor="ctr"/>
                </a:tc>
                <a:tc>
                  <a:txBody>
                    <a:bodyPr/>
                    <a:lstStyle/>
                    <a:p>
                      <a:pPr>
                        <a:buNone/>
                      </a:pPr>
                      <a:r>
                        <a:rPr lang="en-IN" sz="1200" dirty="0">
                          <a:solidFill>
                            <a:schemeClr val="bg2">
                              <a:lumMod val="25000"/>
                            </a:schemeClr>
                          </a:solidFill>
                          <a:latin typeface="Times New Roman" panose="02020603050405020304" pitchFamily="18" charset="0"/>
                          <a:cs typeface="Times New Roman" panose="02020603050405020304" pitchFamily="18" charset="0"/>
                        </a:rPr>
                        <a:t>0.9337</a:t>
                      </a:r>
                    </a:p>
                  </a:txBody>
                  <a:tcPr anchor="ctr"/>
                </a:tc>
                <a:extLst>
                  <a:ext uri="{0D108BD9-81ED-4DB2-BD59-A6C34878D82A}">
                    <a16:rowId xmlns:a16="http://schemas.microsoft.com/office/drawing/2014/main" val="498503336"/>
                  </a:ext>
                </a:extLst>
              </a:tr>
            </a:tbl>
          </a:graphicData>
        </a:graphic>
      </p:graphicFrame>
      <p:sp>
        <p:nvSpPr>
          <p:cNvPr id="7" name="TextBox 6">
            <a:extLst>
              <a:ext uri="{FF2B5EF4-FFF2-40B4-BE49-F238E27FC236}">
                <a16:creationId xmlns:a16="http://schemas.microsoft.com/office/drawing/2014/main" id="{9157F966-E246-920D-7D8F-3441CBA4B256}"/>
              </a:ext>
            </a:extLst>
          </p:cNvPr>
          <p:cNvSpPr txBox="1"/>
          <p:nvPr/>
        </p:nvSpPr>
        <p:spPr>
          <a:xfrm>
            <a:off x="628651" y="1225793"/>
            <a:ext cx="4578056" cy="307777"/>
          </a:xfrm>
          <a:prstGeom prst="rect">
            <a:avLst/>
          </a:prstGeom>
          <a:noFill/>
        </p:spPr>
        <p:txBody>
          <a:bodyPr wrap="square">
            <a:spAutoFit/>
          </a:bodyPr>
          <a:lstStyle/>
          <a:p>
            <a:r>
              <a:rPr lang="en-IN" sz="1400" b="1" dirty="0">
                <a:solidFill>
                  <a:schemeClr val="bg2">
                    <a:lumMod val="25000"/>
                  </a:schemeClr>
                </a:solidFill>
                <a:latin typeface="Times New Roman" panose="02020603050405020304" pitchFamily="18" charset="0"/>
                <a:cs typeface="Times New Roman" panose="02020603050405020304" pitchFamily="18" charset="0"/>
              </a:rPr>
              <a:t>GP Model Performance</a:t>
            </a:r>
          </a:p>
        </p:txBody>
      </p:sp>
      <p:sp>
        <p:nvSpPr>
          <p:cNvPr id="9" name="TextBox 8">
            <a:extLst>
              <a:ext uri="{FF2B5EF4-FFF2-40B4-BE49-F238E27FC236}">
                <a16:creationId xmlns:a16="http://schemas.microsoft.com/office/drawing/2014/main" id="{A9F1001B-4A88-134B-FA82-9F2E72F80388}"/>
              </a:ext>
            </a:extLst>
          </p:cNvPr>
          <p:cNvSpPr txBox="1"/>
          <p:nvPr/>
        </p:nvSpPr>
        <p:spPr>
          <a:xfrm>
            <a:off x="5758902" y="1793091"/>
            <a:ext cx="2836630" cy="1938992"/>
          </a:xfrm>
          <a:prstGeom prst="rect">
            <a:avLst/>
          </a:prstGeom>
          <a:noFill/>
        </p:spPr>
        <p:txBody>
          <a:bodyPr wrap="square">
            <a:spAutoFit/>
          </a:bodyPr>
          <a:lstStyle/>
          <a:p>
            <a:pPr>
              <a:buNone/>
            </a:pPr>
            <a:r>
              <a:rPr lang="en-IN" sz="1200" b="1" dirty="0">
                <a:solidFill>
                  <a:schemeClr val="bg2">
                    <a:lumMod val="25000"/>
                  </a:schemeClr>
                </a:solidFill>
                <a:latin typeface="Times New Roman" panose="02020603050405020304" pitchFamily="18" charset="0"/>
                <a:cs typeface="Times New Roman" panose="02020603050405020304" pitchFamily="18" charset="0"/>
              </a:rPr>
              <a:t>Performance Category</a:t>
            </a:r>
          </a:p>
          <a:p>
            <a:pPr>
              <a:buFont typeface="Arial" panose="020B0604020202020204" pitchFamily="34" charset="0"/>
              <a:buChar char="•"/>
            </a:pPr>
            <a:r>
              <a:rPr lang="en-IN" sz="1200" dirty="0">
                <a:solidFill>
                  <a:schemeClr val="bg2">
                    <a:lumMod val="25000"/>
                  </a:schemeClr>
                </a:solidFill>
                <a:latin typeface="Times New Roman" panose="02020603050405020304" pitchFamily="18" charset="0"/>
                <a:cs typeface="Times New Roman" panose="02020603050405020304" pitchFamily="18" charset="0"/>
              </a:rPr>
              <a:t>According to Moriasi et al. (2007): </a:t>
            </a:r>
          </a:p>
          <a:p>
            <a:pPr marL="742950" lvl="1" indent="-285750">
              <a:buFont typeface="Arial" panose="020B0604020202020204" pitchFamily="34" charset="0"/>
              <a:buChar char="•"/>
            </a:pPr>
            <a:r>
              <a:rPr lang="en-IN" sz="1200" dirty="0">
                <a:solidFill>
                  <a:schemeClr val="bg2">
                    <a:lumMod val="25000"/>
                  </a:schemeClr>
                </a:solidFill>
                <a:latin typeface="Times New Roman" panose="02020603050405020304" pitchFamily="18" charset="0"/>
                <a:cs typeface="Times New Roman" panose="02020603050405020304" pitchFamily="18" charset="0"/>
              </a:rPr>
              <a:t>R² ≥ 0.85 → Very Good </a:t>
            </a:r>
          </a:p>
          <a:p>
            <a:pPr>
              <a:buNone/>
            </a:pPr>
            <a:r>
              <a:rPr lang="en-IN" sz="1200" b="1" dirty="0">
                <a:solidFill>
                  <a:schemeClr val="bg2">
                    <a:lumMod val="25000"/>
                  </a:schemeClr>
                </a:solidFill>
                <a:latin typeface="Times New Roman" panose="02020603050405020304" pitchFamily="18" charset="0"/>
                <a:cs typeface="Times New Roman" panose="02020603050405020304" pitchFamily="18" charset="0"/>
              </a:rPr>
              <a:t>Key Findings</a:t>
            </a:r>
          </a:p>
          <a:p>
            <a:pPr>
              <a:buFont typeface="Arial" panose="020B0604020202020204" pitchFamily="34" charset="0"/>
              <a:buChar char="•"/>
            </a:pPr>
            <a:r>
              <a:rPr lang="en-IN" sz="1200" dirty="0">
                <a:solidFill>
                  <a:schemeClr val="bg2">
                    <a:lumMod val="25000"/>
                  </a:schemeClr>
                </a:solidFill>
                <a:latin typeface="Times New Roman" panose="02020603050405020304" pitchFamily="18" charset="0"/>
                <a:cs typeface="Times New Roman" panose="02020603050405020304" pitchFamily="18" charset="0"/>
              </a:rPr>
              <a:t>Excellent testing performance </a:t>
            </a:r>
          </a:p>
          <a:p>
            <a:pPr>
              <a:buFont typeface="Arial" panose="020B0604020202020204" pitchFamily="34" charset="0"/>
              <a:buChar char="•"/>
            </a:pPr>
            <a:r>
              <a:rPr lang="en-IN" sz="1200" dirty="0">
                <a:solidFill>
                  <a:schemeClr val="bg2">
                    <a:lumMod val="25000"/>
                  </a:schemeClr>
                </a:solidFill>
                <a:latin typeface="Times New Roman" panose="02020603050405020304" pitchFamily="18" charset="0"/>
                <a:cs typeface="Times New Roman" panose="02020603050405020304" pitchFamily="18" charset="0"/>
              </a:rPr>
              <a:t>Very small train-test gap: </a:t>
            </a:r>
          </a:p>
          <a:p>
            <a:pPr marL="742950" lvl="1" indent="-285750">
              <a:buFont typeface="Arial" panose="020B0604020202020204" pitchFamily="34" charset="0"/>
              <a:buChar char="•"/>
            </a:pPr>
            <a:r>
              <a:rPr lang="el-GR" sz="1200" dirty="0">
                <a:solidFill>
                  <a:schemeClr val="bg2">
                    <a:lumMod val="25000"/>
                  </a:schemeClr>
                </a:solidFill>
                <a:latin typeface="Times New Roman" panose="02020603050405020304" pitchFamily="18" charset="0"/>
                <a:cs typeface="Times New Roman" panose="02020603050405020304" pitchFamily="18" charset="0"/>
              </a:rPr>
              <a:t>Δ</a:t>
            </a:r>
            <a:r>
              <a:rPr lang="en-IN" sz="1200" dirty="0">
                <a:solidFill>
                  <a:schemeClr val="bg2">
                    <a:lumMod val="25000"/>
                  </a:schemeClr>
                </a:solidFill>
                <a:latin typeface="Times New Roman" panose="02020603050405020304" pitchFamily="18" charset="0"/>
                <a:cs typeface="Times New Roman" panose="02020603050405020304" pitchFamily="18" charset="0"/>
              </a:rPr>
              <a:t>R² = 0.048 </a:t>
            </a:r>
          </a:p>
          <a:p>
            <a:pPr>
              <a:buFont typeface="Arial" panose="020B0604020202020204" pitchFamily="34" charset="0"/>
              <a:buChar char="•"/>
            </a:pPr>
            <a:r>
              <a:rPr lang="en-IN" sz="1200" b="1" dirty="0">
                <a:solidFill>
                  <a:schemeClr val="bg2">
                    <a:lumMod val="25000"/>
                  </a:schemeClr>
                </a:solidFill>
                <a:latin typeface="Times New Roman" panose="02020603050405020304" pitchFamily="18" charset="0"/>
                <a:cs typeface="Times New Roman" panose="02020603050405020304" pitchFamily="18" charset="0"/>
              </a:rPr>
              <a:t>Indicates:</a:t>
            </a:r>
            <a:r>
              <a:rPr lang="en-IN" sz="1200" dirty="0">
                <a:solidFill>
                  <a:schemeClr val="bg2">
                    <a:lumMod val="25000"/>
                  </a:schemeClr>
                </a:solidFill>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IN" sz="1200" dirty="0">
                <a:solidFill>
                  <a:schemeClr val="bg2">
                    <a:lumMod val="25000"/>
                  </a:schemeClr>
                </a:solidFill>
                <a:latin typeface="Times New Roman" panose="02020603050405020304" pitchFamily="18" charset="0"/>
                <a:cs typeface="Times New Roman" panose="02020603050405020304" pitchFamily="18" charset="0"/>
              </a:rPr>
              <a:t>Strong generalization </a:t>
            </a:r>
          </a:p>
          <a:p>
            <a:pPr marL="742950" lvl="1" indent="-285750">
              <a:buFont typeface="Arial" panose="020B0604020202020204" pitchFamily="34" charset="0"/>
              <a:buChar char="•"/>
            </a:pPr>
            <a:r>
              <a:rPr lang="en-IN" sz="1200" dirty="0">
                <a:solidFill>
                  <a:schemeClr val="bg2">
                    <a:lumMod val="25000"/>
                  </a:schemeClr>
                </a:solidFill>
                <a:latin typeface="Times New Roman" panose="02020603050405020304" pitchFamily="18" charset="0"/>
                <a:cs typeface="Times New Roman" panose="02020603050405020304" pitchFamily="18" charset="0"/>
              </a:rPr>
              <a:t>Negligible overfitting</a:t>
            </a:r>
          </a:p>
        </p:txBody>
      </p:sp>
    </p:spTree>
    <p:extLst>
      <p:ext uri="{BB962C8B-B14F-4D97-AF65-F5344CB8AC3E}">
        <p14:creationId xmlns:p14="http://schemas.microsoft.com/office/powerpoint/2010/main" val="19115246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68204985-677D-D37F-9D10-998B1B1AC81C}"/>
              </a:ext>
            </a:extLst>
          </p:cNvPr>
          <p:cNvSpPr/>
          <p:nvPr/>
        </p:nvSpPr>
        <p:spPr>
          <a:xfrm>
            <a:off x="0" y="0"/>
            <a:ext cx="9144000" cy="658368"/>
          </a:xfrm>
          <a:prstGeom prst="rect">
            <a:avLst/>
          </a:prstGeom>
          <a:solidFill>
            <a:srgbClr val="1E88E5"/>
          </a:solidFill>
          <a:ln w="12700">
            <a:solidFill>
              <a:srgbClr val="1E88E5"/>
            </a:solidFill>
            <a:prstDash val="solid"/>
          </a:ln>
        </p:spPr>
        <p:txBody>
          <a:bodyPr/>
          <a:lstStyle/>
          <a:p>
            <a:endParaRPr lang="en-IN"/>
          </a:p>
        </p:txBody>
      </p:sp>
      <p:sp>
        <p:nvSpPr>
          <p:cNvPr id="3" name="Shape 1">
            <a:extLst>
              <a:ext uri="{FF2B5EF4-FFF2-40B4-BE49-F238E27FC236}">
                <a16:creationId xmlns:a16="http://schemas.microsoft.com/office/drawing/2014/main" id="{966E0EB9-60AA-2A1C-609D-8FD1E4B920AD}"/>
              </a:ext>
            </a:extLst>
          </p:cNvPr>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4" name="Text 2">
            <a:extLst>
              <a:ext uri="{FF2B5EF4-FFF2-40B4-BE49-F238E27FC236}">
                <a16:creationId xmlns:a16="http://schemas.microsoft.com/office/drawing/2014/main" id="{784344AE-CC02-9E39-1295-72D6AE4B37F3}"/>
              </a:ext>
            </a:extLst>
          </p:cNvPr>
          <p:cNvSpPr/>
          <p:nvPr/>
        </p:nvSpPr>
        <p:spPr>
          <a:xfrm>
            <a:off x="274320" y="0"/>
            <a:ext cx="8595360" cy="658368"/>
          </a:xfrm>
          <a:prstGeom prst="rect">
            <a:avLst/>
          </a:prstGeom>
          <a:noFill/>
          <a:ln/>
        </p:spPr>
        <p:txBody>
          <a:bodyPr wrap="square" lIns="0" tIns="0" rIns="0" bIns="0" rtlCol="0" anchor="ctr"/>
          <a:lstStyle/>
          <a:p>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07  |  Results &amp; Discussion - Genetic Programming </a:t>
            </a:r>
            <a:endParaRPr lang="en-US" sz="2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A59FE8E-EF30-5975-8D98-16B120290A4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9287"/>
          <a:stretch>
            <a:fillRect/>
          </a:stretch>
        </p:blipFill>
        <p:spPr bwMode="auto">
          <a:xfrm>
            <a:off x="219819" y="2263591"/>
            <a:ext cx="8751948" cy="1814071"/>
          </a:xfrm>
          <a:prstGeom prst="rect">
            <a:avLst/>
          </a:prstGeom>
          <a:noFill/>
          <a:ln>
            <a:noFill/>
          </a:ln>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0722D74A-E831-7CA2-269C-18C3C9B686CD}"/>
              </a:ext>
            </a:extLst>
          </p:cNvPr>
          <p:cNvSpPr txBox="1"/>
          <p:nvPr/>
        </p:nvSpPr>
        <p:spPr>
          <a:xfrm>
            <a:off x="2282972" y="4297888"/>
            <a:ext cx="4578056" cy="276999"/>
          </a:xfrm>
          <a:prstGeom prst="rect">
            <a:avLst/>
          </a:prstGeom>
          <a:noFill/>
        </p:spPr>
        <p:txBody>
          <a:bodyPr wrap="square">
            <a:spAutoFit/>
          </a:bodyPr>
          <a:lstStyle/>
          <a:p>
            <a:r>
              <a:rPr lang="en-US" sz="1200" i="1" dirty="0">
                <a:latin typeface="Times New Roman" panose="02020603050405020304" pitchFamily="18" charset="0"/>
                <a:cs typeface="Times New Roman" panose="02020603050405020304" pitchFamily="18" charset="0"/>
              </a:rPr>
              <a:t>Training Phase - Observed (blue) vs GP Predicted Inflow(orange)</a:t>
            </a:r>
            <a:endParaRPr lang="en-IN" sz="1200" i="1" dirty="0">
              <a:latin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09B80330-BF84-6037-A512-E4115F5773DF}"/>
              </a:ext>
            </a:extLst>
          </p:cNvPr>
          <p:cNvSpPr>
            <a:spLocks noChangeArrowheads="1"/>
          </p:cNvSpPr>
          <p:nvPr/>
        </p:nvSpPr>
        <p:spPr bwMode="auto">
          <a:xfrm>
            <a:off x="427107" y="1158718"/>
            <a:ext cx="776010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chemeClr val="bg2">
                    <a:lumMod val="25000"/>
                  </a:schemeClr>
                </a:solidFill>
                <a:effectLst/>
                <a:latin typeface="Times New Roman" panose="02020603050405020304" pitchFamily="18" charset="0"/>
                <a:cs typeface="Times New Roman" panose="02020603050405020304" pitchFamily="18" charset="0"/>
              </a:rPr>
              <a:t>The GP model accurately captured overall basin hydrology, including low flows, high flows, and seasonal monsoon variability, achieving strong training performance with R² = 0.915, NSE = 0.915, and RMSE = 1,04,177 cusecs.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chemeClr val="bg2">
                    <a:lumMod val="25000"/>
                  </a:schemeClr>
                </a:solidFill>
                <a:effectLst/>
                <a:latin typeface="Times New Roman" panose="02020603050405020304" pitchFamily="18" charset="0"/>
                <a:cs typeface="Times New Roman" panose="02020603050405020304" pitchFamily="18" charset="0"/>
              </a:rPr>
              <a:t>The model successfully reproduced major flood events, including the 2006 peak monsoon inflow, with only ~7.2% prediction error, demonstrating excellent capability in simulating rainfall–runoff dynamics. </a:t>
            </a:r>
          </a:p>
        </p:txBody>
      </p:sp>
    </p:spTree>
    <p:extLst>
      <p:ext uri="{BB962C8B-B14F-4D97-AF65-F5344CB8AC3E}">
        <p14:creationId xmlns:p14="http://schemas.microsoft.com/office/powerpoint/2010/main" val="39902816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5557E129-1854-851C-D5CE-21903FABA583}"/>
              </a:ext>
            </a:extLst>
          </p:cNvPr>
          <p:cNvSpPr/>
          <p:nvPr/>
        </p:nvSpPr>
        <p:spPr>
          <a:xfrm>
            <a:off x="0" y="0"/>
            <a:ext cx="9144000" cy="658368"/>
          </a:xfrm>
          <a:prstGeom prst="rect">
            <a:avLst/>
          </a:prstGeom>
          <a:solidFill>
            <a:srgbClr val="1E88E5"/>
          </a:solidFill>
          <a:ln w="12700">
            <a:solidFill>
              <a:srgbClr val="1E88E5"/>
            </a:solidFill>
            <a:prstDash val="solid"/>
          </a:ln>
        </p:spPr>
        <p:txBody>
          <a:bodyPr/>
          <a:lstStyle/>
          <a:p>
            <a:endParaRPr lang="en-IN"/>
          </a:p>
        </p:txBody>
      </p:sp>
      <p:sp>
        <p:nvSpPr>
          <p:cNvPr id="3" name="Shape 1">
            <a:extLst>
              <a:ext uri="{FF2B5EF4-FFF2-40B4-BE49-F238E27FC236}">
                <a16:creationId xmlns:a16="http://schemas.microsoft.com/office/drawing/2014/main" id="{7449445B-9349-9AF5-0A35-1904F5D80768}"/>
              </a:ext>
            </a:extLst>
          </p:cNvPr>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4" name="Text 2">
            <a:extLst>
              <a:ext uri="{FF2B5EF4-FFF2-40B4-BE49-F238E27FC236}">
                <a16:creationId xmlns:a16="http://schemas.microsoft.com/office/drawing/2014/main" id="{AFEDC2E9-8E52-12E2-B44B-5865E08B5268}"/>
              </a:ext>
            </a:extLst>
          </p:cNvPr>
          <p:cNvSpPr/>
          <p:nvPr/>
        </p:nvSpPr>
        <p:spPr>
          <a:xfrm>
            <a:off x="274320" y="0"/>
            <a:ext cx="8595360" cy="658368"/>
          </a:xfrm>
          <a:prstGeom prst="rect">
            <a:avLst/>
          </a:prstGeom>
          <a:noFill/>
          <a:ln/>
        </p:spPr>
        <p:txBody>
          <a:bodyPr wrap="square" lIns="0" tIns="0" rIns="0" bIns="0" rtlCol="0" anchor="ctr"/>
          <a:lstStyle/>
          <a:p>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07  |  Results &amp; Discussion - Genetic Programming </a:t>
            </a:r>
            <a:endParaRPr lang="en-US" sz="2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6FD9CEB-52B7-A762-9298-878A43C1C483}"/>
              </a:ext>
            </a:extLst>
          </p:cNvPr>
          <p:cNvPicPr>
            <a:picLocks noChangeAspect="1"/>
          </p:cNvPicPr>
          <p:nvPr/>
        </p:nvPicPr>
        <p:blipFill>
          <a:blip r:embed="rId2"/>
          <a:srcRect b="7568"/>
          <a:stretch>
            <a:fillRect/>
          </a:stretch>
        </p:blipFill>
        <p:spPr>
          <a:xfrm>
            <a:off x="417524" y="2294636"/>
            <a:ext cx="8452156" cy="1785951"/>
          </a:xfrm>
          <a:prstGeom prst="rect">
            <a:avLst/>
          </a:prstGeom>
        </p:spPr>
      </p:pic>
      <p:sp>
        <p:nvSpPr>
          <p:cNvPr id="8" name="TextBox 7">
            <a:extLst>
              <a:ext uri="{FF2B5EF4-FFF2-40B4-BE49-F238E27FC236}">
                <a16:creationId xmlns:a16="http://schemas.microsoft.com/office/drawing/2014/main" id="{BB9B8CE9-6BCF-1337-0EE4-D5599417C9BA}"/>
              </a:ext>
            </a:extLst>
          </p:cNvPr>
          <p:cNvSpPr txBox="1"/>
          <p:nvPr/>
        </p:nvSpPr>
        <p:spPr>
          <a:xfrm>
            <a:off x="2773478" y="4304772"/>
            <a:ext cx="4578056" cy="276999"/>
          </a:xfrm>
          <a:prstGeom prst="rect">
            <a:avLst/>
          </a:prstGeom>
          <a:noFill/>
        </p:spPr>
        <p:txBody>
          <a:bodyPr wrap="square">
            <a:spAutoFit/>
          </a:bodyPr>
          <a:lstStyle/>
          <a:p>
            <a:r>
              <a:rPr lang="en-US" sz="1200" i="1" dirty="0">
                <a:latin typeface="Times New Roman" panose="02020603050405020304" pitchFamily="18" charset="0"/>
                <a:cs typeface="Times New Roman" panose="02020603050405020304" pitchFamily="18" charset="0"/>
              </a:rPr>
              <a:t>Testing Phase - Observed (blue) vs GP Predicted Inflow(orange)</a:t>
            </a:r>
            <a:endParaRPr lang="en-IN" sz="1200" i="1" dirty="0">
              <a:latin typeface="Times New Roman" panose="02020603050405020304" pitchFamily="18" charset="0"/>
              <a:cs typeface="Times New Roman" panose="02020603050405020304" pitchFamily="18" charset="0"/>
            </a:endParaRPr>
          </a:p>
        </p:txBody>
      </p:sp>
      <p:sp>
        <p:nvSpPr>
          <p:cNvPr id="9" name="Rectangle 1">
            <a:extLst>
              <a:ext uri="{FF2B5EF4-FFF2-40B4-BE49-F238E27FC236}">
                <a16:creationId xmlns:a16="http://schemas.microsoft.com/office/drawing/2014/main" id="{BB0FDF99-5B02-B9CC-115C-EE4BD49F31E5}"/>
              </a:ext>
            </a:extLst>
          </p:cNvPr>
          <p:cNvSpPr>
            <a:spLocks noChangeArrowheads="1"/>
          </p:cNvSpPr>
          <p:nvPr/>
        </p:nvSpPr>
        <p:spPr bwMode="auto">
          <a:xfrm>
            <a:off x="335902" y="838378"/>
            <a:ext cx="8739673"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bg2">
                    <a:lumMod val="25000"/>
                  </a:schemeClr>
                </a:solidFill>
                <a:effectLst/>
                <a:latin typeface="Times New Roman" panose="02020603050405020304" pitchFamily="18" charset="0"/>
                <a:cs typeface="Times New Roman" panose="02020603050405020304" pitchFamily="18" charset="0"/>
              </a:rPr>
              <a:t>The GP model demonstrated strong generalization capability by accurately reproducing inter-annual inflow variability and extreme monsoon events under independent test conditions, achieving R² = 0.867 and NSE = 0.867.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i="0" u="none" strike="noStrike" cap="none" normalizeH="0" baseline="0" dirty="0">
                <a:ln>
                  <a:noFill/>
                </a:ln>
                <a:solidFill>
                  <a:schemeClr val="bg2">
                    <a:lumMod val="25000"/>
                  </a:schemeClr>
                </a:solidFill>
                <a:effectLst/>
                <a:latin typeface="Times New Roman" panose="02020603050405020304" pitchFamily="18" charset="0"/>
                <a:cs typeface="Times New Roman" panose="02020603050405020304" pitchFamily="18" charset="0"/>
              </a:rPr>
              <a:t>During the extreme 2022 monsoon event, the model predicted a peak inflow of 2,379,817 cusecs against the observed 2,592,463 cusecs, resulting in only ~8.2% error. </a:t>
            </a:r>
          </a:p>
        </p:txBody>
      </p:sp>
    </p:spTree>
    <p:extLst>
      <p:ext uri="{BB962C8B-B14F-4D97-AF65-F5344CB8AC3E}">
        <p14:creationId xmlns:p14="http://schemas.microsoft.com/office/powerpoint/2010/main" val="19705776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32B8BED-DA9B-6720-0FF6-658205A888EA}"/>
              </a:ext>
            </a:extLst>
          </p:cNvPr>
          <p:cNvSpPr/>
          <p:nvPr/>
        </p:nvSpPr>
        <p:spPr>
          <a:xfrm>
            <a:off x="0" y="0"/>
            <a:ext cx="9144000" cy="658368"/>
          </a:xfrm>
          <a:prstGeom prst="rect">
            <a:avLst/>
          </a:prstGeom>
          <a:solidFill>
            <a:srgbClr val="1E88E5"/>
          </a:solidFill>
          <a:ln w="12700">
            <a:solidFill>
              <a:srgbClr val="1E88E5"/>
            </a:solidFill>
            <a:prstDash val="solid"/>
          </a:ln>
        </p:spPr>
        <p:txBody>
          <a:bodyPr/>
          <a:lstStyle/>
          <a:p>
            <a:endParaRPr lang="en-IN"/>
          </a:p>
        </p:txBody>
      </p:sp>
      <p:sp>
        <p:nvSpPr>
          <p:cNvPr id="3" name="Shape 1">
            <a:extLst>
              <a:ext uri="{FF2B5EF4-FFF2-40B4-BE49-F238E27FC236}">
                <a16:creationId xmlns:a16="http://schemas.microsoft.com/office/drawing/2014/main" id="{98999102-A131-F944-FEA4-E1E66F9C8331}"/>
              </a:ext>
            </a:extLst>
          </p:cNvPr>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4" name="Text 2">
            <a:extLst>
              <a:ext uri="{FF2B5EF4-FFF2-40B4-BE49-F238E27FC236}">
                <a16:creationId xmlns:a16="http://schemas.microsoft.com/office/drawing/2014/main" id="{A3EFBF14-6431-1F16-AC1E-CFC53CDD5D0C}"/>
              </a:ext>
            </a:extLst>
          </p:cNvPr>
          <p:cNvSpPr/>
          <p:nvPr/>
        </p:nvSpPr>
        <p:spPr>
          <a:xfrm>
            <a:off x="274320" y="0"/>
            <a:ext cx="8595360" cy="658368"/>
          </a:xfrm>
          <a:prstGeom prst="rect">
            <a:avLst/>
          </a:prstGeom>
          <a:noFill/>
          <a:ln/>
        </p:spPr>
        <p:txBody>
          <a:bodyPr wrap="square" lIns="0" tIns="0" rIns="0" bIns="0" rtlCol="0" anchor="ctr"/>
          <a:lstStyle/>
          <a:p>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07  |  Results &amp; Discussion - Genetic Programming </a:t>
            </a:r>
            <a:endParaRPr lang="en-US" sz="2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FC5870A-84F3-578D-A480-25707EEA9C3F}"/>
              </a:ext>
            </a:extLst>
          </p:cNvPr>
          <p:cNvPicPr>
            <a:picLocks noChangeAspect="1"/>
          </p:cNvPicPr>
          <p:nvPr/>
        </p:nvPicPr>
        <p:blipFill>
          <a:blip r:embed="rId2"/>
          <a:stretch>
            <a:fillRect/>
          </a:stretch>
        </p:blipFill>
        <p:spPr>
          <a:xfrm>
            <a:off x="594829" y="796212"/>
            <a:ext cx="3202049" cy="2965777"/>
          </a:xfrm>
          <a:prstGeom prst="rect">
            <a:avLst/>
          </a:prstGeom>
        </p:spPr>
      </p:pic>
      <p:sp>
        <p:nvSpPr>
          <p:cNvPr id="8" name="TextBox 7">
            <a:extLst>
              <a:ext uri="{FF2B5EF4-FFF2-40B4-BE49-F238E27FC236}">
                <a16:creationId xmlns:a16="http://schemas.microsoft.com/office/drawing/2014/main" id="{C0EF168E-3B8F-5677-0258-EB35C8C73C6D}"/>
              </a:ext>
            </a:extLst>
          </p:cNvPr>
          <p:cNvSpPr txBox="1"/>
          <p:nvPr/>
        </p:nvSpPr>
        <p:spPr>
          <a:xfrm>
            <a:off x="532894" y="3985507"/>
            <a:ext cx="3372987" cy="1015663"/>
          </a:xfrm>
          <a:prstGeom prst="rect">
            <a:avLst/>
          </a:prstGeom>
          <a:noFill/>
        </p:spPr>
        <p:txBody>
          <a:bodyPr wrap="square">
            <a:spAutoFit/>
          </a:bodyPr>
          <a:lstStyle/>
          <a:p>
            <a:r>
              <a:rPr lang="en-US" sz="1200" dirty="0">
                <a:solidFill>
                  <a:schemeClr val="bg2">
                    <a:lumMod val="25000"/>
                  </a:schemeClr>
                </a:solidFill>
                <a:latin typeface="Times New Roman" panose="02020603050405020304" pitchFamily="18" charset="0"/>
                <a:cs typeface="Times New Roman" panose="02020603050405020304" pitchFamily="18" charset="0"/>
              </a:rPr>
              <a:t>The scatter plot shows that most observed and GP-predicted inflow values lie close to the 1:1 reference line, indicating high prediction accuracy and strong model generalization across both normal and extreme flow conditions.</a:t>
            </a:r>
            <a:endParaRPr lang="en-IN" sz="12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0713292F-0364-ED3A-7604-85511FD4FC90}"/>
              </a:ext>
            </a:extLst>
          </p:cNvPr>
          <p:cNvSpPr txBox="1"/>
          <p:nvPr/>
        </p:nvSpPr>
        <p:spPr>
          <a:xfrm>
            <a:off x="654008" y="3729138"/>
            <a:ext cx="3306373" cy="276999"/>
          </a:xfrm>
          <a:prstGeom prst="rect">
            <a:avLst/>
          </a:prstGeom>
          <a:noFill/>
        </p:spPr>
        <p:txBody>
          <a:bodyPr wrap="square">
            <a:spAutoFit/>
          </a:bodyPr>
          <a:lstStyle/>
          <a:p>
            <a:r>
              <a:rPr lang="en-US" sz="1200" i="1" dirty="0">
                <a:solidFill>
                  <a:schemeClr val="bg2">
                    <a:lumMod val="25000"/>
                  </a:schemeClr>
                </a:solidFill>
                <a:latin typeface="Times New Roman" panose="02020603050405020304" pitchFamily="18" charset="0"/>
                <a:cs typeface="Times New Roman" panose="02020603050405020304" pitchFamily="18" charset="0"/>
              </a:rPr>
              <a:t>Scatter Plot — Observed vs GP Predicted Inflow</a:t>
            </a:r>
            <a:endParaRPr lang="en-IN" sz="1200" i="1" dirty="0">
              <a:solidFill>
                <a:schemeClr val="bg2">
                  <a:lumMod val="25000"/>
                </a:schemeClr>
              </a:solidFill>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6EDDD993-0F51-4DFA-9418-812ACE10947A}"/>
              </a:ext>
            </a:extLst>
          </p:cNvPr>
          <p:cNvPicPr>
            <a:picLocks noChangeAspect="1"/>
          </p:cNvPicPr>
          <p:nvPr/>
        </p:nvPicPr>
        <p:blipFill>
          <a:blip r:embed="rId3"/>
          <a:stretch>
            <a:fillRect/>
          </a:stretch>
        </p:blipFill>
        <p:spPr>
          <a:xfrm>
            <a:off x="4788645" y="884583"/>
            <a:ext cx="3804293" cy="2536195"/>
          </a:xfrm>
          <a:prstGeom prst="rect">
            <a:avLst/>
          </a:prstGeom>
        </p:spPr>
      </p:pic>
      <p:sp>
        <p:nvSpPr>
          <p:cNvPr id="14" name="TextBox 13">
            <a:extLst>
              <a:ext uri="{FF2B5EF4-FFF2-40B4-BE49-F238E27FC236}">
                <a16:creationId xmlns:a16="http://schemas.microsoft.com/office/drawing/2014/main" id="{64D023E2-E527-A2E6-8382-F881DE91BF2E}"/>
              </a:ext>
            </a:extLst>
          </p:cNvPr>
          <p:cNvSpPr txBox="1"/>
          <p:nvPr/>
        </p:nvSpPr>
        <p:spPr>
          <a:xfrm>
            <a:off x="4717335" y="3880343"/>
            <a:ext cx="4244996" cy="646331"/>
          </a:xfrm>
          <a:prstGeom prst="rect">
            <a:avLst/>
          </a:prstGeom>
          <a:noFill/>
        </p:spPr>
        <p:txBody>
          <a:bodyPr wrap="square">
            <a:spAutoFit/>
          </a:bodyPr>
          <a:lstStyle/>
          <a:p>
            <a:r>
              <a:rPr lang="en-US" sz="1200" dirty="0">
                <a:solidFill>
                  <a:schemeClr val="bg2">
                    <a:lumMod val="25000"/>
                  </a:schemeClr>
                </a:solidFill>
                <a:latin typeface="Times New Roman" panose="02020603050405020304" pitchFamily="18" charset="0"/>
                <a:cs typeface="Times New Roman" panose="02020603050405020304" pitchFamily="18" charset="0"/>
              </a:rPr>
              <a:t>The error distribution is approximately normal and centered around zero, indicating stable model performance with no significant systematic prediction bias.</a:t>
            </a:r>
          </a:p>
        </p:txBody>
      </p:sp>
      <p:sp>
        <p:nvSpPr>
          <p:cNvPr id="16" name="TextBox 15">
            <a:extLst>
              <a:ext uri="{FF2B5EF4-FFF2-40B4-BE49-F238E27FC236}">
                <a16:creationId xmlns:a16="http://schemas.microsoft.com/office/drawing/2014/main" id="{D2C60FB1-ADE8-18FD-2CF6-EEC770E34039}"/>
              </a:ext>
            </a:extLst>
          </p:cNvPr>
          <p:cNvSpPr txBox="1"/>
          <p:nvPr/>
        </p:nvSpPr>
        <p:spPr>
          <a:xfrm>
            <a:off x="6152519" y="3484990"/>
            <a:ext cx="1998852" cy="276999"/>
          </a:xfrm>
          <a:prstGeom prst="rect">
            <a:avLst/>
          </a:prstGeom>
          <a:noFill/>
        </p:spPr>
        <p:txBody>
          <a:bodyPr wrap="square">
            <a:spAutoFit/>
          </a:bodyPr>
          <a:lstStyle/>
          <a:p>
            <a:r>
              <a:rPr lang="en-IN" sz="1200" i="1" dirty="0">
                <a:solidFill>
                  <a:schemeClr val="bg2">
                    <a:lumMod val="25000"/>
                  </a:schemeClr>
                </a:solidFill>
                <a:latin typeface="Times New Roman" panose="02020603050405020304" pitchFamily="18" charset="0"/>
                <a:cs typeface="Times New Roman" panose="02020603050405020304" pitchFamily="18" charset="0"/>
              </a:rPr>
              <a:t> Error Distribution</a:t>
            </a:r>
          </a:p>
        </p:txBody>
      </p:sp>
    </p:spTree>
    <p:extLst>
      <p:ext uri="{BB962C8B-B14F-4D97-AF65-F5344CB8AC3E}">
        <p14:creationId xmlns:p14="http://schemas.microsoft.com/office/powerpoint/2010/main" val="36448836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F3BFAC8-F115-DC83-BB25-796EA87EE9EA}"/>
              </a:ext>
            </a:extLst>
          </p:cNvPr>
          <p:cNvSpPr/>
          <p:nvPr/>
        </p:nvSpPr>
        <p:spPr>
          <a:xfrm>
            <a:off x="0" y="0"/>
            <a:ext cx="9144000" cy="658368"/>
          </a:xfrm>
          <a:prstGeom prst="rect">
            <a:avLst/>
          </a:prstGeom>
          <a:solidFill>
            <a:srgbClr val="1E88E5"/>
          </a:solidFill>
          <a:ln w="12700">
            <a:solidFill>
              <a:srgbClr val="1E88E5"/>
            </a:solidFill>
            <a:prstDash val="solid"/>
          </a:ln>
        </p:spPr>
        <p:txBody>
          <a:bodyPr/>
          <a:lstStyle/>
          <a:p>
            <a:endParaRPr lang="en-IN"/>
          </a:p>
        </p:txBody>
      </p:sp>
      <p:sp>
        <p:nvSpPr>
          <p:cNvPr id="3" name="Shape 1">
            <a:extLst>
              <a:ext uri="{FF2B5EF4-FFF2-40B4-BE49-F238E27FC236}">
                <a16:creationId xmlns:a16="http://schemas.microsoft.com/office/drawing/2014/main" id="{33AE2FEA-26A1-1E9B-F758-DC3D91943316}"/>
              </a:ext>
            </a:extLst>
          </p:cNvPr>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4" name="Text 2">
            <a:extLst>
              <a:ext uri="{FF2B5EF4-FFF2-40B4-BE49-F238E27FC236}">
                <a16:creationId xmlns:a16="http://schemas.microsoft.com/office/drawing/2014/main" id="{0F945BCC-9108-5401-1AEE-DBF16A187734}"/>
              </a:ext>
            </a:extLst>
          </p:cNvPr>
          <p:cNvSpPr/>
          <p:nvPr/>
        </p:nvSpPr>
        <p:spPr>
          <a:xfrm>
            <a:off x="274320" y="0"/>
            <a:ext cx="8595360" cy="658368"/>
          </a:xfrm>
          <a:prstGeom prst="rect">
            <a:avLst/>
          </a:prstGeom>
          <a:noFill/>
          <a:ln/>
        </p:spPr>
        <p:txBody>
          <a:bodyPr wrap="square" lIns="0" tIns="0" rIns="0" bIns="0" rtlCol="0" anchor="ctr"/>
          <a:lstStyle/>
          <a:p>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07  |  Results &amp; Discussion - Genetic Programming </a:t>
            </a:r>
            <a:endParaRPr lang="en-US" sz="22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66BEFF1-6E7A-BF07-6217-3101CE2CDF5A}"/>
              </a:ext>
            </a:extLst>
          </p:cNvPr>
          <p:cNvPicPr>
            <a:picLocks noChangeAspect="1"/>
          </p:cNvPicPr>
          <p:nvPr/>
        </p:nvPicPr>
        <p:blipFill>
          <a:blip r:embed="rId2"/>
          <a:stretch>
            <a:fillRect/>
          </a:stretch>
        </p:blipFill>
        <p:spPr>
          <a:xfrm>
            <a:off x="355702" y="756005"/>
            <a:ext cx="3168673" cy="4025882"/>
          </a:xfrm>
          <a:prstGeom prst="rect">
            <a:avLst/>
          </a:prstGeom>
        </p:spPr>
      </p:pic>
      <p:sp>
        <p:nvSpPr>
          <p:cNvPr id="8" name="TextBox 7">
            <a:extLst>
              <a:ext uri="{FF2B5EF4-FFF2-40B4-BE49-F238E27FC236}">
                <a16:creationId xmlns:a16="http://schemas.microsoft.com/office/drawing/2014/main" id="{5DA37672-1B44-10C5-B9EA-233F7FAA2D17}"/>
              </a:ext>
            </a:extLst>
          </p:cNvPr>
          <p:cNvSpPr txBox="1"/>
          <p:nvPr/>
        </p:nvSpPr>
        <p:spPr>
          <a:xfrm>
            <a:off x="514728" y="4763775"/>
            <a:ext cx="3009647" cy="276999"/>
          </a:xfrm>
          <a:prstGeom prst="rect">
            <a:avLst/>
          </a:prstGeom>
          <a:noFill/>
        </p:spPr>
        <p:txBody>
          <a:bodyPr wrap="square">
            <a:spAutoFit/>
          </a:bodyPr>
          <a:lstStyle/>
          <a:p>
            <a:r>
              <a:rPr lang="en-IN" sz="1200" i="1" dirty="0">
                <a:solidFill>
                  <a:schemeClr val="bg2">
                    <a:lumMod val="25000"/>
                  </a:schemeClr>
                </a:solidFill>
                <a:latin typeface="Times New Roman" panose="02020603050405020304" pitchFamily="18" charset="0"/>
                <a:cs typeface="Times New Roman" panose="02020603050405020304" pitchFamily="18" charset="0"/>
              </a:rPr>
              <a:t>OAT Sensitivity (+10% red, -10% blue)</a:t>
            </a:r>
          </a:p>
        </p:txBody>
      </p:sp>
      <p:sp>
        <p:nvSpPr>
          <p:cNvPr id="9" name="Rectangle 1">
            <a:extLst>
              <a:ext uri="{FF2B5EF4-FFF2-40B4-BE49-F238E27FC236}">
                <a16:creationId xmlns:a16="http://schemas.microsoft.com/office/drawing/2014/main" id="{2CCA7F99-F38F-D7C0-E9D1-9AD2F7A6F118}"/>
              </a:ext>
            </a:extLst>
          </p:cNvPr>
          <p:cNvSpPr>
            <a:spLocks noChangeArrowheads="1"/>
          </p:cNvSpPr>
          <p:nvPr/>
        </p:nvSpPr>
        <p:spPr bwMode="auto">
          <a:xfrm>
            <a:off x="4142052" y="500921"/>
            <a:ext cx="419655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bg2">
                  <a:lumMod val="25000"/>
                </a:schemeClr>
              </a:solidFill>
              <a:effectLst/>
              <a:latin typeface="Arial" panose="020B0604020202020204" pitchFamily="34" charset="0"/>
            </a:endParaRP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chemeClr val="bg2">
                    <a:lumMod val="25000"/>
                  </a:schemeClr>
                </a:solidFill>
                <a:effectLst/>
                <a:latin typeface="Times New Roman" panose="02020603050405020304" pitchFamily="18" charset="0"/>
                <a:cs typeface="Times New Roman" panose="02020603050405020304" pitchFamily="18" charset="0"/>
              </a:rPr>
              <a:t>The OAT sensitivity analysis identified previous day inflow, baseflow, 5-day rainfall, and inflow trend as the most influential predictors controlling inflow at the barrage. </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chemeClr val="bg2">
                    <a:lumMod val="25000"/>
                  </a:schemeClr>
                </a:solidFill>
                <a:effectLst/>
                <a:latin typeface="Times New Roman" panose="02020603050405020304" pitchFamily="18" charset="0"/>
                <a:cs typeface="Times New Roman" panose="02020603050405020304" pitchFamily="18" charset="0"/>
              </a:rPr>
              <a:t>Sensitivity results showed that lag-1 variables contributed more than 90% of the total model sensitivity, while higher-order lags had minimal influence. </a:t>
            </a:r>
          </a:p>
          <a:p>
            <a:pPr marL="171450" marR="0" lvl="0" indent="-1714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chemeClr val="bg2">
                    <a:lumMod val="25000"/>
                  </a:schemeClr>
                </a:solidFill>
                <a:effectLst/>
                <a:latin typeface="Times New Roman" panose="02020603050405020304" pitchFamily="18" charset="0"/>
                <a:cs typeface="Times New Roman" panose="02020603050405020304" pitchFamily="18" charset="0"/>
              </a:rPr>
              <a:t>The analysis confirms that inflow prediction is strongly governed by flow persistence, antecedent rainfall, and reservoir storage dynamics. </a:t>
            </a:r>
          </a:p>
        </p:txBody>
      </p:sp>
      <p:pic>
        <p:nvPicPr>
          <p:cNvPr id="11" name="Picture 10">
            <a:extLst>
              <a:ext uri="{FF2B5EF4-FFF2-40B4-BE49-F238E27FC236}">
                <a16:creationId xmlns:a16="http://schemas.microsoft.com/office/drawing/2014/main" id="{25A2E06C-FFC0-4F34-C254-46AA47CE518F}"/>
              </a:ext>
            </a:extLst>
          </p:cNvPr>
          <p:cNvPicPr>
            <a:picLocks noChangeAspect="1"/>
          </p:cNvPicPr>
          <p:nvPr/>
        </p:nvPicPr>
        <p:blipFill>
          <a:blip r:embed="rId3"/>
          <a:stretch>
            <a:fillRect/>
          </a:stretch>
        </p:blipFill>
        <p:spPr>
          <a:xfrm>
            <a:off x="4338866" y="2580691"/>
            <a:ext cx="2970278" cy="1874764"/>
          </a:xfrm>
          <a:prstGeom prst="rect">
            <a:avLst/>
          </a:prstGeom>
        </p:spPr>
      </p:pic>
      <p:sp>
        <p:nvSpPr>
          <p:cNvPr id="13" name="TextBox 12">
            <a:extLst>
              <a:ext uri="{FF2B5EF4-FFF2-40B4-BE49-F238E27FC236}">
                <a16:creationId xmlns:a16="http://schemas.microsoft.com/office/drawing/2014/main" id="{9B1BA63D-339C-AD45-1DE4-5A10DD615CA8}"/>
              </a:ext>
            </a:extLst>
          </p:cNvPr>
          <p:cNvSpPr txBox="1"/>
          <p:nvPr/>
        </p:nvSpPr>
        <p:spPr>
          <a:xfrm>
            <a:off x="4565944" y="4486776"/>
            <a:ext cx="4578056" cy="276999"/>
          </a:xfrm>
          <a:prstGeom prst="rect">
            <a:avLst/>
          </a:prstGeom>
          <a:noFill/>
        </p:spPr>
        <p:txBody>
          <a:bodyPr wrap="square">
            <a:spAutoFit/>
          </a:bodyPr>
          <a:lstStyle/>
          <a:p>
            <a:r>
              <a:rPr lang="en-IN" sz="1200" i="1" dirty="0">
                <a:solidFill>
                  <a:schemeClr val="bg2">
                    <a:lumMod val="25000"/>
                  </a:schemeClr>
                </a:solidFill>
                <a:latin typeface="Times New Roman" panose="02020603050405020304" pitchFamily="18" charset="0"/>
                <a:cs typeface="Times New Roman" panose="02020603050405020304" pitchFamily="18" charset="0"/>
              </a:rPr>
              <a:t>Sensitivity by Feature Category</a:t>
            </a:r>
          </a:p>
        </p:txBody>
      </p:sp>
    </p:spTree>
    <p:extLst>
      <p:ext uri="{BB962C8B-B14F-4D97-AF65-F5344CB8AC3E}">
        <p14:creationId xmlns:p14="http://schemas.microsoft.com/office/powerpoint/2010/main" val="32039437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2F3D7DCA-7526-20B0-8C8F-A5D86AB93538}"/>
              </a:ext>
            </a:extLst>
          </p:cNvPr>
          <p:cNvSpPr/>
          <p:nvPr/>
        </p:nvSpPr>
        <p:spPr>
          <a:xfrm>
            <a:off x="0" y="0"/>
            <a:ext cx="9144000" cy="658368"/>
          </a:xfrm>
          <a:prstGeom prst="rect">
            <a:avLst/>
          </a:prstGeom>
          <a:solidFill>
            <a:srgbClr val="1E88E5"/>
          </a:solidFill>
          <a:ln w="12700">
            <a:solidFill>
              <a:srgbClr val="1E88E5"/>
            </a:solidFill>
            <a:prstDash val="solid"/>
          </a:ln>
        </p:spPr>
        <p:txBody>
          <a:bodyPr/>
          <a:lstStyle/>
          <a:p>
            <a:endParaRPr lang="en-IN">
              <a:solidFill>
                <a:schemeClr val="bg1"/>
              </a:solidFill>
            </a:endParaRPr>
          </a:p>
        </p:txBody>
      </p:sp>
      <p:sp>
        <p:nvSpPr>
          <p:cNvPr id="3" name="Shape 1">
            <a:extLst>
              <a:ext uri="{FF2B5EF4-FFF2-40B4-BE49-F238E27FC236}">
                <a16:creationId xmlns:a16="http://schemas.microsoft.com/office/drawing/2014/main" id="{BC38CF43-DFE7-37DD-3C80-116F00AE4F82}"/>
              </a:ext>
            </a:extLst>
          </p:cNvPr>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4" name="Text 2">
            <a:extLst>
              <a:ext uri="{FF2B5EF4-FFF2-40B4-BE49-F238E27FC236}">
                <a16:creationId xmlns:a16="http://schemas.microsoft.com/office/drawing/2014/main" id="{50F211D2-12F2-8FBC-C284-FFC1797847DD}"/>
              </a:ext>
            </a:extLst>
          </p:cNvPr>
          <p:cNvSpPr/>
          <p:nvPr/>
        </p:nvSpPr>
        <p:spPr>
          <a:xfrm>
            <a:off x="274320" y="0"/>
            <a:ext cx="8595360" cy="658368"/>
          </a:xfrm>
          <a:prstGeom prst="rect">
            <a:avLst/>
          </a:prstGeom>
          <a:noFill/>
          <a:ln/>
        </p:spPr>
        <p:txBody>
          <a:bodyPr wrap="square" lIns="0" tIns="0" rIns="0" bIns="0" rtlCol="0" anchor="ctr"/>
          <a:lstStyle/>
          <a:p>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07  |  Results &amp; Discussion – </a:t>
            </a:r>
            <a:r>
              <a:rPr lang="en-US" sz="2200" b="1" dirty="0">
                <a:solidFill>
                  <a:schemeClr val="bg1"/>
                </a:solidFill>
                <a:latin typeface="Times New Roman" panose="02020603050405020304" pitchFamily="18" charset="0"/>
                <a:cs typeface="Times New Roman" panose="02020603050405020304" pitchFamily="18" charset="0"/>
              </a:rPr>
              <a:t>Comparison of LSTM and GP Models</a:t>
            </a:r>
            <a:r>
              <a:rPr lang="en-US" sz="2200" b="1" dirty="0">
                <a:solidFill>
                  <a:schemeClr val="bg1"/>
                </a:solidFill>
                <a:latin typeface="Times New Roman" panose="02020603050405020304" pitchFamily="18" charset="0"/>
                <a:ea typeface="Calibri" pitchFamily="34" charset="-122"/>
                <a:cs typeface="Times New Roman" panose="02020603050405020304" pitchFamily="18" charset="0"/>
              </a:rPr>
              <a:t> </a:t>
            </a:r>
            <a:endParaRPr lang="en-US" sz="2200" b="1" dirty="0">
              <a:solidFill>
                <a:schemeClr val="bg1"/>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E5BB26F1-93FB-CBFD-8F87-9B96BCDC31F9}"/>
              </a:ext>
            </a:extLst>
          </p:cNvPr>
          <p:cNvGraphicFramePr>
            <a:graphicFrameLocks noGrp="1"/>
          </p:cNvGraphicFramePr>
          <p:nvPr>
            <p:extLst>
              <p:ext uri="{D42A27DB-BD31-4B8C-83A1-F6EECF244321}">
                <p14:modId xmlns:p14="http://schemas.microsoft.com/office/powerpoint/2010/main" val="3578623942"/>
              </p:ext>
            </p:extLst>
          </p:nvPr>
        </p:nvGraphicFramePr>
        <p:xfrm>
          <a:off x="666119" y="1090134"/>
          <a:ext cx="7722063" cy="2194560"/>
        </p:xfrm>
        <a:graphic>
          <a:graphicData uri="http://schemas.openxmlformats.org/drawingml/2006/table">
            <a:tbl>
              <a:tblPr>
                <a:tableStyleId>{BDBED569-4797-4DF1-A0F4-6AAB3CD982D8}</a:tableStyleId>
              </a:tblPr>
              <a:tblGrid>
                <a:gridCol w="1807038">
                  <a:extLst>
                    <a:ext uri="{9D8B030D-6E8A-4147-A177-3AD203B41FA5}">
                      <a16:colId xmlns:a16="http://schemas.microsoft.com/office/drawing/2014/main" val="2508778245"/>
                    </a:ext>
                  </a:extLst>
                </a:gridCol>
                <a:gridCol w="1971675">
                  <a:extLst>
                    <a:ext uri="{9D8B030D-6E8A-4147-A177-3AD203B41FA5}">
                      <a16:colId xmlns:a16="http://schemas.microsoft.com/office/drawing/2014/main" val="3976151667"/>
                    </a:ext>
                  </a:extLst>
                </a:gridCol>
                <a:gridCol w="1971675">
                  <a:extLst>
                    <a:ext uri="{9D8B030D-6E8A-4147-A177-3AD203B41FA5}">
                      <a16:colId xmlns:a16="http://schemas.microsoft.com/office/drawing/2014/main" val="2297014899"/>
                    </a:ext>
                  </a:extLst>
                </a:gridCol>
                <a:gridCol w="1971675">
                  <a:extLst>
                    <a:ext uri="{9D8B030D-6E8A-4147-A177-3AD203B41FA5}">
                      <a16:colId xmlns:a16="http://schemas.microsoft.com/office/drawing/2014/main" val="3860110516"/>
                    </a:ext>
                  </a:extLst>
                </a:gridCol>
              </a:tblGrid>
              <a:tr h="0">
                <a:tc>
                  <a:txBody>
                    <a:bodyPr/>
                    <a:lstStyle/>
                    <a:p>
                      <a:pPr>
                        <a:buNone/>
                      </a:pPr>
                      <a:r>
                        <a:rPr lang="en-IN" sz="1200" b="1">
                          <a:solidFill>
                            <a:schemeClr val="bg2">
                              <a:lumMod val="25000"/>
                            </a:schemeClr>
                          </a:solidFill>
                          <a:latin typeface="Times New Roman" panose="02020603050405020304" pitchFamily="18" charset="0"/>
                          <a:cs typeface="Times New Roman" panose="02020603050405020304" pitchFamily="18" charset="0"/>
                        </a:rPr>
                        <a:t>Metric</a:t>
                      </a:r>
                    </a:p>
                  </a:txBody>
                  <a:tcPr anchor="ctr"/>
                </a:tc>
                <a:tc>
                  <a:txBody>
                    <a:bodyPr/>
                    <a:lstStyle/>
                    <a:p>
                      <a:pPr>
                        <a:buNone/>
                      </a:pPr>
                      <a:r>
                        <a:rPr lang="en-IN" sz="1200" b="1" dirty="0">
                          <a:solidFill>
                            <a:schemeClr val="bg2">
                              <a:lumMod val="25000"/>
                            </a:schemeClr>
                          </a:solidFill>
                          <a:latin typeface="Times New Roman" panose="02020603050405020304" pitchFamily="18" charset="0"/>
                          <a:cs typeface="Times New Roman" panose="02020603050405020304" pitchFamily="18" charset="0"/>
                        </a:rPr>
                        <a:t>LSTM</a:t>
                      </a:r>
                    </a:p>
                  </a:txBody>
                  <a:tcPr anchor="ctr"/>
                </a:tc>
                <a:tc>
                  <a:txBody>
                    <a:bodyPr/>
                    <a:lstStyle/>
                    <a:p>
                      <a:pPr>
                        <a:buNone/>
                      </a:pPr>
                      <a:r>
                        <a:rPr lang="en-IN" sz="1200" b="1" dirty="0">
                          <a:solidFill>
                            <a:schemeClr val="bg2">
                              <a:lumMod val="25000"/>
                            </a:schemeClr>
                          </a:solidFill>
                          <a:latin typeface="Times New Roman" panose="02020603050405020304" pitchFamily="18" charset="0"/>
                          <a:cs typeface="Times New Roman" panose="02020603050405020304" pitchFamily="18" charset="0"/>
                        </a:rPr>
                        <a:t>GP</a:t>
                      </a:r>
                    </a:p>
                  </a:txBody>
                  <a:tcPr anchor="ctr"/>
                </a:tc>
                <a:tc>
                  <a:txBody>
                    <a:bodyPr/>
                    <a:lstStyle/>
                    <a:p>
                      <a:pPr>
                        <a:buNone/>
                      </a:pPr>
                      <a:r>
                        <a:rPr lang="en-IN" sz="1200" b="1" dirty="0">
                          <a:solidFill>
                            <a:schemeClr val="bg2">
                              <a:lumMod val="25000"/>
                            </a:schemeClr>
                          </a:solidFill>
                          <a:latin typeface="Times New Roman" panose="02020603050405020304" pitchFamily="18" charset="0"/>
                          <a:cs typeface="Times New Roman" panose="02020603050405020304" pitchFamily="18" charset="0"/>
                        </a:rPr>
                        <a:t>Improvement</a:t>
                      </a:r>
                    </a:p>
                  </a:txBody>
                  <a:tcPr anchor="ctr"/>
                </a:tc>
                <a:extLst>
                  <a:ext uri="{0D108BD9-81ED-4DB2-BD59-A6C34878D82A}">
                    <a16:rowId xmlns:a16="http://schemas.microsoft.com/office/drawing/2014/main" val="4184142078"/>
                  </a:ext>
                </a:extLst>
              </a:tr>
              <a:tr h="0">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Test R²</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0.621</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0.867</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+39.6%</a:t>
                      </a:r>
                    </a:p>
                  </a:txBody>
                  <a:tcPr anchor="ctr"/>
                </a:tc>
                <a:extLst>
                  <a:ext uri="{0D108BD9-81ED-4DB2-BD59-A6C34878D82A}">
                    <a16:rowId xmlns:a16="http://schemas.microsoft.com/office/drawing/2014/main" val="1865020540"/>
                  </a:ext>
                </a:extLst>
              </a:tr>
              <a:tr h="0">
                <a:tc>
                  <a:txBody>
                    <a:bodyPr/>
                    <a:lstStyle/>
                    <a:p>
                      <a:pPr>
                        <a:buNone/>
                      </a:pPr>
                      <a:r>
                        <a:rPr lang="el-GR" sz="1200">
                          <a:solidFill>
                            <a:schemeClr val="bg2">
                              <a:lumMod val="25000"/>
                            </a:schemeClr>
                          </a:solidFill>
                          <a:latin typeface="Times New Roman" panose="02020603050405020304" pitchFamily="18" charset="0"/>
                          <a:cs typeface="Times New Roman" panose="02020603050405020304" pitchFamily="18" charset="0"/>
                        </a:rPr>
                        <a:t>Δ</a:t>
                      </a:r>
                      <a:r>
                        <a:rPr lang="en-IN" sz="1200">
                          <a:solidFill>
                            <a:schemeClr val="bg2">
                              <a:lumMod val="25000"/>
                            </a:schemeClr>
                          </a:solidFill>
                          <a:latin typeface="Times New Roman" panose="02020603050405020304" pitchFamily="18" charset="0"/>
                          <a:cs typeface="Times New Roman" panose="02020603050405020304" pitchFamily="18" charset="0"/>
                        </a:rPr>
                        <a:t>R²</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0.314</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0.048</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Reduced 84.7%</a:t>
                      </a:r>
                    </a:p>
                  </a:txBody>
                  <a:tcPr anchor="ctr"/>
                </a:tc>
                <a:extLst>
                  <a:ext uri="{0D108BD9-81ED-4DB2-BD59-A6C34878D82A}">
                    <a16:rowId xmlns:a16="http://schemas.microsoft.com/office/drawing/2014/main" val="2523925175"/>
                  </a:ext>
                </a:extLst>
              </a:tr>
              <a:tr h="0">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RMSE</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2,53,829</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1,52,362</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-40%</a:t>
                      </a:r>
                    </a:p>
                  </a:txBody>
                  <a:tcPr anchor="ctr"/>
                </a:tc>
                <a:extLst>
                  <a:ext uri="{0D108BD9-81ED-4DB2-BD59-A6C34878D82A}">
                    <a16:rowId xmlns:a16="http://schemas.microsoft.com/office/drawing/2014/main" val="792483719"/>
                  </a:ext>
                </a:extLst>
              </a:tr>
              <a:tr h="0">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MAE</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1,61,083</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80,228</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-50.2%</a:t>
                      </a:r>
                    </a:p>
                  </a:txBody>
                  <a:tcPr anchor="ctr"/>
                </a:tc>
                <a:extLst>
                  <a:ext uri="{0D108BD9-81ED-4DB2-BD59-A6C34878D82A}">
                    <a16:rowId xmlns:a16="http://schemas.microsoft.com/office/drawing/2014/main" val="4276137646"/>
                  </a:ext>
                </a:extLst>
              </a:tr>
              <a:tr h="0">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NSE</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0.621</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0.867</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+39.6%</a:t>
                      </a:r>
                    </a:p>
                  </a:txBody>
                  <a:tcPr anchor="ctr"/>
                </a:tc>
                <a:extLst>
                  <a:ext uri="{0D108BD9-81ED-4DB2-BD59-A6C34878D82A}">
                    <a16:rowId xmlns:a16="http://schemas.microsoft.com/office/drawing/2014/main" val="2666001509"/>
                  </a:ext>
                </a:extLst>
              </a:tr>
              <a:tr h="0">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Overfitting</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Severe</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Negligible</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Resolved</a:t>
                      </a:r>
                    </a:p>
                  </a:txBody>
                  <a:tcPr anchor="ctr"/>
                </a:tc>
                <a:extLst>
                  <a:ext uri="{0D108BD9-81ED-4DB2-BD59-A6C34878D82A}">
                    <a16:rowId xmlns:a16="http://schemas.microsoft.com/office/drawing/2014/main" val="3703225952"/>
                  </a:ext>
                </a:extLst>
              </a:tr>
              <a:tr h="0">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Interpretability</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Black-box</a:t>
                      </a:r>
                    </a:p>
                  </a:txBody>
                  <a:tcPr anchor="ctr"/>
                </a:tc>
                <a:tc>
                  <a:txBody>
                    <a:bodyPr/>
                    <a:lstStyle/>
                    <a:p>
                      <a:pPr>
                        <a:buNone/>
                      </a:pPr>
                      <a:r>
                        <a:rPr lang="en-IN" sz="1200">
                          <a:solidFill>
                            <a:schemeClr val="bg2">
                              <a:lumMod val="25000"/>
                            </a:schemeClr>
                          </a:solidFill>
                          <a:latin typeface="Times New Roman" panose="02020603050405020304" pitchFamily="18" charset="0"/>
                          <a:cs typeface="Times New Roman" panose="02020603050405020304" pitchFamily="18" charset="0"/>
                        </a:rPr>
                        <a:t>Explicit Equation</a:t>
                      </a:r>
                    </a:p>
                  </a:txBody>
                  <a:tcPr anchor="ctr"/>
                </a:tc>
                <a:tc>
                  <a:txBody>
                    <a:bodyPr/>
                    <a:lstStyle/>
                    <a:p>
                      <a:pPr>
                        <a:buNone/>
                      </a:pPr>
                      <a:r>
                        <a:rPr lang="en-IN" sz="1200" dirty="0">
                          <a:solidFill>
                            <a:schemeClr val="bg2">
                              <a:lumMod val="25000"/>
                            </a:schemeClr>
                          </a:solidFill>
                          <a:latin typeface="Times New Roman" panose="02020603050405020304" pitchFamily="18" charset="0"/>
                          <a:cs typeface="Times New Roman" panose="02020603050405020304" pitchFamily="18" charset="0"/>
                        </a:rPr>
                        <a:t>Significant</a:t>
                      </a:r>
                    </a:p>
                  </a:txBody>
                  <a:tcPr anchor="ctr"/>
                </a:tc>
                <a:extLst>
                  <a:ext uri="{0D108BD9-81ED-4DB2-BD59-A6C34878D82A}">
                    <a16:rowId xmlns:a16="http://schemas.microsoft.com/office/drawing/2014/main" val="465708968"/>
                  </a:ext>
                </a:extLst>
              </a:tr>
            </a:tbl>
          </a:graphicData>
        </a:graphic>
      </p:graphicFrame>
      <p:sp>
        <p:nvSpPr>
          <p:cNvPr id="7" name="TextBox 6">
            <a:extLst>
              <a:ext uri="{FF2B5EF4-FFF2-40B4-BE49-F238E27FC236}">
                <a16:creationId xmlns:a16="http://schemas.microsoft.com/office/drawing/2014/main" id="{91B7F6D0-FF75-AF2C-ED1D-268816523BD0}"/>
              </a:ext>
            </a:extLst>
          </p:cNvPr>
          <p:cNvSpPr txBox="1"/>
          <p:nvPr/>
        </p:nvSpPr>
        <p:spPr>
          <a:xfrm>
            <a:off x="708508" y="3603222"/>
            <a:ext cx="4578056" cy="1015663"/>
          </a:xfrm>
          <a:prstGeom prst="rect">
            <a:avLst/>
          </a:prstGeom>
          <a:noFill/>
        </p:spPr>
        <p:txBody>
          <a:bodyPr wrap="square">
            <a:spAutoFit/>
          </a:bodyPr>
          <a:lstStyle/>
          <a:p>
            <a:pPr>
              <a:buNone/>
            </a:pPr>
            <a:r>
              <a:rPr lang="en-US" sz="1200" b="1" dirty="0">
                <a:solidFill>
                  <a:schemeClr val="bg2">
                    <a:lumMod val="25000"/>
                  </a:schemeClr>
                </a:solidFill>
                <a:latin typeface="Times New Roman" panose="02020603050405020304" pitchFamily="18" charset="0"/>
                <a:cs typeface="Times New Roman" panose="02020603050405020304" pitchFamily="18" charset="0"/>
              </a:rPr>
              <a:t>Major Findings</a:t>
            </a:r>
          </a:p>
          <a:p>
            <a:pPr>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GP significantly outperformed LSTM </a:t>
            </a:r>
          </a:p>
          <a:p>
            <a:pPr>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Overfitting issue resolved </a:t>
            </a:r>
          </a:p>
          <a:p>
            <a:pPr>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Better flood prediction capability </a:t>
            </a:r>
          </a:p>
          <a:p>
            <a:pPr>
              <a:buFont typeface="Arial" panose="020B0604020202020204" pitchFamily="34" charset="0"/>
              <a:buChar char="•"/>
            </a:pPr>
            <a:r>
              <a:rPr lang="en-US" sz="1200" dirty="0">
                <a:solidFill>
                  <a:schemeClr val="bg2">
                    <a:lumMod val="25000"/>
                  </a:schemeClr>
                </a:solidFill>
                <a:latin typeface="Times New Roman" panose="02020603050405020304" pitchFamily="18" charset="0"/>
                <a:cs typeface="Times New Roman" panose="02020603050405020304" pitchFamily="18" charset="0"/>
              </a:rPr>
              <a:t>Fully interpretable mathematical model</a:t>
            </a:r>
          </a:p>
        </p:txBody>
      </p:sp>
    </p:spTree>
    <p:extLst>
      <p:ext uri="{BB962C8B-B14F-4D97-AF65-F5344CB8AC3E}">
        <p14:creationId xmlns:p14="http://schemas.microsoft.com/office/powerpoint/2010/main" val="2558459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1E88E5"/>
          </a:solidFill>
          <a:ln w="12700">
            <a:solidFill>
              <a:srgbClr val="1E88E5"/>
            </a:solidFill>
            <a:prstDash val="solid"/>
          </a:ln>
        </p:spPr>
        <p:txBody>
          <a:bodyPr/>
          <a:lstStyle/>
          <a:p>
            <a:endParaRPr lang="en-IN"/>
          </a:p>
        </p:txBody>
      </p:sp>
      <p:sp>
        <p:nvSpPr>
          <p:cNvPr id="3" name="Text 1"/>
          <p:cNvSpPr/>
          <p:nvPr/>
        </p:nvSpPr>
        <p:spPr>
          <a:xfrm>
            <a:off x="365760" y="164592"/>
            <a:ext cx="8412480" cy="438912"/>
          </a:xfrm>
          <a:prstGeom prst="rect">
            <a:avLst/>
          </a:prstGeom>
          <a:noFill/>
          <a:ln/>
        </p:spPr>
        <p:txBody>
          <a:bodyPr wrap="square"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08  |  Conclusions</a:t>
            </a:r>
            <a:endParaRPr lang="en-US" sz="2200" dirty="0">
              <a:latin typeface="Times New Roman" panose="02020603050405020304" pitchFamily="18" charset="0"/>
              <a:cs typeface="Times New Roman" panose="02020603050405020304" pitchFamily="18" charset="0"/>
            </a:endParaRPr>
          </a:p>
        </p:txBody>
      </p:sp>
      <p:sp>
        <p:nvSpPr>
          <p:cNvPr id="4" name="Shape 2"/>
          <p:cNvSpPr/>
          <p:nvPr/>
        </p:nvSpPr>
        <p:spPr>
          <a:xfrm>
            <a:off x="0" y="603504"/>
            <a:ext cx="9144000" cy="45720"/>
          </a:xfrm>
          <a:prstGeom prst="rect">
            <a:avLst/>
          </a:prstGeom>
          <a:solidFill>
            <a:srgbClr val="00B0F0"/>
          </a:solidFill>
          <a:ln w="12700">
            <a:solidFill>
              <a:srgbClr val="00B0F0"/>
            </a:solidFill>
            <a:prstDash val="solid"/>
          </a:ln>
        </p:spPr>
        <p:txBody>
          <a:bodyPr/>
          <a:lstStyle/>
          <a:p>
            <a:endParaRPr lang="en-IN"/>
          </a:p>
        </p:txBody>
      </p:sp>
      <p:sp>
        <p:nvSpPr>
          <p:cNvPr id="26" name="Rectangle 1">
            <a:extLst>
              <a:ext uri="{FF2B5EF4-FFF2-40B4-BE49-F238E27FC236}">
                <a16:creationId xmlns:a16="http://schemas.microsoft.com/office/drawing/2014/main" id="{C8311280-BF65-B048-300E-2A3042079A7A}"/>
              </a:ext>
            </a:extLst>
          </p:cNvPr>
          <p:cNvSpPr>
            <a:spLocks noChangeArrowheads="1"/>
          </p:cNvSpPr>
          <p:nvPr/>
        </p:nvSpPr>
        <p:spPr bwMode="auto">
          <a:xfrm>
            <a:off x="308838" y="785978"/>
            <a:ext cx="8298024" cy="3660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bg2">
                  <a:lumMod val="25000"/>
                </a:schemeClr>
              </a:solidFill>
              <a:effectLst/>
              <a:latin typeface="Arial" panose="020B0604020202020204" pitchFamily="34" charset="0"/>
            </a:endParaRPr>
          </a:p>
          <a:p>
            <a:pPr marL="171450" marR="0" lvl="0" indent="-1714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b="0" i="0" u="none" strike="noStrike" cap="none" normalizeH="0" baseline="0" dirty="0">
                <a:ln>
                  <a:noFill/>
                </a:ln>
                <a:solidFill>
                  <a:schemeClr val="bg2">
                    <a:lumMod val="25000"/>
                  </a:schemeClr>
                </a:solidFill>
                <a:effectLst/>
                <a:latin typeface="Times New Roman" panose="02020603050405020304" pitchFamily="18" charset="0"/>
                <a:cs typeface="Times New Roman" panose="02020603050405020304" pitchFamily="18" charset="0"/>
              </a:rPr>
              <a:t>Spatial rainfall trend analysis (1988–2024) revealed heterogeneous and non-stationary monsoon </a:t>
            </a:r>
            <a:r>
              <a:rPr kumimoji="0" lang="en-US" altLang="en-US" sz="1200" b="0" i="0" u="none" strike="noStrike" cap="none" normalizeH="0" baseline="0" dirty="0" err="1">
                <a:ln>
                  <a:noFill/>
                </a:ln>
                <a:solidFill>
                  <a:schemeClr val="bg2">
                    <a:lumMod val="25000"/>
                  </a:schemeClr>
                </a:solidFill>
                <a:effectLst/>
                <a:latin typeface="Times New Roman" panose="02020603050405020304" pitchFamily="18" charset="0"/>
                <a:cs typeface="Times New Roman" panose="02020603050405020304" pitchFamily="18" charset="0"/>
              </a:rPr>
              <a:t>behaviour</a:t>
            </a:r>
            <a:r>
              <a:rPr kumimoji="0" lang="en-US" altLang="en-US" sz="1200" b="0" i="0" u="none" strike="noStrike" cap="none" normalizeH="0" baseline="0" dirty="0">
                <a:ln>
                  <a:noFill/>
                </a:ln>
                <a:solidFill>
                  <a:schemeClr val="bg2">
                    <a:lumMod val="25000"/>
                  </a:schemeClr>
                </a:solidFill>
                <a:effectLst/>
                <a:latin typeface="Times New Roman" panose="02020603050405020304" pitchFamily="18" charset="0"/>
                <a:cs typeface="Times New Roman" panose="02020603050405020304" pitchFamily="18" charset="0"/>
              </a:rPr>
              <a:t> across the Godavari Basin, with most stations showing decreasing rainfall trends. </a:t>
            </a:r>
          </a:p>
          <a:p>
            <a:pPr marL="171450" marR="0" lvl="0" indent="-1714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b="0" i="0" u="none" strike="noStrike" cap="none" normalizeH="0" baseline="0" dirty="0">
                <a:ln>
                  <a:noFill/>
                </a:ln>
                <a:solidFill>
                  <a:schemeClr val="bg2">
                    <a:lumMod val="25000"/>
                  </a:schemeClr>
                </a:solidFill>
                <a:effectLst/>
                <a:latin typeface="Times New Roman" panose="02020603050405020304" pitchFamily="18" charset="0"/>
                <a:cs typeface="Times New Roman" panose="02020603050405020304" pitchFamily="18" charset="0"/>
              </a:rPr>
              <a:t>LULC analysis (2017–2024) showed expansion of agricultural and built-up areas, increasing runoff generation potential within the catchment. </a:t>
            </a:r>
          </a:p>
          <a:p>
            <a:pPr marL="171450" marR="0" lvl="0" indent="-1714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b="0" i="0" u="none" strike="noStrike" cap="none" normalizeH="0" baseline="0" dirty="0">
                <a:ln>
                  <a:noFill/>
                </a:ln>
                <a:solidFill>
                  <a:schemeClr val="bg2">
                    <a:lumMod val="25000"/>
                  </a:schemeClr>
                </a:solidFill>
                <a:effectLst/>
                <a:latin typeface="Times New Roman" panose="02020603050405020304" pitchFamily="18" charset="0"/>
                <a:cs typeface="Times New Roman" panose="02020603050405020304" pitchFamily="18" charset="0"/>
              </a:rPr>
              <a:t>The LSTM model effectively captured nonlinear rainfall–runoff relationships and produced strong inflow predictions using antecedent hydrological features. </a:t>
            </a:r>
          </a:p>
          <a:p>
            <a:pPr marL="171450" marR="0" lvl="0" indent="-1714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b="0" i="0" u="none" strike="noStrike" cap="none" normalizeH="0" baseline="0" dirty="0">
                <a:ln>
                  <a:noFill/>
                </a:ln>
                <a:solidFill>
                  <a:schemeClr val="bg2">
                    <a:lumMod val="25000"/>
                  </a:schemeClr>
                </a:solidFill>
                <a:effectLst/>
                <a:latin typeface="Times New Roman" panose="02020603050405020304" pitchFamily="18" charset="0"/>
                <a:cs typeface="Times New Roman" panose="02020603050405020304" pitchFamily="18" charset="0"/>
              </a:rPr>
              <a:t>The GP model generated physically interpretable rainfall–runoff equations, helping identify dominant hydrological controls governing inflow behavior. </a:t>
            </a:r>
          </a:p>
          <a:p>
            <a:pPr marL="171450" indent="-171450" eaLnBrk="0" fontAlgn="base" hangingPunct="0">
              <a:lnSpc>
                <a:spcPct val="150000"/>
              </a:lnSpc>
              <a:spcBef>
                <a:spcPct val="0"/>
              </a:spcBef>
              <a:spcAft>
                <a:spcPct val="0"/>
              </a:spcAft>
              <a:buFont typeface="Wingdings" panose="05000000000000000000" pitchFamily="2" charset="2"/>
              <a:buChar char="Ø"/>
            </a:pPr>
            <a:r>
              <a:rPr lang="en-US" altLang="en-US" sz="1200" dirty="0">
                <a:solidFill>
                  <a:schemeClr val="bg2">
                    <a:lumMod val="25000"/>
                  </a:schemeClr>
                </a:solidFill>
                <a:latin typeface="Times New Roman" panose="02020603050405020304" pitchFamily="18" charset="0"/>
                <a:cs typeface="Times New Roman" panose="02020603050405020304" pitchFamily="18" charset="0"/>
              </a:rPr>
              <a:t>Sensitivity analysis identified previous inflow, 5-day accumulated rainfall, and inflow trend as the most influential variables affecting SAC Barrage inflow. </a:t>
            </a:r>
            <a:endParaRPr kumimoji="0" lang="en-US" altLang="en-US" sz="1200" b="0" i="0" u="none" strike="noStrike" cap="none" normalizeH="0" baseline="0" dirty="0">
              <a:ln>
                <a:noFill/>
              </a:ln>
              <a:solidFill>
                <a:schemeClr val="bg2">
                  <a:lumMod val="25000"/>
                </a:schemeClr>
              </a:solidFill>
              <a:effectLst/>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200" b="0" i="0" u="none" strike="noStrike" cap="none" normalizeH="0" baseline="0" dirty="0">
                <a:ln>
                  <a:noFill/>
                </a:ln>
                <a:solidFill>
                  <a:schemeClr val="bg2">
                    <a:lumMod val="25000"/>
                  </a:schemeClr>
                </a:solidFill>
                <a:effectLst/>
                <a:latin typeface="Times New Roman" panose="02020603050405020304" pitchFamily="18" charset="0"/>
                <a:cs typeface="Times New Roman" panose="02020603050405020304" pitchFamily="18" charset="0"/>
              </a:rPr>
              <a:t>Comparative analysis showed that LSTM achieved higher predictive accuracy, especially during high-flow monsoon periods, while GP provided better interpretability and operational transparency.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88E5"/>
          </a:solidFill>
          <a:ln w="12700">
            <a:solidFill>
              <a:srgbClr val="1E88E5"/>
            </a:solidFill>
            <a:prstDash val="solid"/>
          </a:ln>
        </p:spPr>
        <p:txBody>
          <a:bodyPr/>
          <a:lstStyle/>
          <a:p>
            <a:endParaRPr lang="en-IN"/>
          </a:p>
        </p:txBody>
      </p:sp>
      <p:sp>
        <p:nvSpPr>
          <p:cNvPr id="3" name="Shape 1"/>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4" name="Text 2"/>
          <p:cNvSpPr/>
          <p:nvPr/>
        </p:nvSpPr>
        <p:spPr>
          <a:xfrm>
            <a:off x="274320" y="0"/>
            <a:ext cx="8595360" cy="658368"/>
          </a:xfrm>
          <a:prstGeom prst="rect">
            <a:avLst/>
          </a:prstGeom>
          <a:noFill/>
          <a:ln/>
        </p:spPr>
        <p:txBody>
          <a:bodyPr wrap="square" lIns="0" tIns="0" rIns="0" bIns="0"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09  |  Limitations</a:t>
            </a:r>
            <a:endParaRPr lang="en-US" sz="2200" dirty="0">
              <a:latin typeface="Times New Roman" panose="02020603050405020304" pitchFamily="18" charset="0"/>
              <a:cs typeface="Times New Roman" panose="02020603050405020304" pitchFamily="18" charset="0"/>
            </a:endParaRPr>
          </a:p>
        </p:txBody>
      </p:sp>
      <p:grpSp>
        <p:nvGrpSpPr>
          <p:cNvPr id="35" name="Group 34">
            <a:extLst>
              <a:ext uri="{FF2B5EF4-FFF2-40B4-BE49-F238E27FC236}">
                <a16:creationId xmlns:a16="http://schemas.microsoft.com/office/drawing/2014/main" id="{87F1BABA-DABF-7332-7C9A-7DC85F431E1E}"/>
              </a:ext>
            </a:extLst>
          </p:cNvPr>
          <p:cNvGrpSpPr/>
          <p:nvPr/>
        </p:nvGrpSpPr>
        <p:grpSpPr>
          <a:xfrm>
            <a:off x="182880" y="1195078"/>
            <a:ext cx="4206240" cy="1298448"/>
            <a:chOff x="274320" y="777240"/>
            <a:chExt cx="4206240" cy="1298448"/>
          </a:xfrm>
        </p:grpSpPr>
        <p:sp>
          <p:nvSpPr>
            <p:cNvPr id="5" name="Shape 3"/>
            <p:cNvSpPr/>
            <p:nvPr/>
          </p:nvSpPr>
          <p:spPr>
            <a:xfrm>
              <a:off x="274320" y="777240"/>
              <a:ext cx="4206240" cy="1298448"/>
            </a:xfrm>
            <a:prstGeom prst="rect">
              <a:avLst/>
            </a:prstGeom>
            <a:solidFill>
              <a:srgbClr val="FFFFFF"/>
            </a:solidFill>
            <a:ln w="12700">
              <a:solidFill>
                <a:srgbClr val="546E7A"/>
              </a:solidFill>
              <a:prstDash val="solid"/>
            </a:ln>
            <a:effectLst>
              <a:outerShdw blurRad="38100" dist="25400" dir="8100000" algn="bl" rotWithShape="0">
                <a:srgbClr val="000000">
                  <a:alpha val="6000"/>
                </a:srgbClr>
              </a:outerShdw>
            </a:effectLst>
          </p:spPr>
          <p:txBody>
            <a:bodyPr/>
            <a:lstStyle/>
            <a:p>
              <a:endParaRPr lang="en-IN" sz="1200">
                <a:solidFill>
                  <a:schemeClr val="bg2">
                    <a:lumMod val="25000"/>
                  </a:schemeClr>
                </a:solidFill>
                <a:latin typeface="Times New Roman" panose="02020603050405020304" pitchFamily="18" charset="0"/>
                <a:cs typeface="Times New Roman" panose="02020603050405020304" pitchFamily="18" charset="0"/>
              </a:endParaRPr>
            </a:p>
          </p:txBody>
        </p:sp>
        <p:sp>
          <p:nvSpPr>
            <p:cNvPr id="6" name="Shape 4"/>
            <p:cNvSpPr/>
            <p:nvPr/>
          </p:nvSpPr>
          <p:spPr>
            <a:xfrm>
              <a:off x="274320" y="777240"/>
              <a:ext cx="640080" cy="1298448"/>
            </a:xfrm>
            <a:prstGeom prst="rect">
              <a:avLst/>
            </a:prstGeom>
            <a:solidFill>
              <a:srgbClr val="F5F5F5"/>
            </a:solidFill>
            <a:ln w="12700">
              <a:solidFill>
                <a:srgbClr val="546E7A"/>
              </a:solidFill>
              <a:prstDash val="solid"/>
            </a:ln>
          </p:spPr>
          <p:txBody>
            <a:bodyPr/>
            <a:lstStyle/>
            <a:p>
              <a:endParaRPr lang="en-IN" sz="1200">
                <a:solidFill>
                  <a:schemeClr val="bg2">
                    <a:lumMod val="25000"/>
                  </a:schemeClr>
                </a:solidFill>
                <a:latin typeface="Times New Roman" panose="02020603050405020304" pitchFamily="18" charset="0"/>
                <a:cs typeface="Times New Roman" panose="02020603050405020304" pitchFamily="18" charset="0"/>
              </a:endParaRPr>
            </a:p>
          </p:txBody>
        </p:sp>
        <p:sp>
          <p:nvSpPr>
            <p:cNvPr id="7" name="Text 5"/>
            <p:cNvSpPr/>
            <p:nvPr/>
          </p:nvSpPr>
          <p:spPr>
            <a:xfrm>
              <a:off x="320040" y="1143000"/>
              <a:ext cx="548640" cy="411480"/>
            </a:xfrm>
            <a:prstGeom prst="rect">
              <a:avLst/>
            </a:prstGeom>
            <a:noFill/>
            <a:ln/>
          </p:spPr>
          <p:txBody>
            <a:bodyPr wrap="square" lIns="0" tIns="0" rIns="0" bIns="0" rtlCol="0" anchor="ctr"/>
            <a:lstStyle/>
            <a:p>
              <a:pPr marL="0" indent="0" algn="ctr">
                <a:buNone/>
              </a:pPr>
              <a:r>
                <a:rPr lang="en-US" sz="1200" b="1" dirty="0">
                  <a:solidFill>
                    <a:schemeClr val="bg2">
                      <a:lumMod val="25000"/>
                    </a:schemeClr>
                  </a:solidFill>
                  <a:latin typeface="Times New Roman" panose="02020603050405020304" pitchFamily="18" charset="0"/>
                  <a:cs typeface="Times New Roman" panose="02020603050405020304" pitchFamily="18" charset="0"/>
                </a:rPr>
                <a:t>L1</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8" name="Text 6"/>
            <p:cNvSpPr/>
            <p:nvPr/>
          </p:nvSpPr>
          <p:spPr>
            <a:xfrm>
              <a:off x="987552" y="832104"/>
              <a:ext cx="3401568" cy="274320"/>
            </a:xfrm>
            <a:prstGeom prst="rect">
              <a:avLst/>
            </a:prstGeom>
            <a:noFill/>
            <a:ln/>
          </p:spPr>
          <p:txBody>
            <a:bodyPr wrap="square" lIns="0" tIns="0" rIns="0" bIns="0" rtlCol="0" anchor="ctr"/>
            <a:lstStyle/>
            <a:p>
              <a:r>
                <a:rPr lang="en-IN" sz="1200" b="1" dirty="0">
                  <a:solidFill>
                    <a:schemeClr val="bg2">
                      <a:lumMod val="25000"/>
                    </a:schemeClr>
                  </a:solidFill>
                  <a:latin typeface="Times New Roman" panose="02020603050405020304" pitchFamily="18" charset="0"/>
                  <a:cs typeface="Times New Roman" panose="02020603050405020304" pitchFamily="18" charset="0"/>
                </a:rPr>
                <a:t>Model Generalization</a:t>
              </a:r>
              <a:endParaRPr lang="en-US" sz="1200" b="1"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9" name="Text 7"/>
            <p:cNvSpPr/>
            <p:nvPr/>
          </p:nvSpPr>
          <p:spPr>
            <a:xfrm>
              <a:off x="987552" y="1124712"/>
              <a:ext cx="3401568" cy="877824"/>
            </a:xfrm>
            <a:prstGeom prst="rect">
              <a:avLst/>
            </a:prstGeom>
            <a:noFill/>
            <a:ln/>
          </p:spPr>
          <p:txBody>
            <a:bodyPr wrap="square" lIns="0" tIns="0" rIns="0" bIns="0" rtlCol="0" anchor="ctr"/>
            <a:lstStyle/>
            <a:p>
              <a:pPr algn="just"/>
              <a:r>
                <a:rPr lang="en-US" sz="1200" dirty="0">
                  <a:solidFill>
                    <a:schemeClr val="bg2">
                      <a:lumMod val="25000"/>
                    </a:schemeClr>
                  </a:solidFill>
                  <a:latin typeface="Times New Roman" panose="02020603050405020304" pitchFamily="18" charset="0"/>
                  <a:cs typeface="Times New Roman" panose="02020603050405020304" pitchFamily="18" charset="0"/>
                </a:rPr>
                <a:t>Limited future generalization due to non-stationary monsoon behavior and dependence on historical training data.</a:t>
              </a:r>
            </a:p>
          </p:txBody>
        </p:sp>
      </p:grpSp>
      <p:grpSp>
        <p:nvGrpSpPr>
          <p:cNvPr id="36" name="Group 35">
            <a:extLst>
              <a:ext uri="{FF2B5EF4-FFF2-40B4-BE49-F238E27FC236}">
                <a16:creationId xmlns:a16="http://schemas.microsoft.com/office/drawing/2014/main" id="{86E0A677-40CA-59F8-766E-5A9859654C8F}"/>
              </a:ext>
            </a:extLst>
          </p:cNvPr>
          <p:cNvGrpSpPr/>
          <p:nvPr/>
        </p:nvGrpSpPr>
        <p:grpSpPr>
          <a:xfrm>
            <a:off x="4754880" y="1195078"/>
            <a:ext cx="4206240" cy="1298448"/>
            <a:chOff x="4709160" y="777240"/>
            <a:chExt cx="4206240" cy="1298448"/>
          </a:xfrm>
        </p:grpSpPr>
        <p:sp>
          <p:nvSpPr>
            <p:cNvPr id="10" name="Shape 8"/>
            <p:cNvSpPr/>
            <p:nvPr/>
          </p:nvSpPr>
          <p:spPr>
            <a:xfrm>
              <a:off x="4709160" y="777240"/>
              <a:ext cx="4206240" cy="1298448"/>
            </a:xfrm>
            <a:prstGeom prst="rect">
              <a:avLst/>
            </a:prstGeom>
            <a:solidFill>
              <a:srgbClr val="FFFFFF"/>
            </a:solidFill>
            <a:ln w="12700">
              <a:solidFill>
                <a:srgbClr val="546E7A"/>
              </a:solidFill>
              <a:prstDash val="solid"/>
            </a:ln>
            <a:effectLst>
              <a:outerShdw blurRad="38100" dist="25400" dir="8100000" algn="bl" rotWithShape="0">
                <a:srgbClr val="000000">
                  <a:alpha val="6000"/>
                </a:srgbClr>
              </a:outerShdw>
            </a:effectLst>
          </p:spPr>
          <p:txBody>
            <a:bodyPr/>
            <a:lstStyle/>
            <a:p>
              <a:endParaRPr lang="en-IN" sz="1200">
                <a:solidFill>
                  <a:schemeClr val="bg2">
                    <a:lumMod val="25000"/>
                  </a:schemeClr>
                </a:solidFill>
                <a:latin typeface="Times New Roman" panose="02020603050405020304" pitchFamily="18" charset="0"/>
                <a:cs typeface="Times New Roman" panose="02020603050405020304" pitchFamily="18" charset="0"/>
              </a:endParaRPr>
            </a:p>
          </p:txBody>
        </p:sp>
        <p:sp>
          <p:nvSpPr>
            <p:cNvPr id="11" name="Shape 9"/>
            <p:cNvSpPr/>
            <p:nvPr/>
          </p:nvSpPr>
          <p:spPr>
            <a:xfrm>
              <a:off x="4709160" y="777240"/>
              <a:ext cx="640080" cy="1298448"/>
            </a:xfrm>
            <a:prstGeom prst="rect">
              <a:avLst/>
            </a:prstGeom>
            <a:solidFill>
              <a:srgbClr val="F5F5F5"/>
            </a:solidFill>
            <a:ln w="12700">
              <a:solidFill>
                <a:srgbClr val="546E7A"/>
              </a:solidFill>
              <a:prstDash val="solid"/>
            </a:ln>
          </p:spPr>
          <p:txBody>
            <a:bodyPr/>
            <a:lstStyle/>
            <a:p>
              <a:endParaRPr lang="en-IN" sz="1200">
                <a:solidFill>
                  <a:schemeClr val="bg2">
                    <a:lumMod val="25000"/>
                  </a:schemeClr>
                </a:solidFill>
                <a:latin typeface="Times New Roman" panose="02020603050405020304" pitchFamily="18" charset="0"/>
                <a:cs typeface="Times New Roman" panose="02020603050405020304" pitchFamily="18" charset="0"/>
              </a:endParaRPr>
            </a:p>
          </p:txBody>
        </p:sp>
        <p:sp>
          <p:nvSpPr>
            <p:cNvPr id="12" name="Text 10"/>
            <p:cNvSpPr/>
            <p:nvPr/>
          </p:nvSpPr>
          <p:spPr>
            <a:xfrm>
              <a:off x="4754880" y="1143000"/>
              <a:ext cx="548640" cy="411480"/>
            </a:xfrm>
            <a:prstGeom prst="rect">
              <a:avLst/>
            </a:prstGeom>
            <a:noFill/>
            <a:ln/>
          </p:spPr>
          <p:txBody>
            <a:bodyPr wrap="square" lIns="0" tIns="0" rIns="0" bIns="0" rtlCol="0" anchor="ctr"/>
            <a:lstStyle/>
            <a:p>
              <a:pPr marL="0" indent="0" algn="ctr">
                <a:buNone/>
              </a:pPr>
              <a:r>
                <a:rPr lang="en-US" sz="1200" b="1" dirty="0">
                  <a:solidFill>
                    <a:schemeClr val="bg2">
                      <a:lumMod val="25000"/>
                    </a:schemeClr>
                  </a:solidFill>
                  <a:latin typeface="Times New Roman" panose="02020603050405020304" pitchFamily="18" charset="0"/>
                  <a:cs typeface="Times New Roman" panose="02020603050405020304" pitchFamily="18" charset="0"/>
                </a:rPr>
                <a:t>L2</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3" name="Text 11"/>
            <p:cNvSpPr/>
            <p:nvPr/>
          </p:nvSpPr>
          <p:spPr>
            <a:xfrm>
              <a:off x="5422392" y="832104"/>
              <a:ext cx="3401568" cy="274320"/>
            </a:xfrm>
            <a:prstGeom prst="rect">
              <a:avLst/>
            </a:prstGeom>
            <a:noFill/>
            <a:ln/>
          </p:spPr>
          <p:txBody>
            <a:bodyPr wrap="square" lIns="0" tIns="0" rIns="0" bIns="0" rtlCol="0" anchor="ctr"/>
            <a:lstStyle/>
            <a:p>
              <a:r>
                <a:rPr lang="en-IN" sz="1200" b="1" dirty="0">
                  <a:solidFill>
                    <a:schemeClr val="bg2">
                      <a:lumMod val="25000"/>
                    </a:schemeClr>
                  </a:solidFill>
                  <a:latin typeface="Times New Roman" panose="02020603050405020304" pitchFamily="18" charset="0"/>
                  <a:cs typeface="Times New Roman" panose="02020603050405020304" pitchFamily="18" charset="0"/>
                </a:rPr>
                <a:t>Rainfall Representation</a:t>
              </a:r>
              <a:endParaRPr lang="en-US" sz="1200" b="1"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4" name="Text 12"/>
            <p:cNvSpPr/>
            <p:nvPr/>
          </p:nvSpPr>
          <p:spPr>
            <a:xfrm>
              <a:off x="5422392" y="1124712"/>
              <a:ext cx="3401568" cy="877824"/>
            </a:xfrm>
            <a:prstGeom prst="rect">
              <a:avLst/>
            </a:prstGeom>
            <a:noFill/>
            <a:ln/>
          </p:spPr>
          <p:txBody>
            <a:bodyPr wrap="square" lIns="0" tIns="0" rIns="0" bIns="0" rtlCol="0" anchor="ctr"/>
            <a:lstStyle/>
            <a:p>
              <a:r>
                <a:rPr lang="en-US" sz="1200" dirty="0">
                  <a:solidFill>
                    <a:schemeClr val="bg2">
                      <a:lumMod val="25000"/>
                    </a:schemeClr>
                  </a:solidFill>
                  <a:latin typeface="Times New Roman" panose="02020603050405020304" pitchFamily="18" charset="0"/>
                  <a:cs typeface="Times New Roman" panose="02020603050405020304" pitchFamily="18" charset="0"/>
                </a:rPr>
                <a:t>Use of 49 rain gauge stations over a very large basin may introduce interpolation uncertainty in some sub-basins.</a:t>
              </a:r>
            </a:p>
          </p:txBody>
        </p:sp>
      </p:grpSp>
      <p:grpSp>
        <p:nvGrpSpPr>
          <p:cNvPr id="37" name="Group 36">
            <a:extLst>
              <a:ext uri="{FF2B5EF4-FFF2-40B4-BE49-F238E27FC236}">
                <a16:creationId xmlns:a16="http://schemas.microsoft.com/office/drawing/2014/main" id="{0189830B-6165-C052-28A6-2207AC09E4A7}"/>
              </a:ext>
            </a:extLst>
          </p:cNvPr>
          <p:cNvGrpSpPr/>
          <p:nvPr/>
        </p:nvGrpSpPr>
        <p:grpSpPr>
          <a:xfrm>
            <a:off x="274320" y="2924445"/>
            <a:ext cx="4206240" cy="1298448"/>
            <a:chOff x="274320" y="2221992"/>
            <a:chExt cx="4206240" cy="1298448"/>
          </a:xfrm>
        </p:grpSpPr>
        <p:sp>
          <p:nvSpPr>
            <p:cNvPr id="15" name="Shape 13"/>
            <p:cNvSpPr/>
            <p:nvPr/>
          </p:nvSpPr>
          <p:spPr>
            <a:xfrm>
              <a:off x="274320" y="2221992"/>
              <a:ext cx="4206240" cy="1298448"/>
            </a:xfrm>
            <a:prstGeom prst="rect">
              <a:avLst/>
            </a:prstGeom>
            <a:solidFill>
              <a:srgbClr val="FFFFFF"/>
            </a:solidFill>
            <a:ln w="12700">
              <a:solidFill>
                <a:srgbClr val="546E7A"/>
              </a:solidFill>
              <a:prstDash val="solid"/>
            </a:ln>
            <a:effectLst>
              <a:outerShdw blurRad="38100" dist="25400" dir="8100000" algn="bl" rotWithShape="0">
                <a:srgbClr val="000000">
                  <a:alpha val="6000"/>
                </a:srgbClr>
              </a:outerShdw>
            </a:effectLst>
          </p:spPr>
          <p:txBody>
            <a:bodyPr/>
            <a:lstStyle/>
            <a:p>
              <a:endParaRPr lang="en-IN" sz="1200">
                <a:solidFill>
                  <a:schemeClr val="bg2">
                    <a:lumMod val="25000"/>
                  </a:schemeClr>
                </a:solidFill>
                <a:latin typeface="Times New Roman" panose="02020603050405020304" pitchFamily="18" charset="0"/>
                <a:cs typeface="Times New Roman" panose="02020603050405020304" pitchFamily="18" charset="0"/>
              </a:endParaRPr>
            </a:p>
          </p:txBody>
        </p:sp>
        <p:sp>
          <p:nvSpPr>
            <p:cNvPr id="16" name="Shape 14"/>
            <p:cNvSpPr/>
            <p:nvPr/>
          </p:nvSpPr>
          <p:spPr>
            <a:xfrm>
              <a:off x="274320" y="2221992"/>
              <a:ext cx="640080" cy="1298448"/>
            </a:xfrm>
            <a:prstGeom prst="rect">
              <a:avLst/>
            </a:prstGeom>
            <a:solidFill>
              <a:srgbClr val="F5F5F5"/>
            </a:solidFill>
            <a:ln w="12700">
              <a:solidFill>
                <a:srgbClr val="546E7A"/>
              </a:solidFill>
              <a:prstDash val="solid"/>
            </a:ln>
          </p:spPr>
          <p:txBody>
            <a:bodyPr/>
            <a:lstStyle/>
            <a:p>
              <a:endParaRPr lang="en-IN" sz="1200">
                <a:solidFill>
                  <a:schemeClr val="bg2">
                    <a:lumMod val="25000"/>
                  </a:schemeClr>
                </a:solidFill>
                <a:latin typeface="Times New Roman" panose="02020603050405020304" pitchFamily="18" charset="0"/>
                <a:cs typeface="Times New Roman" panose="02020603050405020304" pitchFamily="18" charset="0"/>
              </a:endParaRPr>
            </a:p>
          </p:txBody>
        </p:sp>
        <p:sp>
          <p:nvSpPr>
            <p:cNvPr id="17" name="Text 15"/>
            <p:cNvSpPr/>
            <p:nvPr/>
          </p:nvSpPr>
          <p:spPr>
            <a:xfrm>
              <a:off x="320040" y="2587752"/>
              <a:ext cx="548640" cy="411480"/>
            </a:xfrm>
            <a:prstGeom prst="rect">
              <a:avLst/>
            </a:prstGeom>
            <a:noFill/>
            <a:ln/>
          </p:spPr>
          <p:txBody>
            <a:bodyPr wrap="square" lIns="0" tIns="0" rIns="0" bIns="0" rtlCol="0" anchor="ctr"/>
            <a:lstStyle/>
            <a:p>
              <a:pPr marL="0" indent="0" algn="ctr">
                <a:buNone/>
              </a:pPr>
              <a:r>
                <a:rPr lang="en-US" sz="1200" b="1" dirty="0">
                  <a:solidFill>
                    <a:schemeClr val="bg2">
                      <a:lumMod val="25000"/>
                    </a:schemeClr>
                  </a:solidFill>
                  <a:latin typeface="Times New Roman" panose="02020603050405020304" pitchFamily="18" charset="0"/>
                  <a:cs typeface="Times New Roman" panose="02020603050405020304" pitchFamily="18" charset="0"/>
                </a:rPr>
                <a:t>L3</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8" name="Text 16"/>
            <p:cNvSpPr/>
            <p:nvPr/>
          </p:nvSpPr>
          <p:spPr>
            <a:xfrm>
              <a:off x="987552" y="2276856"/>
              <a:ext cx="3401568" cy="274320"/>
            </a:xfrm>
            <a:prstGeom prst="rect">
              <a:avLst/>
            </a:prstGeom>
            <a:noFill/>
            <a:ln/>
          </p:spPr>
          <p:txBody>
            <a:bodyPr wrap="square" lIns="0" tIns="0" rIns="0" bIns="0" rtlCol="0" anchor="ctr"/>
            <a:lstStyle/>
            <a:p>
              <a:r>
                <a:rPr lang="en-IN" sz="1200" b="1" dirty="0">
                  <a:solidFill>
                    <a:schemeClr val="bg2">
                      <a:lumMod val="25000"/>
                    </a:schemeClr>
                  </a:solidFill>
                  <a:latin typeface="Times New Roman" panose="02020603050405020304" pitchFamily="18" charset="0"/>
                  <a:cs typeface="Times New Roman" panose="02020603050405020304" pitchFamily="18" charset="0"/>
                </a:rPr>
                <a:t>Physical Process Exclusion</a:t>
              </a:r>
              <a:endParaRPr lang="en-US" sz="1200" b="1"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19" name="Text 17"/>
            <p:cNvSpPr/>
            <p:nvPr/>
          </p:nvSpPr>
          <p:spPr>
            <a:xfrm>
              <a:off x="987552" y="2569464"/>
              <a:ext cx="3401568" cy="877824"/>
            </a:xfrm>
            <a:prstGeom prst="rect">
              <a:avLst/>
            </a:prstGeom>
            <a:noFill/>
            <a:ln/>
          </p:spPr>
          <p:txBody>
            <a:bodyPr wrap="square" lIns="0" tIns="0" rIns="0" bIns="0" rtlCol="0" anchor="ctr"/>
            <a:lstStyle/>
            <a:p>
              <a:r>
                <a:rPr lang="en-US" sz="1200" dirty="0">
                  <a:solidFill>
                    <a:schemeClr val="bg2">
                      <a:lumMod val="25000"/>
                    </a:schemeClr>
                  </a:solidFill>
                  <a:latin typeface="Times New Roman" panose="02020603050405020304" pitchFamily="18" charset="0"/>
                  <a:cs typeface="Times New Roman" panose="02020603050405020304" pitchFamily="18" charset="0"/>
                </a:rPr>
                <a:t>Models do not explicitly include reservoir operations, Groundwater interaction, Evapotranspiration which may affect low-flow prediction accuracy.</a:t>
              </a:r>
            </a:p>
          </p:txBody>
        </p:sp>
      </p:grpSp>
      <p:grpSp>
        <p:nvGrpSpPr>
          <p:cNvPr id="38" name="Group 37">
            <a:extLst>
              <a:ext uri="{FF2B5EF4-FFF2-40B4-BE49-F238E27FC236}">
                <a16:creationId xmlns:a16="http://schemas.microsoft.com/office/drawing/2014/main" id="{B16C084A-9DB1-BC97-7151-B43BFAE3F29E}"/>
              </a:ext>
            </a:extLst>
          </p:cNvPr>
          <p:cNvGrpSpPr/>
          <p:nvPr/>
        </p:nvGrpSpPr>
        <p:grpSpPr>
          <a:xfrm>
            <a:off x="4754880" y="2924445"/>
            <a:ext cx="4206240" cy="1298448"/>
            <a:chOff x="4709160" y="2221992"/>
            <a:chExt cx="4206240" cy="1298448"/>
          </a:xfrm>
        </p:grpSpPr>
        <p:sp>
          <p:nvSpPr>
            <p:cNvPr id="20" name="Shape 18"/>
            <p:cNvSpPr/>
            <p:nvPr/>
          </p:nvSpPr>
          <p:spPr>
            <a:xfrm>
              <a:off x="4709160" y="2221992"/>
              <a:ext cx="4206240" cy="1298448"/>
            </a:xfrm>
            <a:prstGeom prst="rect">
              <a:avLst/>
            </a:prstGeom>
            <a:solidFill>
              <a:srgbClr val="FFFFFF"/>
            </a:solidFill>
            <a:ln w="12700">
              <a:solidFill>
                <a:srgbClr val="546E7A"/>
              </a:solidFill>
              <a:prstDash val="solid"/>
            </a:ln>
            <a:effectLst>
              <a:outerShdw blurRad="38100" dist="25400" dir="8100000" algn="bl" rotWithShape="0">
                <a:srgbClr val="000000">
                  <a:alpha val="6000"/>
                </a:srgbClr>
              </a:outerShdw>
            </a:effectLst>
          </p:spPr>
          <p:txBody>
            <a:bodyPr/>
            <a:lstStyle/>
            <a:p>
              <a:endParaRPr lang="en-IN" sz="1200">
                <a:solidFill>
                  <a:schemeClr val="bg2">
                    <a:lumMod val="25000"/>
                  </a:schemeClr>
                </a:solidFill>
                <a:latin typeface="Times New Roman" panose="02020603050405020304" pitchFamily="18" charset="0"/>
                <a:cs typeface="Times New Roman" panose="02020603050405020304" pitchFamily="18" charset="0"/>
              </a:endParaRPr>
            </a:p>
          </p:txBody>
        </p:sp>
        <p:sp>
          <p:nvSpPr>
            <p:cNvPr id="21" name="Shape 19"/>
            <p:cNvSpPr/>
            <p:nvPr/>
          </p:nvSpPr>
          <p:spPr>
            <a:xfrm>
              <a:off x="4709160" y="2221992"/>
              <a:ext cx="640080" cy="1298448"/>
            </a:xfrm>
            <a:prstGeom prst="rect">
              <a:avLst/>
            </a:prstGeom>
            <a:solidFill>
              <a:srgbClr val="F5F5F5"/>
            </a:solidFill>
            <a:ln w="12700">
              <a:solidFill>
                <a:srgbClr val="546E7A"/>
              </a:solidFill>
              <a:prstDash val="solid"/>
            </a:ln>
          </p:spPr>
          <p:txBody>
            <a:bodyPr/>
            <a:lstStyle/>
            <a:p>
              <a:endParaRPr lang="en-IN" sz="1200">
                <a:solidFill>
                  <a:schemeClr val="bg2">
                    <a:lumMod val="25000"/>
                  </a:schemeClr>
                </a:solidFill>
                <a:latin typeface="Times New Roman" panose="02020603050405020304" pitchFamily="18" charset="0"/>
                <a:cs typeface="Times New Roman" panose="02020603050405020304" pitchFamily="18" charset="0"/>
              </a:endParaRPr>
            </a:p>
          </p:txBody>
        </p:sp>
        <p:sp>
          <p:nvSpPr>
            <p:cNvPr id="22" name="Text 20"/>
            <p:cNvSpPr/>
            <p:nvPr/>
          </p:nvSpPr>
          <p:spPr>
            <a:xfrm>
              <a:off x="4754880" y="2587752"/>
              <a:ext cx="548640" cy="411480"/>
            </a:xfrm>
            <a:prstGeom prst="rect">
              <a:avLst/>
            </a:prstGeom>
            <a:noFill/>
            <a:ln/>
          </p:spPr>
          <p:txBody>
            <a:bodyPr wrap="square" lIns="0" tIns="0" rIns="0" bIns="0" rtlCol="0" anchor="ctr"/>
            <a:lstStyle/>
            <a:p>
              <a:pPr marL="0" indent="0" algn="ctr">
                <a:buNone/>
              </a:pPr>
              <a:r>
                <a:rPr lang="en-US" sz="1200" b="1" dirty="0">
                  <a:solidFill>
                    <a:schemeClr val="bg2">
                      <a:lumMod val="25000"/>
                    </a:schemeClr>
                  </a:solidFill>
                  <a:latin typeface="Times New Roman" panose="02020603050405020304" pitchFamily="18" charset="0"/>
                  <a:cs typeface="Times New Roman" panose="02020603050405020304" pitchFamily="18" charset="0"/>
                </a:rPr>
                <a:t>L4</a:t>
              </a:r>
              <a:endParaRPr lang="en-US" sz="1200"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23" name="Text 21"/>
            <p:cNvSpPr/>
            <p:nvPr/>
          </p:nvSpPr>
          <p:spPr>
            <a:xfrm>
              <a:off x="5422392" y="2276856"/>
              <a:ext cx="3401568" cy="274320"/>
            </a:xfrm>
            <a:prstGeom prst="rect">
              <a:avLst/>
            </a:prstGeom>
            <a:noFill/>
            <a:ln/>
          </p:spPr>
          <p:txBody>
            <a:bodyPr wrap="square" lIns="0" tIns="0" rIns="0" bIns="0" rtlCol="0" anchor="ctr"/>
            <a:lstStyle/>
            <a:p>
              <a:r>
                <a:rPr lang="en-IN" sz="1200" b="1" dirty="0">
                  <a:solidFill>
                    <a:schemeClr val="bg2">
                      <a:lumMod val="25000"/>
                    </a:schemeClr>
                  </a:solidFill>
                  <a:latin typeface="Times New Roman" panose="02020603050405020304" pitchFamily="18" charset="0"/>
                  <a:cs typeface="Times New Roman" panose="02020603050405020304" pitchFamily="18" charset="0"/>
                </a:rPr>
                <a:t>GP Functional Limitation</a:t>
              </a:r>
              <a:endParaRPr lang="en-US" sz="1200" b="1"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24" name="Text 22"/>
            <p:cNvSpPr/>
            <p:nvPr/>
          </p:nvSpPr>
          <p:spPr>
            <a:xfrm>
              <a:off x="5422392" y="2569464"/>
              <a:ext cx="3401568" cy="877824"/>
            </a:xfrm>
            <a:prstGeom prst="rect">
              <a:avLst/>
            </a:prstGeom>
            <a:noFill/>
            <a:ln/>
          </p:spPr>
          <p:txBody>
            <a:bodyPr wrap="square" lIns="0" tIns="0" rIns="0" bIns="0" rtlCol="0" anchor="ctr"/>
            <a:lstStyle/>
            <a:p>
              <a:r>
                <a:rPr lang="en-US" sz="1200" dirty="0">
                  <a:solidFill>
                    <a:schemeClr val="bg2">
                      <a:lumMod val="25000"/>
                    </a:schemeClr>
                  </a:solidFill>
                  <a:latin typeface="Times New Roman" panose="02020603050405020304" pitchFamily="18" charset="0"/>
                  <a:cs typeface="Times New Roman" panose="02020603050405020304" pitchFamily="18" charset="0"/>
                </a:rPr>
                <a:t>GP may struggle to learn highly nonlinear threshold-based relationships that are better handled by LSTM memory mechanisms.</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E88E5"/>
          </a:solidFill>
          <a:ln w="12700">
            <a:solidFill>
              <a:srgbClr val="1E88E5"/>
            </a:solidFill>
            <a:prstDash val="solid"/>
          </a:ln>
        </p:spPr>
        <p:txBody>
          <a:bodyPr/>
          <a:lstStyle/>
          <a:p>
            <a:endParaRPr lang="en-IN"/>
          </a:p>
        </p:txBody>
      </p:sp>
      <p:sp>
        <p:nvSpPr>
          <p:cNvPr id="3" name="Shape 1"/>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4" name="Text 2"/>
          <p:cNvSpPr/>
          <p:nvPr/>
        </p:nvSpPr>
        <p:spPr>
          <a:xfrm>
            <a:off x="274320" y="0"/>
            <a:ext cx="8595360" cy="658368"/>
          </a:xfrm>
          <a:prstGeom prst="rect">
            <a:avLst/>
          </a:prstGeom>
          <a:noFill/>
          <a:ln/>
        </p:spPr>
        <p:txBody>
          <a:bodyPr wrap="square" lIns="0" tIns="0" rIns="0" bIns="0"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10  |  Future Scope</a:t>
            </a:r>
            <a:endParaRPr lang="en-US" sz="2200" dirty="0">
              <a:latin typeface="Times New Roman" panose="02020603050405020304" pitchFamily="18" charset="0"/>
              <a:cs typeface="Times New Roman" panose="02020603050405020304" pitchFamily="18" charset="0"/>
            </a:endParaRPr>
          </a:p>
        </p:txBody>
      </p:sp>
      <p:sp>
        <p:nvSpPr>
          <p:cNvPr id="29" name="Rectangle 1">
            <a:extLst>
              <a:ext uri="{FF2B5EF4-FFF2-40B4-BE49-F238E27FC236}">
                <a16:creationId xmlns:a16="http://schemas.microsoft.com/office/drawing/2014/main" id="{E936759C-15DE-11B7-9C5C-A438A31977FC}"/>
              </a:ext>
            </a:extLst>
          </p:cNvPr>
          <p:cNvSpPr>
            <a:spLocks noChangeArrowheads="1"/>
          </p:cNvSpPr>
          <p:nvPr/>
        </p:nvSpPr>
        <p:spPr bwMode="auto">
          <a:xfrm>
            <a:off x="274320" y="1032849"/>
            <a:ext cx="8509518" cy="2621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FontTx/>
              <a:buNone/>
              <a:tabLst/>
            </a:pPr>
            <a:endParaRPr kumimoji="0" lang="en-US" altLang="en-US" sz="1200" i="0" u="none" strike="noStrike" cap="none" normalizeH="0" baseline="0" dirty="0">
              <a:ln>
                <a:noFill/>
              </a:ln>
              <a:solidFill>
                <a:schemeClr val="bg2">
                  <a:lumMod val="25000"/>
                </a:schemeClr>
              </a:solidFill>
              <a:effectLst/>
              <a:latin typeface="Times New Roman" panose="02020603050405020304" pitchFamily="18" charset="0"/>
              <a:cs typeface="Times New Roman" panose="02020603050405020304" pitchFamily="18" charset="0"/>
            </a:endParaRPr>
          </a:p>
          <a:p>
            <a:pPr marL="171450" marR="0" lvl="0" indent="-1714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chemeClr val="bg2">
                    <a:lumMod val="25000"/>
                  </a:schemeClr>
                </a:solidFill>
                <a:effectLst/>
                <a:latin typeface="Times New Roman" panose="02020603050405020304" pitchFamily="18" charset="0"/>
                <a:cs typeface="Times New Roman" panose="02020603050405020304" pitchFamily="18" charset="0"/>
              </a:rPr>
              <a:t>Future inflows at the SAC Barrage can be predicted for the period 2025–2075 by integrating LSTM and GP models with CMIP6 climate change scenarios, helping assess long-term climate impacts on water resources in the Godavari Basin. </a:t>
            </a:r>
          </a:p>
          <a:p>
            <a:pPr marL="171450" marR="0" lvl="0" indent="-1714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chemeClr val="bg2">
                    <a:lumMod val="25000"/>
                  </a:schemeClr>
                </a:solidFill>
                <a:effectLst/>
                <a:latin typeface="Times New Roman" panose="02020603050405020304" pitchFamily="18" charset="0"/>
                <a:cs typeface="Times New Roman" panose="02020603050405020304" pitchFamily="18" charset="0"/>
              </a:rPr>
              <a:t>The developed data-driven models can be combined with process-based hydrological models such as SWAT to incorporate physical processes including groundwater recharge, evapotranspiration, and upstream reservoir operations. </a:t>
            </a:r>
          </a:p>
          <a:p>
            <a:pPr marL="171450" marR="0" lvl="0" indent="-171450" algn="l"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chemeClr val="bg2">
                    <a:lumMod val="25000"/>
                  </a:schemeClr>
                </a:solidFill>
                <a:effectLst/>
                <a:latin typeface="Times New Roman" panose="02020603050405020304" pitchFamily="18" charset="0"/>
                <a:cs typeface="Times New Roman" panose="02020603050405020304" pitchFamily="18" charset="0"/>
              </a:rPr>
              <a:t>Future studies can investigate long-term land-use and land-cover changes using remote sensing datasets such as Landsat and Sentinel-2 to understand interactions between climatic variability and catchment dynamics.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3A5C"/>
          </a:solidFill>
          <a:ln w="12700">
            <a:solidFill>
              <a:srgbClr val="1A3A5C"/>
            </a:solidFill>
            <a:prstDash val="solid"/>
          </a:ln>
        </p:spPr>
        <p:txBody>
          <a:bodyPr/>
          <a:lstStyle/>
          <a:p>
            <a:endParaRPr lang="en-IN"/>
          </a:p>
        </p:txBody>
      </p:sp>
      <p:sp>
        <p:nvSpPr>
          <p:cNvPr id="3" name="Shape 1"/>
          <p:cNvSpPr/>
          <p:nvPr/>
        </p:nvSpPr>
        <p:spPr>
          <a:xfrm>
            <a:off x="0" y="658368"/>
            <a:ext cx="9144000" cy="54864"/>
          </a:xfrm>
          <a:prstGeom prst="rect">
            <a:avLst/>
          </a:prstGeom>
          <a:solidFill>
            <a:srgbClr val="00BCD4"/>
          </a:solidFill>
          <a:ln w="12700">
            <a:solidFill>
              <a:srgbClr val="00BCD4"/>
            </a:solidFill>
            <a:prstDash val="solid"/>
          </a:ln>
        </p:spPr>
        <p:txBody>
          <a:bodyPr/>
          <a:lstStyle/>
          <a:p>
            <a:endParaRPr lang="en-IN"/>
          </a:p>
        </p:txBody>
      </p:sp>
      <p:sp>
        <p:nvSpPr>
          <p:cNvPr id="4" name="Text 2"/>
          <p:cNvSpPr/>
          <p:nvPr/>
        </p:nvSpPr>
        <p:spPr>
          <a:xfrm>
            <a:off x="274320" y="0"/>
            <a:ext cx="8595360" cy="658368"/>
          </a:xfrm>
          <a:prstGeom prst="rect">
            <a:avLst/>
          </a:prstGeom>
          <a:noFill/>
          <a:ln/>
        </p:spPr>
        <p:txBody>
          <a:bodyPr wrap="square" lIns="0" tIns="0" rIns="0" bIns="0"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09  |  References</a:t>
            </a:r>
            <a:endParaRPr lang="en-US" sz="2200" dirty="0">
              <a:latin typeface="Times New Roman" panose="02020603050405020304" pitchFamily="18" charset="0"/>
              <a:cs typeface="Times New Roman" panose="02020603050405020304" pitchFamily="18" charset="0"/>
            </a:endParaRPr>
          </a:p>
        </p:txBody>
      </p:sp>
      <p:grpSp>
        <p:nvGrpSpPr>
          <p:cNvPr id="41" name="Group 40">
            <a:extLst>
              <a:ext uri="{FF2B5EF4-FFF2-40B4-BE49-F238E27FC236}">
                <a16:creationId xmlns:a16="http://schemas.microsoft.com/office/drawing/2014/main" id="{4B3F4AA5-4A40-1185-AA13-B3642A7E8F61}"/>
              </a:ext>
            </a:extLst>
          </p:cNvPr>
          <p:cNvGrpSpPr/>
          <p:nvPr/>
        </p:nvGrpSpPr>
        <p:grpSpPr>
          <a:xfrm>
            <a:off x="320040" y="822960"/>
            <a:ext cx="8531352" cy="4082796"/>
            <a:chOff x="320040" y="822960"/>
            <a:chExt cx="8531352" cy="4082796"/>
          </a:xfrm>
        </p:grpSpPr>
        <p:sp>
          <p:nvSpPr>
            <p:cNvPr id="5" name="Shape 3"/>
            <p:cNvSpPr/>
            <p:nvPr/>
          </p:nvSpPr>
          <p:spPr>
            <a:xfrm>
              <a:off x="320040" y="822960"/>
              <a:ext cx="320040" cy="292608"/>
            </a:xfrm>
            <a:prstGeom prst="rect">
              <a:avLst/>
            </a:prstGeom>
            <a:solidFill>
              <a:srgbClr val="1E88E5"/>
            </a:solidFill>
            <a:ln w="12700">
              <a:solidFill>
                <a:srgbClr val="1E88E5"/>
              </a:solidFill>
              <a:prstDash val="solid"/>
            </a:ln>
          </p:spPr>
          <p:txBody>
            <a:bodyPr/>
            <a:lstStyle/>
            <a:p>
              <a:endParaRPr lang="en-IN" i="1">
                <a:latin typeface="Times New Roman" panose="02020603050405020304" pitchFamily="18" charset="0"/>
                <a:cs typeface="Times New Roman" panose="02020603050405020304" pitchFamily="18" charset="0"/>
              </a:endParaRPr>
            </a:p>
          </p:txBody>
        </p:sp>
        <p:sp>
          <p:nvSpPr>
            <p:cNvPr id="6" name="Text 4"/>
            <p:cNvSpPr/>
            <p:nvPr/>
          </p:nvSpPr>
          <p:spPr>
            <a:xfrm>
              <a:off x="320040" y="822960"/>
              <a:ext cx="320040" cy="292608"/>
            </a:xfrm>
            <a:prstGeom prst="rect">
              <a:avLst/>
            </a:prstGeom>
            <a:noFill/>
            <a:ln/>
          </p:spPr>
          <p:txBody>
            <a:bodyPr wrap="square" lIns="0" tIns="0" rIns="0" bIns="0" rtlCol="0" anchor="ctr"/>
            <a:lstStyle/>
            <a:p>
              <a:pPr marL="0" indent="0" algn="ctr">
                <a:buNone/>
              </a:pPr>
              <a:r>
                <a:rPr lang="en-US" sz="950" b="1" i="1" dirty="0">
                  <a:solidFill>
                    <a:srgbClr val="FFFFFF"/>
                  </a:solidFill>
                  <a:latin typeface="Times New Roman" panose="02020603050405020304" pitchFamily="18" charset="0"/>
                  <a:cs typeface="Times New Roman" panose="02020603050405020304" pitchFamily="18" charset="0"/>
                </a:rPr>
                <a:t>1</a:t>
              </a:r>
              <a:endParaRPr lang="en-US" sz="950" i="1" dirty="0">
                <a:latin typeface="Times New Roman" panose="02020603050405020304" pitchFamily="18" charset="0"/>
                <a:cs typeface="Times New Roman" panose="02020603050405020304" pitchFamily="18" charset="0"/>
              </a:endParaRPr>
            </a:p>
          </p:txBody>
        </p:sp>
        <p:sp>
          <p:nvSpPr>
            <p:cNvPr id="7" name="Text 5"/>
            <p:cNvSpPr/>
            <p:nvPr/>
          </p:nvSpPr>
          <p:spPr>
            <a:xfrm>
              <a:off x="713232" y="859536"/>
              <a:ext cx="8138160" cy="274320"/>
            </a:xfrm>
            <a:prstGeom prst="rect">
              <a:avLst/>
            </a:prstGeom>
            <a:noFill/>
            <a:ln/>
          </p:spPr>
          <p:txBody>
            <a:bodyPr wrap="square" lIns="0" tIns="0" rIns="0" bIns="0" rtlCol="0" anchor="ctr"/>
            <a:lstStyle/>
            <a:p>
              <a:pPr marL="0" indent="0">
                <a:buNone/>
              </a:pPr>
              <a:r>
                <a:rPr lang="en-US" sz="950" i="1" dirty="0">
                  <a:solidFill>
                    <a:srgbClr val="1A2B3C"/>
                  </a:solidFill>
                  <a:latin typeface="Times New Roman" panose="02020603050405020304" pitchFamily="18" charset="0"/>
                  <a:ea typeface="Calibri" pitchFamily="34" charset="-122"/>
                  <a:cs typeface="Times New Roman" panose="02020603050405020304" pitchFamily="18" charset="0"/>
                </a:rPr>
                <a:t>Antar, M.A., et al. (2006). Rainfall–runoff modelling using artificial neural networks technique: Blue Nile catchment case study. Hydrological Sciences Journal, 51(6), 1012–1025.</a:t>
              </a:r>
              <a:endParaRPr lang="en-US" sz="950" i="1" dirty="0">
                <a:latin typeface="Times New Roman" panose="02020603050405020304" pitchFamily="18" charset="0"/>
                <a:cs typeface="Times New Roman" panose="02020603050405020304" pitchFamily="18" charset="0"/>
              </a:endParaRPr>
            </a:p>
          </p:txBody>
        </p:sp>
        <p:sp>
          <p:nvSpPr>
            <p:cNvPr id="8" name="Shape 6"/>
            <p:cNvSpPr/>
            <p:nvPr/>
          </p:nvSpPr>
          <p:spPr>
            <a:xfrm>
              <a:off x="320040" y="1165860"/>
              <a:ext cx="320040" cy="292608"/>
            </a:xfrm>
            <a:prstGeom prst="rect">
              <a:avLst/>
            </a:prstGeom>
            <a:solidFill>
              <a:srgbClr val="00BCD4"/>
            </a:solidFill>
            <a:ln w="12700">
              <a:solidFill>
                <a:srgbClr val="00BCD4"/>
              </a:solidFill>
              <a:prstDash val="solid"/>
            </a:ln>
          </p:spPr>
          <p:txBody>
            <a:bodyPr/>
            <a:lstStyle/>
            <a:p>
              <a:endParaRPr lang="en-IN" i="1">
                <a:latin typeface="Times New Roman" panose="02020603050405020304" pitchFamily="18" charset="0"/>
                <a:cs typeface="Times New Roman" panose="02020603050405020304" pitchFamily="18" charset="0"/>
              </a:endParaRPr>
            </a:p>
          </p:txBody>
        </p:sp>
        <p:sp>
          <p:nvSpPr>
            <p:cNvPr id="9" name="Text 7"/>
            <p:cNvSpPr/>
            <p:nvPr/>
          </p:nvSpPr>
          <p:spPr>
            <a:xfrm>
              <a:off x="320040" y="1165860"/>
              <a:ext cx="320040" cy="292608"/>
            </a:xfrm>
            <a:prstGeom prst="rect">
              <a:avLst/>
            </a:prstGeom>
            <a:noFill/>
            <a:ln/>
          </p:spPr>
          <p:txBody>
            <a:bodyPr wrap="square" lIns="0" tIns="0" rIns="0" bIns="0" rtlCol="0" anchor="ctr"/>
            <a:lstStyle/>
            <a:p>
              <a:pPr marL="0" indent="0" algn="ctr">
                <a:buNone/>
              </a:pPr>
              <a:r>
                <a:rPr lang="en-US" sz="950" b="1" i="1" dirty="0">
                  <a:solidFill>
                    <a:srgbClr val="FFFFFF"/>
                  </a:solidFill>
                  <a:latin typeface="Times New Roman" panose="02020603050405020304" pitchFamily="18" charset="0"/>
                  <a:cs typeface="Times New Roman" panose="02020603050405020304" pitchFamily="18" charset="0"/>
                </a:rPr>
                <a:t>2</a:t>
              </a:r>
              <a:endParaRPr lang="en-US" sz="950" i="1" dirty="0">
                <a:latin typeface="Times New Roman" panose="02020603050405020304" pitchFamily="18" charset="0"/>
                <a:cs typeface="Times New Roman" panose="02020603050405020304" pitchFamily="18" charset="0"/>
              </a:endParaRPr>
            </a:p>
          </p:txBody>
        </p:sp>
        <p:sp>
          <p:nvSpPr>
            <p:cNvPr id="10" name="Text 8"/>
            <p:cNvSpPr/>
            <p:nvPr/>
          </p:nvSpPr>
          <p:spPr>
            <a:xfrm>
              <a:off x="713232" y="1202436"/>
              <a:ext cx="8138160" cy="274320"/>
            </a:xfrm>
            <a:prstGeom prst="rect">
              <a:avLst/>
            </a:prstGeom>
            <a:noFill/>
            <a:ln/>
          </p:spPr>
          <p:txBody>
            <a:bodyPr wrap="square" lIns="0" tIns="0" rIns="0" bIns="0" rtlCol="0" anchor="ctr"/>
            <a:lstStyle/>
            <a:p>
              <a:pPr marL="0" indent="0">
                <a:buNone/>
              </a:pPr>
              <a:r>
                <a:rPr lang="en-US" sz="950" i="1" dirty="0">
                  <a:solidFill>
                    <a:srgbClr val="1A2B3C"/>
                  </a:solidFill>
                  <a:latin typeface="Times New Roman" panose="02020603050405020304" pitchFamily="18" charset="0"/>
                  <a:ea typeface="Calibri" pitchFamily="34" charset="-122"/>
                  <a:cs typeface="Times New Roman" panose="02020603050405020304" pitchFamily="18" charset="0"/>
                </a:rPr>
                <a:t>Central Water Commission &amp; NRSC. (2014). Godavari Basin Report, Version 2.0. Government of India.</a:t>
              </a:r>
              <a:endParaRPr lang="en-US" sz="950" i="1" dirty="0">
                <a:latin typeface="Times New Roman" panose="02020603050405020304" pitchFamily="18" charset="0"/>
                <a:cs typeface="Times New Roman" panose="02020603050405020304" pitchFamily="18" charset="0"/>
              </a:endParaRPr>
            </a:p>
          </p:txBody>
        </p:sp>
        <p:sp>
          <p:nvSpPr>
            <p:cNvPr id="11" name="Shape 9"/>
            <p:cNvSpPr/>
            <p:nvPr/>
          </p:nvSpPr>
          <p:spPr>
            <a:xfrm>
              <a:off x="320040" y="1508760"/>
              <a:ext cx="320040" cy="292608"/>
            </a:xfrm>
            <a:prstGeom prst="rect">
              <a:avLst/>
            </a:prstGeom>
            <a:solidFill>
              <a:srgbClr val="1E88E5"/>
            </a:solidFill>
            <a:ln w="12700">
              <a:solidFill>
                <a:srgbClr val="1E88E5"/>
              </a:solidFill>
              <a:prstDash val="solid"/>
            </a:ln>
          </p:spPr>
          <p:txBody>
            <a:bodyPr/>
            <a:lstStyle/>
            <a:p>
              <a:endParaRPr lang="en-IN" i="1">
                <a:latin typeface="Times New Roman" panose="02020603050405020304" pitchFamily="18" charset="0"/>
                <a:cs typeface="Times New Roman" panose="02020603050405020304" pitchFamily="18" charset="0"/>
              </a:endParaRPr>
            </a:p>
          </p:txBody>
        </p:sp>
        <p:sp>
          <p:nvSpPr>
            <p:cNvPr id="12" name="Text 10"/>
            <p:cNvSpPr/>
            <p:nvPr/>
          </p:nvSpPr>
          <p:spPr>
            <a:xfrm>
              <a:off x="320040" y="1508760"/>
              <a:ext cx="320040" cy="292608"/>
            </a:xfrm>
            <a:prstGeom prst="rect">
              <a:avLst/>
            </a:prstGeom>
            <a:noFill/>
            <a:ln/>
          </p:spPr>
          <p:txBody>
            <a:bodyPr wrap="square" lIns="0" tIns="0" rIns="0" bIns="0" rtlCol="0" anchor="ctr"/>
            <a:lstStyle/>
            <a:p>
              <a:pPr marL="0" indent="0" algn="ctr">
                <a:buNone/>
              </a:pPr>
              <a:r>
                <a:rPr lang="en-US" sz="950" b="1" i="1" dirty="0">
                  <a:solidFill>
                    <a:srgbClr val="FFFFFF"/>
                  </a:solidFill>
                  <a:latin typeface="Times New Roman" panose="02020603050405020304" pitchFamily="18" charset="0"/>
                  <a:cs typeface="Times New Roman" panose="02020603050405020304" pitchFamily="18" charset="0"/>
                </a:rPr>
                <a:t>3</a:t>
              </a:r>
              <a:endParaRPr lang="en-US" sz="950" i="1" dirty="0">
                <a:latin typeface="Times New Roman" panose="02020603050405020304" pitchFamily="18" charset="0"/>
                <a:cs typeface="Times New Roman" panose="02020603050405020304" pitchFamily="18" charset="0"/>
              </a:endParaRPr>
            </a:p>
          </p:txBody>
        </p:sp>
        <p:sp>
          <p:nvSpPr>
            <p:cNvPr id="13" name="Text 11"/>
            <p:cNvSpPr/>
            <p:nvPr/>
          </p:nvSpPr>
          <p:spPr>
            <a:xfrm>
              <a:off x="713232" y="1545336"/>
              <a:ext cx="8138160" cy="274320"/>
            </a:xfrm>
            <a:prstGeom prst="rect">
              <a:avLst/>
            </a:prstGeom>
            <a:noFill/>
            <a:ln/>
          </p:spPr>
          <p:txBody>
            <a:bodyPr wrap="square" lIns="0" tIns="0" rIns="0" bIns="0" rtlCol="0" anchor="ctr"/>
            <a:lstStyle/>
            <a:p>
              <a:pPr marL="0" indent="0">
                <a:buNone/>
              </a:pPr>
              <a:r>
                <a:rPr lang="en-US" sz="950" i="1" dirty="0">
                  <a:solidFill>
                    <a:srgbClr val="1A2B3C"/>
                  </a:solidFill>
                  <a:latin typeface="Times New Roman" panose="02020603050405020304" pitchFamily="18" charset="0"/>
                  <a:ea typeface="Calibri" pitchFamily="34" charset="-122"/>
                  <a:cs typeface="Times New Roman" panose="02020603050405020304" pitchFamily="18" charset="0"/>
                </a:rPr>
                <a:t>Hochreiter, S. &amp; Schmidhuber, J. (1997). Long Short-Term Memory. Neural Computation, 9(8), 1735–1780.</a:t>
              </a:r>
              <a:endParaRPr lang="en-US" sz="950" i="1" dirty="0">
                <a:latin typeface="Times New Roman" panose="02020603050405020304" pitchFamily="18" charset="0"/>
                <a:cs typeface="Times New Roman" panose="02020603050405020304" pitchFamily="18" charset="0"/>
              </a:endParaRPr>
            </a:p>
          </p:txBody>
        </p:sp>
        <p:sp>
          <p:nvSpPr>
            <p:cNvPr id="14" name="Shape 12"/>
            <p:cNvSpPr/>
            <p:nvPr/>
          </p:nvSpPr>
          <p:spPr>
            <a:xfrm>
              <a:off x="320040" y="1851660"/>
              <a:ext cx="320040" cy="292608"/>
            </a:xfrm>
            <a:prstGeom prst="rect">
              <a:avLst/>
            </a:prstGeom>
            <a:solidFill>
              <a:srgbClr val="00BCD4"/>
            </a:solidFill>
            <a:ln w="12700">
              <a:solidFill>
                <a:srgbClr val="00BCD4"/>
              </a:solidFill>
              <a:prstDash val="solid"/>
            </a:ln>
          </p:spPr>
          <p:txBody>
            <a:bodyPr/>
            <a:lstStyle/>
            <a:p>
              <a:endParaRPr lang="en-IN" i="1">
                <a:latin typeface="Times New Roman" panose="02020603050405020304" pitchFamily="18" charset="0"/>
                <a:cs typeface="Times New Roman" panose="02020603050405020304" pitchFamily="18" charset="0"/>
              </a:endParaRPr>
            </a:p>
          </p:txBody>
        </p:sp>
        <p:sp>
          <p:nvSpPr>
            <p:cNvPr id="15" name="Text 13"/>
            <p:cNvSpPr/>
            <p:nvPr/>
          </p:nvSpPr>
          <p:spPr>
            <a:xfrm>
              <a:off x="320040" y="1851660"/>
              <a:ext cx="320040" cy="292608"/>
            </a:xfrm>
            <a:prstGeom prst="rect">
              <a:avLst/>
            </a:prstGeom>
            <a:noFill/>
            <a:ln/>
          </p:spPr>
          <p:txBody>
            <a:bodyPr wrap="square" lIns="0" tIns="0" rIns="0" bIns="0" rtlCol="0" anchor="ctr"/>
            <a:lstStyle/>
            <a:p>
              <a:pPr marL="0" indent="0" algn="ctr">
                <a:buNone/>
              </a:pPr>
              <a:r>
                <a:rPr lang="en-US" sz="950" b="1" i="1" dirty="0">
                  <a:solidFill>
                    <a:srgbClr val="FFFFFF"/>
                  </a:solidFill>
                  <a:latin typeface="Times New Roman" panose="02020603050405020304" pitchFamily="18" charset="0"/>
                  <a:cs typeface="Times New Roman" panose="02020603050405020304" pitchFamily="18" charset="0"/>
                </a:rPr>
                <a:t>4</a:t>
              </a:r>
              <a:endParaRPr lang="en-US" sz="950" i="1" dirty="0">
                <a:latin typeface="Times New Roman" panose="02020603050405020304" pitchFamily="18" charset="0"/>
                <a:cs typeface="Times New Roman" panose="02020603050405020304" pitchFamily="18" charset="0"/>
              </a:endParaRPr>
            </a:p>
          </p:txBody>
        </p:sp>
        <p:sp>
          <p:nvSpPr>
            <p:cNvPr id="16" name="Text 14"/>
            <p:cNvSpPr/>
            <p:nvPr/>
          </p:nvSpPr>
          <p:spPr>
            <a:xfrm>
              <a:off x="713232" y="1888236"/>
              <a:ext cx="8138160" cy="274320"/>
            </a:xfrm>
            <a:prstGeom prst="rect">
              <a:avLst/>
            </a:prstGeom>
            <a:noFill/>
            <a:ln/>
          </p:spPr>
          <p:txBody>
            <a:bodyPr wrap="square" lIns="0" tIns="0" rIns="0" bIns="0" rtlCol="0" anchor="ctr"/>
            <a:lstStyle/>
            <a:p>
              <a:pPr marL="0" indent="0">
                <a:buNone/>
              </a:pPr>
              <a:r>
                <a:rPr lang="en-US" sz="950" i="1" dirty="0">
                  <a:solidFill>
                    <a:srgbClr val="1A2B3C"/>
                  </a:solidFill>
                  <a:latin typeface="Times New Roman" panose="02020603050405020304" pitchFamily="18" charset="0"/>
                  <a:ea typeface="Calibri" pitchFamily="34" charset="-122"/>
                  <a:cs typeface="Times New Roman" panose="02020603050405020304" pitchFamily="18" charset="0"/>
                </a:rPr>
                <a:t>Koza, J. (1992). Genetic Programming: On the Programming of Computers by Means of Natural Selection. MIT Press.</a:t>
              </a:r>
              <a:endParaRPr lang="en-US" sz="950" i="1" dirty="0">
                <a:latin typeface="Times New Roman" panose="02020603050405020304" pitchFamily="18" charset="0"/>
                <a:cs typeface="Times New Roman" panose="02020603050405020304" pitchFamily="18" charset="0"/>
              </a:endParaRPr>
            </a:p>
          </p:txBody>
        </p:sp>
        <p:sp>
          <p:nvSpPr>
            <p:cNvPr id="17" name="Shape 15"/>
            <p:cNvSpPr/>
            <p:nvPr/>
          </p:nvSpPr>
          <p:spPr>
            <a:xfrm>
              <a:off x="320040" y="2194560"/>
              <a:ext cx="320040" cy="292608"/>
            </a:xfrm>
            <a:prstGeom prst="rect">
              <a:avLst/>
            </a:prstGeom>
            <a:solidFill>
              <a:srgbClr val="1E88E5"/>
            </a:solidFill>
            <a:ln w="12700">
              <a:solidFill>
                <a:srgbClr val="1E88E5"/>
              </a:solidFill>
              <a:prstDash val="solid"/>
            </a:ln>
          </p:spPr>
          <p:txBody>
            <a:bodyPr/>
            <a:lstStyle/>
            <a:p>
              <a:endParaRPr lang="en-IN" i="1">
                <a:latin typeface="Times New Roman" panose="02020603050405020304" pitchFamily="18" charset="0"/>
                <a:cs typeface="Times New Roman" panose="02020603050405020304" pitchFamily="18" charset="0"/>
              </a:endParaRPr>
            </a:p>
          </p:txBody>
        </p:sp>
        <p:sp>
          <p:nvSpPr>
            <p:cNvPr id="18" name="Text 16"/>
            <p:cNvSpPr/>
            <p:nvPr/>
          </p:nvSpPr>
          <p:spPr>
            <a:xfrm>
              <a:off x="320040" y="2194560"/>
              <a:ext cx="320040" cy="292608"/>
            </a:xfrm>
            <a:prstGeom prst="rect">
              <a:avLst/>
            </a:prstGeom>
            <a:noFill/>
            <a:ln/>
          </p:spPr>
          <p:txBody>
            <a:bodyPr wrap="square" lIns="0" tIns="0" rIns="0" bIns="0" rtlCol="0" anchor="ctr"/>
            <a:lstStyle/>
            <a:p>
              <a:pPr marL="0" indent="0" algn="ctr">
                <a:buNone/>
              </a:pPr>
              <a:r>
                <a:rPr lang="en-US" sz="950" b="1" i="1" dirty="0">
                  <a:solidFill>
                    <a:srgbClr val="FFFFFF"/>
                  </a:solidFill>
                  <a:latin typeface="Times New Roman" panose="02020603050405020304" pitchFamily="18" charset="0"/>
                  <a:cs typeface="Times New Roman" panose="02020603050405020304" pitchFamily="18" charset="0"/>
                </a:rPr>
                <a:t>5</a:t>
              </a:r>
              <a:endParaRPr lang="en-US" sz="950" i="1" dirty="0">
                <a:latin typeface="Times New Roman" panose="02020603050405020304" pitchFamily="18" charset="0"/>
                <a:cs typeface="Times New Roman" panose="02020603050405020304" pitchFamily="18" charset="0"/>
              </a:endParaRPr>
            </a:p>
          </p:txBody>
        </p:sp>
        <p:sp>
          <p:nvSpPr>
            <p:cNvPr id="19" name="Text 17"/>
            <p:cNvSpPr/>
            <p:nvPr/>
          </p:nvSpPr>
          <p:spPr>
            <a:xfrm>
              <a:off x="713232" y="2231136"/>
              <a:ext cx="8138160" cy="274320"/>
            </a:xfrm>
            <a:prstGeom prst="rect">
              <a:avLst/>
            </a:prstGeom>
            <a:noFill/>
            <a:ln/>
          </p:spPr>
          <p:txBody>
            <a:bodyPr wrap="square" lIns="0" tIns="0" rIns="0" bIns="0" rtlCol="0" anchor="ctr"/>
            <a:lstStyle/>
            <a:p>
              <a:pPr marL="0" indent="0">
                <a:buNone/>
              </a:pPr>
              <a:r>
                <a:rPr lang="en-US" sz="950" i="1" dirty="0">
                  <a:solidFill>
                    <a:srgbClr val="1A2B3C"/>
                  </a:solidFill>
                  <a:latin typeface="Times New Roman" panose="02020603050405020304" pitchFamily="18" charset="0"/>
                  <a:ea typeface="Calibri" pitchFamily="34" charset="-122"/>
                  <a:cs typeface="Times New Roman" panose="02020603050405020304" pitchFamily="18" charset="0"/>
                </a:rPr>
                <a:t>Liong, S.Y., et al. (2002). Genetic programming: A new paradigm in rainfall–runoff modeling. Journal of the American Water Resources Association, 38(3), 705–718.</a:t>
              </a:r>
              <a:endParaRPr lang="en-US" sz="950" i="1" dirty="0">
                <a:latin typeface="Times New Roman" panose="02020603050405020304" pitchFamily="18" charset="0"/>
                <a:cs typeface="Times New Roman" panose="02020603050405020304" pitchFamily="18" charset="0"/>
              </a:endParaRPr>
            </a:p>
          </p:txBody>
        </p:sp>
        <p:sp>
          <p:nvSpPr>
            <p:cNvPr id="20" name="Shape 18"/>
            <p:cNvSpPr/>
            <p:nvPr/>
          </p:nvSpPr>
          <p:spPr>
            <a:xfrm>
              <a:off x="320040" y="2537460"/>
              <a:ext cx="320040" cy="292608"/>
            </a:xfrm>
            <a:prstGeom prst="rect">
              <a:avLst/>
            </a:prstGeom>
            <a:solidFill>
              <a:srgbClr val="00BCD4"/>
            </a:solidFill>
            <a:ln w="12700">
              <a:solidFill>
                <a:srgbClr val="00BCD4"/>
              </a:solidFill>
              <a:prstDash val="solid"/>
            </a:ln>
          </p:spPr>
          <p:txBody>
            <a:bodyPr/>
            <a:lstStyle/>
            <a:p>
              <a:endParaRPr lang="en-IN" i="1">
                <a:latin typeface="Times New Roman" panose="02020603050405020304" pitchFamily="18" charset="0"/>
                <a:cs typeface="Times New Roman" panose="02020603050405020304" pitchFamily="18" charset="0"/>
              </a:endParaRPr>
            </a:p>
          </p:txBody>
        </p:sp>
        <p:sp>
          <p:nvSpPr>
            <p:cNvPr id="21" name="Text 19"/>
            <p:cNvSpPr/>
            <p:nvPr/>
          </p:nvSpPr>
          <p:spPr>
            <a:xfrm>
              <a:off x="320040" y="2537460"/>
              <a:ext cx="320040" cy="292608"/>
            </a:xfrm>
            <a:prstGeom prst="rect">
              <a:avLst/>
            </a:prstGeom>
            <a:noFill/>
            <a:ln/>
          </p:spPr>
          <p:txBody>
            <a:bodyPr wrap="square" lIns="0" tIns="0" rIns="0" bIns="0" rtlCol="0" anchor="ctr"/>
            <a:lstStyle/>
            <a:p>
              <a:pPr marL="0" indent="0" algn="ctr">
                <a:buNone/>
              </a:pPr>
              <a:r>
                <a:rPr lang="en-US" sz="950" b="1" i="1" dirty="0">
                  <a:solidFill>
                    <a:srgbClr val="FFFFFF"/>
                  </a:solidFill>
                  <a:latin typeface="Times New Roman" panose="02020603050405020304" pitchFamily="18" charset="0"/>
                  <a:cs typeface="Times New Roman" panose="02020603050405020304" pitchFamily="18" charset="0"/>
                </a:rPr>
                <a:t>6</a:t>
              </a:r>
              <a:endParaRPr lang="en-US" sz="950" i="1" dirty="0">
                <a:latin typeface="Times New Roman" panose="02020603050405020304" pitchFamily="18" charset="0"/>
                <a:cs typeface="Times New Roman" panose="02020603050405020304" pitchFamily="18" charset="0"/>
              </a:endParaRPr>
            </a:p>
          </p:txBody>
        </p:sp>
        <p:sp>
          <p:nvSpPr>
            <p:cNvPr id="22" name="Text 20"/>
            <p:cNvSpPr/>
            <p:nvPr/>
          </p:nvSpPr>
          <p:spPr>
            <a:xfrm>
              <a:off x="713232" y="2574036"/>
              <a:ext cx="8138160" cy="274320"/>
            </a:xfrm>
            <a:prstGeom prst="rect">
              <a:avLst/>
            </a:prstGeom>
            <a:noFill/>
            <a:ln/>
          </p:spPr>
          <p:txBody>
            <a:bodyPr wrap="square" lIns="0" tIns="0" rIns="0" bIns="0" rtlCol="0" anchor="ctr"/>
            <a:lstStyle/>
            <a:p>
              <a:pPr marL="0" indent="0">
                <a:buNone/>
              </a:pPr>
              <a:r>
                <a:rPr lang="en-US" sz="950" i="1" dirty="0">
                  <a:solidFill>
                    <a:srgbClr val="1A2B3C"/>
                  </a:solidFill>
                  <a:latin typeface="Times New Roman" panose="02020603050405020304" pitchFamily="18" charset="0"/>
                  <a:ea typeface="Calibri" pitchFamily="34" charset="-122"/>
                  <a:cs typeface="Times New Roman" panose="02020603050405020304" pitchFamily="18" charset="0"/>
                </a:rPr>
                <a:t>Mann, H.B. (1945). Nonparametric tests against trend. Econometrica, 13(3), 245–259.</a:t>
              </a:r>
              <a:endParaRPr lang="en-US" sz="950" i="1" dirty="0">
                <a:latin typeface="Times New Roman" panose="02020603050405020304" pitchFamily="18" charset="0"/>
                <a:cs typeface="Times New Roman" panose="02020603050405020304" pitchFamily="18" charset="0"/>
              </a:endParaRPr>
            </a:p>
          </p:txBody>
        </p:sp>
        <p:sp>
          <p:nvSpPr>
            <p:cNvPr id="23" name="Shape 21"/>
            <p:cNvSpPr/>
            <p:nvPr/>
          </p:nvSpPr>
          <p:spPr>
            <a:xfrm>
              <a:off x="320040" y="2880360"/>
              <a:ext cx="320040" cy="292608"/>
            </a:xfrm>
            <a:prstGeom prst="rect">
              <a:avLst/>
            </a:prstGeom>
            <a:solidFill>
              <a:srgbClr val="1E88E5"/>
            </a:solidFill>
            <a:ln w="12700">
              <a:solidFill>
                <a:srgbClr val="1E88E5"/>
              </a:solidFill>
              <a:prstDash val="solid"/>
            </a:ln>
          </p:spPr>
          <p:txBody>
            <a:bodyPr/>
            <a:lstStyle/>
            <a:p>
              <a:endParaRPr lang="en-IN" i="1">
                <a:latin typeface="Times New Roman" panose="02020603050405020304" pitchFamily="18" charset="0"/>
                <a:cs typeface="Times New Roman" panose="02020603050405020304" pitchFamily="18" charset="0"/>
              </a:endParaRPr>
            </a:p>
          </p:txBody>
        </p:sp>
        <p:sp>
          <p:nvSpPr>
            <p:cNvPr id="24" name="Text 22"/>
            <p:cNvSpPr/>
            <p:nvPr/>
          </p:nvSpPr>
          <p:spPr>
            <a:xfrm>
              <a:off x="320040" y="2880360"/>
              <a:ext cx="320040" cy="292608"/>
            </a:xfrm>
            <a:prstGeom prst="rect">
              <a:avLst/>
            </a:prstGeom>
            <a:noFill/>
            <a:ln/>
          </p:spPr>
          <p:txBody>
            <a:bodyPr wrap="square" lIns="0" tIns="0" rIns="0" bIns="0" rtlCol="0" anchor="ctr"/>
            <a:lstStyle/>
            <a:p>
              <a:pPr marL="0" indent="0" algn="ctr">
                <a:buNone/>
              </a:pPr>
              <a:r>
                <a:rPr lang="en-US" sz="950" b="1" i="1" dirty="0">
                  <a:solidFill>
                    <a:srgbClr val="FFFFFF"/>
                  </a:solidFill>
                  <a:latin typeface="Times New Roman" panose="02020603050405020304" pitchFamily="18" charset="0"/>
                  <a:cs typeface="Times New Roman" panose="02020603050405020304" pitchFamily="18" charset="0"/>
                </a:rPr>
                <a:t>7</a:t>
              </a:r>
              <a:endParaRPr lang="en-US" sz="950" i="1" dirty="0">
                <a:latin typeface="Times New Roman" panose="02020603050405020304" pitchFamily="18" charset="0"/>
                <a:cs typeface="Times New Roman" panose="02020603050405020304" pitchFamily="18" charset="0"/>
              </a:endParaRPr>
            </a:p>
          </p:txBody>
        </p:sp>
        <p:sp>
          <p:nvSpPr>
            <p:cNvPr id="25" name="Text 23"/>
            <p:cNvSpPr/>
            <p:nvPr/>
          </p:nvSpPr>
          <p:spPr>
            <a:xfrm>
              <a:off x="713232" y="2916936"/>
              <a:ext cx="8138160" cy="274320"/>
            </a:xfrm>
            <a:prstGeom prst="rect">
              <a:avLst/>
            </a:prstGeom>
            <a:noFill/>
            <a:ln/>
          </p:spPr>
          <p:txBody>
            <a:bodyPr wrap="square" lIns="0" tIns="0" rIns="0" bIns="0" rtlCol="0" anchor="ctr"/>
            <a:lstStyle/>
            <a:p>
              <a:pPr marL="0" indent="0">
                <a:buNone/>
              </a:pPr>
              <a:r>
                <a:rPr lang="en-US" sz="950" i="1" dirty="0">
                  <a:solidFill>
                    <a:srgbClr val="1A2B3C"/>
                  </a:solidFill>
                  <a:latin typeface="Times New Roman" panose="02020603050405020304" pitchFamily="18" charset="0"/>
                  <a:ea typeface="Calibri" pitchFamily="34" charset="-122"/>
                  <a:cs typeface="Times New Roman" panose="02020603050405020304" pitchFamily="18" charset="0"/>
                </a:rPr>
                <a:t>Potapov, P., et al. (2022). Global maps of cropland extent and change show accelerated cropland expansion in the twenty-first century. Nature Food, 3, 19–28.</a:t>
              </a:r>
              <a:endParaRPr lang="en-US" sz="950" i="1" dirty="0">
                <a:latin typeface="Times New Roman" panose="02020603050405020304" pitchFamily="18" charset="0"/>
                <a:cs typeface="Times New Roman" panose="02020603050405020304" pitchFamily="18" charset="0"/>
              </a:endParaRPr>
            </a:p>
          </p:txBody>
        </p:sp>
        <p:sp>
          <p:nvSpPr>
            <p:cNvPr id="26" name="Shape 24"/>
            <p:cNvSpPr/>
            <p:nvPr/>
          </p:nvSpPr>
          <p:spPr>
            <a:xfrm>
              <a:off x="320040" y="3223260"/>
              <a:ext cx="320040" cy="292608"/>
            </a:xfrm>
            <a:prstGeom prst="rect">
              <a:avLst/>
            </a:prstGeom>
            <a:solidFill>
              <a:srgbClr val="00BCD4"/>
            </a:solidFill>
            <a:ln w="12700">
              <a:solidFill>
                <a:srgbClr val="00BCD4"/>
              </a:solidFill>
              <a:prstDash val="solid"/>
            </a:ln>
          </p:spPr>
          <p:txBody>
            <a:bodyPr/>
            <a:lstStyle/>
            <a:p>
              <a:endParaRPr lang="en-IN" i="1">
                <a:latin typeface="Times New Roman" panose="02020603050405020304" pitchFamily="18" charset="0"/>
                <a:cs typeface="Times New Roman" panose="02020603050405020304" pitchFamily="18" charset="0"/>
              </a:endParaRPr>
            </a:p>
          </p:txBody>
        </p:sp>
        <p:sp>
          <p:nvSpPr>
            <p:cNvPr id="27" name="Text 25"/>
            <p:cNvSpPr/>
            <p:nvPr/>
          </p:nvSpPr>
          <p:spPr>
            <a:xfrm>
              <a:off x="320040" y="3223260"/>
              <a:ext cx="320040" cy="292608"/>
            </a:xfrm>
            <a:prstGeom prst="rect">
              <a:avLst/>
            </a:prstGeom>
            <a:noFill/>
            <a:ln/>
          </p:spPr>
          <p:txBody>
            <a:bodyPr wrap="square" lIns="0" tIns="0" rIns="0" bIns="0" rtlCol="0" anchor="ctr"/>
            <a:lstStyle/>
            <a:p>
              <a:pPr marL="0" indent="0" algn="ctr">
                <a:buNone/>
              </a:pPr>
              <a:r>
                <a:rPr lang="en-US" sz="950" b="1" i="1" dirty="0">
                  <a:solidFill>
                    <a:srgbClr val="FFFFFF"/>
                  </a:solidFill>
                  <a:latin typeface="Times New Roman" panose="02020603050405020304" pitchFamily="18" charset="0"/>
                  <a:cs typeface="Times New Roman" panose="02020603050405020304" pitchFamily="18" charset="0"/>
                </a:rPr>
                <a:t>8</a:t>
              </a:r>
              <a:endParaRPr lang="en-US" sz="950" i="1" dirty="0">
                <a:latin typeface="Times New Roman" panose="02020603050405020304" pitchFamily="18" charset="0"/>
                <a:cs typeface="Times New Roman" panose="02020603050405020304" pitchFamily="18" charset="0"/>
              </a:endParaRPr>
            </a:p>
          </p:txBody>
        </p:sp>
        <p:sp>
          <p:nvSpPr>
            <p:cNvPr id="28" name="Text 26"/>
            <p:cNvSpPr/>
            <p:nvPr/>
          </p:nvSpPr>
          <p:spPr>
            <a:xfrm>
              <a:off x="713232" y="3259836"/>
              <a:ext cx="8138160" cy="274320"/>
            </a:xfrm>
            <a:prstGeom prst="rect">
              <a:avLst/>
            </a:prstGeom>
            <a:noFill/>
            <a:ln/>
          </p:spPr>
          <p:txBody>
            <a:bodyPr wrap="square" lIns="0" tIns="0" rIns="0" bIns="0" rtlCol="0" anchor="ctr"/>
            <a:lstStyle/>
            <a:p>
              <a:pPr marL="0" indent="0">
                <a:buNone/>
              </a:pPr>
              <a:r>
                <a:rPr lang="en-US" sz="950" i="1" dirty="0">
                  <a:solidFill>
                    <a:srgbClr val="1A2B3C"/>
                  </a:solidFill>
                  <a:latin typeface="Times New Roman" panose="02020603050405020304" pitchFamily="18" charset="0"/>
                  <a:ea typeface="Calibri" pitchFamily="34" charset="-122"/>
                  <a:cs typeface="Times New Roman" panose="02020603050405020304" pitchFamily="18" charset="0"/>
                </a:rPr>
                <a:t>Savic, D.A., et al. (1999). Genetic programming technique for calibrating rainfall-runoff models. Nordic Hydrology, 30(3), 233–250.</a:t>
              </a:r>
              <a:endParaRPr lang="en-US" sz="950" i="1" dirty="0">
                <a:latin typeface="Times New Roman" panose="02020603050405020304" pitchFamily="18" charset="0"/>
                <a:cs typeface="Times New Roman" panose="02020603050405020304" pitchFamily="18" charset="0"/>
              </a:endParaRPr>
            </a:p>
          </p:txBody>
        </p:sp>
        <p:sp>
          <p:nvSpPr>
            <p:cNvPr id="29" name="Shape 27"/>
            <p:cNvSpPr/>
            <p:nvPr/>
          </p:nvSpPr>
          <p:spPr>
            <a:xfrm>
              <a:off x="320040" y="3566160"/>
              <a:ext cx="320040" cy="292608"/>
            </a:xfrm>
            <a:prstGeom prst="rect">
              <a:avLst/>
            </a:prstGeom>
            <a:solidFill>
              <a:srgbClr val="1E88E5"/>
            </a:solidFill>
            <a:ln w="12700">
              <a:solidFill>
                <a:srgbClr val="1E88E5"/>
              </a:solidFill>
              <a:prstDash val="solid"/>
            </a:ln>
          </p:spPr>
          <p:txBody>
            <a:bodyPr/>
            <a:lstStyle/>
            <a:p>
              <a:endParaRPr lang="en-IN" i="1">
                <a:latin typeface="Times New Roman" panose="02020603050405020304" pitchFamily="18" charset="0"/>
                <a:cs typeface="Times New Roman" panose="02020603050405020304" pitchFamily="18" charset="0"/>
              </a:endParaRPr>
            </a:p>
          </p:txBody>
        </p:sp>
        <p:sp>
          <p:nvSpPr>
            <p:cNvPr id="30" name="Text 28"/>
            <p:cNvSpPr/>
            <p:nvPr/>
          </p:nvSpPr>
          <p:spPr>
            <a:xfrm>
              <a:off x="320040" y="3566160"/>
              <a:ext cx="320040" cy="292608"/>
            </a:xfrm>
            <a:prstGeom prst="rect">
              <a:avLst/>
            </a:prstGeom>
            <a:noFill/>
            <a:ln/>
          </p:spPr>
          <p:txBody>
            <a:bodyPr wrap="square" lIns="0" tIns="0" rIns="0" bIns="0" rtlCol="0" anchor="ctr"/>
            <a:lstStyle/>
            <a:p>
              <a:pPr marL="0" indent="0" algn="ctr">
                <a:buNone/>
              </a:pPr>
              <a:r>
                <a:rPr lang="en-US" sz="950" b="1" i="1" dirty="0">
                  <a:solidFill>
                    <a:srgbClr val="FFFFFF"/>
                  </a:solidFill>
                  <a:latin typeface="Times New Roman" panose="02020603050405020304" pitchFamily="18" charset="0"/>
                  <a:cs typeface="Times New Roman" panose="02020603050405020304" pitchFamily="18" charset="0"/>
                </a:rPr>
                <a:t>9</a:t>
              </a:r>
              <a:endParaRPr lang="en-US" sz="950" i="1" dirty="0">
                <a:latin typeface="Times New Roman" panose="02020603050405020304" pitchFamily="18" charset="0"/>
                <a:cs typeface="Times New Roman" panose="02020603050405020304" pitchFamily="18" charset="0"/>
              </a:endParaRPr>
            </a:p>
          </p:txBody>
        </p:sp>
        <p:sp>
          <p:nvSpPr>
            <p:cNvPr id="31" name="Text 29"/>
            <p:cNvSpPr/>
            <p:nvPr/>
          </p:nvSpPr>
          <p:spPr>
            <a:xfrm>
              <a:off x="713232" y="3602736"/>
              <a:ext cx="8138160" cy="274320"/>
            </a:xfrm>
            <a:prstGeom prst="rect">
              <a:avLst/>
            </a:prstGeom>
            <a:noFill/>
            <a:ln/>
          </p:spPr>
          <p:txBody>
            <a:bodyPr wrap="square" lIns="0" tIns="0" rIns="0" bIns="0" rtlCol="0" anchor="ctr"/>
            <a:lstStyle/>
            <a:p>
              <a:pPr marL="0" indent="0">
                <a:buNone/>
              </a:pPr>
              <a:r>
                <a:rPr lang="en-US" sz="950" i="1" dirty="0">
                  <a:solidFill>
                    <a:srgbClr val="1A2B3C"/>
                  </a:solidFill>
                  <a:latin typeface="Times New Roman" panose="02020603050405020304" pitchFamily="18" charset="0"/>
                  <a:ea typeface="Calibri" pitchFamily="34" charset="-122"/>
                  <a:cs typeface="Times New Roman" panose="02020603050405020304" pitchFamily="18" charset="0"/>
                </a:rPr>
                <a:t>Sen, P.K. (1968). Estimates of the regression coefficient based on Kendall's tau. Journal of the American Statistical Association, 63(324), 1379–1389.</a:t>
              </a:r>
              <a:endParaRPr lang="en-US" sz="950" i="1" dirty="0">
                <a:latin typeface="Times New Roman" panose="02020603050405020304" pitchFamily="18" charset="0"/>
                <a:cs typeface="Times New Roman" panose="02020603050405020304" pitchFamily="18" charset="0"/>
              </a:endParaRPr>
            </a:p>
          </p:txBody>
        </p:sp>
        <p:sp>
          <p:nvSpPr>
            <p:cNvPr id="32" name="Shape 30"/>
            <p:cNvSpPr/>
            <p:nvPr/>
          </p:nvSpPr>
          <p:spPr>
            <a:xfrm>
              <a:off x="320040" y="3909060"/>
              <a:ext cx="320040" cy="292608"/>
            </a:xfrm>
            <a:prstGeom prst="rect">
              <a:avLst/>
            </a:prstGeom>
            <a:solidFill>
              <a:srgbClr val="00BCD4"/>
            </a:solidFill>
            <a:ln w="12700">
              <a:solidFill>
                <a:srgbClr val="00BCD4"/>
              </a:solidFill>
              <a:prstDash val="solid"/>
            </a:ln>
          </p:spPr>
          <p:txBody>
            <a:bodyPr/>
            <a:lstStyle/>
            <a:p>
              <a:endParaRPr lang="en-IN" i="1">
                <a:latin typeface="Times New Roman" panose="02020603050405020304" pitchFamily="18" charset="0"/>
                <a:cs typeface="Times New Roman" panose="02020603050405020304" pitchFamily="18" charset="0"/>
              </a:endParaRPr>
            </a:p>
          </p:txBody>
        </p:sp>
        <p:sp>
          <p:nvSpPr>
            <p:cNvPr id="33" name="Text 31"/>
            <p:cNvSpPr/>
            <p:nvPr/>
          </p:nvSpPr>
          <p:spPr>
            <a:xfrm>
              <a:off x="320040" y="3909060"/>
              <a:ext cx="320040" cy="292608"/>
            </a:xfrm>
            <a:prstGeom prst="rect">
              <a:avLst/>
            </a:prstGeom>
            <a:noFill/>
            <a:ln/>
          </p:spPr>
          <p:txBody>
            <a:bodyPr wrap="square" lIns="0" tIns="0" rIns="0" bIns="0" rtlCol="0" anchor="ctr"/>
            <a:lstStyle/>
            <a:p>
              <a:pPr marL="0" indent="0" algn="ctr">
                <a:buNone/>
              </a:pPr>
              <a:r>
                <a:rPr lang="en-US" sz="950" b="1" i="1" dirty="0">
                  <a:solidFill>
                    <a:srgbClr val="FFFFFF"/>
                  </a:solidFill>
                  <a:latin typeface="Times New Roman" panose="02020603050405020304" pitchFamily="18" charset="0"/>
                  <a:cs typeface="Times New Roman" panose="02020603050405020304" pitchFamily="18" charset="0"/>
                </a:rPr>
                <a:t>10</a:t>
              </a:r>
              <a:endParaRPr lang="en-US" sz="950" i="1" dirty="0">
                <a:latin typeface="Times New Roman" panose="02020603050405020304" pitchFamily="18" charset="0"/>
                <a:cs typeface="Times New Roman" panose="02020603050405020304" pitchFamily="18" charset="0"/>
              </a:endParaRPr>
            </a:p>
          </p:txBody>
        </p:sp>
        <p:sp>
          <p:nvSpPr>
            <p:cNvPr id="34" name="Text 32"/>
            <p:cNvSpPr/>
            <p:nvPr/>
          </p:nvSpPr>
          <p:spPr>
            <a:xfrm>
              <a:off x="713232" y="3945636"/>
              <a:ext cx="8138160" cy="274320"/>
            </a:xfrm>
            <a:prstGeom prst="rect">
              <a:avLst/>
            </a:prstGeom>
            <a:noFill/>
            <a:ln/>
          </p:spPr>
          <p:txBody>
            <a:bodyPr wrap="square" lIns="0" tIns="0" rIns="0" bIns="0" rtlCol="0" anchor="ctr"/>
            <a:lstStyle/>
            <a:p>
              <a:pPr marL="0" indent="0">
                <a:buNone/>
              </a:pPr>
              <a:r>
                <a:rPr lang="en-US" sz="950" i="1" dirty="0">
                  <a:solidFill>
                    <a:srgbClr val="1A2B3C"/>
                  </a:solidFill>
                  <a:latin typeface="Times New Roman" panose="02020603050405020304" pitchFamily="18" charset="0"/>
                  <a:ea typeface="Calibri" pitchFamily="34" charset="-122"/>
                  <a:cs typeface="Times New Roman" panose="02020603050405020304" pitchFamily="18" charset="0"/>
                </a:rPr>
                <a:t>Subramanya, K. (2008). Engineering Hydrology (3rd ed.). Tata McGraw-Hill, New Delhi.</a:t>
              </a:r>
              <a:endParaRPr lang="en-US" sz="950" i="1" dirty="0">
                <a:latin typeface="Times New Roman" panose="02020603050405020304" pitchFamily="18" charset="0"/>
                <a:cs typeface="Times New Roman" panose="02020603050405020304" pitchFamily="18" charset="0"/>
              </a:endParaRPr>
            </a:p>
          </p:txBody>
        </p:sp>
        <p:sp>
          <p:nvSpPr>
            <p:cNvPr id="35" name="Shape 33"/>
            <p:cNvSpPr/>
            <p:nvPr/>
          </p:nvSpPr>
          <p:spPr>
            <a:xfrm>
              <a:off x="320040" y="4251960"/>
              <a:ext cx="320040" cy="292608"/>
            </a:xfrm>
            <a:prstGeom prst="rect">
              <a:avLst/>
            </a:prstGeom>
            <a:solidFill>
              <a:srgbClr val="1E88E5"/>
            </a:solidFill>
            <a:ln w="12700">
              <a:solidFill>
                <a:srgbClr val="1E88E5"/>
              </a:solidFill>
              <a:prstDash val="solid"/>
            </a:ln>
          </p:spPr>
          <p:txBody>
            <a:bodyPr/>
            <a:lstStyle/>
            <a:p>
              <a:endParaRPr lang="en-IN" i="1">
                <a:latin typeface="Times New Roman" panose="02020603050405020304" pitchFamily="18" charset="0"/>
                <a:cs typeface="Times New Roman" panose="02020603050405020304" pitchFamily="18" charset="0"/>
              </a:endParaRPr>
            </a:p>
          </p:txBody>
        </p:sp>
        <p:sp>
          <p:nvSpPr>
            <p:cNvPr id="36" name="Text 34"/>
            <p:cNvSpPr/>
            <p:nvPr/>
          </p:nvSpPr>
          <p:spPr>
            <a:xfrm>
              <a:off x="320040" y="4251960"/>
              <a:ext cx="320040" cy="292608"/>
            </a:xfrm>
            <a:prstGeom prst="rect">
              <a:avLst/>
            </a:prstGeom>
            <a:noFill/>
            <a:ln/>
          </p:spPr>
          <p:txBody>
            <a:bodyPr wrap="square" lIns="0" tIns="0" rIns="0" bIns="0" rtlCol="0" anchor="ctr"/>
            <a:lstStyle/>
            <a:p>
              <a:pPr marL="0" indent="0" algn="ctr">
                <a:buNone/>
              </a:pPr>
              <a:r>
                <a:rPr lang="en-US" sz="950" b="1" i="1" dirty="0">
                  <a:solidFill>
                    <a:srgbClr val="FFFFFF"/>
                  </a:solidFill>
                  <a:latin typeface="Times New Roman" panose="02020603050405020304" pitchFamily="18" charset="0"/>
                  <a:cs typeface="Times New Roman" panose="02020603050405020304" pitchFamily="18" charset="0"/>
                </a:rPr>
                <a:t>11</a:t>
              </a:r>
              <a:endParaRPr lang="en-US" sz="950" i="1" dirty="0">
                <a:latin typeface="Times New Roman" panose="02020603050405020304" pitchFamily="18" charset="0"/>
                <a:cs typeface="Times New Roman" panose="02020603050405020304" pitchFamily="18" charset="0"/>
              </a:endParaRPr>
            </a:p>
          </p:txBody>
        </p:sp>
        <p:sp>
          <p:nvSpPr>
            <p:cNvPr id="37" name="Text 35"/>
            <p:cNvSpPr/>
            <p:nvPr/>
          </p:nvSpPr>
          <p:spPr>
            <a:xfrm>
              <a:off x="713232" y="4288536"/>
              <a:ext cx="8138160" cy="274320"/>
            </a:xfrm>
            <a:prstGeom prst="rect">
              <a:avLst/>
            </a:prstGeom>
            <a:noFill/>
            <a:ln/>
          </p:spPr>
          <p:txBody>
            <a:bodyPr wrap="square" lIns="0" tIns="0" rIns="0" bIns="0" rtlCol="0" anchor="ctr"/>
            <a:lstStyle/>
            <a:p>
              <a:pPr marL="0" indent="0">
                <a:buNone/>
              </a:pPr>
              <a:r>
                <a:rPr lang="en-US" sz="950" i="1" dirty="0">
                  <a:solidFill>
                    <a:srgbClr val="1A2B3C"/>
                  </a:solidFill>
                  <a:latin typeface="Times New Roman" panose="02020603050405020304" pitchFamily="18" charset="0"/>
                  <a:ea typeface="Calibri" pitchFamily="34" charset="-122"/>
                  <a:cs typeface="Times New Roman" panose="02020603050405020304" pitchFamily="18" charset="0"/>
                </a:rPr>
                <a:t>Verma, R.K., et al. (2021). SCS-CN-based improved models for direct surface runoff estimation. Water Resources Management, 35, 2151–2167.</a:t>
              </a:r>
              <a:endParaRPr lang="en-US" sz="950" i="1" dirty="0">
                <a:latin typeface="Times New Roman" panose="02020603050405020304" pitchFamily="18" charset="0"/>
                <a:cs typeface="Times New Roman" panose="02020603050405020304" pitchFamily="18" charset="0"/>
              </a:endParaRPr>
            </a:p>
          </p:txBody>
        </p:sp>
        <p:sp>
          <p:nvSpPr>
            <p:cNvPr id="38" name="Shape 36"/>
            <p:cNvSpPr/>
            <p:nvPr/>
          </p:nvSpPr>
          <p:spPr>
            <a:xfrm>
              <a:off x="320040" y="4594860"/>
              <a:ext cx="320040" cy="292608"/>
            </a:xfrm>
            <a:prstGeom prst="rect">
              <a:avLst/>
            </a:prstGeom>
            <a:solidFill>
              <a:srgbClr val="00BCD4"/>
            </a:solidFill>
            <a:ln w="12700">
              <a:solidFill>
                <a:srgbClr val="00BCD4"/>
              </a:solidFill>
              <a:prstDash val="solid"/>
            </a:ln>
          </p:spPr>
          <p:txBody>
            <a:bodyPr/>
            <a:lstStyle/>
            <a:p>
              <a:endParaRPr lang="en-IN" i="1">
                <a:latin typeface="Times New Roman" panose="02020603050405020304" pitchFamily="18" charset="0"/>
                <a:cs typeface="Times New Roman" panose="02020603050405020304" pitchFamily="18" charset="0"/>
              </a:endParaRPr>
            </a:p>
          </p:txBody>
        </p:sp>
        <p:sp>
          <p:nvSpPr>
            <p:cNvPr id="39" name="Text 37"/>
            <p:cNvSpPr/>
            <p:nvPr/>
          </p:nvSpPr>
          <p:spPr>
            <a:xfrm>
              <a:off x="320040" y="4594860"/>
              <a:ext cx="320040" cy="292608"/>
            </a:xfrm>
            <a:prstGeom prst="rect">
              <a:avLst/>
            </a:prstGeom>
            <a:noFill/>
            <a:ln/>
          </p:spPr>
          <p:txBody>
            <a:bodyPr wrap="square" lIns="0" tIns="0" rIns="0" bIns="0" rtlCol="0" anchor="ctr"/>
            <a:lstStyle/>
            <a:p>
              <a:pPr marL="0" indent="0" algn="ctr">
                <a:buNone/>
              </a:pPr>
              <a:r>
                <a:rPr lang="en-US" sz="950" b="1" i="1" dirty="0">
                  <a:solidFill>
                    <a:srgbClr val="FFFFFF"/>
                  </a:solidFill>
                  <a:latin typeface="Times New Roman" panose="02020603050405020304" pitchFamily="18" charset="0"/>
                  <a:cs typeface="Times New Roman" panose="02020603050405020304" pitchFamily="18" charset="0"/>
                </a:rPr>
                <a:t>12</a:t>
              </a:r>
              <a:endParaRPr lang="en-US" sz="950" i="1" dirty="0">
                <a:latin typeface="Times New Roman" panose="02020603050405020304" pitchFamily="18" charset="0"/>
                <a:cs typeface="Times New Roman" panose="02020603050405020304" pitchFamily="18" charset="0"/>
              </a:endParaRPr>
            </a:p>
          </p:txBody>
        </p:sp>
        <p:sp>
          <p:nvSpPr>
            <p:cNvPr id="40" name="Text 38"/>
            <p:cNvSpPr/>
            <p:nvPr/>
          </p:nvSpPr>
          <p:spPr>
            <a:xfrm>
              <a:off x="713232" y="4631436"/>
              <a:ext cx="8138160" cy="274320"/>
            </a:xfrm>
            <a:prstGeom prst="rect">
              <a:avLst/>
            </a:prstGeom>
            <a:noFill/>
            <a:ln/>
          </p:spPr>
          <p:txBody>
            <a:bodyPr wrap="square" lIns="0" tIns="0" rIns="0" bIns="0" rtlCol="0" anchor="ctr"/>
            <a:lstStyle/>
            <a:p>
              <a:pPr marL="0" indent="0">
                <a:buNone/>
              </a:pPr>
              <a:r>
                <a:rPr lang="en-US" sz="950" i="1" dirty="0">
                  <a:solidFill>
                    <a:srgbClr val="1A2B3C"/>
                  </a:solidFill>
                  <a:latin typeface="Times New Roman" panose="02020603050405020304" pitchFamily="18" charset="0"/>
                  <a:ea typeface="Calibri" pitchFamily="34" charset="-122"/>
                  <a:cs typeface="Times New Roman" panose="02020603050405020304" pitchFamily="18" charset="0"/>
                </a:rPr>
                <a:t>Yokoo, K., et al. (2021). Exploration of LSTM model for rainfall-runoff with catchment properties. Water, 13(22), 3193.</a:t>
              </a:r>
              <a:endParaRPr lang="en-US" sz="950" i="1" dirty="0">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1E88E5"/>
          </a:solidFill>
          <a:ln w="12700">
            <a:solidFill>
              <a:srgbClr val="1E88E5"/>
            </a:solidFill>
            <a:prstDash val="solid"/>
          </a:ln>
        </p:spPr>
        <p:txBody>
          <a:bodyPr/>
          <a:lstStyle/>
          <a:p>
            <a:endParaRPr lang="en-IN"/>
          </a:p>
        </p:txBody>
      </p:sp>
      <p:sp>
        <p:nvSpPr>
          <p:cNvPr id="3" name="Shape 1"/>
          <p:cNvSpPr/>
          <p:nvPr/>
        </p:nvSpPr>
        <p:spPr>
          <a:xfrm>
            <a:off x="0" y="5029200"/>
            <a:ext cx="9144000" cy="114300"/>
          </a:xfrm>
          <a:prstGeom prst="rect">
            <a:avLst/>
          </a:prstGeom>
          <a:solidFill>
            <a:srgbClr val="00BCD4"/>
          </a:solidFill>
          <a:ln w="12700">
            <a:solidFill>
              <a:srgbClr val="00BCD4"/>
            </a:solidFill>
            <a:prstDash val="solid"/>
          </a:ln>
        </p:spPr>
        <p:txBody>
          <a:bodyPr/>
          <a:lstStyle/>
          <a:p>
            <a:endParaRPr lang="en-IN"/>
          </a:p>
        </p:txBody>
      </p:sp>
      <p:sp>
        <p:nvSpPr>
          <p:cNvPr id="4" name="Text 2"/>
          <p:cNvSpPr/>
          <p:nvPr/>
        </p:nvSpPr>
        <p:spPr>
          <a:xfrm>
            <a:off x="496562" y="1885118"/>
            <a:ext cx="7315200" cy="1005840"/>
          </a:xfrm>
          <a:prstGeom prst="rect">
            <a:avLst/>
          </a:prstGeom>
          <a:noFill/>
          <a:ln/>
        </p:spPr>
        <p:txBody>
          <a:bodyPr wrap="square" rtlCol="0" anchor="ctr"/>
          <a:lstStyle/>
          <a:p>
            <a:pPr marL="0" indent="0" algn="ctr">
              <a:buNone/>
            </a:pPr>
            <a:r>
              <a:rPr lang="en-US" sz="8000" b="1" dirty="0">
                <a:solidFill>
                  <a:schemeClr val="bg2">
                    <a:lumMod val="25000"/>
                  </a:schemeClr>
                </a:solidFill>
                <a:latin typeface="Times New Roman" panose="02020603050405020304" pitchFamily="18" charset="0"/>
                <a:ea typeface="Calibri" pitchFamily="34" charset="-122"/>
                <a:cs typeface="Times New Roman" panose="02020603050405020304" pitchFamily="18" charset="0"/>
              </a:rPr>
              <a:t>Thank You</a:t>
            </a:r>
            <a:endParaRPr lang="en-US" sz="8000" dirty="0">
              <a:solidFill>
                <a:schemeClr val="bg2">
                  <a:lumMod val="25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44546A"/>
      </a:dk2>
      <a:lt2>
        <a:srgbClr val="D9E2F3"/>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606</TotalTime>
  <Words>4081</Words>
  <Application>Microsoft Office PowerPoint</Application>
  <PresentationFormat>On-screen Show (16:9)</PresentationFormat>
  <Paragraphs>797</Paragraphs>
  <Slides>35</Slides>
  <Notes>19</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35</vt:i4>
      </vt:variant>
    </vt:vector>
  </HeadingPairs>
  <TitlesOfParts>
    <vt:vector size="46" baseType="lpstr">
      <vt:lpstr>Arial</vt:lpstr>
      <vt:lpstr>Calibri</vt:lpstr>
      <vt:lpstr>Calibri Light</vt:lpstr>
      <vt:lpstr>Cambria Math</vt:lpstr>
      <vt:lpstr>Times New Roman</vt:lpstr>
      <vt:lpstr>Wingdings</vt:lpstr>
      <vt:lpstr>Office Theme</vt:lpstr>
      <vt:lpstr>2_Custom Design</vt:lpstr>
      <vt:lpstr>3_Custom Design</vt:lpstr>
      <vt:lpstr>1_Custom Design</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Hydrological Impact Analysis on Sir Arthur Cotton Barrage</dc:title>
  <dc:subject>PptxGenJS Presentation</dc:subject>
  <dc:creator>PptxGenJS</dc:creator>
  <cp:lastModifiedBy>srija sunkara</cp:lastModifiedBy>
  <cp:revision>67</cp:revision>
  <dcterms:created xsi:type="dcterms:W3CDTF">2026-05-14T01:45:34Z</dcterms:created>
  <dcterms:modified xsi:type="dcterms:W3CDTF">2026-05-14T17:41:09Z</dcterms:modified>
</cp:coreProperties>
</file>